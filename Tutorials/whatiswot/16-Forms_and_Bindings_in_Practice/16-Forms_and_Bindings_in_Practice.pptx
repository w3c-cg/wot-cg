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8"/>
  </p:notesMasterIdLst>
  <p:sldIdLst>
    <p:sldId id="355" r:id="rId2"/>
    <p:sldId id="459" r:id="rId3"/>
    <p:sldId id="474" r:id="rId4"/>
    <p:sldId id="475" r:id="rId5"/>
    <p:sldId id="535" r:id="rId6"/>
    <p:sldId id="460" r:id="rId7"/>
    <p:sldId id="495" r:id="rId8"/>
    <p:sldId id="498" r:id="rId9"/>
    <p:sldId id="500" r:id="rId10"/>
    <p:sldId id="503" r:id="rId11"/>
    <p:sldId id="504" r:id="rId12"/>
    <p:sldId id="497" r:id="rId13"/>
    <p:sldId id="496" r:id="rId14"/>
    <p:sldId id="505" r:id="rId15"/>
    <p:sldId id="494" r:id="rId16"/>
    <p:sldId id="476" r:id="rId17"/>
    <p:sldId id="477" r:id="rId18"/>
    <p:sldId id="478" r:id="rId19"/>
    <p:sldId id="461" r:id="rId20"/>
    <p:sldId id="506" r:id="rId21"/>
    <p:sldId id="515" r:id="rId22"/>
    <p:sldId id="514" r:id="rId23"/>
    <p:sldId id="510" r:id="rId24"/>
    <p:sldId id="513" r:id="rId25"/>
    <p:sldId id="509" r:id="rId26"/>
    <p:sldId id="508" r:id="rId27"/>
    <p:sldId id="480" r:id="rId28"/>
    <p:sldId id="482" r:id="rId29"/>
    <p:sldId id="481" r:id="rId30"/>
    <p:sldId id="479" r:id="rId31"/>
    <p:sldId id="516" r:id="rId32"/>
    <p:sldId id="518" r:id="rId33"/>
    <p:sldId id="519" r:id="rId34"/>
    <p:sldId id="536" r:id="rId35"/>
    <p:sldId id="520" r:id="rId36"/>
    <p:sldId id="521" r:id="rId37"/>
    <p:sldId id="483" r:id="rId38"/>
    <p:sldId id="484" r:id="rId39"/>
    <p:sldId id="485" r:id="rId40"/>
    <p:sldId id="463" r:id="rId41"/>
    <p:sldId id="537" r:id="rId42"/>
    <p:sldId id="487" r:id="rId43"/>
    <p:sldId id="488" r:id="rId44"/>
    <p:sldId id="486" r:id="rId45"/>
    <p:sldId id="526" r:id="rId46"/>
    <p:sldId id="527" r:id="rId47"/>
    <p:sldId id="528" r:id="rId48"/>
    <p:sldId id="529" r:id="rId49"/>
    <p:sldId id="538" r:id="rId50"/>
    <p:sldId id="530" r:id="rId51"/>
    <p:sldId id="531" r:id="rId52"/>
    <p:sldId id="533" r:id="rId53"/>
    <p:sldId id="532" r:id="rId54"/>
    <p:sldId id="522" r:id="rId55"/>
    <p:sldId id="489" r:id="rId56"/>
    <p:sldId id="490" r:id="rId57"/>
    <p:sldId id="491" r:id="rId58"/>
    <p:sldId id="492" r:id="rId59"/>
    <p:sldId id="493" r:id="rId60"/>
    <p:sldId id="465" r:id="rId61"/>
    <p:sldId id="469" r:id="rId62"/>
    <p:sldId id="468" r:id="rId63"/>
    <p:sldId id="467" r:id="rId64"/>
    <p:sldId id="466" r:id="rId65"/>
    <p:sldId id="464" r:id="rId66"/>
    <p:sldId id="276"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E4E4E4"/>
    <a:srgbClr val="D7D7D7"/>
    <a:srgbClr val="F73B3B"/>
    <a:srgbClr val="FF3333"/>
    <a:srgbClr val="E8FA3C"/>
    <a:srgbClr val="33CC33"/>
    <a:srgbClr val="AFCBE0"/>
    <a:srgbClr val="0052A5"/>
    <a:srgbClr val="66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10" autoAdjust="0"/>
    <p:restoredTop sz="74667" autoAdjust="0"/>
  </p:normalViewPr>
  <p:slideViewPr>
    <p:cSldViewPr snapToGrid="0">
      <p:cViewPr>
        <p:scale>
          <a:sx n="125" d="100"/>
          <a:sy n="125" d="100"/>
        </p:scale>
        <p:origin x="442" y="-1258"/>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65C6DA-5C8D-412A-A384-5B74A29C9C75}" type="datetimeFigureOut">
              <a:rPr lang="en-US" smtClean="0"/>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2165D8-144D-4958-A83E-0D86045592C5}" type="slidenum">
              <a:rPr lang="en-US" smtClean="0"/>
              <a:t>‹#›</a:t>
            </a:fld>
            <a:endParaRPr lang="en-US"/>
          </a:p>
        </p:txBody>
      </p:sp>
    </p:spTree>
    <p:extLst>
      <p:ext uri="{BB962C8B-B14F-4D97-AF65-F5344CB8AC3E}">
        <p14:creationId xmlns:p14="http://schemas.microsoft.com/office/powerpoint/2010/main" val="1549517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In the previous tutorial, we explored Interaction Affordances — properties, actions, and events — and how they describe what a Thing can do. In this video, we will focus on the next important question: How do those interactions actually happen over the network?</a:t>
            </a:r>
          </a:p>
        </p:txBody>
      </p:sp>
      <p:sp>
        <p:nvSpPr>
          <p:cNvPr id="4" name="Slide Number Placeholder 3"/>
          <p:cNvSpPr>
            <a:spLocks noGrp="1"/>
          </p:cNvSpPr>
          <p:nvPr>
            <p:ph type="sldNum" sz="quarter" idx="5"/>
          </p:nvPr>
        </p:nvSpPr>
        <p:spPr/>
        <p:txBody>
          <a:bodyPr/>
          <a:lstStyle/>
          <a:p>
            <a:fld id="{F02165D8-144D-4958-A83E-0D86045592C5}" type="slidenum">
              <a:rPr lang="en-US" smtClean="0"/>
              <a:t>1</a:t>
            </a:fld>
            <a:endParaRPr lang="en-US"/>
          </a:p>
        </p:txBody>
      </p:sp>
    </p:spTree>
    <p:extLst>
      <p:ext uri="{BB962C8B-B14F-4D97-AF65-F5344CB8AC3E}">
        <p14:creationId xmlns:p14="http://schemas.microsoft.com/office/powerpoint/2010/main" val="1040385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Now that we understand the structure of forms, let's see how protocol bindings work in practice. When you want to write a Consumer application, you don't need any prior knowledge about the protocol being used. Instead, the Consumer reads the Thing Description, looks at the available forms, and selects one it understands.</a:t>
            </a:r>
          </a:p>
          <a:p>
            <a:endParaRPr lang="en-US" dirty="0"/>
          </a:p>
          <a:p>
            <a:r>
              <a:rPr lang="en-US" dirty="0"/>
              <a:t>We will now quickly show how forms can look and what they mean for the following protocols: HTTP, CoAP, MQTT, and Modbus. Let's revisit our smart coffee machine example from the last video and fill out the forms for our interaction affordances so far.</a:t>
            </a:r>
            <a:endParaRPr lang="en-DE" dirty="0"/>
          </a:p>
        </p:txBody>
      </p:sp>
      <p:sp>
        <p:nvSpPr>
          <p:cNvPr id="4" name="Slide Number Placeholder 3"/>
          <p:cNvSpPr>
            <a:spLocks noGrp="1"/>
          </p:cNvSpPr>
          <p:nvPr>
            <p:ph type="sldNum" sz="quarter" idx="5"/>
          </p:nvPr>
        </p:nvSpPr>
        <p:spPr/>
        <p:txBody>
          <a:bodyPr/>
          <a:lstStyle/>
          <a:p>
            <a:fld id="{F02165D8-144D-4958-A83E-0D86045592C5}" type="slidenum">
              <a:rPr lang="en-US" smtClean="0"/>
              <a:t>2</a:t>
            </a:fld>
            <a:endParaRPr lang="en-US"/>
          </a:p>
        </p:txBody>
      </p:sp>
    </p:spTree>
    <p:extLst>
      <p:ext uri="{BB962C8B-B14F-4D97-AF65-F5344CB8AC3E}">
        <p14:creationId xmlns:p14="http://schemas.microsoft.com/office/powerpoint/2010/main" val="287309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F0D5F-03D4-0BC8-A788-354E622CD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77E6B1-C897-25F7-B1D3-F271732B5DC9}"/>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AACD6E0B-E411-7472-3AA6-D47BF6863E51}"/>
              </a:ext>
            </a:extLst>
          </p:cNvPr>
          <p:cNvSpPr>
            <a:spLocks noGrp="1"/>
          </p:cNvSpPr>
          <p:nvPr>
            <p:ph type="body" idx="1"/>
          </p:nvPr>
        </p:nvSpPr>
        <p:spPr/>
        <p:txBody>
          <a:bodyPr/>
          <a:lstStyle/>
          <a:p>
            <a:r>
              <a:rPr lang="en-US" dirty="0"/>
              <a:t>Now that we understand the structure of forms, let's see how protocol bindings work in practice. When you want to write a Consumer application, you don't need any prior knowledge about the protocol being used. Instead, the Consumer reads the Thing Description, looks at the available forms, and selects one it understands.</a:t>
            </a:r>
          </a:p>
          <a:p>
            <a:endParaRPr lang="en-US" dirty="0"/>
          </a:p>
          <a:p>
            <a:r>
              <a:rPr lang="en-US" dirty="0"/>
              <a:t>We will now quickly show how forms can look and what they mean for the following protocols: HTTP, CoAP, MQTT, and Modbus. Let's revisit our smart coffee machine example from the last video and fill out the forms for our interaction affordances so far.</a:t>
            </a:r>
            <a:endParaRPr lang="en-DE" dirty="0"/>
          </a:p>
        </p:txBody>
      </p:sp>
      <p:sp>
        <p:nvSpPr>
          <p:cNvPr id="4" name="Slide Number Placeholder 3">
            <a:extLst>
              <a:ext uri="{FF2B5EF4-FFF2-40B4-BE49-F238E27FC236}">
                <a16:creationId xmlns:a16="http://schemas.microsoft.com/office/drawing/2014/main" id="{E12FC851-CA96-75E7-4AF6-7DD36D4738BA}"/>
              </a:ext>
            </a:extLst>
          </p:cNvPr>
          <p:cNvSpPr>
            <a:spLocks noGrp="1"/>
          </p:cNvSpPr>
          <p:nvPr>
            <p:ph type="sldNum" sz="quarter" idx="5"/>
          </p:nvPr>
        </p:nvSpPr>
        <p:spPr/>
        <p:txBody>
          <a:bodyPr/>
          <a:lstStyle/>
          <a:p>
            <a:fld id="{F02165D8-144D-4958-A83E-0D86045592C5}" type="slidenum">
              <a:rPr lang="en-US" smtClean="0"/>
              <a:t>3</a:t>
            </a:fld>
            <a:endParaRPr lang="en-US"/>
          </a:p>
        </p:txBody>
      </p:sp>
    </p:spTree>
    <p:extLst>
      <p:ext uri="{BB962C8B-B14F-4D97-AF65-F5344CB8AC3E}">
        <p14:creationId xmlns:p14="http://schemas.microsoft.com/office/powerpoint/2010/main" val="37825766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D1F12-6D4E-3A1C-78BF-7A75ADA309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031089-F828-27A8-8136-6A1A448B0A38}"/>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A4EFF6B6-13C3-3024-B076-9BDC96510258}"/>
              </a:ext>
            </a:extLst>
          </p:cNvPr>
          <p:cNvSpPr>
            <a:spLocks noGrp="1"/>
          </p:cNvSpPr>
          <p:nvPr>
            <p:ph type="body" idx="1"/>
          </p:nvPr>
        </p:nvSpPr>
        <p:spPr/>
        <p:txBody>
          <a:bodyPr/>
          <a:lstStyle/>
          <a:p>
            <a:r>
              <a:rPr lang="en-US" dirty="0"/>
              <a:t>Now that we understand the structure of forms, let's see how protocol bindings work in practice. When you want to write a Consumer application, you don't need any prior knowledge about the protocol being used. Instead, the Consumer reads the Thing Description, looks at the available forms, and selects one it understands.</a:t>
            </a:r>
          </a:p>
        </p:txBody>
      </p:sp>
      <p:sp>
        <p:nvSpPr>
          <p:cNvPr id="4" name="Slide Number Placeholder 3">
            <a:extLst>
              <a:ext uri="{FF2B5EF4-FFF2-40B4-BE49-F238E27FC236}">
                <a16:creationId xmlns:a16="http://schemas.microsoft.com/office/drawing/2014/main" id="{315F9FCF-88F6-D720-5781-CBED8E7BD589}"/>
              </a:ext>
            </a:extLst>
          </p:cNvPr>
          <p:cNvSpPr>
            <a:spLocks noGrp="1"/>
          </p:cNvSpPr>
          <p:nvPr>
            <p:ph type="sldNum" sz="quarter" idx="5"/>
          </p:nvPr>
        </p:nvSpPr>
        <p:spPr/>
        <p:txBody>
          <a:bodyPr/>
          <a:lstStyle/>
          <a:p>
            <a:fld id="{F02165D8-144D-4958-A83E-0D86045592C5}" type="slidenum">
              <a:rPr lang="en-US" smtClean="0"/>
              <a:t>4</a:t>
            </a:fld>
            <a:endParaRPr lang="en-US"/>
          </a:p>
        </p:txBody>
      </p:sp>
    </p:spTree>
    <p:extLst>
      <p:ext uri="{BB962C8B-B14F-4D97-AF65-F5344CB8AC3E}">
        <p14:creationId xmlns:p14="http://schemas.microsoft.com/office/powerpoint/2010/main" val="3687235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First, we want the Consumer to perform the `</a:t>
            </a:r>
            <a:r>
              <a:rPr lang="en-US" sz="1200" b="0" kern="1200" dirty="0" err="1">
                <a:solidFill>
                  <a:schemeClr val="tx1"/>
                </a:solidFill>
                <a:effectLst/>
                <a:latin typeface="+mn-lt"/>
                <a:ea typeface="+mn-ea"/>
                <a:cs typeface="+mn-cs"/>
              </a:rPr>
              <a:t>readProperty</a:t>
            </a:r>
            <a:r>
              <a:rPr lang="en-US" sz="1200" b="0" kern="1200" dirty="0">
                <a:solidFill>
                  <a:schemeClr val="tx1"/>
                </a:solidFill>
                <a:effectLst/>
                <a:latin typeface="+mn-lt"/>
                <a:ea typeface="+mn-ea"/>
                <a:cs typeface="+mn-cs"/>
              </a:rPr>
              <a:t>` operation on `</a:t>
            </a:r>
            <a:r>
              <a:rPr lang="en-US" sz="1200" b="0" kern="1200" dirty="0" err="1">
                <a:solidFill>
                  <a:schemeClr val="tx1"/>
                </a:solidFill>
                <a:effectLst/>
                <a:latin typeface="+mn-lt"/>
                <a:ea typeface="+mn-ea"/>
                <a:cs typeface="+mn-cs"/>
              </a:rPr>
              <a:t>coffeeBeansLeft</a:t>
            </a:r>
            <a:r>
              <a:rPr lang="en-US" sz="1200" b="0" kern="1200" dirty="0">
                <a:solidFill>
                  <a:schemeClr val="tx1"/>
                </a:solidFill>
                <a:effectLst/>
                <a:latin typeface="+mn-lt"/>
                <a:ea typeface="+mn-ea"/>
                <a:cs typeface="+mn-cs"/>
              </a:rPr>
              <a:t>` so we can get the remaining amount of coffee beans.</a:t>
            </a:r>
          </a:p>
        </p:txBody>
      </p:sp>
      <p:sp>
        <p:nvSpPr>
          <p:cNvPr id="4" name="Slide Number Placeholder 3"/>
          <p:cNvSpPr>
            <a:spLocks noGrp="1"/>
          </p:cNvSpPr>
          <p:nvPr>
            <p:ph type="sldNum" sz="quarter" idx="5"/>
          </p:nvPr>
        </p:nvSpPr>
        <p:spPr/>
        <p:txBody>
          <a:bodyPr/>
          <a:lstStyle/>
          <a:p>
            <a:fld id="{F02165D8-144D-4958-A83E-0D86045592C5}" type="slidenum">
              <a:rPr lang="en-US" smtClean="0"/>
              <a:t>6</a:t>
            </a:fld>
            <a:endParaRPr lang="en-US"/>
          </a:p>
        </p:txBody>
      </p:sp>
    </p:spTree>
    <p:extLst>
      <p:ext uri="{BB962C8B-B14F-4D97-AF65-F5344CB8AC3E}">
        <p14:creationId xmlns:p14="http://schemas.microsoft.com/office/powerpoint/2010/main" val="318944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0C485-6421-506F-2974-5D091E3540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1F5529-1BBC-3FA4-6330-F77E6348869A}"/>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932C38B4-B5FC-0FD7-2233-BE18E8BE8910}"/>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To achieve this, the Consumer reads the form and translates it into a network request. The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tells it the address and that HTTP is the protocol. Then the `</a:t>
            </a:r>
            <a:r>
              <a:rPr lang="en-US" sz="1200" b="0" kern="1200" dirty="0" err="1">
                <a:solidFill>
                  <a:schemeClr val="tx1"/>
                </a:solidFill>
                <a:effectLst/>
                <a:latin typeface="+mn-lt"/>
                <a:ea typeface="+mn-ea"/>
                <a:cs typeface="+mn-cs"/>
              </a:rPr>
              <a:t>htv:methodName</a:t>
            </a:r>
            <a:r>
              <a:rPr lang="en-US" sz="1200" b="0" kern="1200" dirty="0">
                <a:solidFill>
                  <a:schemeClr val="tx1"/>
                </a:solidFill>
                <a:effectLst/>
                <a:latin typeface="+mn-lt"/>
                <a:ea typeface="+mn-ea"/>
                <a:cs typeface="+mn-cs"/>
              </a:rPr>
              <a:t>` field says to use a `GET` request and the `</a:t>
            </a:r>
            <a:r>
              <a:rPr lang="en-US" sz="1200" b="0" kern="1200" dirty="0" err="1">
                <a:solidFill>
                  <a:schemeClr val="tx1"/>
                </a:solidFill>
                <a:effectLst/>
                <a:latin typeface="+mn-lt"/>
                <a:ea typeface="+mn-ea"/>
                <a:cs typeface="+mn-cs"/>
              </a:rPr>
              <a:t>contentType</a:t>
            </a:r>
            <a:r>
              <a:rPr lang="en-US" sz="1200" b="0" kern="1200" dirty="0">
                <a:solidFill>
                  <a:schemeClr val="tx1"/>
                </a:solidFill>
                <a:effectLst/>
                <a:latin typeface="+mn-lt"/>
                <a:ea typeface="+mn-ea"/>
                <a:cs typeface="+mn-cs"/>
              </a:rPr>
              <a:t>` tells it to expect a JSON in return. So the Consumer sends the following request:</a:t>
            </a:r>
          </a:p>
        </p:txBody>
      </p:sp>
      <p:sp>
        <p:nvSpPr>
          <p:cNvPr id="4" name="Slide Number Placeholder 3">
            <a:extLst>
              <a:ext uri="{FF2B5EF4-FFF2-40B4-BE49-F238E27FC236}">
                <a16:creationId xmlns:a16="http://schemas.microsoft.com/office/drawing/2014/main" id="{B779094E-93EC-6D92-D3B9-CDB0F955E51F}"/>
              </a:ext>
            </a:extLst>
          </p:cNvPr>
          <p:cNvSpPr>
            <a:spLocks noGrp="1"/>
          </p:cNvSpPr>
          <p:nvPr>
            <p:ph type="sldNum" sz="quarter" idx="5"/>
          </p:nvPr>
        </p:nvSpPr>
        <p:spPr/>
        <p:txBody>
          <a:bodyPr/>
          <a:lstStyle/>
          <a:p>
            <a:fld id="{F02165D8-144D-4958-A83E-0D86045592C5}" type="slidenum">
              <a:rPr lang="en-US" smtClean="0"/>
              <a:t>7</a:t>
            </a:fld>
            <a:endParaRPr lang="en-US"/>
          </a:p>
        </p:txBody>
      </p:sp>
    </p:spTree>
    <p:extLst>
      <p:ext uri="{BB962C8B-B14F-4D97-AF65-F5344CB8AC3E}">
        <p14:creationId xmlns:p14="http://schemas.microsoft.com/office/powerpoint/2010/main" val="1500419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8F6D8-0DFB-336D-E7B2-E3287B442F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0B90B-E9FC-EF81-721C-85F509EED510}"/>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FECED45B-C45A-21BA-B986-8AED204EF915}"/>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To achieve this, the Consumer reads the form and translates it into a network request. The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tells it the address and that HTTP is the protocol. Then the `</a:t>
            </a:r>
            <a:r>
              <a:rPr lang="en-US" sz="1200" b="0" kern="1200" dirty="0" err="1">
                <a:solidFill>
                  <a:schemeClr val="tx1"/>
                </a:solidFill>
                <a:effectLst/>
                <a:latin typeface="+mn-lt"/>
                <a:ea typeface="+mn-ea"/>
                <a:cs typeface="+mn-cs"/>
              </a:rPr>
              <a:t>htv:methodName</a:t>
            </a:r>
            <a:r>
              <a:rPr lang="en-US" sz="1200" b="0" kern="1200" dirty="0">
                <a:solidFill>
                  <a:schemeClr val="tx1"/>
                </a:solidFill>
                <a:effectLst/>
                <a:latin typeface="+mn-lt"/>
                <a:ea typeface="+mn-ea"/>
                <a:cs typeface="+mn-cs"/>
              </a:rPr>
              <a:t>` field says to use a `GET` request and the `</a:t>
            </a:r>
            <a:r>
              <a:rPr lang="en-US" sz="1200" b="0" kern="1200" dirty="0" err="1">
                <a:solidFill>
                  <a:schemeClr val="tx1"/>
                </a:solidFill>
                <a:effectLst/>
                <a:latin typeface="+mn-lt"/>
                <a:ea typeface="+mn-ea"/>
                <a:cs typeface="+mn-cs"/>
              </a:rPr>
              <a:t>contentType</a:t>
            </a:r>
            <a:r>
              <a:rPr lang="en-US" sz="1200" b="0" kern="1200" dirty="0">
                <a:solidFill>
                  <a:schemeClr val="tx1"/>
                </a:solidFill>
                <a:effectLst/>
                <a:latin typeface="+mn-lt"/>
                <a:ea typeface="+mn-ea"/>
                <a:cs typeface="+mn-cs"/>
              </a:rPr>
              <a:t>` tells it to expect a JSON in return. So the Consumer sends the following request:</a:t>
            </a:r>
          </a:p>
        </p:txBody>
      </p:sp>
      <p:sp>
        <p:nvSpPr>
          <p:cNvPr id="4" name="Slide Number Placeholder 3">
            <a:extLst>
              <a:ext uri="{FF2B5EF4-FFF2-40B4-BE49-F238E27FC236}">
                <a16:creationId xmlns:a16="http://schemas.microsoft.com/office/drawing/2014/main" id="{F2BDF4A2-5490-BDD4-4CEA-2E71A5F029D3}"/>
              </a:ext>
            </a:extLst>
          </p:cNvPr>
          <p:cNvSpPr>
            <a:spLocks noGrp="1"/>
          </p:cNvSpPr>
          <p:nvPr>
            <p:ph type="sldNum" sz="quarter" idx="5"/>
          </p:nvPr>
        </p:nvSpPr>
        <p:spPr/>
        <p:txBody>
          <a:bodyPr/>
          <a:lstStyle/>
          <a:p>
            <a:fld id="{F02165D8-144D-4958-A83E-0D86045592C5}" type="slidenum">
              <a:rPr lang="en-US" smtClean="0"/>
              <a:t>8</a:t>
            </a:fld>
            <a:endParaRPr lang="en-US"/>
          </a:p>
        </p:txBody>
      </p:sp>
    </p:spTree>
    <p:extLst>
      <p:ext uri="{BB962C8B-B14F-4D97-AF65-F5344CB8AC3E}">
        <p14:creationId xmlns:p14="http://schemas.microsoft.com/office/powerpoint/2010/main" val="11983247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886FE-9AC5-D49F-611B-CF417BD1DA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C69F7E-F01A-2C37-B0AC-E9C93C1D399E}"/>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C1EEFFD4-9311-44FD-C5FE-CAD3C1E92E39}"/>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To achieve this, the Consumer reads the form and translates it into a network request. The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tells it the address and that HTTP is the protocol. Then the `</a:t>
            </a:r>
            <a:r>
              <a:rPr lang="en-US" sz="1200" b="0" kern="1200" dirty="0" err="1">
                <a:solidFill>
                  <a:schemeClr val="tx1"/>
                </a:solidFill>
                <a:effectLst/>
                <a:latin typeface="+mn-lt"/>
                <a:ea typeface="+mn-ea"/>
                <a:cs typeface="+mn-cs"/>
              </a:rPr>
              <a:t>htv:methodName</a:t>
            </a:r>
            <a:r>
              <a:rPr lang="en-US" sz="1200" b="0" kern="1200" dirty="0">
                <a:solidFill>
                  <a:schemeClr val="tx1"/>
                </a:solidFill>
                <a:effectLst/>
                <a:latin typeface="+mn-lt"/>
                <a:ea typeface="+mn-ea"/>
                <a:cs typeface="+mn-cs"/>
              </a:rPr>
              <a:t>` field says to use a `GET` request and the `</a:t>
            </a:r>
            <a:r>
              <a:rPr lang="en-US" sz="1200" b="0" kern="1200" dirty="0" err="1">
                <a:solidFill>
                  <a:schemeClr val="tx1"/>
                </a:solidFill>
                <a:effectLst/>
                <a:latin typeface="+mn-lt"/>
                <a:ea typeface="+mn-ea"/>
                <a:cs typeface="+mn-cs"/>
              </a:rPr>
              <a:t>contentType</a:t>
            </a:r>
            <a:r>
              <a:rPr lang="en-US" sz="1200" b="0" kern="1200" dirty="0">
                <a:solidFill>
                  <a:schemeClr val="tx1"/>
                </a:solidFill>
                <a:effectLst/>
                <a:latin typeface="+mn-lt"/>
                <a:ea typeface="+mn-ea"/>
                <a:cs typeface="+mn-cs"/>
              </a:rPr>
              <a:t>` tells it to expect a JSON in return. So the Consumer sends the following request:</a:t>
            </a:r>
          </a:p>
        </p:txBody>
      </p:sp>
      <p:sp>
        <p:nvSpPr>
          <p:cNvPr id="4" name="Slide Number Placeholder 3">
            <a:extLst>
              <a:ext uri="{FF2B5EF4-FFF2-40B4-BE49-F238E27FC236}">
                <a16:creationId xmlns:a16="http://schemas.microsoft.com/office/drawing/2014/main" id="{0E68067C-0729-D080-8F7B-EFFABCE4885D}"/>
              </a:ext>
            </a:extLst>
          </p:cNvPr>
          <p:cNvSpPr>
            <a:spLocks noGrp="1"/>
          </p:cNvSpPr>
          <p:nvPr>
            <p:ph type="sldNum" sz="quarter" idx="5"/>
          </p:nvPr>
        </p:nvSpPr>
        <p:spPr/>
        <p:txBody>
          <a:bodyPr/>
          <a:lstStyle/>
          <a:p>
            <a:fld id="{F02165D8-144D-4958-A83E-0D86045592C5}" type="slidenum">
              <a:rPr lang="en-US" smtClean="0"/>
              <a:t>9</a:t>
            </a:fld>
            <a:endParaRPr lang="en-US"/>
          </a:p>
        </p:txBody>
      </p:sp>
    </p:spTree>
    <p:extLst>
      <p:ext uri="{BB962C8B-B14F-4D97-AF65-F5344CB8AC3E}">
        <p14:creationId xmlns:p14="http://schemas.microsoft.com/office/powerpoint/2010/main" val="1752254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876A2-2985-7442-2568-27AD689D82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52380C-F36C-5C98-B0BD-237365B6B6B7}"/>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4E9B04F5-F3C3-82A3-D47B-9DEB6CDB00F3}"/>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To achieve this, the Consumer reads the form and translates it into a network request. The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tells it the address and that HTTP is the protocol. Then the `</a:t>
            </a:r>
            <a:r>
              <a:rPr lang="en-US" sz="1200" b="0" kern="1200" dirty="0" err="1">
                <a:solidFill>
                  <a:schemeClr val="tx1"/>
                </a:solidFill>
                <a:effectLst/>
                <a:latin typeface="+mn-lt"/>
                <a:ea typeface="+mn-ea"/>
                <a:cs typeface="+mn-cs"/>
              </a:rPr>
              <a:t>htv:methodName</a:t>
            </a:r>
            <a:r>
              <a:rPr lang="en-US" sz="1200" b="0" kern="1200" dirty="0">
                <a:solidFill>
                  <a:schemeClr val="tx1"/>
                </a:solidFill>
                <a:effectLst/>
                <a:latin typeface="+mn-lt"/>
                <a:ea typeface="+mn-ea"/>
                <a:cs typeface="+mn-cs"/>
              </a:rPr>
              <a:t>` field says to use a `GET` request and the `</a:t>
            </a:r>
            <a:r>
              <a:rPr lang="en-US" sz="1200" b="0" kern="1200" dirty="0" err="1">
                <a:solidFill>
                  <a:schemeClr val="tx1"/>
                </a:solidFill>
                <a:effectLst/>
                <a:latin typeface="+mn-lt"/>
                <a:ea typeface="+mn-ea"/>
                <a:cs typeface="+mn-cs"/>
              </a:rPr>
              <a:t>contentType</a:t>
            </a:r>
            <a:r>
              <a:rPr lang="en-US" sz="1200" b="0" kern="1200" dirty="0">
                <a:solidFill>
                  <a:schemeClr val="tx1"/>
                </a:solidFill>
                <a:effectLst/>
                <a:latin typeface="+mn-lt"/>
                <a:ea typeface="+mn-ea"/>
                <a:cs typeface="+mn-cs"/>
              </a:rPr>
              <a:t>` tells it to expect a JSON in return. So the Consumer sends the following request:</a:t>
            </a:r>
          </a:p>
        </p:txBody>
      </p:sp>
      <p:sp>
        <p:nvSpPr>
          <p:cNvPr id="4" name="Slide Number Placeholder 3">
            <a:extLst>
              <a:ext uri="{FF2B5EF4-FFF2-40B4-BE49-F238E27FC236}">
                <a16:creationId xmlns:a16="http://schemas.microsoft.com/office/drawing/2014/main" id="{4521A981-7A3A-2407-BB60-9B77C43653E5}"/>
              </a:ext>
            </a:extLst>
          </p:cNvPr>
          <p:cNvSpPr>
            <a:spLocks noGrp="1"/>
          </p:cNvSpPr>
          <p:nvPr>
            <p:ph type="sldNum" sz="quarter" idx="5"/>
          </p:nvPr>
        </p:nvSpPr>
        <p:spPr/>
        <p:txBody>
          <a:bodyPr/>
          <a:lstStyle/>
          <a:p>
            <a:fld id="{F02165D8-144D-4958-A83E-0D86045592C5}" type="slidenum">
              <a:rPr lang="en-US" smtClean="0"/>
              <a:t>10</a:t>
            </a:fld>
            <a:endParaRPr lang="en-US"/>
          </a:p>
        </p:txBody>
      </p:sp>
    </p:spTree>
    <p:extLst>
      <p:ext uri="{BB962C8B-B14F-4D97-AF65-F5344CB8AC3E}">
        <p14:creationId xmlns:p14="http://schemas.microsoft.com/office/powerpoint/2010/main" val="35216099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0CEAB-BCA0-21F9-5944-86F43490A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0D6E1-8A73-8147-7C35-0B7C103C522D}"/>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E83D8FF0-E05E-40D3-21CC-950A7A750C1D}"/>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To achieve this, the Consumer reads the form and translates it into a network request. The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tells it the address and that HTTP is the protocol. Then the `</a:t>
            </a:r>
            <a:r>
              <a:rPr lang="en-US" sz="1200" b="0" kern="1200" dirty="0" err="1">
                <a:solidFill>
                  <a:schemeClr val="tx1"/>
                </a:solidFill>
                <a:effectLst/>
                <a:latin typeface="+mn-lt"/>
                <a:ea typeface="+mn-ea"/>
                <a:cs typeface="+mn-cs"/>
              </a:rPr>
              <a:t>htv:methodName</a:t>
            </a:r>
            <a:r>
              <a:rPr lang="en-US" sz="1200" b="0" kern="1200" dirty="0">
                <a:solidFill>
                  <a:schemeClr val="tx1"/>
                </a:solidFill>
                <a:effectLst/>
                <a:latin typeface="+mn-lt"/>
                <a:ea typeface="+mn-ea"/>
                <a:cs typeface="+mn-cs"/>
              </a:rPr>
              <a:t>` field says to use a `GET` request and the `</a:t>
            </a:r>
            <a:r>
              <a:rPr lang="en-US" sz="1200" b="0" kern="1200" dirty="0" err="1">
                <a:solidFill>
                  <a:schemeClr val="tx1"/>
                </a:solidFill>
                <a:effectLst/>
                <a:latin typeface="+mn-lt"/>
                <a:ea typeface="+mn-ea"/>
                <a:cs typeface="+mn-cs"/>
              </a:rPr>
              <a:t>contentType</a:t>
            </a:r>
            <a:r>
              <a:rPr lang="en-US" sz="1200" b="0" kern="1200" dirty="0">
                <a:solidFill>
                  <a:schemeClr val="tx1"/>
                </a:solidFill>
                <a:effectLst/>
                <a:latin typeface="+mn-lt"/>
                <a:ea typeface="+mn-ea"/>
                <a:cs typeface="+mn-cs"/>
              </a:rPr>
              <a:t>` tells it to expect a JSON in return. So the Consumer sends the following request:</a:t>
            </a:r>
          </a:p>
        </p:txBody>
      </p:sp>
      <p:sp>
        <p:nvSpPr>
          <p:cNvPr id="4" name="Slide Number Placeholder 3">
            <a:extLst>
              <a:ext uri="{FF2B5EF4-FFF2-40B4-BE49-F238E27FC236}">
                <a16:creationId xmlns:a16="http://schemas.microsoft.com/office/drawing/2014/main" id="{4FD6602F-A9E1-2108-9594-1E63639C2BA0}"/>
              </a:ext>
            </a:extLst>
          </p:cNvPr>
          <p:cNvSpPr>
            <a:spLocks noGrp="1"/>
          </p:cNvSpPr>
          <p:nvPr>
            <p:ph type="sldNum" sz="quarter" idx="5"/>
          </p:nvPr>
        </p:nvSpPr>
        <p:spPr/>
        <p:txBody>
          <a:bodyPr/>
          <a:lstStyle/>
          <a:p>
            <a:fld id="{F02165D8-144D-4958-A83E-0D86045592C5}" type="slidenum">
              <a:rPr lang="en-US" smtClean="0"/>
              <a:t>11</a:t>
            </a:fld>
            <a:endParaRPr lang="en-US"/>
          </a:p>
        </p:txBody>
      </p:sp>
    </p:spTree>
    <p:extLst>
      <p:ext uri="{BB962C8B-B14F-4D97-AF65-F5344CB8AC3E}">
        <p14:creationId xmlns:p14="http://schemas.microsoft.com/office/powerpoint/2010/main" val="24587529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B1F48-C26C-2845-8301-419452357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9CD0B-7858-AD84-1793-D93AC67E8FE7}"/>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7E626EF6-AFA3-DEF1-39F1-D55612186DC8}"/>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To achieve this, the Consumer reads the form and translates it into a network request. The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tells it the address and that HTTP is the protocol. Then the `</a:t>
            </a:r>
            <a:r>
              <a:rPr lang="en-US" sz="1200" b="0" kern="1200" dirty="0" err="1">
                <a:solidFill>
                  <a:schemeClr val="tx1"/>
                </a:solidFill>
                <a:effectLst/>
                <a:latin typeface="+mn-lt"/>
                <a:ea typeface="+mn-ea"/>
                <a:cs typeface="+mn-cs"/>
              </a:rPr>
              <a:t>htv:methodName</a:t>
            </a:r>
            <a:r>
              <a:rPr lang="en-US" sz="1200" b="0" kern="1200" dirty="0">
                <a:solidFill>
                  <a:schemeClr val="tx1"/>
                </a:solidFill>
                <a:effectLst/>
                <a:latin typeface="+mn-lt"/>
                <a:ea typeface="+mn-ea"/>
                <a:cs typeface="+mn-cs"/>
              </a:rPr>
              <a:t>` field says to use a `GET` request and the `</a:t>
            </a:r>
            <a:r>
              <a:rPr lang="en-US" sz="1200" b="0" kern="1200" dirty="0" err="1">
                <a:solidFill>
                  <a:schemeClr val="tx1"/>
                </a:solidFill>
                <a:effectLst/>
                <a:latin typeface="+mn-lt"/>
                <a:ea typeface="+mn-ea"/>
                <a:cs typeface="+mn-cs"/>
              </a:rPr>
              <a:t>contentType</a:t>
            </a:r>
            <a:r>
              <a:rPr lang="en-US" sz="1200" b="0" kern="1200" dirty="0">
                <a:solidFill>
                  <a:schemeClr val="tx1"/>
                </a:solidFill>
                <a:effectLst/>
                <a:latin typeface="+mn-lt"/>
                <a:ea typeface="+mn-ea"/>
                <a:cs typeface="+mn-cs"/>
              </a:rPr>
              <a:t>` tells it to expect a JSON in return. So the Consumer sends the following request:</a:t>
            </a:r>
          </a:p>
        </p:txBody>
      </p:sp>
      <p:sp>
        <p:nvSpPr>
          <p:cNvPr id="4" name="Slide Number Placeholder 3">
            <a:extLst>
              <a:ext uri="{FF2B5EF4-FFF2-40B4-BE49-F238E27FC236}">
                <a16:creationId xmlns:a16="http://schemas.microsoft.com/office/drawing/2014/main" id="{60F5B49E-4C5B-DE7B-7BEB-66472B8BC087}"/>
              </a:ext>
            </a:extLst>
          </p:cNvPr>
          <p:cNvSpPr>
            <a:spLocks noGrp="1"/>
          </p:cNvSpPr>
          <p:nvPr>
            <p:ph type="sldNum" sz="quarter" idx="5"/>
          </p:nvPr>
        </p:nvSpPr>
        <p:spPr/>
        <p:txBody>
          <a:bodyPr/>
          <a:lstStyle/>
          <a:p>
            <a:fld id="{F02165D8-144D-4958-A83E-0D86045592C5}" type="slidenum">
              <a:rPr lang="en-US" smtClean="0"/>
              <a:t>12</a:t>
            </a:fld>
            <a:endParaRPr lang="en-US"/>
          </a:p>
        </p:txBody>
      </p:sp>
    </p:spTree>
    <p:extLst>
      <p:ext uri="{BB962C8B-B14F-4D97-AF65-F5344CB8AC3E}">
        <p14:creationId xmlns:p14="http://schemas.microsoft.com/office/powerpoint/2010/main" val="2990256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726EB-7E71-8446-CBF6-275BFE60D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8A66BE-5029-1FDB-2E5D-42DB2803050C}"/>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08B7D17D-B69D-482B-CFFD-955C4980134F}"/>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Thing receives this, reads its internal sensor, and responds:</a:t>
            </a:r>
          </a:p>
        </p:txBody>
      </p:sp>
      <p:sp>
        <p:nvSpPr>
          <p:cNvPr id="4" name="Slide Number Placeholder 3">
            <a:extLst>
              <a:ext uri="{FF2B5EF4-FFF2-40B4-BE49-F238E27FC236}">
                <a16:creationId xmlns:a16="http://schemas.microsoft.com/office/drawing/2014/main" id="{9333C0F5-15EC-D907-72A9-4713D52AF84E}"/>
              </a:ext>
            </a:extLst>
          </p:cNvPr>
          <p:cNvSpPr>
            <a:spLocks noGrp="1"/>
          </p:cNvSpPr>
          <p:nvPr>
            <p:ph type="sldNum" sz="quarter" idx="5"/>
          </p:nvPr>
        </p:nvSpPr>
        <p:spPr/>
        <p:txBody>
          <a:bodyPr/>
          <a:lstStyle/>
          <a:p>
            <a:fld id="{F02165D8-144D-4958-A83E-0D86045592C5}" type="slidenum">
              <a:rPr lang="en-US" smtClean="0"/>
              <a:t>13</a:t>
            </a:fld>
            <a:endParaRPr lang="en-US"/>
          </a:p>
        </p:txBody>
      </p:sp>
    </p:spTree>
    <p:extLst>
      <p:ext uri="{BB962C8B-B14F-4D97-AF65-F5344CB8AC3E}">
        <p14:creationId xmlns:p14="http://schemas.microsoft.com/office/powerpoint/2010/main" val="2134272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1D248-9608-0F3D-78AD-74A63CE3F4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EE720-7011-62B7-7875-DE412536F708}"/>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21ADBF67-56CA-56C5-97FE-76D54D04A6E0}"/>
              </a:ext>
            </a:extLst>
          </p:cNvPr>
          <p:cNvSpPr>
            <a:spLocks noGrp="1"/>
          </p:cNvSpPr>
          <p:nvPr>
            <p:ph type="body" idx="1"/>
          </p:nvPr>
        </p:nvSpPr>
        <p:spPr/>
        <p:txBody>
          <a:bodyPr/>
          <a:lstStyle/>
          <a:p>
            <a:r>
              <a:rPr lang="en-DE" sz="1200" b="0" kern="1200" dirty="0">
                <a:solidFill>
                  <a:schemeClr val="tx1"/>
                </a:solidFill>
                <a:effectLst/>
                <a:latin typeface="+mn-lt"/>
                <a:ea typeface="+mn-ea"/>
                <a:cs typeface="+mn-cs"/>
              </a:rPr>
              <a:t>The Consumer parses the JSON body - a single number, exactly as the </a:t>
            </a:r>
            <a:r>
              <a:rPr lang="en-DE" sz="1200" b="0" kern="1200" dirty="0" err="1">
                <a:solidFill>
                  <a:schemeClr val="tx1"/>
                </a:solidFill>
                <a:effectLst/>
                <a:latin typeface="+mn-lt"/>
                <a:ea typeface="+mn-ea"/>
                <a:cs typeface="+mn-cs"/>
              </a:rPr>
              <a:t>coffeeBeansLeft</a:t>
            </a:r>
            <a:r>
              <a:rPr lang="en-DE" sz="1200" b="0" kern="1200" dirty="0">
                <a:solidFill>
                  <a:schemeClr val="tx1"/>
                </a:solidFill>
                <a:effectLst/>
                <a:latin typeface="+mn-lt"/>
                <a:ea typeface="+mn-ea"/>
                <a:cs typeface="+mn-cs"/>
              </a:rPr>
              <a:t> data schema ("type": "number") declared - and now has the value of 320 grams. The form told it how to fetch; the data schema told it what shape to expect.</a:t>
            </a:r>
          </a:p>
        </p:txBody>
      </p:sp>
      <p:sp>
        <p:nvSpPr>
          <p:cNvPr id="4" name="Slide Number Placeholder 3">
            <a:extLst>
              <a:ext uri="{FF2B5EF4-FFF2-40B4-BE49-F238E27FC236}">
                <a16:creationId xmlns:a16="http://schemas.microsoft.com/office/drawing/2014/main" id="{2889111A-17B2-2D61-C086-C84E7A53B3CD}"/>
              </a:ext>
            </a:extLst>
          </p:cNvPr>
          <p:cNvSpPr>
            <a:spLocks noGrp="1"/>
          </p:cNvSpPr>
          <p:nvPr>
            <p:ph type="sldNum" sz="quarter" idx="5"/>
          </p:nvPr>
        </p:nvSpPr>
        <p:spPr/>
        <p:txBody>
          <a:bodyPr/>
          <a:lstStyle/>
          <a:p>
            <a:fld id="{F02165D8-144D-4958-A83E-0D86045592C5}" type="slidenum">
              <a:rPr lang="en-US" smtClean="0"/>
              <a:t>14</a:t>
            </a:fld>
            <a:endParaRPr lang="en-US"/>
          </a:p>
        </p:txBody>
      </p:sp>
    </p:spTree>
    <p:extLst>
      <p:ext uri="{BB962C8B-B14F-4D97-AF65-F5344CB8AC3E}">
        <p14:creationId xmlns:p14="http://schemas.microsoft.com/office/powerpoint/2010/main" val="8603847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0E2B6-F630-6194-87D7-078D2B9AE0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2F3096-BDC3-A6D7-E9FD-1653972A01A2}"/>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CB91238E-C3EF-F3C8-F91E-378841E71CA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Here, the form tells the Consumer that it can read the property `</a:t>
            </a:r>
            <a:r>
              <a:rPr lang="en-US" sz="1200" b="0" kern="1200" dirty="0" err="1">
                <a:solidFill>
                  <a:schemeClr val="tx1"/>
                </a:solidFill>
                <a:effectLst/>
                <a:latin typeface="+mn-lt"/>
                <a:ea typeface="+mn-ea"/>
                <a:cs typeface="+mn-cs"/>
              </a:rPr>
              <a:t>coffeeBeansLeft</a:t>
            </a:r>
            <a:r>
              <a:rPr lang="en-US" sz="1200" b="0" kern="1200" dirty="0">
                <a:solidFill>
                  <a:schemeClr val="tx1"/>
                </a:solidFill>
                <a:effectLst/>
                <a:latin typeface="+mn-lt"/>
                <a:ea typeface="+mn-ea"/>
                <a:cs typeface="+mn-cs"/>
              </a:rPr>
              <a:t>` using HTTP and expects a JSON response. The HTTP method is explicitly defined using `</a:t>
            </a:r>
            <a:r>
              <a:rPr lang="en-US" sz="1200" b="0" kern="1200" dirty="0" err="1">
                <a:solidFill>
                  <a:schemeClr val="tx1"/>
                </a:solidFill>
                <a:effectLst/>
                <a:latin typeface="+mn-lt"/>
                <a:ea typeface="+mn-ea"/>
                <a:cs typeface="+mn-cs"/>
              </a:rPr>
              <a:t>htv:methodName</a:t>
            </a:r>
            <a:r>
              <a:rPr lang="en-US" sz="1200" b="0" kern="1200" dirty="0">
                <a:solidFill>
                  <a:schemeClr val="tx1"/>
                </a:solidFill>
                <a:effectLst/>
                <a:latin typeface="+mn-lt"/>
                <a:ea typeface="+mn-ea"/>
                <a:cs typeface="+mn-cs"/>
              </a:rPr>
              <a:t>` with the value `GET`, so the Consumer knows exactly which HTTP request method to use.</a:t>
            </a:r>
          </a:p>
          <a:p>
            <a:endParaRPr lang="en-DE" dirty="0"/>
          </a:p>
        </p:txBody>
      </p:sp>
      <p:sp>
        <p:nvSpPr>
          <p:cNvPr id="4" name="Slide Number Placeholder 3">
            <a:extLst>
              <a:ext uri="{FF2B5EF4-FFF2-40B4-BE49-F238E27FC236}">
                <a16:creationId xmlns:a16="http://schemas.microsoft.com/office/drawing/2014/main" id="{C34BE70F-FAF3-1167-9132-AC89D2F9775A}"/>
              </a:ext>
            </a:extLst>
          </p:cNvPr>
          <p:cNvSpPr>
            <a:spLocks noGrp="1"/>
          </p:cNvSpPr>
          <p:nvPr>
            <p:ph type="sldNum" sz="quarter" idx="5"/>
          </p:nvPr>
        </p:nvSpPr>
        <p:spPr/>
        <p:txBody>
          <a:bodyPr/>
          <a:lstStyle/>
          <a:p>
            <a:fld id="{F02165D8-144D-4958-A83E-0D86045592C5}" type="slidenum">
              <a:rPr lang="en-US" smtClean="0"/>
              <a:t>15</a:t>
            </a:fld>
            <a:endParaRPr lang="en-US"/>
          </a:p>
        </p:txBody>
      </p:sp>
    </p:spTree>
    <p:extLst>
      <p:ext uri="{BB962C8B-B14F-4D97-AF65-F5344CB8AC3E}">
        <p14:creationId xmlns:p14="http://schemas.microsoft.com/office/powerpoint/2010/main" val="2986553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FD403-0535-72D5-DE5A-92E33199E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9573DF-CEA3-8674-507D-C1A58B656B7E}"/>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C084FD85-B848-2AAB-D139-EF1182014F2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Here, the form tells the Consumer that it can read the property `</a:t>
            </a:r>
            <a:r>
              <a:rPr lang="en-US" sz="1200" b="0" kern="1200" dirty="0" err="1">
                <a:solidFill>
                  <a:schemeClr val="tx1"/>
                </a:solidFill>
                <a:effectLst/>
                <a:latin typeface="+mn-lt"/>
                <a:ea typeface="+mn-ea"/>
                <a:cs typeface="+mn-cs"/>
              </a:rPr>
              <a:t>coffeeBeansLeft</a:t>
            </a:r>
            <a:r>
              <a:rPr lang="en-US" sz="1200" b="0" kern="1200" dirty="0">
                <a:solidFill>
                  <a:schemeClr val="tx1"/>
                </a:solidFill>
                <a:effectLst/>
                <a:latin typeface="+mn-lt"/>
                <a:ea typeface="+mn-ea"/>
                <a:cs typeface="+mn-cs"/>
              </a:rPr>
              <a:t>` using HTTP and expects a JSON response. The HTTP method is explicitly defined using `</a:t>
            </a:r>
            <a:r>
              <a:rPr lang="en-US" sz="1200" b="0" kern="1200" dirty="0" err="1">
                <a:solidFill>
                  <a:schemeClr val="tx1"/>
                </a:solidFill>
                <a:effectLst/>
                <a:latin typeface="+mn-lt"/>
                <a:ea typeface="+mn-ea"/>
                <a:cs typeface="+mn-cs"/>
              </a:rPr>
              <a:t>htv:methodName</a:t>
            </a:r>
            <a:r>
              <a:rPr lang="en-US" sz="1200" b="0" kern="1200" dirty="0">
                <a:solidFill>
                  <a:schemeClr val="tx1"/>
                </a:solidFill>
                <a:effectLst/>
                <a:latin typeface="+mn-lt"/>
                <a:ea typeface="+mn-ea"/>
                <a:cs typeface="+mn-cs"/>
              </a:rPr>
              <a:t>` with the value `GET`, so the Consumer knows exactly which HTTP request method to use.</a:t>
            </a:r>
          </a:p>
          <a:p>
            <a:endParaRPr lang="en-DE" dirty="0"/>
          </a:p>
        </p:txBody>
      </p:sp>
      <p:sp>
        <p:nvSpPr>
          <p:cNvPr id="4" name="Slide Number Placeholder 3">
            <a:extLst>
              <a:ext uri="{FF2B5EF4-FFF2-40B4-BE49-F238E27FC236}">
                <a16:creationId xmlns:a16="http://schemas.microsoft.com/office/drawing/2014/main" id="{01836347-AC25-8032-7C94-3FFB52F5AF98}"/>
              </a:ext>
            </a:extLst>
          </p:cNvPr>
          <p:cNvSpPr>
            <a:spLocks noGrp="1"/>
          </p:cNvSpPr>
          <p:nvPr>
            <p:ph type="sldNum" sz="quarter" idx="5"/>
          </p:nvPr>
        </p:nvSpPr>
        <p:spPr/>
        <p:txBody>
          <a:bodyPr/>
          <a:lstStyle/>
          <a:p>
            <a:fld id="{F02165D8-144D-4958-A83E-0D86045592C5}" type="slidenum">
              <a:rPr lang="en-US" smtClean="0"/>
              <a:t>16</a:t>
            </a:fld>
            <a:endParaRPr lang="en-US"/>
          </a:p>
        </p:txBody>
      </p:sp>
    </p:spTree>
    <p:extLst>
      <p:ext uri="{BB962C8B-B14F-4D97-AF65-F5344CB8AC3E}">
        <p14:creationId xmlns:p14="http://schemas.microsoft.com/office/powerpoint/2010/main" val="30330341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8C316-279B-9318-BF93-65FBD89BCA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CAB733-0FD5-B527-D9FE-8269C27D2405}"/>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C2BD882F-24BE-EF75-FAA7-EE5C6D7E473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Here, the form tells the Consumer that it can read the property `</a:t>
            </a:r>
            <a:r>
              <a:rPr lang="en-US" sz="1200" b="0" kern="1200" dirty="0" err="1">
                <a:solidFill>
                  <a:schemeClr val="tx1"/>
                </a:solidFill>
                <a:effectLst/>
                <a:latin typeface="+mn-lt"/>
                <a:ea typeface="+mn-ea"/>
                <a:cs typeface="+mn-cs"/>
              </a:rPr>
              <a:t>coffeeBeansLeft</a:t>
            </a:r>
            <a:r>
              <a:rPr lang="en-US" sz="1200" b="0" kern="1200" dirty="0">
                <a:solidFill>
                  <a:schemeClr val="tx1"/>
                </a:solidFill>
                <a:effectLst/>
                <a:latin typeface="+mn-lt"/>
                <a:ea typeface="+mn-ea"/>
                <a:cs typeface="+mn-cs"/>
              </a:rPr>
              <a:t>` using HTTP and expects a JSON response. The HTTP method is explicitly defined using `</a:t>
            </a:r>
            <a:r>
              <a:rPr lang="en-US" sz="1200" b="0" kern="1200" dirty="0" err="1">
                <a:solidFill>
                  <a:schemeClr val="tx1"/>
                </a:solidFill>
                <a:effectLst/>
                <a:latin typeface="+mn-lt"/>
                <a:ea typeface="+mn-ea"/>
                <a:cs typeface="+mn-cs"/>
              </a:rPr>
              <a:t>htv:methodName</a:t>
            </a:r>
            <a:r>
              <a:rPr lang="en-US" sz="1200" b="0" kern="1200" dirty="0">
                <a:solidFill>
                  <a:schemeClr val="tx1"/>
                </a:solidFill>
                <a:effectLst/>
                <a:latin typeface="+mn-lt"/>
                <a:ea typeface="+mn-ea"/>
                <a:cs typeface="+mn-cs"/>
              </a:rPr>
              <a:t>` with the value `GET`, so the Consumer knows exactly which HTTP request method to use.</a:t>
            </a:r>
          </a:p>
          <a:p>
            <a:endParaRPr lang="en-DE" dirty="0"/>
          </a:p>
        </p:txBody>
      </p:sp>
      <p:sp>
        <p:nvSpPr>
          <p:cNvPr id="4" name="Slide Number Placeholder 3">
            <a:extLst>
              <a:ext uri="{FF2B5EF4-FFF2-40B4-BE49-F238E27FC236}">
                <a16:creationId xmlns:a16="http://schemas.microsoft.com/office/drawing/2014/main" id="{4C0502CB-363F-E27D-8028-A80EA3A6F093}"/>
              </a:ext>
            </a:extLst>
          </p:cNvPr>
          <p:cNvSpPr>
            <a:spLocks noGrp="1"/>
          </p:cNvSpPr>
          <p:nvPr>
            <p:ph type="sldNum" sz="quarter" idx="5"/>
          </p:nvPr>
        </p:nvSpPr>
        <p:spPr/>
        <p:txBody>
          <a:bodyPr/>
          <a:lstStyle/>
          <a:p>
            <a:fld id="{F02165D8-144D-4958-A83E-0D86045592C5}" type="slidenum">
              <a:rPr lang="en-US" smtClean="0"/>
              <a:t>17</a:t>
            </a:fld>
            <a:endParaRPr lang="en-US"/>
          </a:p>
        </p:txBody>
      </p:sp>
    </p:spTree>
    <p:extLst>
      <p:ext uri="{BB962C8B-B14F-4D97-AF65-F5344CB8AC3E}">
        <p14:creationId xmlns:p14="http://schemas.microsoft.com/office/powerpoint/2010/main" val="4121784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C903C-B687-031A-F0D2-B579A3170D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28C68-814E-90CD-D26E-74DC7AD862B0}"/>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AD9E7234-35EB-6BBB-9E81-F6E12BE6A8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Here, the form tells the Consumer that it can read the property `</a:t>
            </a:r>
            <a:r>
              <a:rPr lang="en-US" sz="1200" b="0" kern="1200" dirty="0" err="1">
                <a:solidFill>
                  <a:schemeClr val="tx1"/>
                </a:solidFill>
                <a:effectLst/>
                <a:latin typeface="+mn-lt"/>
                <a:ea typeface="+mn-ea"/>
                <a:cs typeface="+mn-cs"/>
              </a:rPr>
              <a:t>coffeeBeansLeft</a:t>
            </a:r>
            <a:r>
              <a:rPr lang="en-US" sz="1200" b="0" kern="1200" dirty="0">
                <a:solidFill>
                  <a:schemeClr val="tx1"/>
                </a:solidFill>
                <a:effectLst/>
                <a:latin typeface="+mn-lt"/>
                <a:ea typeface="+mn-ea"/>
                <a:cs typeface="+mn-cs"/>
              </a:rPr>
              <a:t>` using HTTP and expects a JSON response. The HTTP method is explicitly defined using `</a:t>
            </a:r>
            <a:r>
              <a:rPr lang="en-US" sz="1200" b="0" kern="1200" dirty="0" err="1">
                <a:solidFill>
                  <a:schemeClr val="tx1"/>
                </a:solidFill>
                <a:effectLst/>
                <a:latin typeface="+mn-lt"/>
                <a:ea typeface="+mn-ea"/>
                <a:cs typeface="+mn-cs"/>
              </a:rPr>
              <a:t>htv:methodName</a:t>
            </a:r>
            <a:r>
              <a:rPr lang="en-US" sz="1200" b="0" kern="1200" dirty="0">
                <a:solidFill>
                  <a:schemeClr val="tx1"/>
                </a:solidFill>
                <a:effectLst/>
                <a:latin typeface="+mn-lt"/>
                <a:ea typeface="+mn-ea"/>
                <a:cs typeface="+mn-cs"/>
              </a:rPr>
              <a:t>` with the value `GET`, so the Consumer knows exactly which HTTP request method to use.</a:t>
            </a:r>
          </a:p>
          <a:p>
            <a:endParaRPr lang="en-DE" dirty="0"/>
          </a:p>
        </p:txBody>
      </p:sp>
      <p:sp>
        <p:nvSpPr>
          <p:cNvPr id="4" name="Slide Number Placeholder 3">
            <a:extLst>
              <a:ext uri="{FF2B5EF4-FFF2-40B4-BE49-F238E27FC236}">
                <a16:creationId xmlns:a16="http://schemas.microsoft.com/office/drawing/2014/main" id="{9CBA9B11-DEF7-FB41-2F22-0654DED64DD1}"/>
              </a:ext>
            </a:extLst>
          </p:cNvPr>
          <p:cNvSpPr>
            <a:spLocks noGrp="1"/>
          </p:cNvSpPr>
          <p:nvPr>
            <p:ph type="sldNum" sz="quarter" idx="5"/>
          </p:nvPr>
        </p:nvSpPr>
        <p:spPr/>
        <p:txBody>
          <a:bodyPr/>
          <a:lstStyle/>
          <a:p>
            <a:fld id="{F02165D8-144D-4958-A83E-0D86045592C5}" type="slidenum">
              <a:rPr lang="en-US" smtClean="0"/>
              <a:t>18</a:t>
            </a:fld>
            <a:endParaRPr lang="en-US"/>
          </a:p>
        </p:txBody>
      </p:sp>
    </p:spTree>
    <p:extLst>
      <p:ext uri="{BB962C8B-B14F-4D97-AF65-F5344CB8AC3E}">
        <p14:creationId xmlns:p14="http://schemas.microsoft.com/office/powerpoint/2010/main" val="4771921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Now the Consumer wants to invoke the `</a:t>
            </a:r>
            <a:r>
              <a:rPr lang="en-US" sz="1200" b="0" kern="1200" dirty="0" err="1">
                <a:solidFill>
                  <a:schemeClr val="tx1"/>
                </a:solidFill>
                <a:effectLst/>
                <a:latin typeface="+mn-lt"/>
                <a:ea typeface="+mn-ea"/>
                <a:cs typeface="+mn-cs"/>
              </a:rPr>
              <a:t>brewCoffee</a:t>
            </a:r>
            <a:r>
              <a:rPr lang="en-US" sz="1200" b="0" kern="1200" dirty="0">
                <a:solidFill>
                  <a:schemeClr val="tx1"/>
                </a:solidFill>
                <a:effectLst/>
                <a:latin typeface="+mn-lt"/>
                <a:ea typeface="+mn-ea"/>
                <a:cs typeface="+mn-cs"/>
              </a:rPr>
              <a:t>` action. </a:t>
            </a:r>
          </a:p>
        </p:txBody>
      </p:sp>
      <p:sp>
        <p:nvSpPr>
          <p:cNvPr id="4" name="Slide Number Placeholder 3"/>
          <p:cNvSpPr>
            <a:spLocks noGrp="1"/>
          </p:cNvSpPr>
          <p:nvPr>
            <p:ph type="sldNum" sz="quarter" idx="5"/>
          </p:nvPr>
        </p:nvSpPr>
        <p:spPr/>
        <p:txBody>
          <a:bodyPr/>
          <a:lstStyle/>
          <a:p>
            <a:fld id="{F02165D8-144D-4958-A83E-0D86045592C5}" type="slidenum">
              <a:rPr lang="en-US" smtClean="0"/>
              <a:t>19</a:t>
            </a:fld>
            <a:endParaRPr lang="en-US"/>
          </a:p>
        </p:txBody>
      </p:sp>
    </p:spTree>
    <p:extLst>
      <p:ext uri="{BB962C8B-B14F-4D97-AF65-F5344CB8AC3E}">
        <p14:creationId xmlns:p14="http://schemas.microsoft.com/office/powerpoint/2010/main" val="6298698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85B6F-BC36-271A-99DA-F903570D61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2C03BF-A103-87B4-F272-B132C262BABE}"/>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31D40F0F-02FD-A259-82CC-8E08926E7C24}"/>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Consumer reads this form just like before - but now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starts with `</a:t>
            </a:r>
            <a:r>
              <a:rPr lang="en-US" sz="1200" b="0" kern="1200" dirty="0" err="1">
                <a:solidFill>
                  <a:schemeClr val="tx1"/>
                </a:solidFill>
                <a:effectLst/>
                <a:latin typeface="+mn-lt"/>
                <a:ea typeface="+mn-ea"/>
                <a:cs typeface="+mn-cs"/>
              </a:rPr>
              <a:t>coap</a:t>
            </a:r>
            <a:r>
              <a:rPr lang="en-US" sz="1200" b="0" kern="1200" dirty="0">
                <a:solidFill>
                  <a:schemeClr val="tx1"/>
                </a:solidFill>
                <a:effectLst/>
                <a:latin typeface="+mn-lt"/>
                <a:ea typeface="+mn-ea"/>
                <a:cs typeface="+mn-cs"/>
              </a:rPr>
              <a:t>://`, so it knows to use CoAP instead of HTTP. The `</a:t>
            </a:r>
            <a:r>
              <a:rPr lang="en-US" sz="1200" b="0" kern="1200" dirty="0" err="1">
                <a:solidFill>
                  <a:schemeClr val="tx1"/>
                </a:solidFill>
                <a:effectLst/>
                <a:latin typeface="+mn-lt"/>
                <a:ea typeface="+mn-ea"/>
                <a:cs typeface="+mn-cs"/>
              </a:rPr>
              <a:t>cov:method</a:t>
            </a:r>
            <a:r>
              <a:rPr lang="en-US" sz="1200" b="0" kern="1200" dirty="0">
                <a:solidFill>
                  <a:schemeClr val="tx1"/>
                </a:solidFill>
                <a:effectLst/>
                <a:latin typeface="+mn-lt"/>
                <a:ea typeface="+mn-ea"/>
                <a:cs typeface="+mn-cs"/>
              </a:rPr>
              <a:t>` field says `POST`. The </a:t>
            </a:r>
            <a:r>
              <a:rPr lang="en-US" sz="1200" b="0" kern="1200" dirty="0" err="1">
                <a:solidFill>
                  <a:schemeClr val="tx1"/>
                </a:solidFill>
                <a:effectLst/>
                <a:latin typeface="+mn-lt"/>
                <a:ea typeface="+mn-ea"/>
                <a:cs typeface="+mn-cs"/>
              </a:rPr>
              <a:t>contentType</a:t>
            </a:r>
            <a:r>
              <a:rPr lang="en-US" sz="1200" b="0" kern="1200" dirty="0">
                <a:solidFill>
                  <a:schemeClr val="tx1"/>
                </a:solidFill>
                <a:effectLst/>
                <a:latin typeface="+mn-lt"/>
                <a:ea typeface="+mn-ea"/>
                <a:cs typeface="+mn-cs"/>
              </a:rPr>
              <a:t> is application/</a:t>
            </a:r>
            <a:r>
              <a:rPr lang="en-US" sz="1200" b="0" kern="1200" dirty="0" err="1">
                <a:solidFill>
                  <a:schemeClr val="tx1"/>
                </a:solidFill>
                <a:effectLst/>
                <a:latin typeface="+mn-lt"/>
                <a:ea typeface="+mn-ea"/>
                <a:cs typeface="+mn-cs"/>
              </a:rPr>
              <a:t>cbor</a:t>
            </a:r>
            <a:r>
              <a:rPr lang="en-US" sz="1200" b="0" kern="1200" dirty="0">
                <a:solidFill>
                  <a:schemeClr val="tx1"/>
                </a:solidFill>
                <a:effectLst/>
                <a:latin typeface="+mn-lt"/>
                <a:ea typeface="+mn-ea"/>
                <a:cs typeface="+mn-cs"/>
              </a:rPr>
              <a:t>, so this time the Consumer encodes the action input in CBOR.</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resulting CoAP message looks something like this:</a:t>
            </a:r>
          </a:p>
        </p:txBody>
      </p:sp>
      <p:sp>
        <p:nvSpPr>
          <p:cNvPr id="4" name="Slide Number Placeholder 3">
            <a:extLst>
              <a:ext uri="{FF2B5EF4-FFF2-40B4-BE49-F238E27FC236}">
                <a16:creationId xmlns:a16="http://schemas.microsoft.com/office/drawing/2014/main" id="{A79D0D53-816D-6E45-6A73-66D990554149}"/>
              </a:ext>
            </a:extLst>
          </p:cNvPr>
          <p:cNvSpPr>
            <a:spLocks noGrp="1"/>
          </p:cNvSpPr>
          <p:nvPr>
            <p:ph type="sldNum" sz="quarter" idx="5"/>
          </p:nvPr>
        </p:nvSpPr>
        <p:spPr/>
        <p:txBody>
          <a:bodyPr/>
          <a:lstStyle/>
          <a:p>
            <a:fld id="{F02165D8-144D-4958-A83E-0D86045592C5}" type="slidenum">
              <a:rPr lang="en-US" smtClean="0"/>
              <a:t>20</a:t>
            </a:fld>
            <a:endParaRPr lang="en-US"/>
          </a:p>
        </p:txBody>
      </p:sp>
    </p:spTree>
    <p:extLst>
      <p:ext uri="{BB962C8B-B14F-4D97-AF65-F5344CB8AC3E}">
        <p14:creationId xmlns:p14="http://schemas.microsoft.com/office/powerpoint/2010/main" val="38175339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D0360-50E4-BE8D-32F7-6EC6EF024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03A15-81F1-CE70-55D4-4D7718726B92}"/>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2CCFECED-0501-859A-B8B8-52E8646008EF}"/>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Consumer reads this form just like before - but now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starts with `</a:t>
            </a:r>
            <a:r>
              <a:rPr lang="en-US" sz="1200" b="0" kern="1200" dirty="0" err="1">
                <a:solidFill>
                  <a:schemeClr val="tx1"/>
                </a:solidFill>
                <a:effectLst/>
                <a:latin typeface="+mn-lt"/>
                <a:ea typeface="+mn-ea"/>
                <a:cs typeface="+mn-cs"/>
              </a:rPr>
              <a:t>coap</a:t>
            </a:r>
            <a:r>
              <a:rPr lang="en-US" sz="1200" b="0" kern="1200" dirty="0">
                <a:solidFill>
                  <a:schemeClr val="tx1"/>
                </a:solidFill>
                <a:effectLst/>
                <a:latin typeface="+mn-lt"/>
                <a:ea typeface="+mn-ea"/>
                <a:cs typeface="+mn-cs"/>
              </a:rPr>
              <a:t>://`, so it knows to use CoAP instead of HTTP. The `</a:t>
            </a:r>
            <a:r>
              <a:rPr lang="en-US" sz="1200" b="0" kern="1200" dirty="0" err="1">
                <a:solidFill>
                  <a:schemeClr val="tx1"/>
                </a:solidFill>
                <a:effectLst/>
                <a:latin typeface="+mn-lt"/>
                <a:ea typeface="+mn-ea"/>
                <a:cs typeface="+mn-cs"/>
              </a:rPr>
              <a:t>cov:method</a:t>
            </a:r>
            <a:r>
              <a:rPr lang="en-US" sz="1200" b="0" kern="1200" dirty="0">
                <a:solidFill>
                  <a:schemeClr val="tx1"/>
                </a:solidFill>
                <a:effectLst/>
                <a:latin typeface="+mn-lt"/>
                <a:ea typeface="+mn-ea"/>
                <a:cs typeface="+mn-cs"/>
              </a:rPr>
              <a:t>` field says `POST`. The </a:t>
            </a:r>
            <a:r>
              <a:rPr lang="en-US" sz="1200" b="0" kern="1200" dirty="0" err="1">
                <a:solidFill>
                  <a:schemeClr val="tx1"/>
                </a:solidFill>
                <a:effectLst/>
                <a:latin typeface="+mn-lt"/>
                <a:ea typeface="+mn-ea"/>
                <a:cs typeface="+mn-cs"/>
              </a:rPr>
              <a:t>contentType</a:t>
            </a:r>
            <a:r>
              <a:rPr lang="en-US" sz="1200" b="0" kern="1200" dirty="0">
                <a:solidFill>
                  <a:schemeClr val="tx1"/>
                </a:solidFill>
                <a:effectLst/>
                <a:latin typeface="+mn-lt"/>
                <a:ea typeface="+mn-ea"/>
                <a:cs typeface="+mn-cs"/>
              </a:rPr>
              <a:t> is application/</a:t>
            </a:r>
            <a:r>
              <a:rPr lang="en-US" sz="1200" b="0" kern="1200" dirty="0" err="1">
                <a:solidFill>
                  <a:schemeClr val="tx1"/>
                </a:solidFill>
                <a:effectLst/>
                <a:latin typeface="+mn-lt"/>
                <a:ea typeface="+mn-ea"/>
                <a:cs typeface="+mn-cs"/>
              </a:rPr>
              <a:t>cbor</a:t>
            </a:r>
            <a:r>
              <a:rPr lang="en-US" sz="1200" b="0" kern="1200" dirty="0">
                <a:solidFill>
                  <a:schemeClr val="tx1"/>
                </a:solidFill>
                <a:effectLst/>
                <a:latin typeface="+mn-lt"/>
                <a:ea typeface="+mn-ea"/>
                <a:cs typeface="+mn-cs"/>
              </a:rPr>
              <a:t>, so this time the Consumer encodes the action input in CBOR.</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resulting CoAP message looks something like this:</a:t>
            </a:r>
          </a:p>
        </p:txBody>
      </p:sp>
      <p:sp>
        <p:nvSpPr>
          <p:cNvPr id="4" name="Slide Number Placeholder 3">
            <a:extLst>
              <a:ext uri="{FF2B5EF4-FFF2-40B4-BE49-F238E27FC236}">
                <a16:creationId xmlns:a16="http://schemas.microsoft.com/office/drawing/2014/main" id="{3175BBB2-5CF7-B590-6C60-30B9430DBEDC}"/>
              </a:ext>
            </a:extLst>
          </p:cNvPr>
          <p:cNvSpPr>
            <a:spLocks noGrp="1"/>
          </p:cNvSpPr>
          <p:nvPr>
            <p:ph type="sldNum" sz="quarter" idx="5"/>
          </p:nvPr>
        </p:nvSpPr>
        <p:spPr/>
        <p:txBody>
          <a:bodyPr/>
          <a:lstStyle/>
          <a:p>
            <a:fld id="{F02165D8-144D-4958-A83E-0D86045592C5}" type="slidenum">
              <a:rPr lang="en-US" smtClean="0"/>
              <a:t>21</a:t>
            </a:fld>
            <a:endParaRPr lang="en-US"/>
          </a:p>
        </p:txBody>
      </p:sp>
    </p:spTree>
    <p:extLst>
      <p:ext uri="{BB962C8B-B14F-4D97-AF65-F5344CB8AC3E}">
        <p14:creationId xmlns:p14="http://schemas.microsoft.com/office/powerpoint/2010/main" val="35762080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AE910-A9B0-397C-5137-C390F6AB2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DB8EBF-5E55-D263-B35E-A9D730CB6229}"/>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8084B45F-CBD6-C322-6B05-1823CC42DD00}"/>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Consumer reads this form just like before - but now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starts with `</a:t>
            </a:r>
            <a:r>
              <a:rPr lang="en-US" sz="1200" b="0" kern="1200" dirty="0" err="1">
                <a:solidFill>
                  <a:schemeClr val="tx1"/>
                </a:solidFill>
                <a:effectLst/>
                <a:latin typeface="+mn-lt"/>
                <a:ea typeface="+mn-ea"/>
                <a:cs typeface="+mn-cs"/>
              </a:rPr>
              <a:t>coap</a:t>
            </a:r>
            <a:r>
              <a:rPr lang="en-US" sz="1200" b="0" kern="1200" dirty="0">
                <a:solidFill>
                  <a:schemeClr val="tx1"/>
                </a:solidFill>
                <a:effectLst/>
                <a:latin typeface="+mn-lt"/>
                <a:ea typeface="+mn-ea"/>
                <a:cs typeface="+mn-cs"/>
              </a:rPr>
              <a:t>://`, so it knows to use CoAP instead of HTTP. The `</a:t>
            </a:r>
            <a:r>
              <a:rPr lang="en-US" sz="1200" b="0" kern="1200" dirty="0" err="1">
                <a:solidFill>
                  <a:schemeClr val="tx1"/>
                </a:solidFill>
                <a:effectLst/>
                <a:latin typeface="+mn-lt"/>
                <a:ea typeface="+mn-ea"/>
                <a:cs typeface="+mn-cs"/>
              </a:rPr>
              <a:t>cov:method</a:t>
            </a:r>
            <a:r>
              <a:rPr lang="en-US" sz="1200" b="0" kern="1200" dirty="0">
                <a:solidFill>
                  <a:schemeClr val="tx1"/>
                </a:solidFill>
                <a:effectLst/>
                <a:latin typeface="+mn-lt"/>
                <a:ea typeface="+mn-ea"/>
                <a:cs typeface="+mn-cs"/>
              </a:rPr>
              <a:t>` field says `POST`. The </a:t>
            </a:r>
            <a:r>
              <a:rPr lang="en-US" sz="1200" b="0" kern="1200" dirty="0" err="1">
                <a:solidFill>
                  <a:schemeClr val="tx1"/>
                </a:solidFill>
                <a:effectLst/>
                <a:latin typeface="+mn-lt"/>
                <a:ea typeface="+mn-ea"/>
                <a:cs typeface="+mn-cs"/>
              </a:rPr>
              <a:t>contentType</a:t>
            </a:r>
            <a:r>
              <a:rPr lang="en-US" sz="1200" b="0" kern="1200" dirty="0">
                <a:solidFill>
                  <a:schemeClr val="tx1"/>
                </a:solidFill>
                <a:effectLst/>
                <a:latin typeface="+mn-lt"/>
                <a:ea typeface="+mn-ea"/>
                <a:cs typeface="+mn-cs"/>
              </a:rPr>
              <a:t> is application/</a:t>
            </a:r>
            <a:r>
              <a:rPr lang="en-US" sz="1200" b="0" kern="1200" dirty="0" err="1">
                <a:solidFill>
                  <a:schemeClr val="tx1"/>
                </a:solidFill>
                <a:effectLst/>
                <a:latin typeface="+mn-lt"/>
                <a:ea typeface="+mn-ea"/>
                <a:cs typeface="+mn-cs"/>
              </a:rPr>
              <a:t>cbor</a:t>
            </a:r>
            <a:r>
              <a:rPr lang="en-US" sz="1200" b="0" kern="1200" dirty="0">
                <a:solidFill>
                  <a:schemeClr val="tx1"/>
                </a:solidFill>
                <a:effectLst/>
                <a:latin typeface="+mn-lt"/>
                <a:ea typeface="+mn-ea"/>
                <a:cs typeface="+mn-cs"/>
              </a:rPr>
              <a:t>, so this time the Consumer encodes the action input in CBOR.</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resulting CoAP message looks something like this:</a:t>
            </a:r>
          </a:p>
        </p:txBody>
      </p:sp>
      <p:sp>
        <p:nvSpPr>
          <p:cNvPr id="4" name="Slide Number Placeholder 3">
            <a:extLst>
              <a:ext uri="{FF2B5EF4-FFF2-40B4-BE49-F238E27FC236}">
                <a16:creationId xmlns:a16="http://schemas.microsoft.com/office/drawing/2014/main" id="{D721D213-AD0F-CC88-3569-EDD95F3BF2F0}"/>
              </a:ext>
            </a:extLst>
          </p:cNvPr>
          <p:cNvSpPr>
            <a:spLocks noGrp="1"/>
          </p:cNvSpPr>
          <p:nvPr>
            <p:ph type="sldNum" sz="quarter" idx="5"/>
          </p:nvPr>
        </p:nvSpPr>
        <p:spPr/>
        <p:txBody>
          <a:bodyPr/>
          <a:lstStyle/>
          <a:p>
            <a:fld id="{F02165D8-144D-4958-A83E-0D86045592C5}" type="slidenum">
              <a:rPr lang="en-US" smtClean="0"/>
              <a:t>22</a:t>
            </a:fld>
            <a:endParaRPr lang="en-US"/>
          </a:p>
        </p:txBody>
      </p:sp>
    </p:spTree>
    <p:extLst>
      <p:ext uri="{BB962C8B-B14F-4D97-AF65-F5344CB8AC3E}">
        <p14:creationId xmlns:p14="http://schemas.microsoft.com/office/powerpoint/2010/main" val="28285042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B62FB-A56E-1D83-F7BE-63663BB850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DDD11-C15A-FB69-8F02-0D68958C3D01}"/>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3E0BA0F2-2430-8C06-80C3-D461986B5ADF}"/>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Consumer reads this form just like before - but now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starts with `</a:t>
            </a:r>
            <a:r>
              <a:rPr lang="en-US" sz="1200" b="0" kern="1200" dirty="0" err="1">
                <a:solidFill>
                  <a:schemeClr val="tx1"/>
                </a:solidFill>
                <a:effectLst/>
                <a:latin typeface="+mn-lt"/>
                <a:ea typeface="+mn-ea"/>
                <a:cs typeface="+mn-cs"/>
              </a:rPr>
              <a:t>coap</a:t>
            </a:r>
            <a:r>
              <a:rPr lang="en-US" sz="1200" b="0" kern="1200" dirty="0">
                <a:solidFill>
                  <a:schemeClr val="tx1"/>
                </a:solidFill>
                <a:effectLst/>
                <a:latin typeface="+mn-lt"/>
                <a:ea typeface="+mn-ea"/>
                <a:cs typeface="+mn-cs"/>
              </a:rPr>
              <a:t>://`, so it knows to use CoAP instead of HTTP. The `</a:t>
            </a:r>
            <a:r>
              <a:rPr lang="en-US" sz="1200" b="0" kern="1200" dirty="0" err="1">
                <a:solidFill>
                  <a:schemeClr val="tx1"/>
                </a:solidFill>
                <a:effectLst/>
                <a:latin typeface="+mn-lt"/>
                <a:ea typeface="+mn-ea"/>
                <a:cs typeface="+mn-cs"/>
              </a:rPr>
              <a:t>cov:method</a:t>
            </a:r>
            <a:r>
              <a:rPr lang="en-US" sz="1200" b="0" kern="1200" dirty="0">
                <a:solidFill>
                  <a:schemeClr val="tx1"/>
                </a:solidFill>
                <a:effectLst/>
                <a:latin typeface="+mn-lt"/>
                <a:ea typeface="+mn-ea"/>
                <a:cs typeface="+mn-cs"/>
              </a:rPr>
              <a:t>` field says `POST`. The </a:t>
            </a:r>
            <a:r>
              <a:rPr lang="en-US" sz="1200" b="0" kern="1200" dirty="0" err="1">
                <a:solidFill>
                  <a:schemeClr val="tx1"/>
                </a:solidFill>
                <a:effectLst/>
                <a:latin typeface="+mn-lt"/>
                <a:ea typeface="+mn-ea"/>
                <a:cs typeface="+mn-cs"/>
              </a:rPr>
              <a:t>contentType</a:t>
            </a:r>
            <a:r>
              <a:rPr lang="en-US" sz="1200" b="0" kern="1200" dirty="0">
                <a:solidFill>
                  <a:schemeClr val="tx1"/>
                </a:solidFill>
                <a:effectLst/>
                <a:latin typeface="+mn-lt"/>
                <a:ea typeface="+mn-ea"/>
                <a:cs typeface="+mn-cs"/>
              </a:rPr>
              <a:t> is application/</a:t>
            </a:r>
            <a:r>
              <a:rPr lang="en-US" sz="1200" b="0" kern="1200" dirty="0" err="1">
                <a:solidFill>
                  <a:schemeClr val="tx1"/>
                </a:solidFill>
                <a:effectLst/>
                <a:latin typeface="+mn-lt"/>
                <a:ea typeface="+mn-ea"/>
                <a:cs typeface="+mn-cs"/>
              </a:rPr>
              <a:t>cbor</a:t>
            </a:r>
            <a:r>
              <a:rPr lang="en-US" sz="1200" b="0" kern="1200" dirty="0">
                <a:solidFill>
                  <a:schemeClr val="tx1"/>
                </a:solidFill>
                <a:effectLst/>
                <a:latin typeface="+mn-lt"/>
                <a:ea typeface="+mn-ea"/>
                <a:cs typeface="+mn-cs"/>
              </a:rPr>
              <a:t>, so this time the Consumer encodes the action input in CBOR.</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resulting CoAP message looks something like this:</a:t>
            </a:r>
          </a:p>
        </p:txBody>
      </p:sp>
      <p:sp>
        <p:nvSpPr>
          <p:cNvPr id="4" name="Slide Number Placeholder 3">
            <a:extLst>
              <a:ext uri="{FF2B5EF4-FFF2-40B4-BE49-F238E27FC236}">
                <a16:creationId xmlns:a16="http://schemas.microsoft.com/office/drawing/2014/main" id="{A1DCFDCE-5DDC-81E3-2306-865C470F1BC4}"/>
              </a:ext>
            </a:extLst>
          </p:cNvPr>
          <p:cNvSpPr>
            <a:spLocks noGrp="1"/>
          </p:cNvSpPr>
          <p:nvPr>
            <p:ph type="sldNum" sz="quarter" idx="5"/>
          </p:nvPr>
        </p:nvSpPr>
        <p:spPr/>
        <p:txBody>
          <a:bodyPr/>
          <a:lstStyle/>
          <a:p>
            <a:fld id="{F02165D8-144D-4958-A83E-0D86045592C5}" type="slidenum">
              <a:rPr lang="en-US" smtClean="0"/>
              <a:t>23</a:t>
            </a:fld>
            <a:endParaRPr lang="en-US"/>
          </a:p>
        </p:txBody>
      </p:sp>
    </p:spTree>
    <p:extLst>
      <p:ext uri="{BB962C8B-B14F-4D97-AF65-F5344CB8AC3E}">
        <p14:creationId xmlns:p14="http://schemas.microsoft.com/office/powerpoint/2010/main" val="38265164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9BA70-E95E-04A5-3CE4-92271257E5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E097B7-3701-1108-59FD-DD43BED87314}"/>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6ED8E6AD-8318-710C-64FE-411FFA976610}"/>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Consumer reads this form just like before - but now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starts with `</a:t>
            </a:r>
            <a:r>
              <a:rPr lang="en-US" sz="1200" b="0" kern="1200" dirty="0" err="1">
                <a:solidFill>
                  <a:schemeClr val="tx1"/>
                </a:solidFill>
                <a:effectLst/>
                <a:latin typeface="+mn-lt"/>
                <a:ea typeface="+mn-ea"/>
                <a:cs typeface="+mn-cs"/>
              </a:rPr>
              <a:t>coap</a:t>
            </a:r>
            <a:r>
              <a:rPr lang="en-US" sz="1200" b="0" kern="1200" dirty="0">
                <a:solidFill>
                  <a:schemeClr val="tx1"/>
                </a:solidFill>
                <a:effectLst/>
                <a:latin typeface="+mn-lt"/>
                <a:ea typeface="+mn-ea"/>
                <a:cs typeface="+mn-cs"/>
              </a:rPr>
              <a:t>://`, so it knows to use CoAP instead of HTTP. The `</a:t>
            </a:r>
            <a:r>
              <a:rPr lang="en-US" sz="1200" b="0" kern="1200" dirty="0" err="1">
                <a:solidFill>
                  <a:schemeClr val="tx1"/>
                </a:solidFill>
                <a:effectLst/>
                <a:latin typeface="+mn-lt"/>
                <a:ea typeface="+mn-ea"/>
                <a:cs typeface="+mn-cs"/>
              </a:rPr>
              <a:t>cov:method</a:t>
            </a:r>
            <a:r>
              <a:rPr lang="en-US" sz="1200" b="0" kern="1200" dirty="0">
                <a:solidFill>
                  <a:schemeClr val="tx1"/>
                </a:solidFill>
                <a:effectLst/>
                <a:latin typeface="+mn-lt"/>
                <a:ea typeface="+mn-ea"/>
                <a:cs typeface="+mn-cs"/>
              </a:rPr>
              <a:t>` field says `POST`. The </a:t>
            </a:r>
            <a:r>
              <a:rPr lang="en-US" sz="1200" b="0" kern="1200" dirty="0" err="1">
                <a:solidFill>
                  <a:schemeClr val="tx1"/>
                </a:solidFill>
                <a:effectLst/>
                <a:latin typeface="+mn-lt"/>
                <a:ea typeface="+mn-ea"/>
                <a:cs typeface="+mn-cs"/>
              </a:rPr>
              <a:t>contentType</a:t>
            </a:r>
            <a:r>
              <a:rPr lang="en-US" sz="1200" b="0" kern="1200" dirty="0">
                <a:solidFill>
                  <a:schemeClr val="tx1"/>
                </a:solidFill>
                <a:effectLst/>
                <a:latin typeface="+mn-lt"/>
                <a:ea typeface="+mn-ea"/>
                <a:cs typeface="+mn-cs"/>
              </a:rPr>
              <a:t> is application/</a:t>
            </a:r>
            <a:r>
              <a:rPr lang="en-US" sz="1200" b="0" kern="1200" dirty="0" err="1">
                <a:solidFill>
                  <a:schemeClr val="tx1"/>
                </a:solidFill>
                <a:effectLst/>
                <a:latin typeface="+mn-lt"/>
                <a:ea typeface="+mn-ea"/>
                <a:cs typeface="+mn-cs"/>
              </a:rPr>
              <a:t>cbor</a:t>
            </a:r>
            <a:r>
              <a:rPr lang="en-US" sz="1200" b="0" kern="1200" dirty="0">
                <a:solidFill>
                  <a:schemeClr val="tx1"/>
                </a:solidFill>
                <a:effectLst/>
                <a:latin typeface="+mn-lt"/>
                <a:ea typeface="+mn-ea"/>
                <a:cs typeface="+mn-cs"/>
              </a:rPr>
              <a:t>, so this time the Consumer encodes the action input for a medium sized coffee in CBOR.</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resulting CoAP message looks something like this:</a:t>
            </a:r>
          </a:p>
        </p:txBody>
      </p:sp>
      <p:sp>
        <p:nvSpPr>
          <p:cNvPr id="4" name="Slide Number Placeholder 3">
            <a:extLst>
              <a:ext uri="{FF2B5EF4-FFF2-40B4-BE49-F238E27FC236}">
                <a16:creationId xmlns:a16="http://schemas.microsoft.com/office/drawing/2014/main" id="{E0688D02-9E87-5B67-FDA7-FC4FA5355841}"/>
              </a:ext>
            </a:extLst>
          </p:cNvPr>
          <p:cNvSpPr>
            <a:spLocks noGrp="1"/>
          </p:cNvSpPr>
          <p:nvPr>
            <p:ph type="sldNum" sz="quarter" idx="5"/>
          </p:nvPr>
        </p:nvSpPr>
        <p:spPr/>
        <p:txBody>
          <a:bodyPr/>
          <a:lstStyle/>
          <a:p>
            <a:fld id="{F02165D8-144D-4958-A83E-0D86045592C5}" type="slidenum">
              <a:rPr lang="en-US" smtClean="0"/>
              <a:t>24</a:t>
            </a:fld>
            <a:endParaRPr lang="en-US"/>
          </a:p>
        </p:txBody>
      </p:sp>
    </p:spTree>
    <p:extLst>
      <p:ext uri="{BB962C8B-B14F-4D97-AF65-F5344CB8AC3E}">
        <p14:creationId xmlns:p14="http://schemas.microsoft.com/office/powerpoint/2010/main" val="34775083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B769A-E175-6781-D35E-71CD1B92C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7F23E9-434F-B81D-2426-F53D79E78B46}"/>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97A50BDF-6A4C-51A0-CA37-94ECF1D1AC54}"/>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Thing receives the message and sends back a CoAP response with code `2.04 Changed`, confirming the action was accepted. From the Consumer's perspective, this was identical to invoking the HTTP action - it performed an </a:t>
            </a:r>
            <a:r>
              <a:rPr lang="en-US" sz="1200" b="0" kern="1200" dirty="0" err="1">
                <a:solidFill>
                  <a:schemeClr val="tx1"/>
                </a:solidFill>
                <a:effectLst/>
                <a:latin typeface="+mn-lt"/>
                <a:ea typeface="+mn-ea"/>
                <a:cs typeface="+mn-cs"/>
              </a:rPr>
              <a:t>invokeaction</a:t>
            </a:r>
            <a:r>
              <a:rPr lang="en-US" sz="1200" b="0" kern="1200" dirty="0">
                <a:solidFill>
                  <a:schemeClr val="tx1"/>
                </a:solidFill>
                <a:effectLst/>
                <a:latin typeface="+mn-lt"/>
                <a:ea typeface="+mn-ea"/>
                <a:cs typeface="+mn-cs"/>
              </a:rPr>
              <a:t> operation and got a success response. The fact that it used CoAP instead of HTTP, or CBOR instead of JSON, was determined entirely by what was written in the form.</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8C42EC3-CA6B-3A61-BB9C-496BC145918B}"/>
              </a:ext>
            </a:extLst>
          </p:cNvPr>
          <p:cNvSpPr>
            <a:spLocks noGrp="1"/>
          </p:cNvSpPr>
          <p:nvPr>
            <p:ph type="sldNum" sz="quarter" idx="5"/>
          </p:nvPr>
        </p:nvSpPr>
        <p:spPr/>
        <p:txBody>
          <a:bodyPr/>
          <a:lstStyle/>
          <a:p>
            <a:fld id="{F02165D8-144D-4958-A83E-0D86045592C5}" type="slidenum">
              <a:rPr lang="en-US" smtClean="0"/>
              <a:t>25</a:t>
            </a:fld>
            <a:endParaRPr lang="en-US"/>
          </a:p>
        </p:txBody>
      </p:sp>
    </p:spTree>
    <p:extLst>
      <p:ext uri="{BB962C8B-B14F-4D97-AF65-F5344CB8AC3E}">
        <p14:creationId xmlns:p14="http://schemas.microsoft.com/office/powerpoint/2010/main" val="9104895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42D7C-F985-D169-C652-9B32019379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6C9C4E-91FC-D201-DF55-95D68CE44B6F}"/>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61492ACA-2928-D1CD-7E70-013F76262387}"/>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Thing receives the message and sends back a CoAP response with code `2.04 Changed`, confirming the action was accepted. From the Consumer's perspective, this was identical to invoking the HTTP action - it performed an </a:t>
            </a:r>
            <a:r>
              <a:rPr lang="en-US" sz="1200" b="0" kern="1200" dirty="0" err="1">
                <a:solidFill>
                  <a:schemeClr val="tx1"/>
                </a:solidFill>
                <a:effectLst/>
                <a:latin typeface="+mn-lt"/>
                <a:ea typeface="+mn-ea"/>
                <a:cs typeface="+mn-cs"/>
              </a:rPr>
              <a:t>invokeaction</a:t>
            </a:r>
            <a:r>
              <a:rPr lang="en-US" sz="1200" b="0" kern="1200" dirty="0">
                <a:solidFill>
                  <a:schemeClr val="tx1"/>
                </a:solidFill>
                <a:effectLst/>
                <a:latin typeface="+mn-lt"/>
                <a:ea typeface="+mn-ea"/>
                <a:cs typeface="+mn-cs"/>
              </a:rPr>
              <a:t> operation and got a success response. The fact that it used CoAP instead of HTTP, or CBOR instead of JSON, was determined entirely by what was written in the form.</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5A72F5C-92C3-41C1-5270-EFD61EC0BBE5}"/>
              </a:ext>
            </a:extLst>
          </p:cNvPr>
          <p:cNvSpPr>
            <a:spLocks noGrp="1"/>
          </p:cNvSpPr>
          <p:nvPr>
            <p:ph type="sldNum" sz="quarter" idx="5"/>
          </p:nvPr>
        </p:nvSpPr>
        <p:spPr/>
        <p:txBody>
          <a:bodyPr/>
          <a:lstStyle/>
          <a:p>
            <a:fld id="{F02165D8-144D-4958-A83E-0D86045592C5}" type="slidenum">
              <a:rPr lang="en-US" smtClean="0"/>
              <a:t>26</a:t>
            </a:fld>
            <a:endParaRPr lang="en-US"/>
          </a:p>
        </p:txBody>
      </p:sp>
    </p:spTree>
    <p:extLst>
      <p:ext uri="{BB962C8B-B14F-4D97-AF65-F5344CB8AC3E}">
        <p14:creationId xmlns:p14="http://schemas.microsoft.com/office/powerpoint/2010/main" val="34131271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24829-1591-43DC-F0E8-D24836C01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34C34-350F-6A73-4A81-EA6AE4D8F4C0}"/>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B09CDDD2-8526-6B16-E2F0-9F0B9780FBD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Let's use CoAP to invoke the `</a:t>
            </a:r>
            <a:r>
              <a:rPr lang="en-US" sz="1200" b="0" kern="1200" dirty="0" err="1">
                <a:solidFill>
                  <a:schemeClr val="tx1"/>
                </a:solidFill>
                <a:effectLst/>
                <a:latin typeface="+mn-lt"/>
                <a:ea typeface="+mn-ea"/>
                <a:cs typeface="+mn-cs"/>
              </a:rPr>
              <a:t>brewCoffee</a:t>
            </a:r>
            <a:r>
              <a:rPr lang="en-US" sz="1200" b="0" kern="1200" dirty="0">
                <a:solidFill>
                  <a:schemeClr val="tx1"/>
                </a:solidFill>
                <a:effectLst/>
                <a:latin typeface="+mn-lt"/>
                <a:ea typeface="+mn-ea"/>
                <a:cs typeface="+mn-cs"/>
              </a:rPr>
              <a:t>` action: This time, the form uses a `</a:t>
            </a:r>
            <a:r>
              <a:rPr lang="en-US" sz="1200" b="0" kern="1200" dirty="0" err="1">
                <a:solidFill>
                  <a:schemeClr val="tx1"/>
                </a:solidFill>
                <a:effectLst/>
                <a:latin typeface="+mn-lt"/>
                <a:ea typeface="+mn-ea"/>
                <a:cs typeface="+mn-cs"/>
              </a:rPr>
              <a:t>coap</a:t>
            </a:r>
            <a:r>
              <a:rPr lang="en-US" sz="1200" b="0" kern="1200" dirty="0">
                <a:solidFill>
                  <a:schemeClr val="tx1"/>
                </a:solidFill>
                <a:effectLst/>
                <a:latin typeface="+mn-lt"/>
                <a:ea typeface="+mn-ea"/>
                <a:cs typeface="+mn-cs"/>
              </a:rPr>
              <a:t>://` URI to indicate CoAP instead of HTTP. The `</a:t>
            </a:r>
            <a:r>
              <a:rPr lang="en-US" sz="1200" b="0" kern="1200" dirty="0" err="1">
                <a:solidFill>
                  <a:schemeClr val="tx1"/>
                </a:solidFill>
                <a:effectLst/>
                <a:latin typeface="+mn-lt"/>
                <a:ea typeface="+mn-ea"/>
                <a:cs typeface="+mn-cs"/>
              </a:rPr>
              <a:t>cov:method</a:t>
            </a:r>
            <a:r>
              <a:rPr lang="en-US" sz="1200" b="0" kern="1200" dirty="0">
                <a:solidFill>
                  <a:schemeClr val="tx1"/>
                </a:solidFill>
                <a:effectLst/>
                <a:latin typeface="+mn-lt"/>
                <a:ea typeface="+mn-ea"/>
                <a:cs typeface="+mn-cs"/>
              </a:rPr>
              <a:t>` field explicitly specifies the CoAP request method — in this case `POST` — which tells the Consumer how to invoke the action at the protocol level. From the Consumer's perspective, invoking the action works conceptually the same as with HTTP — the only difference is the underlying protocol, which is optimized for constrained devices.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endParaRPr lang="en-DE" dirty="0"/>
          </a:p>
        </p:txBody>
      </p:sp>
      <p:sp>
        <p:nvSpPr>
          <p:cNvPr id="4" name="Slide Number Placeholder 3">
            <a:extLst>
              <a:ext uri="{FF2B5EF4-FFF2-40B4-BE49-F238E27FC236}">
                <a16:creationId xmlns:a16="http://schemas.microsoft.com/office/drawing/2014/main" id="{AB0D71F4-95E2-099D-0BE3-08033C2E58BC}"/>
              </a:ext>
            </a:extLst>
          </p:cNvPr>
          <p:cNvSpPr>
            <a:spLocks noGrp="1"/>
          </p:cNvSpPr>
          <p:nvPr>
            <p:ph type="sldNum" sz="quarter" idx="5"/>
          </p:nvPr>
        </p:nvSpPr>
        <p:spPr/>
        <p:txBody>
          <a:bodyPr/>
          <a:lstStyle/>
          <a:p>
            <a:fld id="{F02165D8-144D-4958-A83E-0D86045592C5}" type="slidenum">
              <a:rPr lang="en-US" smtClean="0"/>
              <a:t>27</a:t>
            </a:fld>
            <a:endParaRPr lang="en-US"/>
          </a:p>
        </p:txBody>
      </p:sp>
    </p:spTree>
    <p:extLst>
      <p:ext uri="{BB962C8B-B14F-4D97-AF65-F5344CB8AC3E}">
        <p14:creationId xmlns:p14="http://schemas.microsoft.com/office/powerpoint/2010/main" val="32957503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AE8B1-682E-805E-417D-00B8B110C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90C1B7-EEBF-A719-A01A-3481C1DA0DDD}"/>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7011E592-5D03-829E-162F-2A5EC441B61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Let's use CoAP to invoke the `</a:t>
            </a:r>
            <a:r>
              <a:rPr lang="en-US" sz="1200" b="0" kern="1200" dirty="0" err="1">
                <a:solidFill>
                  <a:schemeClr val="tx1"/>
                </a:solidFill>
                <a:effectLst/>
                <a:latin typeface="+mn-lt"/>
                <a:ea typeface="+mn-ea"/>
                <a:cs typeface="+mn-cs"/>
              </a:rPr>
              <a:t>brewCoffee</a:t>
            </a:r>
            <a:r>
              <a:rPr lang="en-US" sz="1200" b="0" kern="1200" dirty="0">
                <a:solidFill>
                  <a:schemeClr val="tx1"/>
                </a:solidFill>
                <a:effectLst/>
                <a:latin typeface="+mn-lt"/>
                <a:ea typeface="+mn-ea"/>
                <a:cs typeface="+mn-cs"/>
              </a:rPr>
              <a:t>` action: This time, the form uses a `</a:t>
            </a:r>
            <a:r>
              <a:rPr lang="en-US" sz="1200" b="0" kern="1200" dirty="0" err="1">
                <a:solidFill>
                  <a:schemeClr val="tx1"/>
                </a:solidFill>
                <a:effectLst/>
                <a:latin typeface="+mn-lt"/>
                <a:ea typeface="+mn-ea"/>
                <a:cs typeface="+mn-cs"/>
              </a:rPr>
              <a:t>coap</a:t>
            </a:r>
            <a:r>
              <a:rPr lang="en-US" sz="1200" b="0" kern="1200" dirty="0">
                <a:solidFill>
                  <a:schemeClr val="tx1"/>
                </a:solidFill>
                <a:effectLst/>
                <a:latin typeface="+mn-lt"/>
                <a:ea typeface="+mn-ea"/>
                <a:cs typeface="+mn-cs"/>
              </a:rPr>
              <a:t>://` URI to indicate CoAP instead of HTTP. The `</a:t>
            </a:r>
            <a:r>
              <a:rPr lang="en-US" sz="1200" b="0" kern="1200" dirty="0" err="1">
                <a:solidFill>
                  <a:schemeClr val="tx1"/>
                </a:solidFill>
                <a:effectLst/>
                <a:latin typeface="+mn-lt"/>
                <a:ea typeface="+mn-ea"/>
                <a:cs typeface="+mn-cs"/>
              </a:rPr>
              <a:t>cov:method</a:t>
            </a:r>
            <a:r>
              <a:rPr lang="en-US" sz="1200" b="0" kern="1200" dirty="0">
                <a:solidFill>
                  <a:schemeClr val="tx1"/>
                </a:solidFill>
                <a:effectLst/>
                <a:latin typeface="+mn-lt"/>
                <a:ea typeface="+mn-ea"/>
                <a:cs typeface="+mn-cs"/>
              </a:rPr>
              <a:t>` field explicitly specifies the CoAP request method — in this case `POST` — which tells the Consumer how to invoke the action at the protocol level. From the Consumer's perspective, invoking the action works conceptually the same as with HTTP — the only difference is the underlying protocol, which is optimized for constrained devices.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endParaRPr lang="en-DE" dirty="0"/>
          </a:p>
        </p:txBody>
      </p:sp>
      <p:sp>
        <p:nvSpPr>
          <p:cNvPr id="4" name="Slide Number Placeholder 3">
            <a:extLst>
              <a:ext uri="{FF2B5EF4-FFF2-40B4-BE49-F238E27FC236}">
                <a16:creationId xmlns:a16="http://schemas.microsoft.com/office/drawing/2014/main" id="{7673267A-DC3A-5031-D29A-9CC4FC21F6E0}"/>
              </a:ext>
            </a:extLst>
          </p:cNvPr>
          <p:cNvSpPr>
            <a:spLocks noGrp="1"/>
          </p:cNvSpPr>
          <p:nvPr>
            <p:ph type="sldNum" sz="quarter" idx="5"/>
          </p:nvPr>
        </p:nvSpPr>
        <p:spPr/>
        <p:txBody>
          <a:bodyPr/>
          <a:lstStyle/>
          <a:p>
            <a:fld id="{F02165D8-144D-4958-A83E-0D86045592C5}" type="slidenum">
              <a:rPr lang="en-US" smtClean="0"/>
              <a:t>28</a:t>
            </a:fld>
            <a:endParaRPr lang="en-US"/>
          </a:p>
        </p:txBody>
      </p:sp>
    </p:spTree>
    <p:extLst>
      <p:ext uri="{BB962C8B-B14F-4D97-AF65-F5344CB8AC3E}">
        <p14:creationId xmlns:p14="http://schemas.microsoft.com/office/powerpoint/2010/main" val="6048605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6219D-977C-6797-9544-440153E7F2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9217B-D65E-7D9E-3048-3745FA1A55FE}"/>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E0A07BF9-773F-D061-693C-4342C1BC7E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Let's use CoAP to invoke the `</a:t>
            </a:r>
            <a:r>
              <a:rPr lang="en-US" sz="1200" b="0" kern="1200" dirty="0" err="1">
                <a:solidFill>
                  <a:schemeClr val="tx1"/>
                </a:solidFill>
                <a:effectLst/>
                <a:latin typeface="+mn-lt"/>
                <a:ea typeface="+mn-ea"/>
                <a:cs typeface="+mn-cs"/>
              </a:rPr>
              <a:t>brewCoffee</a:t>
            </a:r>
            <a:r>
              <a:rPr lang="en-US" sz="1200" b="0" kern="1200" dirty="0">
                <a:solidFill>
                  <a:schemeClr val="tx1"/>
                </a:solidFill>
                <a:effectLst/>
                <a:latin typeface="+mn-lt"/>
                <a:ea typeface="+mn-ea"/>
                <a:cs typeface="+mn-cs"/>
              </a:rPr>
              <a:t>` action: This time, the form uses a `</a:t>
            </a:r>
            <a:r>
              <a:rPr lang="en-US" sz="1200" b="0" kern="1200" dirty="0" err="1">
                <a:solidFill>
                  <a:schemeClr val="tx1"/>
                </a:solidFill>
                <a:effectLst/>
                <a:latin typeface="+mn-lt"/>
                <a:ea typeface="+mn-ea"/>
                <a:cs typeface="+mn-cs"/>
              </a:rPr>
              <a:t>coap</a:t>
            </a:r>
            <a:r>
              <a:rPr lang="en-US" sz="1200" b="0" kern="1200" dirty="0">
                <a:solidFill>
                  <a:schemeClr val="tx1"/>
                </a:solidFill>
                <a:effectLst/>
                <a:latin typeface="+mn-lt"/>
                <a:ea typeface="+mn-ea"/>
                <a:cs typeface="+mn-cs"/>
              </a:rPr>
              <a:t>://` URI to indicate CoAP instead of HTTP. The `</a:t>
            </a:r>
            <a:r>
              <a:rPr lang="en-US" sz="1200" b="0" kern="1200" dirty="0" err="1">
                <a:solidFill>
                  <a:schemeClr val="tx1"/>
                </a:solidFill>
                <a:effectLst/>
                <a:latin typeface="+mn-lt"/>
                <a:ea typeface="+mn-ea"/>
                <a:cs typeface="+mn-cs"/>
              </a:rPr>
              <a:t>cov:method</a:t>
            </a:r>
            <a:r>
              <a:rPr lang="en-US" sz="1200" b="0" kern="1200" dirty="0">
                <a:solidFill>
                  <a:schemeClr val="tx1"/>
                </a:solidFill>
                <a:effectLst/>
                <a:latin typeface="+mn-lt"/>
                <a:ea typeface="+mn-ea"/>
                <a:cs typeface="+mn-cs"/>
              </a:rPr>
              <a:t>` field explicitly specifies the CoAP request method — in this case `POST` — which tells the Consumer how to invoke the action at the protocol level. From the Consumer's perspective, invoking the action works conceptually the same as with HTTP — the only difference is the underlying protocol, which is optimized for constrained devices.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endParaRPr lang="en-DE" dirty="0"/>
          </a:p>
        </p:txBody>
      </p:sp>
      <p:sp>
        <p:nvSpPr>
          <p:cNvPr id="4" name="Slide Number Placeholder 3">
            <a:extLst>
              <a:ext uri="{FF2B5EF4-FFF2-40B4-BE49-F238E27FC236}">
                <a16:creationId xmlns:a16="http://schemas.microsoft.com/office/drawing/2014/main" id="{747A2DE7-F91D-0514-3A37-8569440A0CBE}"/>
              </a:ext>
            </a:extLst>
          </p:cNvPr>
          <p:cNvSpPr>
            <a:spLocks noGrp="1"/>
          </p:cNvSpPr>
          <p:nvPr>
            <p:ph type="sldNum" sz="quarter" idx="5"/>
          </p:nvPr>
        </p:nvSpPr>
        <p:spPr/>
        <p:txBody>
          <a:bodyPr/>
          <a:lstStyle/>
          <a:p>
            <a:fld id="{F02165D8-144D-4958-A83E-0D86045592C5}" type="slidenum">
              <a:rPr lang="en-US" smtClean="0"/>
              <a:t>29</a:t>
            </a:fld>
            <a:endParaRPr lang="en-US"/>
          </a:p>
        </p:txBody>
      </p:sp>
    </p:spTree>
    <p:extLst>
      <p:ext uri="{BB962C8B-B14F-4D97-AF65-F5344CB8AC3E}">
        <p14:creationId xmlns:p14="http://schemas.microsoft.com/office/powerpoint/2010/main" val="23734283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56990-4AB4-A0C1-8E72-881F6F79EE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E82E2-ED65-9352-0E6C-0FFF24DB2E96}"/>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969DC44D-A084-CA41-EB23-882F7A5AC1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Let's use CoAP to invoke the `</a:t>
            </a:r>
            <a:r>
              <a:rPr lang="en-US" sz="1200" b="0" kern="1200" dirty="0" err="1">
                <a:solidFill>
                  <a:schemeClr val="tx1"/>
                </a:solidFill>
                <a:effectLst/>
                <a:latin typeface="+mn-lt"/>
                <a:ea typeface="+mn-ea"/>
                <a:cs typeface="+mn-cs"/>
              </a:rPr>
              <a:t>brewCoffee</a:t>
            </a:r>
            <a:r>
              <a:rPr lang="en-US" sz="1200" b="0" kern="1200" dirty="0">
                <a:solidFill>
                  <a:schemeClr val="tx1"/>
                </a:solidFill>
                <a:effectLst/>
                <a:latin typeface="+mn-lt"/>
                <a:ea typeface="+mn-ea"/>
                <a:cs typeface="+mn-cs"/>
              </a:rPr>
              <a:t>` action: This time, the form uses a `</a:t>
            </a:r>
            <a:r>
              <a:rPr lang="en-US" sz="1200" b="0" kern="1200" dirty="0" err="1">
                <a:solidFill>
                  <a:schemeClr val="tx1"/>
                </a:solidFill>
                <a:effectLst/>
                <a:latin typeface="+mn-lt"/>
                <a:ea typeface="+mn-ea"/>
                <a:cs typeface="+mn-cs"/>
              </a:rPr>
              <a:t>coap</a:t>
            </a:r>
            <a:r>
              <a:rPr lang="en-US" sz="1200" b="0" kern="1200" dirty="0">
                <a:solidFill>
                  <a:schemeClr val="tx1"/>
                </a:solidFill>
                <a:effectLst/>
                <a:latin typeface="+mn-lt"/>
                <a:ea typeface="+mn-ea"/>
                <a:cs typeface="+mn-cs"/>
              </a:rPr>
              <a:t>://` URI to indicate CoAP instead of HTTP. The `</a:t>
            </a:r>
            <a:r>
              <a:rPr lang="en-US" sz="1200" b="0" kern="1200" dirty="0" err="1">
                <a:solidFill>
                  <a:schemeClr val="tx1"/>
                </a:solidFill>
                <a:effectLst/>
                <a:latin typeface="+mn-lt"/>
                <a:ea typeface="+mn-ea"/>
                <a:cs typeface="+mn-cs"/>
              </a:rPr>
              <a:t>cov:method</a:t>
            </a:r>
            <a:r>
              <a:rPr lang="en-US" sz="1200" b="0" kern="1200" dirty="0">
                <a:solidFill>
                  <a:schemeClr val="tx1"/>
                </a:solidFill>
                <a:effectLst/>
                <a:latin typeface="+mn-lt"/>
                <a:ea typeface="+mn-ea"/>
                <a:cs typeface="+mn-cs"/>
              </a:rPr>
              <a:t>` field explicitly specifies the CoAP request method — in this case `POST` — which tells the Consumer how to invoke the action at the protocol level. From the Consumer's perspective, invoking the action works conceptually the same as with HTTP — the only difference is the underlying protocol, which is optimized for constrained devices.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endParaRPr lang="en-DE" dirty="0"/>
          </a:p>
        </p:txBody>
      </p:sp>
      <p:sp>
        <p:nvSpPr>
          <p:cNvPr id="4" name="Slide Number Placeholder 3">
            <a:extLst>
              <a:ext uri="{FF2B5EF4-FFF2-40B4-BE49-F238E27FC236}">
                <a16:creationId xmlns:a16="http://schemas.microsoft.com/office/drawing/2014/main" id="{2C6E13D3-F9DC-A63E-A674-C21441B6AB99}"/>
              </a:ext>
            </a:extLst>
          </p:cNvPr>
          <p:cNvSpPr>
            <a:spLocks noGrp="1"/>
          </p:cNvSpPr>
          <p:nvPr>
            <p:ph type="sldNum" sz="quarter" idx="5"/>
          </p:nvPr>
        </p:nvSpPr>
        <p:spPr/>
        <p:txBody>
          <a:bodyPr/>
          <a:lstStyle/>
          <a:p>
            <a:fld id="{F02165D8-144D-4958-A83E-0D86045592C5}" type="slidenum">
              <a:rPr lang="en-US" smtClean="0"/>
              <a:t>30</a:t>
            </a:fld>
            <a:endParaRPr lang="en-US"/>
          </a:p>
        </p:txBody>
      </p:sp>
    </p:spTree>
    <p:extLst>
      <p:ext uri="{BB962C8B-B14F-4D97-AF65-F5344CB8AC3E}">
        <p14:creationId xmlns:p14="http://schemas.microsoft.com/office/powerpoint/2010/main" val="27731707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AC13C-72E3-FBB5-A39A-C82F24501C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73538A-FA73-C19E-1379-AD12C6C598EB}"/>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89803D23-F3C2-8326-A251-A9BC9240FFC7}"/>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For the </a:t>
            </a:r>
            <a:r>
              <a:rPr lang="en-US" sz="1200" b="0" kern="1200" dirty="0" err="1">
                <a:solidFill>
                  <a:schemeClr val="tx1"/>
                </a:solidFill>
                <a:effectLst/>
                <a:latin typeface="+mn-lt"/>
                <a:ea typeface="+mn-ea"/>
                <a:cs typeface="+mn-cs"/>
              </a:rPr>
              <a:t>lowOnWater</a:t>
            </a:r>
            <a:r>
              <a:rPr lang="en-US" sz="1200" b="0" kern="1200" dirty="0">
                <a:solidFill>
                  <a:schemeClr val="tx1"/>
                </a:solidFill>
                <a:effectLst/>
                <a:latin typeface="+mn-lt"/>
                <a:ea typeface="+mn-ea"/>
                <a:cs typeface="+mn-cs"/>
              </a:rPr>
              <a:t> event, the form looks like this:</a:t>
            </a:r>
          </a:p>
        </p:txBody>
      </p:sp>
      <p:sp>
        <p:nvSpPr>
          <p:cNvPr id="4" name="Slide Number Placeholder 3">
            <a:extLst>
              <a:ext uri="{FF2B5EF4-FFF2-40B4-BE49-F238E27FC236}">
                <a16:creationId xmlns:a16="http://schemas.microsoft.com/office/drawing/2014/main" id="{8A69FBBB-EE41-2A16-AE46-79036E00C4D7}"/>
              </a:ext>
            </a:extLst>
          </p:cNvPr>
          <p:cNvSpPr>
            <a:spLocks noGrp="1"/>
          </p:cNvSpPr>
          <p:nvPr>
            <p:ph type="sldNum" sz="quarter" idx="5"/>
          </p:nvPr>
        </p:nvSpPr>
        <p:spPr/>
        <p:txBody>
          <a:bodyPr/>
          <a:lstStyle/>
          <a:p>
            <a:fld id="{F02165D8-144D-4958-A83E-0D86045592C5}" type="slidenum">
              <a:rPr lang="en-US" smtClean="0"/>
              <a:t>31</a:t>
            </a:fld>
            <a:endParaRPr lang="en-US"/>
          </a:p>
        </p:txBody>
      </p:sp>
    </p:spTree>
    <p:extLst>
      <p:ext uri="{BB962C8B-B14F-4D97-AF65-F5344CB8AC3E}">
        <p14:creationId xmlns:p14="http://schemas.microsoft.com/office/powerpoint/2010/main" val="32646887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E9822-1509-1B90-74EB-C4CC664FB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03437D-0B4E-68A6-40FE-C53ADD66CAAB}"/>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81826AEF-AD53-55FC-F3C1-850D3CBBA75F}"/>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`op` field is `</a:t>
            </a:r>
            <a:r>
              <a:rPr lang="en-US" sz="1200" b="0" kern="1200" dirty="0" err="1">
                <a:solidFill>
                  <a:schemeClr val="tx1"/>
                </a:solidFill>
                <a:effectLst/>
                <a:latin typeface="+mn-lt"/>
                <a:ea typeface="+mn-ea"/>
                <a:cs typeface="+mn-cs"/>
              </a:rPr>
              <a:t>subscribeevent</a:t>
            </a:r>
            <a:r>
              <a:rPr lang="en-US" sz="1200" b="0" kern="1200" dirty="0">
                <a:solidFill>
                  <a:schemeClr val="tx1"/>
                </a:solidFill>
                <a:effectLst/>
                <a:latin typeface="+mn-lt"/>
                <a:ea typeface="+mn-ea"/>
                <a:cs typeface="+mn-cs"/>
              </a:rPr>
              <a:t>`, which tells the Consumer it needs to listen rather than request. The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points to an MQTT broker and includes the topic — `coffee/events/</a:t>
            </a:r>
            <a:r>
              <a:rPr lang="en-US" sz="1200" b="0" kern="1200" dirty="0" err="1">
                <a:solidFill>
                  <a:schemeClr val="tx1"/>
                </a:solidFill>
                <a:effectLst/>
                <a:latin typeface="+mn-lt"/>
                <a:ea typeface="+mn-ea"/>
                <a:cs typeface="+mn-cs"/>
              </a:rPr>
              <a:t>lowOnWater</a:t>
            </a:r>
            <a:r>
              <a:rPr lang="en-US" sz="1200" b="0" kern="1200" dirty="0">
                <a:solidFill>
                  <a:schemeClr val="tx1"/>
                </a:solidFill>
                <a:effectLst/>
                <a:latin typeface="+mn-lt"/>
                <a:ea typeface="+mn-ea"/>
                <a:cs typeface="+mn-cs"/>
              </a:rPr>
              <a:t>` — that the Consumer should subscribe to. So the Consumer connects to the broker and sends:</a:t>
            </a:r>
          </a:p>
        </p:txBody>
      </p:sp>
      <p:sp>
        <p:nvSpPr>
          <p:cNvPr id="4" name="Slide Number Placeholder 3">
            <a:extLst>
              <a:ext uri="{FF2B5EF4-FFF2-40B4-BE49-F238E27FC236}">
                <a16:creationId xmlns:a16="http://schemas.microsoft.com/office/drawing/2014/main" id="{676AD68C-007F-113F-8A9D-A39400EBD649}"/>
              </a:ext>
            </a:extLst>
          </p:cNvPr>
          <p:cNvSpPr>
            <a:spLocks noGrp="1"/>
          </p:cNvSpPr>
          <p:nvPr>
            <p:ph type="sldNum" sz="quarter" idx="5"/>
          </p:nvPr>
        </p:nvSpPr>
        <p:spPr/>
        <p:txBody>
          <a:bodyPr/>
          <a:lstStyle/>
          <a:p>
            <a:fld id="{F02165D8-144D-4958-A83E-0D86045592C5}" type="slidenum">
              <a:rPr lang="en-US" smtClean="0"/>
              <a:t>32</a:t>
            </a:fld>
            <a:endParaRPr lang="en-US"/>
          </a:p>
        </p:txBody>
      </p:sp>
    </p:spTree>
    <p:extLst>
      <p:ext uri="{BB962C8B-B14F-4D97-AF65-F5344CB8AC3E}">
        <p14:creationId xmlns:p14="http://schemas.microsoft.com/office/powerpoint/2010/main" val="37841729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77D78-AFFD-1806-CD0D-4A2A92096B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DE5C37-A487-DBFB-E619-062F9DDEC223}"/>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0776E57F-03BE-1102-476E-5A12A1541EA3}"/>
              </a:ext>
            </a:extLst>
          </p:cNvPr>
          <p:cNvSpPr>
            <a:spLocks noGrp="1"/>
          </p:cNvSpPr>
          <p:nvPr>
            <p:ph type="body" idx="1"/>
          </p:nvPr>
        </p:nvSpPr>
        <p:spPr/>
        <p:txBody>
          <a:bodyPr/>
          <a:lstStyle/>
          <a:p>
            <a:r>
              <a:rPr lang="en-DE" sz="1200" b="0" kern="1200" dirty="0">
                <a:solidFill>
                  <a:schemeClr val="tx1"/>
                </a:solidFill>
                <a:effectLst/>
                <a:latin typeface="+mn-lt"/>
                <a:ea typeface="+mn-ea"/>
                <a:cs typeface="+mn-cs"/>
              </a:rPr>
              <a:t>The `op` field is `</a:t>
            </a:r>
            <a:r>
              <a:rPr lang="en-DE" sz="1200" b="0" kern="1200" dirty="0" err="1">
                <a:solidFill>
                  <a:schemeClr val="tx1"/>
                </a:solidFill>
                <a:effectLst/>
                <a:latin typeface="+mn-lt"/>
                <a:ea typeface="+mn-ea"/>
                <a:cs typeface="+mn-cs"/>
              </a:rPr>
              <a:t>subscribeevent</a:t>
            </a:r>
            <a:r>
              <a:rPr lang="en-DE" sz="1200" b="0" kern="1200" dirty="0">
                <a:solidFill>
                  <a:schemeClr val="tx1"/>
                </a:solidFill>
                <a:effectLst/>
                <a:latin typeface="+mn-lt"/>
                <a:ea typeface="+mn-ea"/>
                <a:cs typeface="+mn-cs"/>
              </a:rPr>
              <a:t>`, which tells the Consumer it needs to listen rather than request. The `</a:t>
            </a:r>
            <a:r>
              <a:rPr lang="en-DE" sz="1200" b="0" kern="1200" dirty="0" err="1">
                <a:solidFill>
                  <a:schemeClr val="tx1"/>
                </a:solidFill>
                <a:effectLst/>
                <a:latin typeface="+mn-lt"/>
                <a:ea typeface="+mn-ea"/>
                <a:cs typeface="+mn-cs"/>
              </a:rPr>
              <a:t>href</a:t>
            </a:r>
            <a:r>
              <a:rPr lang="en-DE" sz="1200" b="0" kern="1200" dirty="0">
                <a:solidFill>
                  <a:schemeClr val="tx1"/>
                </a:solidFill>
                <a:effectLst/>
                <a:latin typeface="+mn-lt"/>
                <a:ea typeface="+mn-ea"/>
                <a:cs typeface="+mn-cs"/>
              </a:rPr>
              <a:t>` points to the MQTT broker, and the `</a:t>
            </a:r>
            <a:r>
              <a:rPr lang="en-DE" sz="1200" b="0" kern="1200" dirty="0" err="1">
                <a:solidFill>
                  <a:schemeClr val="tx1"/>
                </a:solidFill>
                <a:effectLst/>
                <a:latin typeface="+mn-lt"/>
                <a:ea typeface="+mn-ea"/>
                <a:cs typeface="+mn-cs"/>
              </a:rPr>
              <a:t>mqv:filter</a:t>
            </a:r>
            <a:r>
              <a:rPr lang="en-DE" sz="1200" b="0" kern="1200" dirty="0">
                <a:solidFill>
                  <a:schemeClr val="tx1"/>
                </a:solidFill>
                <a:effectLst/>
                <a:latin typeface="+mn-lt"/>
                <a:ea typeface="+mn-ea"/>
                <a:cs typeface="+mn-cs"/>
              </a:rPr>
              <a:t>` term gives the topic filter - `coffee/events/</a:t>
            </a:r>
            <a:r>
              <a:rPr lang="en-DE" sz="1200" b="0" kern="1200" dirty="0" err="1">
                <a:solidFill>
                  <a:schemeClr val="tx1"/>
                </a:solidFill>
                <a:effectLst/>
                <a:latin typeface="+mn-lt"/>
                <a:ea typeface="+mn-ea"/>
                <a:cs typeface="+mn-cs"/>
              </a:rPr>
              <a:t>lowOnWater</a:t>
            </a:r>
            <a:r>
              <a:rPr lang="en-DE" sz="1200" b="0" kern="1200" dirty="0">
                <a:solidFill>
                  <a:schemeClr val="tx1"/>
                </a:solidFill>
                <a:effectLst/>
                <a:latin typeface="+mn-lt"/>
                <a:ea typeface="+mn-ea"/>
                <a:cs typeface="+mn-cs"/>
              </a:rPr>
              <a:t>` - that the Consumer should subscribe to. The `</a:t>
            </a:r>
            <a:r>
              <a:rPr lang="en-DE" sz="1200" b="0" kern="1200" dirty="0" err="1">
                <a:solidFill>
                  <a:schemeClr val="tx1"/>
                </a:solidFill>
                <a:effectLst/>
                <a:latin typeface="+mn-lt"/>
                <a:ea typeface="+mn-ea"/>
                <a:cs typeface="+mn-cs"/>
              </a:rPr>
              <a:t>mqv:qos</a:t>
            </a:r>
            <a:r>
              <a:rPr lang="en-DE" sz="1200" b="0" kern="1200" dirty="0">
                <a:solidFill>
                  <a:schemeClr val="tx1"/>
                </a:solidFill>
                <a:effectLst/>
                <a:latin typeface="+mn-lt"/>
                <a:ea typeface="+mn-ea"/>
                <a:cs typeface="+mn-cs"/>
              </a:rPr>
              <a:t>` term requests QoS level 1, </a:t>
            </a:r>
            <a:r>
              <a:rPr lang="en-DE" sz="1200" b="0" kern="1200" dirty="0" err="1">
                <a:solidFill>
                  <a:schemeClr val="tx1"/>
                </a:solidFill>
                <a:effectLst/>
                <a:latin typeface="+mn-lt"/>
                <a:ea typeface="+mn-ea"/>
                <a:cs typeface="+mn-cs"/>
              </a:rPr>
              <a:t>MQTT's</a:t>
            </a:r>
            <a:r>
              <a:rPr lang="en-DE" sz="1200" b="0" kern="1200" dirty="0">
                <a:solidFill>
                  <a:schemeClr val="tx1"/>
                </a:solidFill>
                <a:effectLst/>
                <a:latin typeface="+mn-lt"/>
                <a:ea typeface="+mn-ea"/>
                <a:cs typeface="+mn-cs"/>
              </a:rPr>
              <a:t> at-least-once delivery. So the Consumer connects to the broker and sends:</a:t>
            </a:r>
          </a:p>
        </p:txBody>
      </p:sp>
      <p:sp>
        <p:nvSpPr>
          <p:cNvPr id="4" name="Slide Number Placeholder 3">
            <a:extLst>
              <a:ext uri="{FF2B5EF4-FFF2-40B4-BE49-F238E27FC236}">
                <a16:creationId xmlns:a16="http://schemas.microsoft.com/office/drawing/2014/main" id="{E0EDCB9A-7E09-58D6-C2C3-DFFABD026BDF}"/>
              </a:ext>
            </a:extLst>
          </p:cNvPr>
          <p:cNvSpPr>
            <a:spLocks noGrp="1"/>
          </p:cNvSpPr>
          <p:nvPr>
            <p:ph type="sldNum" sz="quarter" idx="5"/>
          </p:nvPr>
        </p:nvSpPr>
        <p:spPr/>
        <p:txBody>
          <a:bodyPr/>
          <a:lstStyle/>
          <a:p>
            <a:fld id="{F02165D8-144D-4958-A83E-0D86045592C5}" type="slidenum">
              <a:rPr lang="en-US" smtClean="0"/>
              <a:t>33</a:t>
            </a:fld>
            <a:endParaRPr lang="en-US"/>
          </a:p>
        </p:txBody>
      </p:sp>
    </p:spTree>
    <p:extLst>
      <p:ext uri="{BB962C8B-B14F-4D97-AF65-F5344CB8AC3E}">
        <p14:creationId xmlns:p14="http://schemas.microsoft.com/office/powerpoint/2010/main" val="36625717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57978-03E2-F3B5-C148-0681C1EDFE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56C799-EA3B-19D4-0274-5A62DA29106B}"/>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23A2D203-ECEA-9745-3B93-C893D88CC5EC}"/>
              </a:ext>
            </a:extLst>
          </p:cNvPr>
          <p:cNvSpPr>
            <a:spLocks noGrp="1"/>
          </p:cNvSpPr>
          <p:nvPr>
            <p:ph type="body" idx="1"/>
          </p:nvPr>
        </p:nvSpPr>
        <p:spPr/>
        <p:txBody>
          <a:bodyPr/>
          <a:lstStyle/>
          <a:p>
            <a:r>
              <a:rPr lang="en-DE" sz="1200" b="0" kern="1200" dirty="0">
                <a:solidFill>
                  <a:schemeClr val="tx1"/>
                </a:solidFill>
                <a:effectLst/>
                <a:latin typeface="+mn-lt"/>
                <a:ea typeface="+mn-ea"/>
                <a:cs typeface="+mn-cs"/>
              </a:rPr>
              <a:t>The `op` field is `</a:t>
            </a:r>
            <a:r>
              <a:rPr lang="en-DE" sz="1200" b="0" kern="1200" dirty="0" err="1">
                <a:solidFill>
                  <a:schemeClr val="tx1"/>
                </a:solidFill>
                <a:effectLst/>
                <a:latin typeface="+mn-lt"/>
                <a:ea typeface="+mn-ea"/>
                <a:cs typeface="+mn-cs"/>
              </a:rPr>
              <a:t>subscribeevent</a:t>
            </a:r>
            <a:r>
              <a:rPr lang="en-DE" sz="1200" b="0" kern="1200" dirty="0">
                <a:solidFill>
                  <a:schemeClr val="tx1"/>
                </a:solidFill>
                <a:effectLst/>
                <a:latin typeface="+mn-lt"/>
                <a:ea typeface="+mn-ea"/>
                <a:cs typeface="+mn-cs"/>
              </a:rPr>
              <a:t>`, which tells the Consumer it needs to listen rather than request. The `</a:t>
            </a:r>
            <a:r>
              <a:rPr lang="en-DE" sz="1200" b="0" kern="1200" dirty="0" err="1">
                <a:solidFill>
                  <a:schemeClr val="tx1"/>
                </a:solidFill>
                <a:effectLst/>
                <a:latin typeface="+mn-lt"/>
                <a:ea typeface="+mn-ea"/>
                <a:cs typeface="+mn-cs"/>
              </a:rPr>
              <a:t>href</a:t>
            </a:r>
            <a:r>
              <a:rPr lang="en-DE" sz="1200" b="0" kern="1200" dirty="0">
                <a:solidFill>
                  <a:schemeClr val="tx1"/>
                </a:solidFill>
                <a:effectLst/>
                <a:latin typeface="+mn-lt"/>
                <a:ea typeface="+mn-ea"/>
                <a:cs typeface="+mn-cs"/>
              </a:rPr>
              <a:t>` points to the MQTT broker, and the `</a:t>
            </a:r>
            <a:r>
              <a:rPr lang="en-DE" sz="1200" b="0" kern="1200" dirty="0" err="1">
                <a:solidFill>
                  <a:schemeClr val="tx1"/>
                </a:solidFill>
                <a:effectLst/>
                <a:latin typeface="+mn-lt"/>
                <a:ea typeface="+mn-ea"/>
                <a:cs typeface="+mn-cs"/>
              </a:rPr>
              <a:t>mqv:filter</a:t>
            </a:r>
            <a:r>
              <a:rPr lang="en-DE" sz="1200" b="0" kern="1200" dirty="0">
                <a:solidFill>
                  <a:schemeClr val="tx1"/>
                </a:solidFill>
                <a:effectLst/>
                <a:latin typeface="+mn-lt"/>
                <a:ea typeface="+mn-ea"/>
                <a:cs typeface="+mn-cs"/>
              </a:rPr>
              <a:t>` term gives the topic filter - `coffee/events/</a:t>
            </a:r>
            <a:r>
              <a:rPr lang="en-DE" sz="1200" b="0" kern="1200" dirty="0" err="1">
                <a:solidFill>
                  <a:schemeClr val="tx1"/>
                </a:solidFill>
                <a:effectLst/>
                <a:latin typeface="+mn-lt"/>
                <a:ea typeface="+mn-ea"/>
                <a:cs typeface="+mn-cs"/>
              </a:rPr>
              <a:t>lowOnWater</a:t>
            </a:r>
            <a:r>
              <a:rPr lang="en-DE" sz="1200" b="0" kern="1200" dirty="0">
                <a:solidFill>
                  <a:schemeClr val="tx1"/>
                </a:solidFill>
                <a:effectLst/>
                <a:latin typeface="+mn-lt"/>
                <a:ea typeface="+mn-ea"/>
                <a:cs typeface="+mn-cs"/>
              </a:rPr>
              <a:t>` - that the Consumer should subscribe to. The `</a:t>
            </a:r>
            <a:r>
              <a:rPr lang="en-DE" sz="1200" b="0" kern="1200" dirty="0" err="1">
                <a:solidFill>
                  <a:schemeClr val="tx1"/>
                </a:solidFill>
                <a:effectLst/>
                <a:latin typeface="+mn-lt"/>
                <a:ea typeface="+mn-ea"/>
                <a:cs typeface="+mn-cs"/>
              </a:rPr>
              <a:t>mqv:qos</a:t>
            </a:r>
            <a:r>
              <a:rPr lang="en-DE" sz="1200" b="0" kern="1200" dirty="0">
                <a:solidFill>
                  <a:schemeClr val="tx1"/>
                </a:solidFill>
                <a:effectLst/>
                <a:latin typeface="+mn-lt"/>
                <a:ea typeface="+mn-ea"/>
                <a:cs typeface="+mn-cs"/>
              </a:rPr>
              <a:t>` term requests QoS level 1, </a:t>
            </a:r>
            <a:r>
              <a:rPr lang="en-DE" sz="1200" b="0" kern="1200" dirty="0" err="1">
                <a:solidFill>
                  <a:schemeClr val="tx1"/>
                </a:solidFill>
                <a:effectLst/>
                <a:latin typeface="+mn-lt"/>
                <a:ea typeface="+mn-ea"/>
                <a:cs typeface="+mn-cs"/>
              </a:rPr>
              <a:t>MQTT's</a:t>
            </a:r>
            <a:r>
              <a:rPr lang="en-DE" sz="1200" b="0" kern="1200" dirty="0">
                <a:solidFill>
                  <a:schemeClr val="tx1"/>
                </a:solidFill>
                <a:effectLst/>
                <a:latin typeface="+mn-lt"/>
                <a:ea typeface="+mn-ea"/>
                <a:cs typeface="+mn-cs"/>
              </a:rPr>
              <a:t> at-least-once delivery. So the Consumer connects to the broker and sends:</a:t>
            </a:r>
          </a:p>
        </p:txBody>
      </p:sp>
      <p:sp>
        <p:nvSpPr>
          <p:cNvPr id="4" name="Slide Number Placeholder 3">
            <a:extLst>
              <a:ext uri="{FF2B5EF4-FFF2-40B4-BE49-F238E27FC236}">
                <a16:creationId xmlns:a16="http://schemas.microsoft.com/office/drawing/2014/main" id="{88BDBE51-2829-1B80-7BE1-2C6A4057F7EE}"/>
              </a:ext>
            </a:extLst>
          </p:cNvPr>
          <p:cNvSpPr>
            <a:spLocks noGrp="1"/>
          </p:cNvSpPr>
          <p:nvPr>
            <p:ph type="sldNum" sz="quarter" idx="5"/>
          </p:nvPr>
        </p:nvSpPr>
        <p:spPr/>
        <p:txBody>
          <a:bodyPr/>
          <a:lstStyle/>
          <a:p>
            <a:fld id="{F02165D8-144D-4958-A83E-0D86045592C5}" type="slidenum">
              <a:rPr lang="en-US" smtClean="0"/>
              <a:t>34</a:t>
            </a:fld>
            <a:endParaRPr lang="en-US"/>
          </a:p>
        </p:txBody>
      </p:sp>
    </p:spTree>
    <p:extLst>
      <p:ext uri="{BB962C8B-B14F-4D97-AF65-F5344CB8AC3E}">
        <p14:creationId xmlns:p14="http://schemas.microsoft.com/office/powerpoint/2010/main" val="16660752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8D477-D9B0-7219-1DB5-9F00F6D7D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71EBE9-78EA-6184-0A78-7AD1D014D503}"/>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7862D6C6-EDD0-188A-C1CA-6E78960010EC}"/>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broker forwards this to the Consumer. The Consumer receives the message, parses the text as declared by `</a:t>
            </a:r>
            <a:r>
              <a:rPr lang="en-US" sz="1200" b="0" kern="1200" dirty="0" err="1">
                <a:solidFill>
                  <a:schemeClr val="tx1"/>
                </a:solidFill>
                <a:effectLst/>
                <a:latin typeface="+mn-lt"/>
                <a:ea typeface="+mn-ea"/>
                <a:cs typeface="+mn-cs"/>
              </a:rPr>
              <a:t>contentType</a:t>
            </a:r>
            <a:r>
              <a:rPr lang="en-US" sz="1200" b="0" kern="1200" dirty="0">
                <a:solidFill>
                  <a:schemeClr val="tx1"/>
                </a:solidFill>
                <a:effectLst/>
                <a:latin typeface="+mn-lt"/>
                <a:ea typeface="+mn-ea"/>
                <a:cs typeface="+mn-cs"/>
              </a:rPr>
              <a:t>`, and now has the event data: 50 milliliters remaining.</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What's important here is that the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operation `</a:t>
            </a:r>
            <a:r>
              <a:rPr lang="en-US" sz="1200" b="0" kern="1200" dirty="0" err="1">
                <a:solidFill>
                  <a:schemeClr val="tx1"/>
                </a:solidFill>
                <a:effectLst/>
                <a:latin typeface="+mn-lt"/>
                <a:ea typeface="+mn-ea"/>
                <a:cs typeface="+mn-cs"/>
              </a:rPr>
              <a:t>subscribeevent</a:t>
            </a:r>
            <a:r>
              <a:rPr lang="en-US" sz="1200" b="0" kern="1200" dirty="0">
                <a:solidFill>
                  <a:schemeClr val="tx1"/>
                </a:solidFill>
                <a:effectLst/>
                <a:latin typeface="+mn-lt"/>
                <a:ea typeface="+mn-ea"/>
                <a:cs typeface="+mn-cs"/>
              </a:rPr>
              <a:t>` naturally maps to MQTT's publish/subscribe model. The Consumer didn't need to know it was MQTT — it simply performed a `</a:t>
            </a:r>
            <a:r>
              <a:rPr lang="en-US" sz="1200" b="0" kern="1200" dirty="0" err="1">
                <a:solidFill>
                  <a:schemeClr val="tx1"/>
                </a:solidFill>
                <a:effectLst/>
                <a:latin typeface="+mn-lt"/>
                <a:ea typeface="+mn-ea"/>
                <a:cs typeface="+mn-cs"/>
              </a:rPr>
              <a:t>subscribeevent</a:t>
            </a:r>
            <a:r>
              <a:rPr lang="en-US" sz="1200" b="0" kern="1200" dirty="0">
                <a:solidFill>
                  <a:schemeClr val="tx1"/>
                </a:solidFill>
                <a:effectLst/>
                <a:latin typeface="+mn-lt"/>
                <a:ea typeface="+mn-ea"/>
                <a:cs typeface="+mn-cs"/>
              </a:rPr>
              <a:t>` operation, and the form told it exactly how to do that: connect to this broker, subscribe to this topic and expect a plain text response.</a:t>
            </a:r>
          </a:p>
        </p:txBody>
      </p:sp>
      <p:sp>
        <p:nvSpPr>
          <p:cNvPr id="4" name="Slide Number Placeholder 3">
            <a:extLst>
              <a:ext uri="{FF2B5EF4-FFF2-40B4-BE49-F238E27FC236}">
                <a16:creationId xmlns:a16="http://schemas.microsoft.com/office/drawing/2014/main" id="{A6C91FD8-D7E0-BCF2-4B79-98C89496A523}"/>
              </a:ext>
            </a:extLst>
          </p:cNvPr>
          <p:cNvSpPr>
            <a:spLocks noGrp="1"/>
          </p:cNvSpPr>
          <p:nvPr>
            <p:ph type="sldNum" sz="quarter" idx="5"/>
          </p:nvPr>
        </p:nvSpPr>
        <p:spPr/>
        <p:txBody>
          <a:bodyPr/>
          <a:lstStyle/>
          <a:p>
            <a:fld id="{F02165D8-144D-4958-A83E-0D86045592C5}" type="slidenum">
              <a:rPr lang="en-US" smtClean="0"/>
              <a:t>35</a:t>
            </a:fld>
            <a:endParaRPr lang="en-US"/>
          </a:p>
        </p:txBody>
      </p:sp>
    </p:spTree>
    <p:extLst>
      <p:ext uri="{BB962C8B-B14F-4D97-AF65-F5344CB8AC3E}">
        <p14:creationId xmlns:p14="http://schemas.microsoft.com/office/powerpoint/2010/main" val="5904614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86C8F-B9FE-327A-3779-AA247B11C4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556EF3-8407-F32E-C459-B90A585B6FAE}"/>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815AB24C-A7D6-F175-1EBA-EC9D91ED17D7}"/>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broker forwards this to the Consumer. The Consumer receives the message, parses the text as declared by `</a:t>
            </a:r>
            <a:r>
              <a:rPr lang="en-US" sz="1200" b="0" kern="1200" dirty="0" err="1">
                <a:solidFill>
                  <a:schemeClr val="tx1"/>
                </a:solidFill>
                <a:effectLst/>
                <a:latin typeface="+mn-lt"/>
                <a:ea typeface="+mn-ea"/>
                <a:cs typeface="+mn-cs"/>
              </a:rPr>
              <a:t>contentType</a:t>
            </a:r>
            <a:r>
              <a:rPr lang="en-US" sz="1200" b="0" kern="1200" dirty="0">
                <a:solidFill>
                  <a:schemeClr val="tx1"/>
                </a:solidFill>
                <a:effectLst/>
                <a:latin typeface="+mn-lt"/>
                <a:ea typeface="+mn-ea"/>
                <a:cs typeface="+mn-cs"/>
              </a:rPr>
              <a:t>`, and now has the event data: 50 milliliters remaining.</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What's important here is that the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operation `</a:t>
            </a:r>
            <a:r>
              <a:rPr lang="en-US" sz="1200" b="0" kern="1200" dirty="0" err="1">
                <a:solidFill>
                  <a:schemeClr val="tx1"/>
                </a:solidFill>
                <a:effectLst/>
                <a:latin typeface="+mn-lt"/>
                <a:ea typeface="+mn-ea"/>
                <a:cs typeface="+mn-cs"/>
              </a:rPr>
              <a:t>subscribeevent</a:t>
            </a:r>
            <a:r>
              <a:rPr lang="en-US" sz="1200" b="0" kern="1200" dirty="0">
                <a:solidFill>
                  <a:schemeClr val="tx1"/>
                </a:solidFill>
                <a:effectLst/>
                <a:latin typeface="+mn-lt"/>
                <a:ea typeface="+mn-ea"/>
                <a:cs typeface="+mn-cs"/>
              </a:rPr>
              <a:t>` naturally maps to MQTT's publish/subscribe model. The Consumer didn't need to know it was MQTT — it simply performed a `</a:t>
            </a:r>
            <a:r>
              <a:rPr lang="en-US" sz="1200" b="0" kern="1200" dirty="0" err="1">
                <a:solidFill>
                  <a:schemeClr val="tx1"/>
                </a:solidFill>
                <a:effectLst/>
                <a:latin typeface="+mn-lt"/>
                <a:ea typeface="+mn-ea"/>
                <a:cs typeface="+mn-cs"/>
              </a:rPr>
              <a:t>subscribeevent</a:t>
            </a:r>
            <a:r>
              <a:rPr lang="en-US" sz="1200" b="0" kern="1200" dirty="0">
                <a:solidFill>
                  <a:schemeClr val="tx1"/>
                </a:solidFill>
                <a:effectLst/>
                <a:latin typeface="+mn-lt"/>
                <a:ea typeface="+mn-ea"/>
                <a:cs typeface="+mn-cs"/>
              </a:rPr>
              <a:t>` operation, and the form told it exactly how to do that: connect to this broker, subscribe to this topic and expect a plain text response.</a:t>
            </a:r>
          </a:p>
        </p:txBody>
      </p:sp>
      <p:sp>
        <p:nvSpPr>
          <p:cNvPr id="4" name="Slide Number Placeholder 3">
            <a:extLst>
              <a:ext uri="{FF2B5EF4-FFF2-40B4-BE49-F238E27FC236}">
                <a16:creationId xmlns:a16="http://schemas.microsoft.com/office/drawing/2014/main" id="{57AB2935-ACFB-6563-4382-8B80942747B4}"/>
              </a:ext>
            </a:extLst>
          </p:cNvPr>
          <p:cNvSpPr>
            <a:spLocks noGrp="1"/>
          </p:cNvSpPr>
          <p:nvPr>
            <p:ph type="sldNum" sz="quarter" idx="5"/>
          </p:nvPr>
        </p:nvSpPr>
        <p:spPr/>
        <p:txBody>
          <a:bodyPr/>
          <a:lstStyle/>
          <a:p>
            <a:fld id="{F02165D8-144D-4958-A83E-0D86045592C5}" type="slidenum">
              <a:rPr lang="en-US" smtClean="0"/>
              <a:t>36</a:t>
            </a:fld>
            <a:endParaRPr lang="en-US"/>
          </a:p>
        </p:txBody>
      </p:sp>
    </p:spTree>
    <p:extLst>
      <p:ext uri="{BB962C8B-B14F-4D97-AF65-F5344CB8AC3E}">
        <p14:creationId xmlns:p14="http://schemas.microsoft.com/office/powerpoint/2010/main" val="32554093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3B1B7-246D-9EB0-8EE2-C291B64948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B9130-F1B9-49B6-A681-482C0CE6E05E}"/>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4368CE75-4C94-88CD-7C39-3EDBD15183B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the </a:t>
            </a:r>
            <a:r>
              <a:rPr lang="en-US" dirty="0" err="1"/>
              <a:t>href</a:t>
            </a:r>
            <a:r>
              <a:rPr lang="en-US" dirty="0"/>
              <a:t> points to an MQTT broker and topic. The Consumer connects to the MQTT broker, subscribes to the specified topic, and receives event data asynchronously from the broker whenever the event occurs. The Thing publishes event messages to the same topic, and the MQTT broker delivers those published messages to all subscribed Consumers.</a:t>
            </a:r>
            <a:endParaRPr lang="en-DE" dirty="0"/>
          </a:p>
        </p:txBody>
      </p:sp>
      <p:sp>
        <p:nvSpPr>
          <p:cNvPr id="4" name="Slide Number Placeholder 3">
            <a:extLst>
              <a:ext uri="{FF2B5EF4-FFF2-40B4-BE49-F238E27FC236}">
                <a16:creationId xmlns:a16="http://schemas.microsoft.com/office/drawing/2014/main" id="{9E92F981-6E7C-878C-AE9B-9C371024D54E}"/>
              </a:ext>
            </a:extLst>
          </p:cNvPr>
          <p:cNvSpPr>
            <a:spLocks noGrp="1"/>
          </p:cNvSpPr>
          <p:nvPr>
            <p:ph type="sldNum" sz="quarter" idx="5"/>
          </p:nvPr>
        </p:nvSpPr>
        <p:spPr/>
        <p:txBody>
          <a:bodyPr/>
          <a:lstStyle/>
          <a:p>
            <a:fld id="{F02165D8-144D-4958-A83E-0D86045592C5}" type="slidenum">
              <a:rPr lang="en-US" smtClean="0"/>
              <a:t>37</a:t>
            </a:fld>
            <a:endParaRPr lang="en-US"/>
          </a:p>
        </p:txBody>
      </p:sp>
    </p:spTree>
    <p:extLst>
      <p:ext uri="{BB962C8B-B14F-4D97-AF65-F5344CB8AC3E}">
        <p14:creationId xmlns:p14="http://schemas.microsoft.com/office/powerpoint/2010/main" val="42353117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7AD73-C75A-5398-E4F6-603D7F877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166CE-7A53-0017-4E3E-FD9935C554F2}"/>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2459094A-7D4B-A0AE-BE0D-A4A9402C11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the </a:t>
            </a:r>
            <a:r>
              <a:rPr lang="en-US" dirty="0" err="1"/>
              <a:t>href</a:t>
            </a:r>
            <a:r>
              <a:rPr lang="en-US" dirty="0"/>
              <a:t> points to an MQTT broker and topic. The Consumer connects to the MQTT broker, subscribes to the specified topic, and receives event data asynchronously from the broker whenever the event occurs. The Thing publishes event messages to the same topic, and the MQTT broker delivers those published messages to all subscribed Consumers.</a:t>
            </a:r>
            <a:endParaRPr lang="en-DE" dirty="0"/>
          </a:p>
        </p:txBody>
      </p:sp>
      <p:sp>
        <p:nvSpPr>
          <p:cNvPr id="4" name="Slide Number Placeholder 3">
            <a:extLst>
              <a:ext uri="{FF2B5EF4-FFF2-40B4-BE49-F238E27FC236}">
                <a16:creationId xmlns:a16="http://schemas.microsoft.com/office/drawing/2014/main" id="{7E7D5767-F6DE-581B-0411-D2275E7338FF}"/>
              </a:ext>
            </a:extLst>
          </p:cNvPr>
          <p:cNvSpPr>
            <a:spLocks noGrp="1"/>
          </p:cNvSpPr>
          <p:nvPr>
            <p:ph type="sldNum" sz="quarter" idx="5"/>
          </p:nvPr>
        </p:nvSpPr>
        <p:spPr/>
        <p:txBody>
          <a:bodyPr/>
          <a:lstStyle/>
          <a:p>
            <a:fld id="{F02165D8-144D-4958-A83E-0D86045592C5}" type="slidenum">
              <a:rPr lang="en-US" smtClean="0"/>
              <a:t>38</a:t>
            </a:fld>
            <a:endParaRPr lang="en-US"/>
          </a:p>
        </p:txBody>
      </p:sp>
    </p:spTree>
    <p:extLst>
      <p:ext uri="{BB962C8B-B14F-4D97-AF65-F5344CB8AC3E}">
        <p14:creationId xmlns:p14="http://schemas.microsoft.com/office/powerpoint/2010/main" val="12830873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99258-5BF4-2A63-83BB-13AE68F5A4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E5EC0-AAC7-6EA6-03B3-5597088C1A7D}"/>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2E7CABA2-3212-C8F7-B94F-50644F9F13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the </a:t>
            </a:r>
            <a:r>
              <a:rPr lang="en-US" dirty="0" err="1"/>
              <a:t>href</a:t>
            </a:r>
            <a:r>
              <a:rPr lang="en-US" dirty="0"/>
              <a:t> points to an MQTT broker and topic. The Consumer connects to the MQTT broker, subscribes to the specified topic, and receives event data asynchronously from the broker whenever the event occurs. The Thing publishes event messages to the same topic, and the MQTT broker delivers those published messages to all subscribed Consumers.</a:t>
            </a:r>
            <a:endParaRPr lang="en-DE" dirty="0"/>
          </a:p>
        </p:txBody>
      </p:sp>
      <p:sp>
        <p:nvSpPr>
          <p:cNvPr id="4" name="Slide Number Placeholder 3">
            <a:extLst>
              <a:ext uri="{FF2B5EF4-FFF2-40B4-BE49-F238E27FC236}">
                <a16:creationId xmlns:a16="http://schemas.microsoft.com/office/drawing/2014/main" id="{AB4D2457-C1EC-670E-871D-972CB5244218}"/>
              </a:ext>
            </a:extLst>
          </p:cNvPr>
          <p:cNvSpPr>
            <a:spLocks noGrp="1"/>
          </p:cNvSpPr>
          <p:nvPr>
            <p:ph type="sldNum" sz="quarter" idx="5"/>
          </p:nvPr>
        </p:nvSpPr>
        <p:spPr/>
        <p:txBody>
          <a:bodyPr/>
          <a:lstStyle/>
          <a:p>
            <a:fld id="{F02165D8-144D-4958-A83E-0D86045592C5}" type="slidenum">
              <a:rPr lang="en-US" smtClean="0"/>
              <a:t>39</a:t>
            </a:fld>
            <a:endParaRPr lang="en-US"/>
          </a:p>
        </p:txBody>
      </p:sp>
    </p:spTree>
    <p:extLst>
      <p:ext uri="{BB962C8B-B14F-4D97-AF65-F5344CB8AC3E}">
        <p14:creationId xmlns:p14="http://schemas.microsoft.com/office/powerpoint/2010/main" val="9290863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DE" sz="1200" b="0" kern="1200" dirty="0">
                <a:solidFill>
                  <a:schemeClr val="tx1"/>
                </a:solidFill>
                <a:effectLst/>
                <a:latin typeface="+mn-lt"/>
                <a:ea typeface="+mn-ea"/>
                <a:cs typeface="+mn-cs"/>
              </a:rPr>
              <a:t>We've now seen three protocols applied to different affordances of our coffee machine. Let's see how we'd adapt it to a completely different kind of protocol: Modbus.</a:t>
            </a:r>
          </a:p>
        </p:txBody>
      </p:sp>
      <p:sp>
        <p:nvSpPr>
          <p:cNvPr id="4" name="Slide Number Placeholder 3"/>
          <p:cNvSpPr>
            <a:spLocks noGrp="1"/>
          </p:cNvSpPr>
          <p:nvPr>
            <p:ph type="sldNum" sz="quarter" idx="5"/>
          </p:nvPr>
        </p:nvSpPr>
        <p:spPr/>
        <p:txBody>
          <a:bodyPr/>
          <a:lstStyle/>
          <a:p>
            <a:fld id="{F02165D8-144D-4958-A83E-0D86045592C5}" type="slidenum">
              <a:rPr lang="en-US" smtClean="0"/>
              <a:t>40</a:t>
            </a:fld>
            <a:endParaRPr lang="en-US"/>
          </a:p>
        </p:txBody>
      </p:sp>
    </p:spTree>
    <p:extLst>
      <p:ext uri="{BB962C8B-B14F-4D97-AF65-F5344CB8AC3E}">
        <p14:creationId xmlns:p14="http://schemas.microsoft.com/office/powerpoint/2010/main" val="10920789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BB144-F5F6-FE85-F0D7-FCDF2E3FA4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651DA-79C6-5E1C-B95B-0F2150E11361}"/>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742A3ADD-54D0-1E27-60C6-053E1B46BF2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Modbus is a traditional industrial protocol widely used in automation and control systems. While it predates modern web technologies,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protocol bindings make it possible to expose Modbus-based devices through a standardized Thing Description. This allows legacy industrial equipment to be integrated into modern web-based systems, without changing the underlying protocol.</a:t>
            </a:r>
          </a:p>
          <a:p>
            <a:endParaRPr lang="en-DE" dirty="0"/>
          </a:p>
        </p:txBody>
      </p:sp>
      <p:sp>
        <p:nvSpPr>
          <p:cNvPr id="4" name="Slide Number Placeholder 3">
            <a:extLst>
              <a:ext uri="{FF2B5EF4-FFF2-40B4-BE49-F238E27FC236}">
                <a16:creationId xmlns:a16="http://schemas.microsoft.com/office/drawing/2014/main" id="{DBE75F6E-61DE-5313-F543-C2349F005059}"/>
              </a:ext>
            </a:extLst>
          </p:cNvPr>
          <p:cNvSpPr>
            <a:spLocks noGrp="1"/>
          </p:cNvSpPr>
          <p:nvPr>
            <p:ph type="sldNum" sz="quarter" idx="5"/>
          </p:nvPr>
        </p:nvSpPr>
        <p:spPr/>
        <p:txBody>
          <a:bodyPr/>
          <a:lstStyle/>
          <a:p>
            <a:fld id="{F02165D8-144D-4958-A83E-0D86045592C5}" type="slidenum">
              <a:rPr lang="en-US" smtClean="0"/>
              <a:t>41</a:t>
            </a:fld>
            <a:endParaRPr lang="en-US"/>
          </a:p>
        </p:txBody>
      </p:sp>
    </p:spTree>
    <p:extLst>
      <p:ext uri="{BB962C8B-B14F-4D97-AF65-F5344CB8AC3E}">
        <p14:creationId xmlns:p14="http://schemas.microsoft.com/office/powerpoint/2010/main" val="21783566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854B5-413F-0C85-7D51-CF1A1FCA7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C4CF53-4796-5193-DC08-3A0E301666DD}"/>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0545B163-FC01-3D72-404F-E425A1638D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Modbus is a traditional industrial protocol widely used in automation and control systems. While it predates modern web technologies,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protocol bindings make it possible to expose Modbus-based devices through a standardized Thing Description. This allows legacy industrial equipment to be integrated into modern web-based systems, without changing the underlying protocol.</a:t>
            </a:r>
          </a:p>
          <a:p>
            <a:endParaRPr lang="en-DE" dirty="0"/>
          </a:p>
        </p:txBody>
      </p:sp>
      <p:sp>
        <p:nvSpPr>
          <p:cNvPr id="4" name="Slide Number Placeholder 3">
            <a:extLst>
              <a:ext uri="{FF2B5EF4-FFF2-40B4-BE49-F238E27FC236}">
                <a16:creationId xmlns:a16="http://schemas.microsoft.com/office/drawing/2014/main" id="{C1F628B1-3169-AF0A-2A72-40812CDADF67}"/>
              </a:ext>
            </a:extLst>
          </p:cNvPr>
          <p:cNvSpPr>
            <a:spLocks noGrp="1"/>
          </p:cNvSpPr>
          <p:nvPr>
            <p:ph type="sldNum" sz="quarter" idx="5"/>
          </p:nvPr>
        </p:nvSpPr>
        <p:spPr/>
        <p:txBody>
          <a:bodyPr/>
          <a:lstStyle/>
          <a:p>
            <a:fld id="{F02165D8-144D-4958-A83E-0D86045592C5}" type="slidenum">
              <a:rPr lang="en-US" smtClean="0"/>
              <a:t>42</a:t>
            </a:fld>
            <a:endParaRPr lang="en-US"/>
          </a:p>
        </p:txBody>
      </p:sp>
    </p:spTree>
    <p:extLst>
      <p:ext uri="{BB962C8B-B14F-4D97-AF65-F5344CB8AC3E}">
        <p14:creationId xmlns:p14="http://schemas.microsoft.com/office/powerpoint/2010/main" val="23205189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E00D7-9575-B2A2-725A-C11B59125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947D1-FBB6-3DB1-6983-956599F6004A}"/>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7BFF8044-150B-87DD-C61B-7AACE54CC68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Modbus is a traditional industrial protocol widely used in automation and control systems. While it predates modern web technologies,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protocol bindings make it possible to expose Modbus-based devices through a standardized Thing Description. This allows legacy industrial equipment to be integrated into modern web-based systems, without changing the underlying protocol.</a:t>
            </a:r>
          </a:p>
          <a:p>
            <a:endParaRPr lang="en-DE" dirty="0"/>
          </a:p>
        </p:txBody>
      </p:sp>
      <p:sp>
        <p:nvSpPr>
          <p:cNvPr id="4" name="Slide Number Placeholder 3">
            <a:extLst>
              <a:ext uri="{FF2B5EF4-FFF2-40B4-BE49-F238E27FC236}">
                <a16:creationId xmlns:a16="http://schemas.microsoft.com/office/drawing/2014/main" id="{F2A0C89C-EE96-5A7C-04E2-7CAA1061F286}"/>
              </a:ext>
            </a:extLst>
          </p:cNvPr>
          <p:cNvSpPr>
            <a:spLocks noGrp="1"/>
          </p:cNvSpPr>
          <p:nvPr>
            <p:ph type="sldNum" sz="quarter" idx="5"/>
          </p:nvPr>
        </p:nvSpPr>
        <p:spPr/>
        <p:txBody>
          <a:bodyPr/>
          <a:lstStyle/>
          <a:p>
            <a:fld id="{F02165D8-144D-4958-A83E-0D86045592C5}" type="slidenum">
              <a:rPr lang="en-US" smtClean="0"/>
              <a:t>43</a:t>
            </a:fld>
            <a:endParaRPr lang="en-US"/>
          </a:p>
        </p:txBody>
      </p:sp>
    </p:spTree>
    <p:extLst>
      <p:ext uri="{BB962C8B-B14F-4D97-AF65-F5344CB8AC3E}">
        <p14:creationId xmlns:p14="http://schemas.microsoft.com/office/powerpoint/2010/main" val="19450292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42DBA-7823-9D4C-54E5-225EC6BA75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4F1D7-0EF1-CB01-77BD-1F7562E9F727}"/>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DEC2188B-67F1-9C7E-BC11-6F79E00E90FF}"/>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Let's trace how the Consumer translates this form into a Modbus message. The `base` URI gives it the device address and port 502. The /1/ at the end is the Unit ID — the Modbus device identifier on the bus. The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value `10003` is the register address. The `</a:t>
            </a:r>
            <a:r>
              <a:rPr lang="en-US" sz="1200" b="0" kern="1200" dirty="0" err="1">
                <a:solidFill>
                  <a:schemeClr val="tx1"/>
                </a:solidFill>
                <a:effectLst/>
                <a:latin typeface="+mn-lt"/>
                <a:ea typeface="+mn-ea"/>
                <a:cs typeface="+mn-cs"/>
              </a:rPr>
              <a:t>modv:function</a:t>
            </a:r>
            <a:r>
              <a:rPr lang="en-US" sz="1200" b="0" kern="1200" dirty="0">
                <a:solidFill>
                  <a:schemeClr val="tx1"/>
                </a:solidFill>
                <a:effectLst/>
                <a:latin typeface="+mn-lt"/>
                <a:ea typeface="+mn-ea"/>
                <a:cs typeface="+mn-cs"/>
              </a:rPr>
              <a:t>` field says `HoldingRegister`, which can be read or written to, and are typically used to store sensor values like a water level. Putting this all together, the Consumer sends:</a:t>
            </a:r>
          </a:p>
        </p:txBody>
      </p:sp>
      <p:sp>
        <p:nvSpPr>
          <p:cNvPr id="4" name="Slide Number Placeholder 3">
            <a:extLst>
              <a:ext uri="{FF2B5EF4-FFF2-40B4-BE49-F238E27FC236}">
                <a16:creationId xmlns:a16="http://schemas.microsoft.com/office/drawing/2014/main" id="{5AD17B74-1EB7-76A7-9086-DC9B59B37278}"/>
              </a:ext>
            </a:extLst>
          </p:cNvPr>
          <p:cNvSpPr>
            <a:spLocks noGrp="1"/>
          </p:cNvSpPr>
          <p:nvPr>
            <p:ph type="sldNum" sz="quarter" idx="5"/>
          </p:nvPr>
        </p:nvSpPr>
        <p:spPr/>
        <p:txBody>
          <a:bodyPr/>
          <a:lstStyle/>
          <a:p>
            <a:fld id="{F02165D8-144D-4958-A83E-0D86045592C5}" type="slidenum">
              <a:rPr lang="en-US" smtClean="0"/>
              <a:t>44</a:t>
            </a:fld>
            <a:endParaRPr lang="en-US"/>
          </a:p>
        </p:txBody>
      </p:sp>
    </p:spTree>
    <p:extLst>
      <p:ext uri="{BB962C8B-B14F-4D97-AF65-F5344CB8AC3E}">
        <p14:creationId xmlns:p14="http://schemas.microsoft.com/office/powerpoint/2010/main" val="7721095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E5275-D9B8-A5F9-CBFA-474A827CAD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64872-9CAB-698F-E7FD-65CCBDAAF25E}"/>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F68690E9-A90F-E5C1-0148-913E0D81355C}"/>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Let's trace how the Consumer translates this form into a Modbus message. The `base` URI gives it the device address and port 502. The /1/ at the end is the Unit ID — the Modbus device identifier on the bus. The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value `10003` is the register address. The `</a:t>
            </a:r>
            <a:r>
              <a:rPr lang="en-US" sz="1200" b="0" kern="1200" dirty="0" err="1">
                <a:solidFill>
                  <a:schemeClr val="tx1"/>
                </a:solidFill>
                <a:effectLst/>
                <a:latin typeface="+mn-lt"/>
                <a:ea typeface="+mn-ea"/>
                <a:cs typeface="+mn-cs"/>
              </a:rPr>
              <a:t>modv:function</a:t>
            </a:r>
            <a:r>
              <a:rPr lang="en-US" sz="1200" b="0" kern="1200" dirty="0">
                <a:solidFill>
                  <a:schemeClr val="tx1"/>
                </a:solidFill>
                <a:effectLst/>
                <a:latin typeface="+mn-lt"/>
                <a:ea typeface="+mn-ea"/>
                <a:cs typeface="+mn-cs"/>
              </a:rPr>
              <a:t>` field says `HoldingRegister`, which can be read or written to, and are typically used to store sensor values like a water level. Putting this all together, the Consumer sends:</a:t>
            </a:r>
          </a:p>
        </p:txBody>
      </p:sp>
      <p:sp>
        <p:nvSpPr>
          <p:cNvPr id="4" name="Slide Number Placeholder 3">
            <a:extLst>
              <a:ext uri="{FF2B5EF4-FFF2-40B4-BE49-F238E27FC236}">
                <a16:creationId xmlns:a16="http://schemas.microsoft.com/office/drawing/2014/main" id="{E64D23A8-9E17-1BA2-4DA2-35586C7E9341}"/>
              </a:ext>
            </a:extLst>
          </p:cNvPr>
          <p:cNvSpPr>
            <a:spLocks noGrp="1"/>
          </p:cNvSpPr>
          <p:nvPr>
            <p:ph type="sldNum" sz="quarter" idx="5"/>
          </p:nvPr>
        </p:nvSpPr>
        <p:spPr/>
        <p:txBody>
          <a:bodyPr/>
          <a:lstStyle/>
          <a:p>
            <a:fld id="{F02165D8-144D-4958-A83E-0D86045592C5}" type="slidenum">
              <a:rPr lang="en-US" smtClean="0"/>
              <a:t>45</a:t>
            </a:fld>
            <a:endParaRPr lang="en-US"/>
          </a:p>
        </p:txBody>
      </p:sp>
    </p:spTree>
    <p:extLst>
      <p:ext uri="{BB962C8B-B14F-4D97-AF65-F5344CB8AC3E}">
        <p14:creationId xmlns:p14="http://schemas.microsoft.com/office/powerpoint/2010/main" val="24659722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42BEA-ABA4-1071-F33F-46A16FAEF5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D0F75-BBC0-FC17-DD51-6C550BF00AE3}"/>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CD2ADB17-1F33-1681-C4D7-D66B9849A350}"/>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Let's trace how the Consumer translates this form into a Modbus message. The `base` URI gives it the device address and port 502. The /1/ at the end is the Unit ID — the Modbus device identifier on the bus. The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value `10003` is the register address. The `</a:t>
            </a:r>
            <a:r>
              <a:rPr lang="en-US" sz="1200" b="0" kern="1200" dirty="0" err="1">
                <a:solidFill>
                  <a:schemeClr val="tx1"/>
                </a:solidFill>
                <a:effectLst/>
                <a:latin typeface="+mn-lt"/>
                <a:ea typeface="+mn-ea"/>
                <a:cs typeface="+mn-cs"/>
              </a:rPr>
              <a:t>modv:function</a:t>
            </a:r>
            <a:r>
              <a:rPr lang="en-US" sz="1200" b="0" kern="1200" dirty="0">
                <a:solidFill>
                  <a:schemeClr val="tx1"/>
                </a:solidFill>
                <a:effectLst/>
                <a:latin typeface="+mn-lt"/>
                <a:ea typeface="+mn-ea"/>
                <a:cs typeface="+mn-cs"/>
              </a:rPr>
              <a:t>` field says `HoldingRegister`, which can be read or written to, and are typically used to store sensor values like a water level. Putting this all together, the Consumer sends:</a:t>
            </a:r>
          </a:p>
        </p:txBody>
      </p:sp>
      <p:sp>
        <p:nvSpPr>
          <p:cNvPr id="4" name="Slide Number Placeholder 3">
            <a:extLst>
              <a:ext uri="{FF2B5EF4-FFF2-40B4-BE49-F238E27FC236}">
                <a16:creationId xmlns:a16="http://schemas.microsoft.com/office/drawing/2014/main" id="{756A07A7-2724-BC95-8A27-DEB495951093}"/>
              </a:ext>
            </a:extLst>
          </p:cNvPr>
          <p:cNvSpPr>
            <a:spLocks noGrp="1"/>
          </p:cNvSpPr>
          <p:nvPr>
            <p:ph type="sldNum" sz="quarter" idx="5"/>
          </p:nvPr>
        </p:nvSpPr>
        <p:spPr/>
        <p:txBody>
          <a:bodyPr/>
          <a:lstStyle/>
          <a:p>
            <a:fld id="{F02165D8-144D-4958-A83E-0D86045592C5}" type="slidenum">
              <a:rPr lang="en-US" smtClean="0"/>
              <a:t>46</a:t>
            </a:fld>
            <a:endParaRPr lang="en-US"/>
          </a:p>
        </p:txBody>
      </p:sp>
    </p:spTree>
    <p:extLst>
      <p:ext uri="{BB962C8B-B14F-4D97-AF65-F5344CB8AC3E}">
        <p14:creationId xmlns:p14="http://schemas.microsoft.com/office/powerpoint/2010/main" val="580811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FB422-BF7B-B2AB-159D-121B666AA9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4CB637-96B3-DC39-053C-320F2BCEFCC4}"/>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1943EEB9-CCDD-365F-680F-49A5378C0F73}"/>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Let's trace how the Consumer translates this form into a Modbus message. The `base` URI gives it the device address and port 502. The /1/ at the end is the Unit ID — the Modbus device identifier on the bus. The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value `10003` is the register address. The `</a:t>
            </a:r>
            <a:r>
              <a:rPr lang="en-US" sz="1200" b="0" kern="1200" dirty="0" err="1">
                <a:solidFill>
                  <a:schemeClr val="tx1"/>
                </a:solidFill>
                <a:effectLst/>
                <a:latin typeface="+mn-lt"/>
                <a:ea typeface="+mn-ea"/>
                <a:cs typeface="+mn-cs"/>
              </a:rPr>
              <a:t>modv:function</a:t>
            </a:r>
            <a:r>
              <a:rPr lang="en-US" sz="1200" b="0" kern="1200" dirty="0">
                <a:solidFill>
                  <a:schemeClr val="tx1"/>
                </a:solidFill>
                <a:effectLst/>
                <a:latin typeface="+mn-lt"/>
                <a:ea typeface="+mn-ea"/>
                <a:cs typeface="+mn-cs"/>
              </a:rPr>
              <a:t>` field says `HoldingRegister`, which can be read or written to, and are typically used to store sensor values like a water level. Putting this all together, the Consumer sends:</a:t>
            </a:r>
          </a:p>
        </p:txBody>
      </p:sp>
      <p:sp>
        <p:nvSpPr>
          <p:cNvPr id="4" name="Slide Number Placeholder 3">
            <a:extLst>
              <a:ext uri="{FF2B5EF4-FFF2-40B4-BE49-F238E27FC236}">
                <a16:creationId xmlns:a16="http://schemas.microsoft.com/office/drawing/2014/main" id="{134C9C52-97ED-E212-BBDD-E1D34242067E}"/>
              </a:ext>
            </a:extLst>
          </p:cNvPr>
          <p:cNvSpPr>
            <a:spLocks noGrp="1"/>
          </p:cNvSpPr>
          <p:nvPr>
            <p:ph type="sldNum" sz="quarter" idx="5"/>
          </p:nvPr>
        </p:nvSpPr>
        <p:spPr/>
        <p:txBody>
          <a:bodyPr/>
          <a:lstStyle/>
          <a:p>
            <a:fld id="{F02165D8-144D-4958-A83E-0D86045592C5}" type="slidenum">
              <a:rPr lang="en-US" smtClean="0"/>
              <a:t>47</a:t>
            </a:fld>
            <a:endParaRPr lang="en-US"/>
          </a:p>
        </p:txBody>
      </p:sp>
    </p:spTree>
    <p:extLst>
      <p:ext uri="{BB962C8B-B14F-4D97-AF65-F5344CB8AC3E}">
        <p14:creationId xmlns:p14="http://schemas.microsoft.com/office/powerpoint/2010/main" val="7647532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1C5AB-0C77-5DF5-B008-C80C1F89B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1A601-D27B-F8CF-D022-62E49345E017}"/>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7651539F-1648-CCB6-E67C-96476E03E30C}"/>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Let's trace how the Consumer translates this form into a Modbus message. The `base` URI gives it the device address and port 502. The /1/ at the end is the Unit ID — the Modbus device identifier on the bus. The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value `10003` is the register address. The `</a:t>
            </a:r>
            <a:r>
              <a:rPr lang="en-US" sz="1200" b="0" kern="1200" dirty="0" err="1">
                <a:solidFill>
                  <a:schemeClr val="tx1"/>
                </a:solidFill>
                <a:effectLst/>
                <a:latin typeface="+mn-lt"/>
                <a:ea typeface="+mn-ea"/>
                <a:cs typeface="+mn-cs"/>
              </a:rPr>
              <a:t>modv:function</a:t>
            </a:r>
            <a:r>
              <a:rPr lang="en-US" sz="1200" b="0" kern="1200" dirty="0">
                <a:solidFill>
                  <a:schemeClr val="tx1"/>
                </a:solidFill>
                <a:effectLst/>
                <a:latin typeface="+mn-lt"/>
                <a:ea typeface="+mn-ea"/>
                <a:cs typeface="+mn-cs"/>
              </a:rPr>
              <a:t>` field says `HoldingRegister`, which can be read or written to, and are typically used to store sensor values like a water level. Putting this all together, the Consumer sends:</a:t>
            </a:r>
          </a:p>
        </p:txBody>
      </p:sp>
      <p:sp>
        <p:nvSpPr>
          <p:cNvPr id="4" name="Slide Number Placeholder 3">
            <a:extLst>
              <a:ext uri="{FF2B5EF4-FFF2-40B4-BE49-F238E27FC236}">
                <a16:creationId xmlns:a16="http://schemas.microsoft.com/office/drawing/2014/main" id="{7699165A-6232-E5DF-99C8-B694E4A43DDF}"/>
              </a:ext>
            </a:extLst>
          </p:cNvPr>
          <p:cNvSpPr>
            <a:spLocks noGrp="1"/>
          </p:cNvSpPr>
          <p:nvPr>
            <p:ph type="sldNum" sz="quarter" idx="5"/>
          </p:nvPr>
        </p:nvSpPr>
        <p:spPr/>
        <p:txBody>
          <a:bodyPr/>
          <a:lstStyle/>
          <a:p>
            <a:fld id="{F02165D8-144D-4958-A83E-0D86045592C5}" type="slidenum">
              <a:rPr lang="en-US" smtClean="0"/>
              <a:t>48</a:t>
            </a:fld>
            <a:endParaRPr lang="en-US"/>
          </a:p>
        </p:txBody>
      </p:sp>
    </p:spTree>
    <p:extLst>
      <p:ext uri="{BB962C8B-B14F-4D97-AF65-F5344CB8AC3E}">
        <p14:creationId xmlns:p14="http://schemas.microsoft.com/office/powerpoint/2010/main" val="33329012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1511E-0857-8B32-7A03-3C20B58DE1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E4CCBD-FE6A-43AA-DD8B-0FD4597FB2C4}"/>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69518316-6FA1-9341-E20F-A42D1C982C7A}"/>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Let's trace how the Consumer translates this form into a Modbus message. The `base` URI gives it the device address and port 502. The /1/ at the end is the Unit ID — the Modbus device identifier on the bus. The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value `10003` is the register address. The `</a:t>
            </a:r>
            <a:r>
              <a:rPr lang="en-US" sz="1200" b="0" kern="1200" dirty="0" err="1">
                <a:solidFill>
                  <a:schemeClr val="tx1"/>
                </a:solidFill>
                <a:effectLst/>
                <a:latin typeface="+mn-lt"/>
                <a:ea typeface="+mn-ea"/>
                <a:cs typeface="+mn-cs"/>
              </a:rPr>
              <a:t>modv:function</a:t>
            </a:r>
            <a:r>
              <a:rPr lang="en-US" sz="1200" b="0" kern="1200" dirty="0">
                <a:solidFill>
                  <a:schemeClr val="tx1"/>
                </a:solidFill>
                <a:effectLst/>
                <a:latin typeface="+mn-lt"/>
                <a:ea typeface="+mn-ea"/>
                <a:cs typeface="+mn-cs"/>
              </a:rPr>
              <a:t>` field says `HoldingRegister`, which can be read or written to, and are typically used to store sensor values like a water level. Putting this all together, the Consumer sends:</a:t>
            </a:r>
          </a:p>
        </p:txBody>
      </p:sp>
      <p:sp>
        <p:nvSpPr>
          <p:cNvPr id="4" name="Slide Number Placeholder 3">
            <a:extLst>
              <a:ext uri="{FF2B5EF4-FFF2-40B4-BE49-F238E27FC236}">
                <a16:creationId xmlns:a16="http://schemas.microsoft.com/office/drawing/2014/main" id="{0960CC84-588D-9E59-8896-DC7142ECC826}"/>
              </a:ext>
            </a:extLst>
          </p:cNvPr>
          <p:cNvSpPr>
            <a:spLocks noGrp="1"/>
          </p:cNvSpPr>
          <p:nvPr>
            <p:ph type="sldNum" sz="quarter" idx="5"/>
          </p:nvPr>
        </p:nvSpPr>
        <p:spPr/>
        <p:txBody>
          <a:bodyPr/>
          <a:lstStyle/>
          <a:p>
            <a:fld id="{F02165D8-144D-4958-A83E-0D86045592C5}" type="slidenum">
              <a:rPr lang="en-US" smtClean="0"/>
              <a:t>49</a:t>
            </a:fld>
            <a:endParaRPr lang="en-US"/>
          </a:p>
        </p:txBody>
      </p:sp>
    </p:spTree>
    <p:extLst>
      <p:ext uri="{BB962C8B-B14F-4D97-AF65-F5344CB8AC3E}">
        <p14:creationId xmlns:p14="http://schemas.microsoft.com/office/powerpoint/2010/main" val="27517586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BA435-1A48-5287-3B03-1EA53513D3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01AA2-D2F2-4F73-E0F6-7327DB23F8AF}"/>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F2475F2A-AFBA-289B-88AF-D8906AB94E79}"/>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Let's trace how the Consumer translates this form into a Modbus message. The `base` URI gives it the device address and port 502. The /1/ at the end is the Unit ID — the Modbus device identifier on the bus. The `</a:t>
            </a:r>
            <a:r>
              <a:rPr lang="en-US" sz="1200" b="0" kern="1200" dirty="0" err="1">
                <a:solidFill>
                  <a:schemeClr val="tx1"/>
                </a:solidFill>
                <a:effectLst/>
                <a:latin typeface="+mn-lt"/>
                <a:ea typeface="+mn-ea"/>
                <a:cs typeface="+mn-cs"/>
              </a:rPr>
              <a:t>href</a:t>
            </a:r>
            <a:r>
              <a:rPr lang="en-US" sz="1200" b="0" kern="1200" dirty="0">
                <a:solidFill>
                  <a:schemeClr val="tx1"/>
                </a:solidFill>
                <a:effectLst/>
                <a:latin typeface="+mn-lt"/>
                <a:ea typeface="+mn-ea"/>
                <a:cs typeface="+mn-cs"/>
              </a:rPr>
              <a:t>` value `10003` is the register address. The `</a:t>
            </a:r>
            <a:r>
              <a:rPr lang="en-US" sz="1200" b="0" kern="1200" dirty="0" err="1">
                <a:solidFill>
                  <a:schemeClr val="tx1"/>
                </a:solidFill>
                <a:effectLst/>
                <a:latin typeface="+mn-lt"/>
                <a:ea typeface="+mn-ea"/>
                <a:cs typeface="+mn-cs"/>
              </a:rPr>
              <a:t>modv:function</a:t>
            </a:r>
            <a:r>
              <a:rPr lang="en-US" sz="1200" b="0" kern="1200" dirty="0">
                <a:solidFill>
                  <a:schemeClr val="tx1"/>
                </a:solidFill>
                <a:effectLst/>
                <a:latin typeface="+mn-lt"/>
                <a:ea typeface="+mn-ea"/>
                <a:cs typeface="+mn-cs"/>
              </a:rPr>
              <a:t>` field says `HoldingRegister`, which can be read or written to, and are typically used to store sensor values like a water level. Putting this all together, the Consumer sends:</a:t>
            </a:r>
          </a:p>
        </p:txBody>
      </p:sp>
      <p:sp>
        <p:nvSpPr>
          <p:cNvPr id="4" name="Slide Number Placeholder 3">
            <a:extLst>
              <a:ext uri="{FF2B5EF4-FFF2-40B4-BE49-F238E27FC236}">
                <a16:creationId xmlns:a16="http://schemas.microsoft.com/office/drawing/2014/main" id="{CE0BD9C7-5C6B-BF45-A0D5-826D2314C691}"/>
              </a:ext>
            </a:extLst>
          </p:cNvPr>
          <p:cNvSpPr>
            <a:spLocks noGrp="1"/>
          </p:cNvSpPr>
          <p:nvPr>
            <p:ph type="sldNum" sz="quarter" idx="5"/>
          </p:nvPr>
        </p:nvSpPr>
        <p:spPr/>
        <p:txBody>
          <a:bodyPr/>
          <a:lstStyle/>
          <a:p>
            <a:fld id="{F02165D8-144D-4958-A83E-0D86045592C5}" type="slidenum">
              <a:rPr lang="en-US" smtClean="0"/>
              <a:t>50</a:t>
            </a:fld>
            <a:endParaRPr lang="en-US"/>
          </a:p>
        </p:txBody>
      </p:sp>
    </p:spTree>
    <p:extLst>
      <p:ext uri="{BB962C8B-B14F-4D97-AF65-F5344CB8AC3E}">
        <p14:creationId xmlns:p14="http://schemas.microsoft.com/office/powerpoint/2010/main" val="32523576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75B2C-B2F8-ABBF-3F09-8233A8D2FF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4D97FE-238B-F724-E323-A379CFA24F8A}"/>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102143B4-9441-DDBC-8780-5D7D741C0500}"/>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Consumer receives those two bytes and interprets them as a 16-bit big-endian integer: 0x012C = 300. Because the Thing Description specifies that `</a:t>
            </a:r>
            <a:r>
              <a:rPr lang="en-US" sz="1200" b="0" kern="1200" dirty="0" err="1">
                <a:solidFill>
                  <a:schemeClr val="tx1"/>
                </a:solidFill>
                <a:effectLst/>
                <a:latin typeface="+mn-lt"/>
                <a:ea typeface="+mn-ea"/>
                <a:cs typeface="+mn-cs"/>
              </a:rPr>
              <a:t>waterLevel</a:t>
            </a:r>
            <a:r>
              <a:rPr lang="en-US" sz="1200" b="0" kern="1200" dirty="0">
                <a:solidFill>
                  <a:schemeClr val="tx1"/>
                </a:solidFill>
                <a:effectLst/>
                <a:latin typeface="+mn-lt"/>
                <a:ea typeface="+mn-ea"/>
                <a:cs typeface="+mn-cs"/>
              </a:rPr>
              <a:t>` is an integer, the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runtime automatically turns this into the number 300 — the water level in milliliters.</a:t>
            </a:r>
          </a:p>
        </p:txBody>
      </p:sp>
      <p:sp>
        <p:nvSpPr>
          <p:cNvPr id="4" name="Slide Number Placeholder 3">
            <a:extLst>
              <a:ext uri="{FF2B5EF4-FFF2-40B4-BE49-F238E27FC236}">
                <a16:creationId xmlns:a16="http://schemas.microsoft.com/office/drawing/2014/main" id="{B0370A0C-7DF5-CDD2-7C9B-3C266F18B560}"/>
              </a:ext>
            </a:extLst>
          </p:cNvPr>
          <p:cNvSpPr>
            <a:spLocks noGrp="1"/>
          </p:cNvSpPr>
          <p:nvPr>
            <p:ph type="sldNum" sz="quarter" idx="5"/>
          </p:nvPr>
        </p:nvSpPr>
        <p:spPr/>
        <p:txBody>
          <a:bodyPr/>
          <a:lstStyle/>
          <a:p>
            <a:fld id="{F02165D8-144D-4958-A83E-0D86045592C5}" type="slidenum">
              <a:rPr lang="en-US" smtClean="0"/>
              <a:t>51</a:t>
            </a:fld>
            <a:endParaRPr lang="en-US"/>
          </a:p>
        </p:txBody>
      </p:sp>
    </p:spTree>
    <p:extLst>
      <p:ext uri="{BB962C8B-B14F-4D97-AF65-F5344CB8AC3E}">
        <p14:creationId xmlns:p14="http://schemas.microsoft.com/office/powerpoint/2010/main" val="329406782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F28F9-1349-5C50-AF60-E9C1A0080D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AE2976-54CB-0881-C232-8365D0346B17}"/>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FEFF4AB5-9390-7DC2-7BE9-4541389F864E}"/>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Consumer receives those two bytes and interprets them as a 16-bit big-endian integer: 0x012C = 300. Because the Thing Description specifies that `</a:t>
            </a:r>
            <a:r>
              <a:rPr lang="en-US" sz="1200" b="0" kern="1200" dirty="0" err="1">
                <a:solidFill>
                  <a:schemeClr val="tx1"/>
                </a:solidFill>
                <a:effectLst/>
                <a:latin typeface="+mn-lt"/>
                <a:ea typeface="+mn-ea"/>
                <a:cs typeface="+mn-cs"/>
              </a:rPr>
              <a:t>waterLevel</a:t>
            </a:r>
            <a:r>
              <a:rPr lang="en-US" sz="1200" b="0" kern="1200" dirty="0">
                <a:solidFill>
                  <a:schemeClr val="tx1"/>
                </a:solidFill>
                <a:effectLst/>
                <a:latin typeface="+mn-lt"/>
                <a:ea typeface="+mn-ea"/>
                <a:cs typeface="+mn-cs"/>
              </a:rPr>
              <a:t>` is an integer, the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runtime automatically turns this into the number 300 — the water level in milliliters.</a:t>
            </a:r>
          </a:p>
        </p:txBody>
      </p:sp>
      <p:sp>
        <p:nvSpPr>
          <p:cNvPr id="4" name="Slide Number Placeholder 3">
            <a:extLst>
              <a:ext uri="{FF2B5EF4-FFF2-40B4-BE49-F238E27FC236}">
                <a16:creationId xmlns:a16="http://schemas.microsoft.com/office/drawing/2014/main" id="{B1663C44-D6EE-D63C-183D-9DF0785FD24A}"/>
              </a:ext>
            </a:extLst>
          </p:cNvPr>
          <p:cNvSpPr>
            <a:spLocks noGrp="1"/>
          </p:cNvSpPr>
          <p:nvPr>
            <p:ph type="sldNum" sz="quarter" idx="5"/>
          </p:nvPr>
        </p:nvSpPr>
        <p:spPr/>
        <p:txBody>
          <a:bodyPr/>
          <a:lstStyle/>
          <a:p>
            <a:fld id="{F02165D8-144D-4958-A83E-0D86045592C5}" type="slidenum">
              <a:rPr lang="en-US" smtClean="0"/>
              <a:t>52</a:t>
            </a:fld>
            <a:endParaRPr lang="en-US"/>
          </a:p>
        </p:txBody>
      </p:sp>
    </p:spTree>
    <p:extLst>
      <p:ext uri="{BB962C8B-B14F-4D97-AF65-F5344CB8AC3E}">
        <p14:creationId xmlns:p14="http://schemas.microsoft.com/office/powerpoint/2010/main" val="13127712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555E6-600B-59FB-3F82-C4E39415DF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79E2F-FD44-5626-2749-BA3060639860}"/>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504D82DC-8230-2E0D-1090-382D397AABA8}"/>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Consumer receives those two bytes and interprets them as a 16-bit big-endian integer: 0x012C = 300. Because the Thing Description specifies that `</a:t>
            </a:r>
            <a:r>
              <a:rPr lang="en-US" sz="1200" b="0" kern="1200" dirty="0" err="1">
                <a:solidFill>
                  <a:schemeClr val="tx1"/>
                </a:solidFill>
                <a:effectLst/>
                <a:latin typeface="+mn-lt"/>
                <a:ea typeface="+mn-ea"/>
                <a:cs typeface="+mn-cs"/>
              </a:rPr>
              <a:t>waterLevel</a:t>
            </a:r>
            <a:r>
              <a:rPr lang="en-US" sz="1200" b="0" kern="1200" dirty="0">
                <a:solidFill>
                  <a:schemeClr val="tx1"/>
                </a:solidFill>
                <a:effectLst/>
                <a:latin typeface="+mn-lt"/>
                <a:ea typeface="+mn-ea"/>
                <a:cs typeface="+mn-cs"/>
              </a:rPr>
              <a:t>` is an integer, the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runtime automatically turns this into the number 300 — the water level in milliliters.</a:t>
            </a:r>
          </a:p>
        </p:txBody>
      </p:sp>
      <p:sp>
        <p:nvSpPr>
          <p:cNvPr id="4" name="Slide Number Placeholder 3">
            <a:extLst>
              <a:ext uri="{FF2B5EF4-FFF2-40B4-BE49-F238E27FC236}">
                <a16:creationId xmlns:a16="http://schemas.microsoft.com/office/drawing/2014/main" id="{0CAC444E-5326-640F-833B-99EA664460C1}"/>
              </a:ext>
            </a:extLst>
          </p:cNvPr>
          <p:cNvSpPr>
            <a:spLocks noGrp="1"/>
          </p:cNvSpPr>
          <p:nvPr>
            <p:ph type="sldNum" sz="quarter" idx="5"/>
          </p:nvPr>
        </p:nvSpPr>
        <p:spPr/>
        <p:txBody>
          <a:bodyPr/>
          <a:lstStyle/>
          <a:p>
            <a:fld id="{F02165D8-144D-4958-A83E-0D86045592C5}" type="slidenum">
              <a:rPr lang="en-US" smtClean="0"/>
              <a:t>53</a:t>
            </a:fld>
            <a:endParaRPr lang="en-US"/>
          </a:p>
        </p:txBody>
      </p:sp>
    </p:spTree>
    <p:extLst>
      <p:ext uri="{BB962C8B-B14F-4D97-AF65-F5344CB8AC3E}">
        <p14:creationId xmlns:p14="http://schemas.microsoft.com/office/powerpoint/2010/main" val="203827486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09022-9356-7B8C-FE6C-803AABAD8C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D86B92-1D86-3990-753B-AE6CBBB66C75}"/>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FC0EB844-7115-CF54-0DE8-563CA238A1A3}"/>
              </a:ext>
            </a:extLst>
          </p:cNvPr>
          <p:cNvSpPr>
            <a:spLocks noGrp="1"/>
          </p:cNvSpPr>
          <p:nvPr>
            <p:ph type="body" idx="1"/>
          </p:nvPr>
        </p:nvSpPr>
        <p:spPr/>
        <p:txBody>
          <a:bodyPr/>
          <a:lstStyle/>
          <a:p>
            <a:r>
              <a:rPr lang="en-US" dirty="0"/>
              <a:t>For example, our coffee machine has a </a:t>
            </a:r>
            <a:r>
              <a:rPr lang="en-US" sz="1200" kern="1200" dirty="0" err="1">
                <a:solidFill>
                  <a:schemeClr val="tx1"/>
                </a:solidFill>
                <a:latin typeface="+mn-lt"/>
                <a:ea typeface="+mn-ea"/>
                <a:cs typeface="+mn-cs"/>
              </a:rPr>
              <a:t>waterTankPresent</a:t>
            </a:r>
            <a:r>
              <a:rPr lang="en-US" dirty="0"/>
              <a:t> property. The form references the Modbus address </a:t>
            </a:r>
            <a:r>
              <a:rPr lang="en-US" sz="1200" kern="1200" dirty="0">
                <a:solidFill>
                  <a:schemeClr val="tx1"/>
                </a:solidFill>
                <a:latin typeface="+mn-lt"/>
                <a:ea typeface="+mn-ea"/>
                <a:cs typeface="+mn-cs"/>
              </a:rPr>
              <a:t>10003</a:t>
            </a:r>
            <a:r>
              <a:rPr lang="en-US" dirty="0"/>
              <a:t> and specifies the Modbus function using </a:t>
            </a:r>
            <a:r>
              <a:rPr lang="en-US" sz="1200" kern="1200" dirty="0" err="1">
                <a:solidFill>
                  <a:schemeClr val="tx1"/>
                </a:solidFill>
                <a:latin typeface="+mn-lt"/>
                <a:ea typeface="+mn-ea"/>
                <a:cs typeface="+mn-cs"/>
              </a:rPr>
              <a:t>modv:function</a:t>
            </a:r>
            <a:r>
              <a:rPr lang="en-US" dirty="0"/>
              <a:t> with the value </a:t>
            </a:r>
            <a:r>
              <a:rPr lang="en-US" sz="1200" kern="1200" dirty="0" err="1">
                <a:solidFill>
                  <a:schemeClr val="tx1"/>
                </a:solidFill>
                <a:latin typeface="+mn-lt"/>
                <a:ea typeface="+mn-ea"/>
                <a:cs typeface="+mn-cs"/>
              </a:rPr>
              <a:t>readDiscreteInput</a:t>
            </a:r>
            <a:r>
              <a:rPr lang="en-US" dirty="0"/>
              <a:t>, which defines the concrete Modbus operation to execute. The </a:t>
            </a:r>
            <a:r>
              <a:rPr lang="en-US" sz="1200" kern="1200" dirty="0" err="1">
                <a:solidFill>
                  <a:schemeClr val="tx1"/>
                </a:solidFill>
                <a:latin typeface="+mn-lt"/>
                <a:ea typeface="+mn-ea"/>
                <a:cs typeface="+mn-cs"/>
              </a:rPr>
              <a:t>contentType</a:t>
            </a:r>
            <a:r>
              <a:rPr lang="en-US" dirty="0"/>
              <a:t> is set to </a:t>
            </a:r>
            <a:r>
              <a:rPr lang="en-US" sz="1200" kern="1200" dirty="0">
                <a:solidFill>
                  <a:schemeClr val="tx1"/>
                </a:solidFill>
                <a:latin typeface="+mn-lt"/>
                <a:ea typeface="+mn-ea"/>
                <a:cs typeface="+mn-cs"/>
              </a:rPr>
              <a:t>application/octet-stream</a:t>
            </a:r>
            <a:r>
              <a:rPr lang="en-US" dirty="0"/>
              <a:t>, which means the expected response is a sequence of bytes.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Consumer implementation itself must support Modbus in order to execute this operation. However, the developer writing the Thing Description — and the user interacting with the Thing — do not need detailed knowledge of Modbus specifics.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effectively acts as a semantic and interaction layer on top of Modbus, bridging the gap between industrial systems and web 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endParaRPr lang="en-DE" dirty="0"/>
          </a:p>
        </p:txBody>
      </p:sp>
      <p:sp>
        <p:nvSpPr>
          <p:cNvPr id="4" name="Slide Number Placeholder 3">
            <a:extLst>
              <a:ext uri="{FF2B5EF4-FFF2-40B4-BE49-F238E27FC236}">
                <a16:creationId xmlns:a16="http://schemas.microsoft.com/office/drawing/2014/main" id="{7BAC7EB7-50C5-60D8-D608-F11F7639382E}"/>
              </a:ext>
            </a:extLst>
          </p:cNvPr>
          <p:cNvSpPr>
            <a:spLocks noGrp="1"/>
          </p:cNvSpPr>
          <p:nvPr>
            <p:ph type="sldNum" sz="quarter" idx="5"/>
          </p:nvPr>
        </p:nvSpPr>
        <p:spPr/>
        <p:txBody>
          <a:bodyPr/>
          <a:lstStyle/>
          <a:p>
            <a:fld id="{F02165D8-144D-4958-A83E-0D86045592C5}" type="slidenum">
              <a:rPr lang="en-US" smtClean="0"/>
              <a:t>54</a:t>
            </a:fld>
            <a:endParaRPr lang="en-US"/>
          </a:p>
        </p:txBody>
      </p:sp>
    </p:spTree>
    <p:extLst>
      <p:ext uri="{BB962C8B-B14F-4D97-AF65-F5344CB8AC3E}">
        <p14:creationId xmlns:p14="http://schemas.microsoft.com/office/powerpoint/2010/main" val="23729778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15997-4C2E-9FD8-0BB0-6469911A32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5FE518-69F4-6835-4D13-CF96DF96FFB5}"/>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443F05BC-53FF-CD78-864F-DEA7F9D110D2}"/>
              </a:ext>
            </a:extLst>
          </p:cNvPr>
          <p:cNvSpPr>
            <a:spLocks noGrp="1"/>
          </p:cNvSpPr>
          <p:nvPr>
            <p:ph type="body" idx="1"/>
          </p:nvPr>
        </p:nvSpPr>
        <p:spPr/>
        <p:txBody>
          <a:bodyPr/>
          <a:lstStyle/>
          <a:p>
            <a:r>
              <a:rPr lang="en-US" dirty="0"/>
              <a:t>For example, our coffee machine has a </a:t>
            </a:r>
            <a:r>
              <a:rPr lang="en-US" sz="1200" kern="1200" dirty="0" err="1">
                <a:solidFill>
                  <a:schemeClr val="tx1"/>
                </a:solidFill>
                <a:latin typeface="+mn-lt"/>
                <a:ea typeface="+mn-ea"/>
                <a:cs typeface="+mn-cs"/>
              </a:rPr>
              <a:t>waterTankPresent</a:t>
            </a:r>
            <a:r>
              <a:rPr lang="en-US" dirty="0"/>
              <a:t> property. The form references the Modbus address </a:t>
            </a:r>
            <a:r>
              <a:rPr lang="en-US" sz="1200" kern="1200" dirty="0">
                <a:solidFill>
                  <a:schemeClr val="tx1"/>
                </a:solidFill>
                <a:latin typeface="+mn-lt"/>
                <a:ea typeface="+mn-ea"/>
                <a:cs typeface="+mn-cs"/>
              </a:rPr>
              <a:t>10003</a:t>
            </a:r>
            <a:r>
              <a:rPr lang="en-US" dirty="0"/>
              <a:t> and specifies the Modbus function using </a:t>
            </a:r>
            <a:r>
              <a:rPr lang="en-US" sz="1200" kern="1200" dirty="0" err="1">
                <a:solidFill>
                  <a:schemeClr val="tx1"/>
                </a:solidFill>
                <a:latin typeface="+mn-lt"/>
                <a:ea typeface="+mn-ea"/>
                <a:cs typeface="+mn-cs"/>
              </a:rPr>
              <a:t>modv:function</a:t>
            </a:r>
            <a:r>
              <a:rPr lang="en-US" dirty="0"/>
              <a:t> with the value </a:t>
            </a:r>
            <a:r>
              <a:rPr lang="en-US" sz="1200" kern="1200" dirty="0" err="1">
                <a:solidFill>
                  <a:schemeClr val="tx1"/>
                </a:solidFill>
                <a:latin typeface="+mn-lt"/>
                <a:ea typeface="+mn-ea"/>
                <a:cs typeface="+mn-cs"/>
              </a:rPr>
              <a:t>readDiscreteInput</a:t>
            </a:r>
            <a:r>
              <a:rPr lang="en-US" dirty="0"/>
              <a:t>, which defines the concrete Modbus operation to execute. The </a:t>
            </a:r>
            <a:r>
              <a:rPr lang="en-US" sz="1200" kern="1200" dirty="0" err="1">
                <a:solidFill>
                  <a:schemeClr val="tx1"/>
                </a:solidFill>
                <a:latin typeface="+mn-lt"/>
                <a:ea typeface="+mn-ea"/>
                <a:cs typeface="+mn-cs"/>
              </a:rPr>
              <a:t>contentType</a:t>
            </a:r>
            <a:r>
              <a:rPr lang="en-US" dirty="0"/>
              <a:t> is set to </a:t>
            </a:r>
            <a:r>
              <a:rPr lang="en-US" sz="1200" kern="1200" dirty="0">
                <a:solidFill>
                  <a:schemeClr val="tx1"/>
                </a:solidFill>
                <a:latin typeface="+mn-lt"/>
                <a:ea typeface="+mn-ea"/>
                <a:cs typeface="+mn-cs"/>
              </a:rPr>
              <a:t>application/octet-stream</a:t>
            </a:r>
            <a:r>
              <a:rPr lang="en-US" dirty="0"/>
              <a:t>, which means the expected response is a sequence of bytes.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Consumer implementation itself must support Modbus in order to execute this operation. However, the developer writing the Thing Description — and the user interacting with the Thing — do not need detailed knowledge of Modbus specifics.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effectively acts as a semantic and interaction layer on top of Modbus, bridging the gap between industrial systems and web 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endParaRPr lang="en-DE" dirty="0"/>
          </a:p>
        </p:txBody>
      </p:sp>
      <p:sp>
        <p:nvSpPr>
          <p:cNvPr id="4" name="Slide Number Placeholder 3">
            <a:extLst>
              <a:ext uri="{FF2B5EF4-FFF2-40B4-BE49-F238E27FC236}">
                <a16:creationId xmlns:a16="http://schemas.microsoft.com/office/drawing/2014/main" id="{1AB49D67-026D-CA47-66CE-2765ADD398AE}"/>
              </a:ext>
            </a:extLst>
          </p:cNvPr>
          <p:cNvSpPr>
            <a:spLocks noGrp="1"/>
          </p:cNvSpPr>
          <p:nvPr>
            <p:ph type="sldNum" sz="quarter" idx="5"/>
          </p:nvPr>
        </p:nvSpPr>
        <p:spPr/>
        <p:txBody>
          <a:bodyPr/>
          <a:lstStyle/>
          <a:p>
            <a:fld id="{F02165D8-144D-4958-A83E-0D86045592C5}" type="slidenum">
              <a:rPr lang="en-US" smtClean="0"/>
              <a:t>55</a:t>
            </a:fld>
            <a:endParaRPr lang="en-US"/>
          </a:p>
        </p:txBody>
      </p:sp>
    </p:spTree>
    <p:extLst>
      <p:ext uri="{BB962C8B-B14F-4D97-AF65-F5344CB8AC3E}">
        <p14:creationId xmlns:p14="http://schemas.microsoft.com/office/powerpoint/2010/main" val="128908327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4A9E3-807D-565A-3654-1B07D60EF5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25BB11-4DE7-54BC-32B6-D0DB5C1E63CB}"/>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7ADA1A3D-8AA3-4B69-88AA-02BAEC030407}"/>
              </a:ext>
            </a:extLst>
          </p:cNvPr>
          <p:cNvSpPr>
            <a:spLocks noGrp="1"/>
          </p:cNvSpPr>
          <p:nvPr>
            <p:ph type="body" idx="1"/>
          </p:nvPr>
        </p:nvSpPr>
        <p:spPr/>
        <p:txBody>
          <a:bodyPr/>
          <a:lstStyle/>
          <a:p>
            <a:r>
              <a:rPr lang="en-US" dirty="0"/>
              <a:t>For example, our coffee machine has a </a:t>
            </a:r>
            <a:r>
              <a:rPr lang="en-US" sz="1200" kern="1200" dirty="0" err="1">
                <a:solidFill>
                  <a:schemeClr val="tx1"/>
                </a:solidFill>
                <a:latin typeface="+mn-lt"/>
                <a:ea typeface="+mn-ea"/>
                <a:cs typeface="+mn-cs"/>
              </a:rPr>
              <a:t>waterTankPresent</a:t>
            </a:r>
            <a:r>
              <a:rPr lang="en-US" dirty="0"/>
              <a:t> property. The form references the Modbus address </a:t>
            </a:r>
            <a:r>
              <a:rPr lang="en-US" sz="1200" kern="1200" dirty="0">
                <a:solidFill>
                  <a:schemeClr val="tx1"/>
                </a:solidFill>
                <a:latin typeface="+mn-lt"/>
                <a:ea typeface="+mn-ea"/>
                <a:cs typeface="+mn-cs"/>
              </a:rPr>
              <a:t>10003</a:t>
            </a:r>
            <a:r>
              <a:rPr lang="en-US" dirty="0"/>
              <a:t> and specifies the Modbus function using </a:t>
            </a:r>
            <a:r>
              <a:rPr lang="en-US" sz="1200" kern="1200" dirty="0" err="1">
                <a:solidFill>
                  <a:schemeClr val="tx1"/>
                </a:solidFill>
                <a:latin typeface="+mn-lt"/>
                <a:ea typeface="+mn-ea"/>
                <a:cs typeface="+mn-cs"/>
              </a:rPr>
              <a:t>modv:function</a:t>
            </a:r>
            <a:r>
              <a:rPr lang="en-US" dirty="0"/>
              <a:t> with the value </a:t>
            </a:r>
            <a:r>
              <a:rPr lang="en-US" sz="1200" kern="1200" dirty="0" err="1">
                <a:solidFill>
                  <a:schemeClr val="tx1"/>
                </a:solidFill>
                <a:latin typeface="+mn-lt"/>
                <a:ea typeface="+mn-ea"/>
                <a:cs typeface="+mn-cs"/>
              </a:rPr>
              <a:t>readDiscreteInput</a:t>
            </a:r>
            <a:r>
              <a:rPr lang="en-US" dirty="0"/>
              <a:t>, which defines the concrete Modbus operation to execute. The </a:t>
            </a:r>
            <a:r>
              <a:rPr lang="en-US" sz="1200" kern="1200" dirty="0" err="1">
                <a:solidFill>
                  <a:schemeClr val="tx1"/>
                </a:solidFill>
                <a:latin typeface="+mn-lt"/>
                <a:ea typeface="+mn-ea"/>
                <a:cs typeface="+mn-cs"/>
              </a:rPr>
              <a:t>contentType</a:t>
            </a:r>
            <a:r>
              <a:rPr lang="en-US" dirty="0"/>
              <a:t> is set to </a:t>
            </a:r>
            <a:r>
              <a:rPr lang="en-US" sz="1200" kern="1200" dirty="0">
                <a:solidFill>
                  <a:schemeClr val="tx1"/>
                </a:solidFill>
                <a:latin typeface="+mn-lt"/>
                <a:ea typeface="+mn-ea"/>
                <a:cs typeface="+mn-cs"/>
              </a:rPr>
              <a:t>application/octet-stream</a:t>
            </a:r>
            <a:r>
              <a:rPr lang="en-US" dirty="0"/>
              <a:t>, which means the expected response is a sequence of bytes.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Consumer implementation itself must support Modbus in order to execute this operation. However, the developer writing the Thing Description — and the user interacting with the Thing — do not need detailed knowledge of Modbus specifics.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effectively acts as a semantic and interaction layer on top of Modbus, bridging the gap between industrial systems and web 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endParaRPr lang="en-DE" dirty="0"/>
          </a:p>
        </p:txBody>
      </p:sp>
      <p:sp>
        <p:nvSpPr>
          <p:cNvPr id="4" name="Slide Number Placeholder 3">
            <a:extLst>
              <a:ext uri="{FF2B5EF4-FFF2-40B4-BE49-F238E27FC236}">
                <a16:creationId xmlns:a16="http://schemas.microsoft.com/office/drawing/2014/main" id="{B434DF34-193D-110D-484F-1E78104DF508}"/>
              </a:ext>
            </a:extLst>
          </p:cNvPr>
          <p:cNvSpPr>
            <a:spLocks noGrp="1"/>
          </p:cNvSpPr>
          <p:nvPr>
            <p:ph type="sldNum" sz="quarter" idx="5"/>
          </p:nvPr>
        </p:nvSpPr>
        <p:spPr/>
        <p:txBody>
          <a:bodyPr/>
          <a:lstStyle/>
          <a:p>
            <a:fld id="{F02165D8-144D-4958-A83E-0D86045592C5}" type="slidenum">
              <a:rPr lang="en-US" smtClean="0"/>
              <a:t>56</a:t>
            </a:fld>
            <a:endParaRPr lang="en-US"/>
          </a:p>
        </p:txBody>
      </p:sp>
    </p:spTree>
    <p:extLst>
      <p:ext uri="{BB962C8B-B14F-4D97-AF65-F5344CB8AC3E}">
        <p14:creationId xmlns:p14="http://schemas.microsoft.com/office/powerpoint/2010/main" val="417240063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EB25D-6E34-0D99-03B7-4D2FDD6AEF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C4349-911C-85E6-0D12-BF74BF40FB51}"/>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C24532EC-BDCA-5443-3C82-DC4BEF04F1DF}"/>
              </a:ext>
            </a:extLst>
          </p:cNvPr>
          <p:cNvSpPr>
            <a:spLocks noGrp="1"/>
          </p:cNvSpPr>
          <p:nvPr>
            <p:ph type="body" idx="1"/>
          </p:nvPr>
        </p:nvSpPr>
        <p:spPr/>
        <p:txBody>
          <a:bodyPr/>
          <a:lstStyle/>
          <a:p>
            <a:r>
              <a:rPr lang="en-US" dirty="0"/>
              <a:t>For example, our coffee machine has a </a:t>
            </a:r>
            <a:r>
              <a:rPr lang="en-US" sz="1200" kern="1200" dirty="0" err="1">
                <a:solidFill>
                  <a:schemeClr val="tx1"/>
                </a:solidFill>
                <a:latin typeface="+mn-lt"/>
                <a:ea typeface="+mn-ea"/>
                <a:cs typeface="+mn-cs"/>
              </a:rPr>
              <a:t>waterTankPresent</a:t>
            </a:r>
            <a:r>
              <a:rPr lang="en-US" dirty="0"/>
              <a:t> property. The form references the Modbus address </a:t>
            </a:r>
            <a:r>
              <a:rPr lang="en-US" sz="1200" kern="1200" dirty="0">
                <a:solidFill>
                  <a:schemeClr val="tx1"/>
                </a:solidFill>
                <a:latin typeface="+mn-lt"/>
                <a:ea typeface="+mn-ea"/>
                <a:cs typeface="+mn-cs"/>
              </a:rPr>
              <a:t>10003</a:t>
            </a:r>
            <a:r>
              <a:rPr lang="en-US" dirty="0"/>
              <a:t> and specifies the Modbus function using </a:t>
            </a:r>
            <a:r>
              <a:rPr lang="en-US" sz="1200" kern="1200" dirty="0" err="1">
                <a:solidFill>
                  <a:schemeClr val="tx1"/>
                </a:solidFill>
                <a:latin typeface="+mn-lt"/>
                <a:ea typeface="+mn-ea"/>
                <a:cs typeface="+mn-cs"/>
              </a:rPr>
              <a:t>modv:function</a:t>
            </a:r>
            <a:r>
              <a:rPr lang="en-US" dirty="0"/>
              <a:t> with the value </a:t>
            </a:r>
            <a:r>
              <a:rPr lang="en-US" sz="1200" kern="1200" dirty="0" err="1">
                <a:solidFill>
                  <a:schemeClr val="tx1"/>
                </a:solidFill>
                <a:latin typeface="+mn-lt"/>
                <a:ea typeface="+mn-ea"/>
                <a:cs typeface="+mn-cs"/>
              </a:rPr>
              <a:t>readDiscreteInput</a:t>
            </a:r>
            <a:r>
              <a:rPr lang="en-US" dirty="0"/>
              <a:t>, which defines the concrete Modbus operation to execute. The </a:t>
            </a:r>
            <a:r>
              <a:rPr lang="en-US" sz="1200" kern="1200" dirty="0" err="1">
                <a:solidFill>
                  <a:schemeClr val="tx1"/>
                </a:solidFill>
                <a:latin typeface="+mn-lt"/>
                <a:ea typeface="+mn-ea"/>
                <a:cs typeface="+mn-cs"/>
              </a:rPr>
              <a:t>contentType</a:t>
            </a:r>
            <a:r>
              <a:rPr lang="en-US" dirty="0"/>
              <a:t> is set to </a:t>
            </a:r>
            <a:r>
              <a:rPr lang="en-US" sz="1200" kern="1200" dirty="0">
                <a:solidFill>
                  <a:schemeClr val="tx1"/>
                </a:solidFill>
                <a:latin typeface="+mn-lt"/>
                <a:ea typeface="+mn-ea"/>
                <a:cs typeface="+mn-cs"/>
              </a:rPr>
              <a:t>application/octet-stream</a:t>
            </a:r>
            <a:r>
              <a:rPr lang="en-US" dirty="0"/>
              <a:t>, which means the expected response is a sequence of bytes.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Consumer implementation itself must support Modbus in order to execute this operation. However, the developer writing the Thing Description — and the user interacting with the Thing — do not need detailed knowledge of Modbus specifics.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effectively acts as a semantic and interaction layer on top of Modbus, bridging the gap between industrial systems and web 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endParaRPr lang="en-DE" dirty="0"/>
          </a:p>
        </p:txBody>
      </p:sp>
      <p:sp>
        <p:nvSpPr>
          <p:cNvPr id="4" name="Slide Number Placeholder 3">
            <a:extLst>
              <a:ext uri="{FF2B5EF4-FFF2-40B4-BE49-F238E27FC236}">
                <a16:creationId xmlns:a16="http://schemas.microsoft.com/office/drawing/2014/main" id="{6632688A-79C2-6E94-76B8-C5F01048C8DC}"/>
              </a:ext>
            </a:extLst>
          </p:cNvPr>
          <p:cNvSpPr>
            <a:spLocks noGrp="1"/>
          </p:cNvSpPr>
          <p:nvPr>
            <p:ph type="sldNum" sz="quarter" idx="5"/>
          </p:nvPr>
        </p:nvSpPr>
        <p:spPr/>
        <p:txBody>
          <a:bodyPr/>
          <a:lstStyle/>
          <a:p>
            <a:fld id="{F02165D8-144D-4958-A83E-0D86045592C5}" type="slidenum">
              <a:rPr lang="en-US" smtClean="0"/>
              <a:t>57</a:t>
            </a:fld>
            <a:endParaRPr lang="en-US"/>
          </a:p>
        </p:txBody>
      </p:sp>
    </p:spTree>
    <p:extLst>
      <p:ext uri="{BB962C8B-B14F-4D97-AF65-F5344CB8AC3E}">
        <p14:creationId xmlns:p14="http://schemas.microsoft.com/office/powerpoint/2010/main" val="87682708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6C043-1F81-6D3C-1103-A34FA867DE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8B824A-C18F-7A6B-8C10-8A77F897869F}"/>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F109FC57-7A12-6B75-7C0E-0D379732958F}"/>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Consumer implementation itself must support Modbus in order to execute this operation. However, the developer writing the Thing Description — and the user interacting with the Thing — do not need detailed knowledge of Modbus specifics.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effectively acts as a semantic and interaction layer on top of Modbus, bridging the gap between industrial systems and web 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endParaRPr lang="en-DE" dirty="0"/>
          </a:p>
        </p:txBody>
      </p:sp>
      <p:sp>
        <p:nvSpPr>
          <p:cNvPr id="4" name="Slide Number Placeholder 3">
            <a:extLst>
              <a:ext uri="{FF2B5EF4-FFF2-40B4-BE49-F238E27FC236}">
                <a16:creationId xmlns:a16="http://schemas.microsoft.com/office/drawing/2014/main" id="{FAC2E525-281B-F21F-DF9C-B609F0D84082}"/>
              </a:ext>
            </a:extLst>
          </p:cNvPr>
          <p:cNvSpPr>
            <a:spLocks noGrp="1"/>
          </p:cNvSpPr>
          <p:nvPr>
            <p:ph type="sldNum" sz="quarter" idx="5"/>
          </p:nvPr>
        </p:nvSpPr>
        <p:spPr/>
        <p:txBody>
          <a:bodyPr/>
          <a:lstStyle/>
          <a:p>
            <a:fld id="{F02165D8-144D-4958-A83E-0D86045592C5}" type="slidenum">
              <a:rPr lang="en-US" smtClean="0"/>
              <a:t>58</a:t>
            </a:fld>
            <a:endParaRPr lang="en-US"/>
          </a:p>
        </p:txBody>
      </p:sp>
    </p:spTree>
    <p:extLst>
      <p:ext uri="{BB962C8B-B14F-4D97-AF65-F5344CB8AC3E}">
        <p14:creationId xmlns:p14="http://schemas.microsoft.com/office/powerpoint/2010/main" val="197958247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77D52-F5F7-E0A5-8806-201B08295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13BE31-7A68-DC3E-9D26-93E43DC49993}"/>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25296E41-CDA0-2989-895C-57845A7687BA}"/>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Consumer implementation itself must support Modbus in order to execute this operation. However, the developer writing the Thing Description — and the user interacting with the Thing — do not need detailed knowledge of Modbus specifics.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effectively acts as a semantic and interaction layer on top of Modbus, bridging the gap between industrial systems and web 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endParaRPr lang="en-DE" dirty="0"/>
          </a:p>
        </p:txBody>
      </p:sp>
      <p:sp>
        <p:nvSpPr>
          <p:cNvPr id="4" name="Slide Number Placeholder 3">
            <a:extLst>
              <a:ext uri="{FF2B5EF4-FFF2-40B4-BE49-F238E27FC236}">
                <a16:creationId xmlns:a16="http://schemas.microsoft.com/office/drawing/2014/main" id="{2B030115-E575-A46B-EA36-97F5272B0BE7}"/>
              </a:ext>
            </a:extLst>
          </p:cNvPr>
          <p:cNvSpPr>
            <a:spLocks noGrp="1"/>
          </p:cNvSpPr>
          <p:nvPr>
            <p:ph type="sldNum" sz="quarter" idx="5"/>
          </p:nvPr>
        </p:nvSpPr>
        <p:spPr/>
        <p:txBody>
          <a:bodyPr/>
          <a:lstStyle/>
          <a:p>
            <a:fld id="{F02165D8-144D-4958-A83E-0D86045592C5}" type="slidenum">
              <a:rPr lang="en-US" smtClean="0"/>
              <a:t>59</a:t>
            </a:fld>
            <a:endParaRPr lang="en-US"/>
          </a:p>
        </p:txBody>
      </p:sp>
    </p:spTree>
    <p:extLst>
      <p:ext uri="{BB962C8B-B14F-4D97-AF65-F5344CB8AC3E}">
        <p14:creationId xmlns:p14="http://schemas.microsoft.com/office/powerpoint/2010/main" val="46831775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998A1-3A97-6A9C-AAF3-65FF9DEC69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5FDB0-7B29-702D-3E2E-ECB512147879}"/>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95853673-0FCC-2502-0AB1-B0CF7886872F}"/>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To summarize: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Protocol bindings define how interactions are executed over the network</a:t>
            </a:r>
          </a:p>
          <a:p>
            <a:r>
              <a:rPr lang="en-US" sz="1200" b="0" kern="1200" dirty="0">
                <a:solidFill>
                  <a:schemeClr val="tx1"/>
                </a:solidFill>
                <a:effectLst/>
                <a:latin typeface="+mn-lt"/>
                <a:ea typeface="+mn-ea"/>
                <a:cs typeface="+mn-cs"/>
              </a:rPr>
              <a:t>- They are expressed using `forms` in the Thing Description</a:t>
            </a:r>
          </a:p>
          <a:p>
            <a:r>
              <a:rPr lang="en-US" sz="1200" b="0" kern="1200" dirty="0">
                <a:solidFill>
                  <a:schemeClr val="tx1"/>
                </a:solidFill>
                <a:effectLst/>
                <a:latin typeface="+mn-lt"/>
                <a:ea typeface="+mn-ea"/>
                <a:cs typeface="+mn-cs"/>
              </a:rPr>
              <a:t>- Different protocols fit different interaction patterns</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unifies them under a single, consistent interaction model</a:t>
            </a:r>
          </a:p>
          <a:p>
            <a:endParaRPr lang="en-DE" dirty="0"/>
          </a:p>
        </p:txBody>
      </p:sp>
      <p:sp>
        <p:nvSpPr>
          <p:cNvPr id="4" name="Slide Number Placeholder 3">
            <a:extLst>
              <a:ext uri="{FF2B5EF4-FFF2-40B4-BE49-F238E27FC236}">
                <a16:creationId xmlns:a16="http://schemas.microsoft.com/office/drawing/2014/main" id="{395C1BA8-BFB4-0491-9F30-E030CB898206}"/>
              </a:ext>
            </a:extLst>
          </p:cNvPr>
          <p:cNvSpPr>
            <a:spLocks noGrp="1"/>
          </p:cNvSpPr>
          <p:nvPr>
            <p:ph type="sldNum" sz="quarter" idx="5"/>
          </p:nvPr>
        </p:nvSpPr>
        <p:spPr/>
        <p:txBody>
          <a:bodyPr/>
          <a:lstStyle/>
          <a:p>
            <a:fld id="{F02165D8-144D-4958-A83E-0D86045592C5}" type="slidenum">
              <a:rPr lang="en-US" smtClean="0"/>
              <a:t>60</a:t>
            </a:fld>
            <a:endParaRPr lang="en-US"/>
          </a:p>
        </p:txBody>
      </p:sp>
    </p:spTree>
    <p:extLst>
      <p:ext uri="{BB962C8B-B14F-4D97-AF65-F5344CB8AC3E}">
        <p14:creationId xmlns:p14="http://schemas.microsoft.com/office/powerpoint/2010/main" val="415189167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02479-0913-820D-8749-554EA0587A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610C51-68CB-C138-1052-69E706C39316}"/>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71ACF9A6-54A0-2D0F-754E-12B0343ECC9E}"/>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To summarize: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Protocol bindings define how interactions are executed over the network</a:t>
            </a:r>
          </a:p>
          <a:p>
            <a:r>
              <a:rPr lang="en-US" sz="1200" b="0" kern="1200" dirty="0">
                <a:solidFill>
                  <a:schemeClr val="tx1"/>
                </a:solidFill>
                <a:effectLst/>
                <a:latin typeface="+mn-lt"/>
                <a:ea typeface="+mn-ea"/>
                <a:cs typeface="+mn-cs"/>
              </a:rPr>
              <a:t>- They are expressed using `forms` in the Thing Description</a:t>
            </a:r>
          </a:p>
          <a:p>
            <a:r>
              <a:rPr lang="en-US" sz="1200" b="0" kern="1200" dirty="0">
                <a:solidFill>
                  <a:schemeClr val="tx1"/>
                </a:solidFill>
                <a:effectLst/>
                <a:latin typeface="+mn-lt"/>
                <a:ea typeface="+mn-ea"/>
                <a:cs typeface="+mn-cs"/>
              </a:rPr>
              <a:t>- Different protocols fit different interaction patterns</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unifies them under a single, consistent interaction model</a:t>
            </a:r>
          </a:p>
          <a:p>
            <a:endParaRPr lang="en-DE" dirty="0"/>
          </a:p>
        </p:txBody>
      </p:sp>
      <p:sp>
        <p:nvSpPr>
          <p:cNvPr id="4" name="Slide Number Placeholder 3">
            <a:extLst>
              <a:ext uri="{FF2B5EF4-FFF2-40B4-BE49-F238E27FC236}">
                <a16:creationId xmlns:a16="http://schemas.microsoft.com/office/drawing/2014/main" id="{075019E8-3F4B-064E-A238-150DA3328D59}"/>
              </a:ext>
            </a:extLst>
          </p:cNvPr>
          <p:cNvSpPr>
            <a:spLocks noGrp="1"/>
          </p:cNvSpPr>
          <p:nvPr>
            <p:ph type="sldNum" sz="quarter" idx="5"/>
          </p:nvPr>
        </p:nvSpPr>
        <p:spPr/>
        <p:txBody>
          <a:bodyPr/>
          <a:lstStyle/>
          <a:p>
            <a:fld id="{F02165D8-144D-4958-A83E-0D86045592C5}" type="slidenum">
              <a:rPr lang="en-US" smtClean="0"/>
              <a:t>61</a:t>
            </a:fld>
            <a:endParaRPr lang="en-US"/>
          </a:p>
        </p:txBody>
      </p:sp>
    </p:spTree>
    <p:extLst>
      <p:ext uri="{BB962C8B-B14F-4D97-AF65-F5344CB8AC3E}">
        <p14:creationId xmlns:p14="http://schemas.microsoft.com/office/powerpoint/2010/main" val="41223430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888A2-6BB8-611C-E634-03482D5B32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94A622-8D25-BBFE-382D-B4AE24E506FB}"/>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A13AA5FF-59A8-4974-B623-BC9DBE6F2879}"/>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To summarize: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Protocol bindings define how interactions are executed over the network</a:t>
            </a:r>
          </a:p>
          <a:p>
            <a:r>
              <a:rPr lang="en-US" sz="1200" b="0" kern="1200" dirty="0">
                <a:solidFill>
                  <a:schemeClr val="tx1"/>
                </a:solidFill>
                <a:effectLst/>
                <a:latin typeface="+mn-lt"/>
                <a:ea typeface="+mn-ea"/>
                <a:cs typeface="+mn-cs"/>
              </a:rPr>
              <a:t>- They are expressed using `forms` in the Thing Description</a:t>
            </a:r>
          </a:p>
          <a:p>
            <a:r>
              <a:rPr lang="en-US" sz="1200" b="0" kern="1200" dirty="0">
                <a:solidFill>
                  <a:schemeClr val="tx1"/>
                </a:solidFill>
                <a:effectLst/>
                <a:latin typeface="+mn-lt"/>
                <a:ea typeface="+mn-ea"/>
                <a:cs typeface="+mn-cs"/>
              </a:rPr>
              <a:t>- Different protocols fit different interaction patterns</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unifies them under a single, consistent interaction model</a:t>
            </a:r>
          </a:p>
          <a:p>
            <a:endParaRPr lang="en-DE" dirty="0"/>
          </a:p>
        </p:txBody>
      </p:sp>
      <p:sp>
        <p:nvSpPr>
          <p:cNvPr id="4" name="Slide Number Placeholder 3">
            <a:extLst>
              <a:ext uri="{FF2B5EF4-FFF2-40B4-BE49-F238E27FC236}">
                <a16:creationId xmlns:a16="http://schemas.microsoft.com/office/drawing/2014/main" id="{212ACF65-C26E-8DA8-8642-06E0EBA95C23}"/>
              </a:ext>
            </a:extLst>
          </p:cNvPr>
          <p:cNvSpPr>
            <a:spLocks noGrp="1"/>
          </p:cNvSpPr>
          <p:nvPr>
            <p:ph type="sldNum" sz="quarter" idx="5"/>
          </p:nvPr>
        </p:nvSpPr>
        <p:spPr/>
        <p:txBody>
          <a:bodyPr/>
          <a:lstStyle/>
          <a:p>
            <a:fld id="{F02165D8-144D-4958-A83E-0D86045592C5}" type="slidenum">
              <a:rPr lang="en-US" smtClean="0"/>
              <a:t>62</a:t>
            </a:fld>
            <a:endParaRPr lang="en-US"/>
          </a:p>
        </p:txBody>
      </p:sp>
    </p:spTree>
    <p:extLst>
      <p:ext uri="{BB962C8B-B14F-4D97-AF65-F5344CB8AC3E}">
        <p14:creationId xmlns:p14="http://schemas.microsoft.com/office/powerpoint/2010/main" val="7181005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242E9-0ECF-9315-51EF-13E988022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6331B-8017-2AB1-E2DE-1FF1A95FEC11}"/>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9A634932-CF8A-FEC1-CF2A-B177947D6B9F}"/>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To summarize: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Protocol bindings define how interactions are executed over the network</a:t>
            </a:r>
          </a:p>
          <a:p>
            <a:r>
              <a:rPr lang="en-US" sz="1200" b="0" kern="1200" dirty="0">
                <a:solidFill>
                  <a:schemeClr val="tx1"/>
                </a:solidFill>
                <a:effectLst/>
                <a:latin typeface="+mn-lt"/>
                <a:ea typeface="+mn-ea"/>
                <a:cs typeface="+mn-cs"/>
              </a:rPr>
              <a:t>- They are expressed using `forms` in the Thing Description</a:t>
            </a:r>
          </a:p>
          <a:p>
            <a:r>
              <a:rPr lang="en-US" sz="1200" b="0" kern="1200" dirty="0">
                <a:solidFill>
                  <a:schemeClr val="tx1"/>
                </a:solidFill>
                <a:effectLst/>
                <a:latin typeface="+mn-lt"/>
                <a:ea typeface="+mn-ea"/>
                <a:cs typeface="+mn-cs"/>
              </a:rPr>
              <a:t>- Different protocols fit different interaction patterns</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unifies them under a single, consistent interaction model</a:t>
            </a:r>
          </a:p>
          <a:p>
            <a:endParaRPr lang="en-DE" dirty="0"/>
          </a:p>
        </p:txBody>
      </p:sp>
      <p:sp>
        <p:nvSpPr>
          <p:cNvPr id="4" name="Slide Number Placeholder 3">
            <a:extLst>
              <a:ext uri="{FF2B5EF4-FFF2-40B4-BE49-F238E27FC236}">
                <a16:creationId xmlns:a16="http://schemas.microsoft.com/office/drawing/2014/main" id="{E81C70D2-4EC5-75F2-F13B-19D474EEF5E4}"/>
              </a:ext>
            </a:extLst>
          </p:cNvPr>
          <p:cNvSpPr>
            <a:spLocks noGrp="1"/>
          </p:cNvSpPr>
          <p:nvPr>
            <p:ph type="sldNum" sz="quarter" idx="5"/>
          </p:nvPr>
        </p:nvSpPr>
        <p:spPr/>
        <p:txBody>
          <a:bodyPr/>
          <a:lstStyle/>
          <a:p>
            <a:fld id="{F02165D8-144D-4958-A83E-0D86045592C5}" type="slidenum">
              <a:rPr lang="en-US" smtClean="0"/>
              <a:t>63</a:t>
            </a:fld>
            <a:endParaRPr lang="en-US"/>
          </a:p>
        </p:txBody>
      </p:sp>
    </p:spTree>
    <p:extLst>
      <p:ext uri="{BB962C8B-B14F-4D97-AF65-F5344CB8AC3E}">
        <p14:creationId xmlns:p14="http://schemas.microsoft.com/office/powerpoint/2010/main" val="105078263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2E110-B3D0-BB06-C763-B83AE2DB3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BA276-4788-2C41-007D-8EE732DEE20D}"/>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5FAAAED3-8D44-7139-A59C-83662E100F32}"/>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To summarize: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Protocol bindings define how interactions are executed over the network</a:t>
            </a:r>
          </a:p>
          <a:p>
            <a:r>
              <a:rPr lang="en-US" sz="1200" b="0" kern="1200" dirty="0">
                <a:solidFill>
                  <a:schemeClr val="tx1"/>
                </a:solidFill>
                <a:effectLst/>
                <a:latin typeface="+mn-lt"/>
                <a:ea typeface="+mn-ea"/>
                <a:cs typeface="+mn-cs"/>
              </a:rPr>
              <a:t>- They are expressed using `forms` in the Thing Description</a:t>
            </a:r>
          </a:p>
          <a:p>
            <a:r>
              <a:rPr lang="en-US" sz="1200" b="0" kern="1200" dirty="0">
                <a:solidFill>
                  <a:schemeClr val="tx1"/>
                </a:solidFill>
                <a:effectLst/>
                <a:latin typeface="+mn-lt"/>
                <a:ea typeface="+mn-ea"/>
                <a:cs typeface="+mn-cs"/>
              </a:rPr>
              <a:t>- Different protocols fit different interaction patterns</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unifies them under a single, consistent interaction model</a:t>
            </a:r>
          </a:p>
          <a:p>
            <a:endParaRPr lang="en-DE" dirty="0"/>
          </a:p>
        </p:txBody>
      </p:sp>
      <p:sp>
        <p:nvSpPr>
          <p:cNvPr id="4" name="Slide Number Placeholder 3">
            <a:extLst>
              <a:ext uri="{FF2B5EF4-FFF2-40B4-BE49-F238E27FC236}">
                <a16:creationId xmlns:a16="http://schemas.microsoft.com/office/drawing/2014/main" id="{7CDEA230-F6E7-C16C-6148-58D0A6B96580}"/>
              </a:ext>
            </a:extLst>
          </p:cNvPr>
          <p:cNvSpPr>
            <a:spLocks noGrp="1"/>
          </p:cNvSpPr>
          <p:nvPr>
            <p:ph type="sldNum" sz="quarter" idx="5"/>
          </p:nvPr>
        </p:nvSpPr>
        <p:spPr/>
        <p:txBody>
          <a:bodyPr/>
          <a:lstStyle/>
          <a:p>
            <a:fld id="{F02165D8-144D-4958-A83E-0D86045592C5}" type="slidenum">
              <a:rPr lang="en-US" smtClean="0"/>
              <a:t>64</a:t>
            </a:fld>
            <a:endParaRPr lang="en-US"/>
          </a:p>
        </p:txBody>
      </p:sp>
    </p:spTree>
    <p:extLst>
      <p:ext uri="{BB962C8B-B14F-4D97-AF65-F5344CB8AC3E}">
        <p14:creationId xmlns:p14="http://schemas.microsoft.com/office/powerpoint/2010/main" val="136043217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To summarize: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Protocol bindings define how interactions are executed over the network</a:t>
            </a:r>
          </a:p>
          <a:p>
            <a:r>
              <a:rPr lang="en-US" sz="1200" b="0" kern="1200" dirty="0">
                <a:solidFill>
                  <a:schemeClr val="tx1"/>
                </a:solidFill>
                <a:effectLst/>
                <a:latin typeface="+mn-lt"/>
                <a:ea typeface="+mn-ea"/>
                <a:cs typeface="+mn-cs"/>
              </a:rPr>
              <a:t>- They are expressed using `forms` in the Thing Description</a:t>
            </a:r>
          </a:p>
          <a:p>
            <a:r>
              <a:rPr lang="en-US" sz="1200" b="0" kern="1200" dirty="0">
                <a:solidFill>
                  <a:schemeClr val="tx1"/>
                </a:solidFill>
                <a:effectLst/>
                <a:latin typeface="+mn-lt"/>
                <a:ea typeface="+mn-ea"/>
                <a:cs typeface="+mn-cs"/>
              </a:rPr>
              <a:t>- Different protocols fit different interaction patterns</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WoT</a:t>
            </a:r>
            <a:r>
              <a:rPr lang="en-US" sz="1200" b="0" kern="1200" dirty="0">
                <a:solidFill>
                  <a:schemeClr val="tx1"/>
                </a:solidFill>
                <a:effectLst/>
                <a:latin typeface="+mn-lt"/>
                <a:ea typeface="+mn-ea"/>
                <a:cs typeface="+mn-cs"/>
              </a:rPr>
              <a:t> unifies them under a single, consistent interaction model</a:t>
            </a:r>
          </a:p>
          <a:p>
            <a:endParaRPr lang="en-DE" dirty="0"/>
          </a:p>
        </p:txBody>
      </p:sp>
      <p:sp>
        <p:nvSpPr>
          <p:cNvPr id="4" name="Slide Number Placeholder 3"/>
          <p:cNvSpPr>
            <a:spLocks noGrp="1"/>
          </p:cNvSpPr>
          <p:nvPr>
            <p:ph type="sldNum" sz="quarter" idx="5"/>
          </p:nvPr>
        </p:nvSpPr>
        <p:spPr/>
        <p:txBody>
          <a:bodyPr/>
          <a:lstStyle/>
          <a:p>
            <a:fld id="{F02165D8-144D-4958-A83E-0D86045592C5}" type="slidenum">
              <a:rPr lang="en-US" smtClean="0"/>
              <a:t>65</a:t>
            </a:fld>
            <a:endParaRPr lang="en-US"/>
          </a:p>
        </p:txBody>
      </p:sp>
    </p:spTree>
    <p:extLst>
      <p:ext uri="{BB962C8B-B14F-4D97-AF65-F5344CB8AC3E}">
        <p14:creationId xmlns:p14="http://schemas.microsoft.com/office/powerpoint/2010/main" val="252582034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fld id="{838D45EA-097A-449E-8E80-C10F8140ABDB}" type="slidenum">
              <a:rPr lang="en-US" smtClean="0"/>
              <a:t>66</a:t>
            </a:fld>
            <a:endParaRPr lang="en-US"/>
          </a:p>
        </p:txBody>
      </p:sp>
    </p:spTree>
    <p:extLst>
      <p:ext uri="{BB962C8B-B14F-4D97-AF65-F5344CB8AC3E}">
        <p14:creationId xmlns:p14="http://schemas.microsoft.com/office/powerpoint/2010/main" val="1820635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54F9CB-E3D7-441A-A1FF-5C1CDFA7D5B3}"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7062D-F1E8-4268-AE56-56D8738C72FE}" type="slidenum">
              <a:rPr lang="en-US" smtClean="0"/>
              <a:t>‹#›</a:t>
            </a:fld>
            <a:endParaRPr lang="en-US"/>
          </a:p>
        </p:txBody>
      </p:sp>
    </p:spTree>
    <p:extLst>
      <p:ext uri="{BB962C8B-B14F-4D97-AF65-F5344CB8AC3E}">
        <p14:creationId xmlns:p14="http://schemas.microsoft.com/office/powerpoint/2010/main" val="4099743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54F9CB-E3D7-441A-A1FF-5C1CDFA7D5B3}"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7062D-F1E8-4268-AE56-56D8738C72FE}" type="slidenum">
              <a:rPr lang="en-US" smtClean="0"/>
              <a:t>‹#›</a:t>
            </a:fld>
            <a:endParaRPr lang="en-US"/>
          </a:p>
        </p:txBody>
      </p:sp>
    </p:spTree>
    <p:extLst>
      <p:ext uri="{BB962C8B-B14F-4D97-AF65-F5344CB8AC3E}">
        <p14:creationId xmlns:p14="http://schemas.microsoft.com/office/powerpoint/2010/main" val="3242882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54F9CB-E3D7-441A-A1FF-5C1CDFA7D5B3}"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7062D-F1E8-4268-AE56-56D8738C72FE}" type="slidenum">
              <a:rPr lang="en-US" smtClean="0"/>
              <a:t>‹#›</a:t>
            </a:fld>
            <a:endParaRPr lang="en-US"/>
          </a:p>
        </p:txBody>
      </p:sp>
    </p:spTree>
    <p:extLst>
      <p:ext uri="{BB962C8B-B14F-4D97-AF65-F5344CB8AC3E}">
        <p14:creationId xmlns:p14="http://schemas.microsoft.com/office/powerpoint/2010/main" val="3982124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154F9CB-E3D7-441A-A1FF-5C1CDFA7D5B3}"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67062D-F1E8-4268-AE56-56D8738C72FE}" type="slidenum">
              <a:rPr lang="en-US" smtClean="0"/>
              <a:t>‹#›</a:t>
            </a:fld>
            <a:endParaRPr lang="en-US"/>
          </a:p>
        </p:txBody>
      </p:sp>
    </p:spTree>
    <p:extLst>
      <p:ext uri="{BB962C8B-B14F-4D97-AF65-F5344CB8AC3E}">
        <p14:creationId xmlns:p14="http://schemas.microsoft.com/office/powerpoint/2010/main" val="1269613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154F9CB-E3D7-441A-A1FF-5C1CDFA7D5B3}" type="datetimeFigureOut">
              <a:rPr lang="en-US" smtClean="0"/>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67062D-F1E8-4268-AE56-56D8738C72FE}" type="slidenum">
              <a:rPr lang="en-US" smtClean="0"/>
              <a:t>‹#›</a:t>
            </a:fld>
            <a:endParaRPr lang="en-US"/>
          </a:p>
        </p:txBody>
      </p:sp>
    </p:spTree>
    <p:extLst>
      <p:ext uri="{BB962C8B-B14F-4D97-AF65-F5344CB8AC3E}">
        <p14:creationId xmlns:p14="http://schemas.microsoft.com/office/powerpoint/2010/main" val="120575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154F9CB-E3D7-441A-A1FF-5C1CDFA7D5B3}" type="datetimeFigureOut">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67062D-F1E8-4268-AE56-56D8738C72FE}" type="slidenum">
              <a:rPr lang="en-US" smtClean="0"/>
              <a:t>‹#›</a:t>
            </a:fld>
            <a:endParaRPr lang="en-US"/>
          </a:p>
        </p:txBody>
      </p:sp>
    </p:spTree>
    <p:extLst>
      <p:ext uri="{BB962C8B-B14F-4D97-AF65-F5344CB8AC3E}">
        <p14:creationId xmlns:p14="http://schemas.microsoft.com/office/powerpoint/2010/main" val="150739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54F9CB-E3D7-441A-A1FF-5C1CDFA7D5B3}" type="datetimeFigureOut">
              <a:rPr lang="en-US" smtClean="0"/>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67062D-F1E8-4268-AE56-56D8738C72FE}" type="slidenum">
              <a:rPr lang="en-US" smtClean="0"/>
              <a:t>‹#›</a:t>
            </a:fld>
            <a:endParaRPr lang="en-US"/>
          </a:p>
        </p:txBody>
      </p:sp>
    </p:spTree>
    <p:extLst>
      <p:ext uri="{BB962C8B-B14F-4D97-AF65-F5344CB8AC3E}">
        <p14:creationId xmlns:p14="http://schemas.microsoft.com/office/powerpoint/2010/main" val="4285750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54F9CB-E3D7-441A-A1FF-5C1CDFA7D5B3}"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67062D-F1E8-4268-AE56-56D8738C72FE}" type="slidenum">
              <a:rPr lang="en-US" smtClean="0"/>
              <a:t>‹#›</a:t>
            </a:fld>
            <a:endParaRPr lang="en-US"/>
          </a:p>
        </p:txBody>
      </p:sp>
    </p:spTree>
    <p:extLst>
      <p:ext uri="{BB962C8B-B14F-4D97-AF65-F5344CB8AC3E}">
        <p14:creationId xmlns:p14="http://schemas.microsoft.com/office/powerpoint/2010/main" val="1183195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54F9CB-E3D7-441A-A1FF-5C1CDFA7D5B3}"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67062D-F1E8-4268-AE56-56D8738C72FE}" type="slidenum">
              <a:rPr lang="en-US" smtClean="0"/>
              <a:t>‹#›</a:t>
            </a:fld>
            <a:endParaRPr lang="en-US"/>
          </a:p>
        </p:txBody>
      </p:sp>
    </p:spTree>
    <p:extLst>
      <p:ext uri="{BB962C8B-B14F-4D97-AF65-F5344CB8AC3E}">
        <p14:creationId xmlns:p14="http://schemas.microsoft.com/office/powerpoint/2010/main" val="92093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54F9CB-E3D7-441A-A1FF-5C1CDFA7D5B3}"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7062D-F1E8-4268-AE56-56D8738C72FE}" type="slidenum">
              <a:rPr lang="en-US" smtClean="0"/>
              <a:t>‹#›</a:t>
            </a:fld>
            <a:endParaRPr lang="en-US"/>
          </a:p>
        </p:txBody>
      </p:sp>
    </p:spTree>
    <p:extLst>
      <p:ext uri="{BB962C8B-B14F-4D97-AF65-F5344CB8AC3E}">
        <p14:creationId xmlns:p14="http://schemas.microsoft.com/office/powerpoint/2010/main" val="1933146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54F9CB-E3D7-441A-A1FF-5C1CDFA7D5B3}"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7062D-F1E8-4268-AE56-56D8738C72FE}" type="slidenum">
              <a:rPr lang="en-US" smtClean="0"/>
              <a:t>‹#›</a:t>
            </a:fld>
            <a:endParaRPr lang="en-US"/>
          </a:p>
        </p:txBody>
      </p:sp>
    </p:spTree>
    <p:extLst>
      <p:ext uri="{BB962C8B-B14F-4D97-AF65-F5344CB8AC3E}">
        <p14:creationId xmlns:p14="http://schemas.microsoft.com/office/powerpoint/2010/main" val="1159504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54F9CB-E3D7-441A-A1FF-5C1CDFA7D5B3}" type="datetimeFigureOut">
              <a:rPr lang="en-US" smtClean="0"/>
              <a:t>9/1/2026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67062D-F1E8-4268-AE56-56D8738C72FE}" type="slidenum">
              <a:rPr lang="en-US" smtClean="0"/>
              <a:t>‹#›</a:t>
            </a:fld>
            <a:endParaRPr lang="en-US"/>
          </a:p>
        </p:txBody>
      </p:sp>
    </p:spTree>
    <p:extLst>
      <p:ext uri="{BB962C8B-B14F-4D97-AF65-F5344CB8AC3E}">
        <p14:creationId xmlns:p14="http://schemas.microsoft.com/office/powerpoint/2010/main" val="29191156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svg"/></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7.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8.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9.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10.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1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1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1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1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1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1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17.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18.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19.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20.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2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2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2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2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2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2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27.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28.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29.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30.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3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10" Type="http://schemas.openxmlformats.org/officeDocument/2006/relationships/image" Target="../media/image10.svg"/><Relationship Id="rId4" Type="http://schemas.openxmlformats.org/officeDocument/2006/relationships/image" Target="../media/image2.svg"/><Relationship Id="rId9" Type="http://schemas.openxmlformats.org/officeDocument/2006/relationships/image" Target="../media/image7.svg"/></Relationships>
</file>

<file path=ppt/slides/_rels/slide3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10" Type="http://schemas.openxmlformats.org/officeDocument/2006/relationships/image" Target="../media/image10.svg"/><Relationship Id="rId4" Type="http://schemas.openxmlformats.org/officeDocument/2006/relationships/image" Target="../media/image2.svg"/><Relationship Id="rId9" Type="http://schemas.openxmlformats.org/officeDocument/2006/relationships/image" Target="../media/image7.svg"/></Relationships>
</file>

<file path=ppt/slides/_rels/slide3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10" Type="http://schemas.openxmlformats.org/officeDocument/2006/relationships/image" Target="../media/image10.svg"/><Relationship Id="rId4" Type="http://schemas.openxmlformats.org/officeDocument/2006/relationships/image" Target="../media/image2.svg"/><Relationship Id="rId9" Type="http://schemas.openxmlformats.org/officeDocument/2006/relationships/image" Target="../media/image7.svg"/></Relationships>
</file>

<file path=ppt/slides/_rels/slide3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10" Type="http://schemas.openxmlformats.org/officeDocument/2006/relationships/image" Target="../media/image10.svg"/><Relationship Id="rId4" Type="http://schemas.openxmlformats.org/officeDocument/2006/relationships/image" Target="../media/image2.svg"/><Relationship Id="rId9" Type="http://schemas.openxmlformats.org/officeDocument/2006/relationships/image" Target="../media/image7.svg"/></Relationships>
</file>

<file path=ppt/slides/_rels/slide3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10" Type="http://schemas.openxmlformats.org/officeDocument/2006/relationships/image" Target="../media/image10.svg"/><Relationship Id="rId4" Type="http://schemas.openxmlformats.org/officeDocument/2006/relationships/image" Target="../media/image2.svg"/><Relationship Id="rId9" Type="http://schemas.openxmlformats.org/officeDocument/2006/relationships/image" Target="../media/image7.svg"/></Relationships>
</file>

<file path=ppt/slides/_rels/slide3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10" Type="http://schemas.openxmlformats.org/officeDocument/2006/relationships/image" Target="../media/image10.svg"/><Relationship Id="rId4" Type="http://schemas.openxmlformats.org/officeDocument/2006/relationships/image" Target="../media/image2.svg"/><Relationship Id="rId9" Type="http://schemas.openxmlformats.org/officeDocument/2006/relationships/image" Target="../media/image7.svg"/></Relationships>
</file>

<file path=ppt/slides/_rels/slide37.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10" Type="http://schemas.openxmlformats.org/officeDocument/2006/relationships/image" Target="../media/image10.svg"/><Relationship Id="rId4" Type="http://schemas.openxmlformats.org/officeDocument/2006/relationships/image" Target="../media/image2.svg"/><Relationship Id="rId9" Type="http://schemas.openxmlformats.org/officeDocument/2006/relationships/image" Target="../media/image7.svg"/></Relationships>
</file>

<file path=ppt/slides/_rels/slide38.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10" Type="http://schemas.openxmlformats.org/officeDocument/2006/relationships/image" Target="../media/image10.svg"/><Relationship Id="rId4" Type="http://schemas.openxmlformats.org/officeDocument/2006/relationships/image" Target="../media/image2.svg"/><Relationship Id="rId9" Type="http://schemas.openxmlformats.org/officeDocument/2006/relationships/image" Target="../media/image7.svg"/></Relationships>
</file>

<file path=ppt/slides/_rels/slide39.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10" Type="http://schemas.openxmlformats.org/officeDocument/2006/relationships/image" Target="../media/image10.svg"/><Relationship Id="rId4" Type="http://schemas.openxmlformats.org/officeDocument/2006/relationships/image" Target="../media/image2.svg"/><Relationship Id="rId9" Type="http://schemas.openxmlformats.org/officeDocument/2006/relationships/image" Target="../media/image7.svg"/></Relationships>
</file>

<file path=ppt/slides/_rels/slide4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10" Type="http://schemas.openxmlformats.org/officeDocument/2006/relationships/image" Target="../media/image11.svg"/><Relationship Id="rId4" Type="http://schemas.openxmlformats.org/officeDocument/2006/relationships/image" Target="../media/image2.svg"/><Relationship Id="rId9" Type="http://schemas.openxmlformats.org/officeDocument/2006/relationships/image" Target="../media/image7.svg"/></Relationships>
</file>

<file path=ppt/slides/_rels/slide4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12"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4.svg"/><Relationship Id="rId11" Type="http://schemas.openxmlformats.org/officeDocument/2006/relationships/image" Target="../media/image8.svg"/><Relationship Id="rId5" Type="http://schemas.openxmlformats.org/officeDocument/2006/relationships/image" Target="../media/image3.svg"/><Relationship Id="rId10" Type="http://schemas.openxmlformats.org/officeDocument/2006/relationships/image" Target="../media/image12.svg"/><Relationship Id="rId4" Type="http://schemas.openxmlformats.org/officeDocument/2006/relationships/image" Target="../media/image2.svg"/><Relationship Id="rId9" Type="http://schemas.openxmlformats.org/officeDocument/2006/relationships/image" Target="../media/image7.svg"/></Relationships>
</file>

<file path=ppt/slides/_rels/slide4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2.svg"/></Relationships>
</file>

<file path=ppt/slides/_rels/slide4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3.svg"/></Relationships>
</file>

<file path=ppt/slides/_rels/slide4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3.svg"/></Relationships>
</file>

<file path=ppt/slides/_rels/slide4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3.svg"/></Relationships>
</file>

<file path=ppt/slides/_rels/slide4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3.svg"/></Relationships>
</file>

<file path=ppt/slides/_rels/slide4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3.svg"/></Relationships>
</file>

<file path=ppt/slides/_rels/slide4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3.svg"/></Relationships>
</file>

<file path=ppt/slides/_rels/slide5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3.svg"/></Relationships>
</file>

<file path=ppt/slides/_rels/slide5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3.svg"/></Relationships>
</file>

<file path=ppt/slides/_rels/slide5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3.svg"/></Relationships>
</file>

<file path=ppt/slides/_rels/slide5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3.svg"/></Relationships>
</file>

<file path=ppt/slides/_rels/slide5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3.svg"/></Relationships>
</file>

<file path=ppt/slides/_rels/slide5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3.svg"/></Relationships>
</file>

<file path=ppt/slides/_rels/slide5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3.svg"/></Relationships>
</file>

<file path=ppt/slides/_rels/slide5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3.svg"/></Relationships>
</file>

<file path=ppt/slides/_rels/slide5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3.svg"/></Relationships>
</file>

<file path=ppt/slides/_rels/slide5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13.sv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6AEDECF-CA77-A241-43F0-1133D41290B1}"/>
              </a:ext>
            </a:extLst>
          </p:cNvPr>
          <p:cNvSpPr txBox="1">
            <a:spLocks/>
          </p:cNvSpPr>
          <p:nvPr/>
        </p:nvSpPr>
        <p:spPr>
          <a:xfrm>
            <a:off x="6754786" y="4693256"/>
            <a:ext cx="3709196" cy="7260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70000"/>
              </a:lnSpc>
            </a:pPr>
            <a:r>
              <a:rPr lang="en-GB" sz="2800" dirty="0">
                <a:solidFill>
                  <a:schemeClr val="accent1">
                    <a:lumMod val="20000"/>
                    <a:lumOff val="80000"/>
                  </a:schemeClr>
                </a:solidFill>
                <a:latin typeface="Consolas" panose="020B0609020204030204" pitchFamily="49" charset="0"/>
              </a:rPr>
              <a:t>Forms and Bindings</a:t>
            </a:r>
          </a:p>
          <a:p>
            <a:pPr algn="ctr">
              <a:lnSpc>
                <a:spcPct val="70000"/>
              </a:lnSpc>
            </a:pPr>
            <a:r>
              <a:rPr lang="en-GB" sz="2800" dirty="0">
                <a:solidFill>
                  <a:schemeClr val="accent1">
                    <a:lumMod val="20000"/>
                    <a:lumOff val="80000"/>
                  </a:schemeClr>
                </a:solidFill>
                <a:latin typeface="Consolas" panose="020B0609020204030204" pitchFamily="49" charset="0"/>
              </a:rPr>
              <a:t>in Practice</a:t>
            </a:r>
            <a:endParaRPr lang="tr-TR" sz="2800" dirty="0">
              <a:solidFill>
                <a:schemeClr val="accent1">
                  <a:lumMod val="20000"/>
                  <a:lumOff val="80000"/>
                </a:schemeClr>
              </a:solidFill>
              <a:latin typeface="Consolas" panose="020B0609020204030204" pitchFamily="49" charset="0"/>
            </a:endParaRPr>
          </a:p>
        </p:txBody>
      </p:sp>
      <p:sp>
        <p:nvSpPr>
          <p:cNvPr id="5" name="Oval 4">
            <a:extLst>
              <a:ext uri="{FF2B5EF4-FFF2-40B4-BE49-F238E27FC236}">
                <a16:creationId xmlns:a16="http://schemas.microsoft.com/office/drawing/2014/main" id="{228C1D12-93AE-F369-E64C-33AF94451D50}"/>
              </a:ext>
            </a:extLst>
          </p:cNvPr>
          <p:cNvSpPr/>
          <p:nvPr/>
        </p:nvSpPr>
        <p:spPr>
          <a:xfrm>
            <a:off x="4126402" y="1798200"/>
            <a:ext cx="2261013" cy="2237766"/>
          </a:xfrm>
          <a:prstGeom prst="ellipse">
            <a:avLst/>
          </a:prstGeom>
          <a:solidFill>
            <a:srgbClr val="DFEAF3">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endParaRPr lang="en-US">
              <a:solidFill>
                <a:schemeClr val="accent1"/>
              </a:solidFill>
              <a:latin typeface="Century Gothic" panose="020B0502020202020204" pitchFamily="34" charset="0"/>
            </a:endParaRPr>
          </a:p>
        </p:txBody>
      </p:sp>
      <p:sp>
        <p:nvSpPr>
          <p:cNvPr id="6" name="Title 1">
            <a:extLst>
              <a:ext uri="{FF2B5EF4-FFF2-40B4-BE49-F238E27FC236}">
                <a16:creationId xmlns:a16="http://schemas.microsoft.com/office/drawing/2014/main" id="{7F520380-3466-9C63-2C7D-108702479253}"/>
              </a:ext>
            </a:extLst>
          </p:cNvPr>
          <p:cNvSpPr txBox="1">
            <a:spLocks/>
          </p:cNvSpPr>
          <p:nvPr/>
        </p:nvSpPr>
        <p:spPr>
          <a:xfrm>
            <a:off x="4937254" y="2364404"/>
            <a:ext cx="831086" cy="7260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70000"/>
              </a:lnSpc>
            </a:pPr>
            <a:r>
              <a:rPr lang="tr-TR" sz="6600">
                <a:solidFill>
                  <a:schemeClr val="tx2"/>
                </a:solidFill>
                <a:latin typeface="Consolas" panose="020B0609020204030204" pitchFamily="49" charset="0"/>
              </a:rPr>
              <a:t>W</a:t>
            </a:r>
          </a:p>
        </p:txBody>
      </p:sp>
      <p:sp>
        <p:nvSpPr>
          <p:cNvPr id="7" name="Left Brace 6">
            <a:extLst>
              <a:ext uri="{FF2B5EF4-FFF2-40B4-BE49-F238E27FC236}">
                <a16:creationId xmlns:a16="http://schemas.microsoft.com/office/drawing/2014/main" id="{651CE5AC-415B-FF4A-7E69-CF76CB6AC943}"/>
              </a:ext>
            </a:extLst>
          </p:cNvPr>
          <p:cNvSpPr/>
          <p:nvPr/>
        </p:nvSpPr>
        <p:spPr>
          <a:xfrm>
            <a:off x="4548853" y="2168484"/>
            <a:ext cx="328240" cy="1485359"/>
          </a:xfrm>
          <a:prstGeom prst="leftBrace">
            <a:avLst>
              <a:gd name="adj1" fmla="val 41120"/>
              <a:gd name="adj2" fmla="val 50000"/>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p:sp>
        <p:nvSpPr>
          <p:cNvPr id="8" name="Title 1">
            <a:extLst>
              <a:ext uri="{FF2B5EF4-FFF2-40B4-BE49-F238E27FC236}">
                <a16:creationId xmlns:a16="http://schemas.microsoft.com/office/drawing/2014/main" id="{DFC3E99C-C383-A62B-CD81-9B99789A48F4}"/>
              </a:ext>
            </a:extLst>
          </p:cNvPr>
          <p:cNvSpPr txBox="1">
            <a:spLocks/>
          </p:cNvSpPr>
          <p:nvPr/>
        </p:nvSpPr>
        <p:spPr>
          <a:xfrm>
            <a:off x="4936185" y="3090423"/>
            <a:ext cx="683013" cy="7260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70000"/>
              </a:lnSpc>
            </a:pPr>
            <a:r>
              <a:rPr lang="tr-TR" sz="6600">
                <a:solidFill>
                  <a:schemeClr val="tx2"/>
                </a:solidFill>
                <a:latin typeface="Consolas" panose="020B0609020204030204" pitchFamily="49" charset="0"/>
              </a:rPr>
              <a:t>W</a:t>
            </a:r>
          </a:p>
        </p:txBody>
      </p:sp>
      <p:sp>
        <p:nvSpPr>
          <p:cNvPr id="9" name="Left Brace 8">
            <a:extLst>
              <a:ext uri="{FF2B5EF4-FFF2-40B4-BE49-F238E27FC236}">
                <a16:creationId xmlns:a16="http://schemas.microsoft.com/office/drawing/2014/main" id="{A5248189-D205-78EA-AB1D-945D2AFBB99F}"/>
              </a:ext>
            </a:extLst>
          </p:cNvPr>
          <p:cNvSpPr/>
          <p:nvPr/>
        </p:nvSpPr>
        <p:spPr>
          <a:xfrm flipH="1">
            <a:off x="5641860" y="2168670"/>
            <a:ext cx="328240" cy="1485359"/>
          </a:xfrm>
          <a:prstGeom prst="leftBrace">
            <a:avLst>
              <a:gd name="adj1" fmla="val 41120"/>
              <a:gd name="adj2" fmla="val 50000"/>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itle 1">
            <a:extLst>
              <a:ext uri="{FF2B5EF4-FFF2-40B4-BE49-F238E27FC236}">
                <a16:creationId xmlns:a16="http://schemas.microsoft.com/office/drawing/2014/main" id="{577A8FE5-30C3-91B3-1FDF-3CAD9BDD32B6}"/>
              </a:ext>
            </a:extLst>
          </p:cNvPr>
          <p:cNvSpPr txBox="1">
            <a:spLocks/>
          </p:cNvSpPr>
          <p:nvPr/>
        </p:nvSpPr>
        <p:spPr>
          <a:xfrm>
            <a:off x="5396787" y="2435584"/>
            <a:ext cx="831086" cy="7260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70000"/>
              </a:lnSpc>
            </a:pPr>
            <a:r>
              <a:rPr lang="tr-TR" sz="3600">
                <a:solidFill>
                  <a:schemeClr val="bg2"/>
                </a:solidFill>
                <a:latin typeface="Consolas" panose="020B0609020204030204" pitchFamily="49" charset="0"/>
              </a:rPr>
              <a:t>,</a:t>
            </a:r>
          </a:p>
        </p:txBody>
      </p:sp>
      <p:cxnSp>
        <p:nvCxnSpPr>
          <p:cNvPr id="11" name="Straight Connector 10">
            <a:extLst>
              <a:ext uri="{FF2B5EF4-FFF2-40B4-BE49-F238E27FC236}">
                <a16:creationId xmlns:a16="http://schemas.microsoft.com/office/drawing/2014/main" id="{055BE55F-A93B-F07D-B3E9-73A6CC249B85}"/>
              </a:ext>
            </a:extLst>
          </p:cNvPr>
          <p:cNvCxnSpPr>
            <a:cxnSpLocks/>
            <a:stCxn id="13" idx="3"/>
            <a:endCxn id="25" idx="7"/>
          </p:cNvCxnSpPr>
          <p:nvPr/>
        </p:nvCxnSpPr>
        <p:spPr>
          <a:xfrm flipH="1">
            <a:off x="3883778" y="2631685"/>
            <a:ext cx="568713" cy="49848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27C9369-733F-CCAE-ABD3-74AD9AA4BE01}"/>
              </a:ext>
            </a:extLst>
          </p:cNvPr>
          <p:cNvCxnSpPr>
            <a:cxnSpLocks/>
            <a:stCxn id="25" idx="5"/>
            <a:endCxn id="16" idx="1"/>
          </p:cNvCxnSpPr>
          <p:nvPr/>
        </p:nvCxnSpPr>
        <p:spPr>
          <a:xfrm>
            <a:off x="3870220" y="3292390"/>
            <a:ext cx="606293" cy="70359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6D1C0AD8-9F3F-97C9-0D16-B3972AF9BE44}"/>
              </a:ext>
            </a:extLst>
          </p:cNvPr>
          <p:cNvSpPr/>
          <p:nvPr/>
        </p:nvSpPr>
        <p:spPr>
          <a:xfrm>
            <a:off x="4435879" y="2534860"/>
            <a:ext cx="113437" cy="11343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3F61D1C-6220-98B9-50BE-36DB0D79B14F}"/>
              </a:ext>
            </a:extLst>
          </p:cNvPr>
          <p:cNvSpPr/>
          <p:nvPr/>
        </p:nvSpPr>
        <p:spPr>
          <a:xfrm>
            <a:off x="3814427" y="1832439"/>
            <a:ext cx="180972" cy="1809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C8B18FF0-2702-1761-E7F6-5ACF9FE70A35}"/>
              </a:ext>
            </a:extLst>
          </p:cNvPr>
          <p:cNvCxnSpPr>
            <a:cxnSpLocks/>
            <a:stCxn id="14" idx="4"/>
            <a:endCxn id="25" idx="0"/>
          </p:cNvCxnSpPr>
          <p:nvPr/>
        </p:nvCxnSpPr>
        <p:spPr>
          <a:xfrm flipH="1">
            <a:off x="3805474" y="2013411"/>
            <a:ext cx="99439" cy="1076378"/>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00A26D4D-F619-49EE-B3A3-B6B46460E95B}"/>
              </a:ext>
            </a:extLst>
          </p:cNvPr>
          <p:cNvSpPr/>
          <p:nvPr/>
        </p:nvSpPr>
        <p:spPr>
          <a:xfrm rot="20652436">
            <a:off x="4466831" y="3956988"/>
            <a:ext cx="152311" cy="15231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8A3CDBA5-9E25-1A95-AEC4-D705463A887B}"/>
              </a:ext>
            </a:extLst>
          </p:cNvPr>
          <p:cNvCxnSpPr>
            <a:cxnSpLocks/>
            <a:stCxn id="16" idx="5"/>
            <a:endCxn id="18" idx="2"/>
          </p:cNvCxnSpPr>
          <p:nvPr/>
        </p:nvCxnSpPr>
        <p:spPr>
          <a:xfrm>
            <a:off x="4609460" y="4070305"/>
            <a:ext cx="845691" cy="157768"/>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4853A6E1-B085-41E0-4266-8D2D60DF5E2A}"/>
              </a:ext>
            </a:extLst>
          </p:cNvPr>
          <p:cNvSpPr/>
          <p:nvPr/>
        </p:nvSpPr>
        <p:spPr>
          <a:xfrm rot="684807">
            <a:off x="5453362" y="4155493"/>
            <a:ext cx="180972" cy="1809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2819E646-8027-12F5-8417-C298ABB5996C}"/>
              </a:ext>
            </a:extLst>
          </p:cNvPr>
          <p:cNvCxnSpPr>
            <a:cxnSpLocks/>
            <a:stCxn id="25" idx="0"/>
            <a:endCxn id="20" idx="0"/>
          </p:cNvCxnSpPr>
          <p:nvPr/>
        </p:nvCxnSpPr>
        <p:spPr>
          <a:xfrm flipH="1">
            <a:off x="3666269" y="3089789"/>
            <a:ext cx="139205" cy="43687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59AD42FA-C035-40D9-9C47-80E8D979C663}"/>
              </a:ext>
            </a:extLst>
          </p:cNvPr>
          <p:cNvSpPr/>
          <p:nvPr/>
        </p:nvSpPr>
        <p:spPr>
          <a:xfrm rot="1830353">
            <a:off x="3591345" y="3519780"/>
            <a:ext cx="99393" cy="9939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a:extLst>
              <a:ext uri="{FF2B5EF4-FFF2-40B4-BE49-F238E27FC236}">
                <a16:creationId xmlns:a16="http://schemas.microsoft.com/office/drawing/2014/main" id="{130FC2CC-25D7-F0BA-8898-31914E02A0A2}"/>
              </a:ext>
            </a:extLst>
          </p:cNvPr>
          <p:cNvSpPr txBox="1">
            <a:spLocks/>
          </p:cNvSpPr>
          <p:nvPr/>
        </p:nvSpPr>
        <p:spPr>
          <a:xfrm>
            <a:off x="5417305" y="2389469"/>
            <a:ext cx="2891874" cy="7260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70000"/>
              </a:lnSpc>
            </a:pPr>
            <a:r>
              <a:rPr lang="tr-TR" sz="6000" spc="-150">
                <a:solidFill>
                  <a:schemeClr val="tx2"/>
                </a:solidFill>
                <a:latin typeface="Consolas" panose="020B0609020204030204" pitchFamily="49" charset="0"/>
              </a:rPr>
              <a:t>hat is</a:t>
            </a:r>
          </a:p>
        </p:txBody>
      </p:sp>
      <p:sp>
        <p:nvSpPr>
          <p:cNvPr id="22" name="Title 1">
            <a:extLst>
              <a:ext uri="{FF2B5EF4-FFF2-40B4-BE49-F238E27FC236}">
                <a16:creationId xmlns:a16="http://schemas.microsoft.com/office/drawing/2014/main" id="{7737A1B4-C476-F7D6-1877-D1DF51DDD8A0}"/>
              </a:ext>
            </a:extLst>
          </p:cNvPr>
          <p:cNvSpPr txBox="1">
            <a:spLocks/>
          </p:cNvSpPr>
          <p:nvPr/>
        </p:nvSpPr>
        <p:spPr>
          <a:xfrm>
            <a:off x="5412751" y="3098282"/>
            <a:ext cx="2891874" cy="7260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70000"/>
              </a:lnSpc>
            </a:pPr>
            <a:r>
              <a:rPr lang="tr-TR" sz="6000" spc="-300">
                <a:solidFill>
                  <a:schemeClr val="tx2"/>
                </a:solidFill>
                <a:latin typeface="Consolas" panose="020B0609020204030204" pitchFamily="49" charset="0"/>
              </a:rPr>
              <a:t>oT</a:t>
            </a:r>
          </a:p>
        </p:txBody>
      </p:sp>
      <p:cxnSp>
        <p:nvCxnSpPr>
          <p:cNvPr id="23" name="Straight Connector 22">
            <a:extLst>
              <a:ext uri="{FF2B5EF4-FFF2-40B4-BE49-F238E27FC236}">
                <a16:creationId xmlns:a16="http://schemas.microsoft.com/office/drawing/2014/main" id="{73B8974A-0FE4-596B-241C-2727868AFA1F}"/>
              </a:ext>
            </a:extLst>
          </p:cNvPr>
          <p:cNvCxnSpPr>
            <a:cxnSpLocks/>
            <a:stCxn id="18" idx="6"/>
            <a:endCxn id="24" idx="1"/>
          </p:cNvCxnSpPr>
          <p:nvPr/>
        </p:nvCxnSpPr>
        <p:spPr>
          <a:xfrm>
            <a:off x="5632545" y="4263885"/>
            <a:ext cx="970408" cy="72126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4" name="Left Brace 23">
            <a:extLst>
              <a:ext uri="{FF2B5EF4-FFF2-40B4-BE49-F238E27FC236}">
                <a16:creationId xmlns:a16="http://schemas.microsoft.com/office/drawing/2014/main" id="{E5326A17-4B2D-A111-A482-ADC0165D1E97}"/>
              </a:ext>
            </a:extLst>
          </p:cNvPr>
          <p:cNvSpPr/>
          <p:nvPr/>
        </p:nvSpPr>
        <p:spPr>
          <a:xfrm>
            <a:off x="6602953" y="4486999"/>
            <a:ext cx="255735" cy="996294"/>
          </a:xfrm>
          <a:prstGeom prst="leftBrace">
            <a:avLst>
              <a:gd name="adj1" fmla="val 41120"/>
              <a:gd name="adj2" fmla="val 50000"/>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Oval 24">
            <a:extLst>
              <a:ext uri="{FF2B5EF4-FFF2-40B4-BE49-F238E27FC236}">
                <a16:creationId xmlns:a16="http://schemas.microsoft.com/office/drawing/2014/main" id="{D87E5B72-638E-0D4E-1421-8CA056E4B794}"/>
              </a:ext>
            </a:extLst>
          </p:cNvPr>
          <p:cNvSpPr/>
          <p:nvPr/>
        </p:nvSpPr>
        <p:spPr>
          <a:xfrm rot="286644">
            <a:off x="3680777" y="3089389"/>
            <a:ext cx="230220" cy="2302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Left Brace 25">
            <a:extLst>
              <a:ext uri="{FF2B5EF4-FFF2-40B4-BE49-F238E27FC236}">
                <a16:creationId xmlns:a16="http://schemas.microsoft.com/office/drawing/2014/main" id="{A7B28016-F4C3-D954-6344-A2BF37902DA5}"/>
              </a:ext>
            </a:extLst>
          </p:cNvPr>
          <p:cNvSpPr/>
          <p:nvPr/>
        </p:nvSpPr>
        <p:spPr>
          <a:xfrm flipH="1">
            <a:off x="10360080" y="4486999"/>
            <a:ext cx="255735" cy="996294"/>
          </a:xfrm>
          <a:prstGeom prst="leftBrace">
            <a:avLst>
              <a:gd name="adj1" fmla="val 41120"/>
              <a:gd name="adj2" fmla="val 50000"/>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464490414"/>
      </p:ext>
    </p:extLst>
  </p:cSld>
  <p:clrMapOvr>
    <a:masterClrMapping/>
  </p:clrMapOvr>
  <mc:AlternateContent xmlns:mc="http://schemas.openxmlformats.org/markup-compatibility/2006" xmlns:p14="http://schemas.microsoft.com/office/powerpoint/2010/main">
    <mc:Choice Requires="p14">
      <p:transition spd="slow" p14:dur="2000" advTm="9000"/>
    </mc:Choice>
    <mc:Fallback xmlns="">
      <p:transition spd="slow" advTm="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2.70833E-6 -1.85185E-6 L 0.20651 -1.85185E-6 " pathEditMode="relative" rAng="0" ptsTypes="AA">
                                      <p:cBhvr>
                                        <p:cTn id="6" dur="2000" fill="hold"/>
                                        <p:tgtEl>
                                          <p:spTgt spid="10"/>
                                        </p:tgtEl>
                                        <p:attrNameLst>
                                          <p:attrName>ppt_x</p:attrName>
                                          <p:attrName>ppt_y</p:attrName>
                                        </p:attrNameLst>
                                      </p:cBhvr>
                                      <p:rCtr x="10326" y="0"/>
                                    </p:animMotion>
                                  </p:childTnLst>
                                </p:cTn>
                              </p:par>
                              <p:par>
                                <p:cTn id="7" presetID="63" presetClass="path" presetSubtype="0" accel="50000" decel="50000" fill="hold" grpId="0" nodeType="withEffect">
                                  <p:stCondLst>
                                    <p:cond delay="0"/>
                                  </p:stCondLst>
                                  <p:childTnLst>
                                    <p:animMotion origin="layout" path="M -1.875E-6 2.96296E-6 L 0.2168 2.96296E-6 " pathEditMode="relative" rAng="0" ptsTypes="AA">
                                      <p:cBhvr>
                                        <p:cTn id="8" dur="2000" fill="hold"/>
                                        <p:tgtEl>
                                          <p:spTgt spid="9"/>
                                        </p:tgtEl>
                                        <p:attrNameLst>
                                          <p:attrName>ppt_x</p:attrName>
                                          <p:attrName>ppt_y</p:attrName>
                                        </p:attrNameLst>
                                      </p:cBhvr>
                                      <p:rCtr x="10833" y="0"/>
                                    </p:animMotion>
                                  </p:childTnLst>
                                </p:cTn>
                              </p:par>
                              <p:par>
                                <p:cTn id="9" presetID="10" presetClass="entr" presetSubtype="0" fill="hold" grpId="0" nodeType="withEffect">
                                  <p:stCondLst>
                                    <p:cond delay="125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750"/>
                                        <p:tgtEl>
                                          <p:spTgt spid="21"/>
                                        </p:tgtEl>
                                      </p:cBhvr>
                                    </p:animEffect>
                                  </p:childTnLst>
                                </p:cTn>
                              </p:par>
                              <p:par>
                                <p:cTn id="12" presetID="10" presetClass="entr" presetSubtype="0" fill="hold" grpId="0" nodeType="withEffect">
                                  <p:stCondLst>
                                    <p:cond delay="125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750"/>
                                        <p:tgtEl>
                                          <p:spTgt spid="22"/>
                                        </p:tgtEl>
                                      </p:cBhvr>
                                    </p:animEffect>
                                  </p:childTnLst>
                                </p:cTn>
                              </p:par>
                              <p:par>
                                <p:cTn id="15" presetID="10" presetClass="entr" presetSubtype="0" fill="hold" grpId="0" nodeType="withEffect">
                                  <p:stCondLst>
                                    <p:cond delay="15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2000"/>
                            </p:stCondLst>
                            <p:childTnLst>
                              <p:par>
                                <p:cTn id="19" presetID="22" presetClass="entr" presetSubtype="1" fill="hold"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up)">
                                      <p:cBhvr>
                                        <p:cTn id="21" dur="500"/>
                                        <p:tgtEl>
                                          <p:spTgt spid="11"/>
                                        </p:tgtEl>
                                      </p:cBhvr>
                                    </p:animEffect>
                                  </p:childTnLst>
                                </p:cTn>
                              </p:par>
                              <p:par>
                                <p:cTn id="22" presetID="10" presetClass="entr" presetSubtype="0" fill="hold" grpId="0" nodeType="withEffect">
                                  <p:stCondLst>
                                    <p:cond delay="50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500"/>
                                        <p:tgtEl>
                                          <p:spTgt spid="25"/>
                                        </p:tgtEl>
                                      </p:cBhvr>
                                    </p:animEffect>
                                  </p:childTnLst>
                                </p:cTn>
                              </p:par>
                            </p:childTnLst>
                          </p:cTn>
                        </p:par>
                        <p:par>
                          <p:cTn id="25" fill="hold">
                            <p:stCondLst>
                              <p:cond delay="3000"/>
                            </p:stCondLst>
                            <p:childTnLst>
                              <p:par>
                                <p:cTn id="26" presetID="22" presetClass="entr" presetSubtype="1" fill="hold" nodeType="after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up)">
                                      <p:cBhvr>
                                        <p:cTn id="28" dur="500"/>
                                        <p:tgtEl>
                                          <p:spTgt spid="19"/>
                                        </p:tgtEl>
                                      </p:cBhvr>
                                    </p:animEffect>
                                  </p:childTnLst>
                                </p:cTn>
                              </p:par>
                              <p:par>
                                <p:cTn id="29" presetID="22" presetClass="entr" presetSubtype="4"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down)">
                                      <p:cBhvr>
                                        <p:cTn id="31" dur="500"/>
                                        <p:tgtEl>
                                          <p:spTgt spid="15"/>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childTnLst>
                          </p:cTn>
                        </p:par>
                        <p:par>
                          <p:cTn id="39" fill="hold">
                            <p:stCondLst>
                              <p:cond delay="4000"/>
                            </p:stCondLst>
                            <p:childTnLst>
                              <p:par>
                                <p:cTn id="40" presetID="22" presetClass="entr" presetSubtype="1" fill="hold"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up)">
                                      <p:cBhvr>
                                        <p:cTn id="42" dur="500"/>
                                        <p:tgtEl>
                                          <p:spTgt spid="12"/>
                                        </p:tgtEl>
                                      </p:cBhvr>
                                    </p:animEffect>
                                  </p:childTnLst>
                                </p:cTn>
                              </p:par>
                            </p:childTnLst>
                          </p:cTn>
                        </p:par>
                        <p:par>
                          <p:cTn id="43" fill="hold">
                            <p:stCondLst>
                              <p:cond delay="4500"/>
                            </p:stCondLst>
                            <p:childTnLst>
                              <p:par>
                                <p:cTn id="44" presetID="10" presetClass="entr" presetSubtype="0"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par>
                          <p:cTn id="47" fill="hold">
                            <p:stCondLst>
                              <p:cond delay="5000"/>
                            </p:stCondLst>
                            <p:childTnLst>
                              <p:par>
                                <p:cTn id="48" presetID="22" presetClass="entr" presetSubtype="1" fill="hold"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up)">
                                      <p:cBhvr>
                                        <p:cTn id="50" dur="500"/>
                                        <p:tgtEl>
                                          <p:spTgt spid="17"/>
                                        </p:tgtEl>
                                      </p:cBhvr>
                                    </p:animEffect>
                                  </p:childTnLst>
                                </p:cTn>
                              </p:par>
                            </p:childTnLst>
                          </p:cTn>
                        </p:par>
                        <p:par>
                          <p:cTn id="51" fill="hold">
                            <p:stCondLst>
                              <p:cond delay="5500"/>
                            </p:stCondLst>
                            <p:childTnLst>
                              <p:par>
                                <p:cTn id="52" presetID="10" presetClass="entr" presetSubtype="0" fill="hold" grpId="0" nodeType="after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childTnLst>
                          </p:cTn>
                        </p:par>
                        <p:par>
                          <p:cTn id="55" fill="hold">
                            <p:stCondLst>
                              <p:cond delay="6000"/>
                            </p:stCondLst>
                            <p:childTnLst>
                              <p:par>
                                <p:cTn id="56" presetID="22" presetClass="entr" presetSubtype="1" fill="hold" nodeType="afterEffect">
                                  <p:stCondLst>
                                    <p:cond delay="1000"/>
                                  </p:stCondLst>
                                  <p:childTnLst>
                                    <p:set>
                                      <p:cBhvr>
                                        <p:cTn id="57" dur="1" fill="hold">
                                          <p:stCondLst>
                                            <p:cond delay="0"/>
                                          </p:stCondLst>
                                        </p:cTn>
                                        <p:tgtEl>
                                          <p:spTgt spid="23"/>
                                        </p:tgtEl>
                                        <p:attrNameLst>
                                          <p:attrName>style.visibility</p:attrName>
                                        </p:attrNameLst>
                                      </p:cBhvr>
                                      <p:to>
                                        <p:strVal val="visible"/>
                                      </p:to>
                                    </p:set>
                                    <p:animEffect transition="in" filter="wipe(up)">
                                      <p:cBhvr>
                                        <p:cTn id="58" dur="1000"/>
                                        <p:tgtEl>
                                          <p:spTgt spid="23"/>
                                        </p:tgtEl>
                                      </p:cBhvr>
                                    </p:animEffect>
                                  </p:childTnLst>
                                </p:cTn>
                              </p:par>
                            </p:childTnLst>
                          </p:cTn>
                        </p:par>
                        <p:par>
                          <p:cTn id="59" fill="hold">
                            <p:stCondLst>
                              <p:cond delay="8000"/>
                            </p:stCondLst>
                            <p:childTnLst>
                              <p:par>
                                <p:cTn id="60" presetID="10" presetClass="entr" presetSubtype="0" fill="hold" grpId="0" nodeType="after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1000"/>
                                        <p:tgtEl>
                                          <p:spTgt spid="24"/>
                                        </p:tgtEl>
                                      </p:cBhvr>
                                    </p:animEffect>
                                  </p:childTnLst>
                                </p:cTn>
                              </p:par>
                            </p:childTnLst>
                          </p:cTn>
                        </p:par>
                        <p:par>
                          <p:cTn id="63" fill="hold">
                            <p:stCondLst>
                              <p:cond delay="9000"/>
                            </p:stCondLst>
                            <p:childTnLst>
                              <p:par>
                                <p:cTn id="64" presetID="10" presetClass="entr" presetSubtype="0" fill="hold" grpId="0" nodeType="afterEffect">
                                  <p:stCondLst>
                                    <p:cond delay="0"/>
                                  </p:stCondLst>
                                  <p:childTnLst>
                                    <p:set>
                                      <p:cBhvr>
                                        <p:cTn id="65" dur="1" fill="hold">
                                          <p:stCondLst>
                                            <p:cond delay="0"/>
                                          </p:stCondLst>
                                        </p:cTn>
                                        <p:tgtEl>
                                          <p:spTgt spid="4"/>
                                        </p:tgtEl>
                                        <p:attrNameLst>
                                          <p:attrName>style.visibility</p:attrName>
                                        </p:attrNameLst>
                                      </p:cBhvr>
                                      <p:to>
                                        <p:strVal val="visible"/>
                                      </p:to>
                                    </p:set>
                                    <p:animEffect transition="in" filter="fade">
                                      <p:cBhvr>
                                        <p:cTn id="66" dur="1000"/>
                                        <p:tgtEl>
                                          <p:spTgt spid="4"/>
                                        </p:tgtEl>
                                      </p:cBhvr>
                                    </p:animEffect>
                                  </p:childTnLst>
                                </p:cTn>
                              </p:par>
                            </p:childTnLst>
                          </p:cTn>
                        </p:par>
                        <p:par>
                          <p:cTn id="67" fill="hold">
                            <p:stCondLst>
                              <p:cond delay="10000"/>
                            </p:stCondLst>
                            <p:childTnLst>
                              <p:par>
                                <p:cTn id="68" presetID="10" presetClass="entr" presetSubtype="0" fill="hold" grpId="0" nodeType="after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animBg="1"/>
      <p:bldP spid="10" grpId="0"/>
      <p:bldP spid="13" grpId="0" animBg="1"/>
      <p:bldP spid="14" grpId="0" animBg="1"/>
      <p:bldP spid="16" grpId="0" animBg="1"/>
      <p:bldP spid="18" grpId="0" animBg="1"/>
      <p:bldP spid="20" grpId="0" animBg="1"/>
      <p:bldP spid="21" grpId="0"/>
      <p:bldP spid="22" grpId="0"/>
      <p:bldP spid="24" grpId="0" animBg="1"/>
      <p:bldP spid="25" grpId="0" animBg="1"/>
      <p:bldP spid="2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21EA9-AB92-B551-561F-D2C1457CBFB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BF69B66-4D48-8002-779D-481DCDD4C773}"/>
              </a:ext>
            </a:extLst>
          </p:cNvPr>
          <p:cNvSpPr txBox="1">
            <a:spLocks/>
          </p:cNvSpPr>
          <p:nvPr/>
        </p:nvSpPr>
        <p:spPr>
          <a:xfrm>
            <a:off x="2198977" y="2766219"/>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Protocol Bindings in Practice</a:t>
            </a:r>
            <a:endParaRPr lang="aa-ET" dirty="0">
              <a:solidFill>
                <a:schemeClr val="accent1"/>
              </a:solidFill>
              <a:latin typeface="Century Gothic" panose="020B0502020202020204" pitchFamily="34" charset="0"/>
            </a:endParaRPr>
          </a:p>
        </p:txBody>
      </p:sp>
      <p:sp>
        <p:nvSpPr>
          <p:cNvPr id="15" name="Content Placeholder 2" hidden="1">
            <a:extLst>
              <a:ext uri="{FF2B5EF4-FFF2-40B4-BE49-F238E27FC236}">
                <a16:creationId xmlns:a16="http://schemas.microsoft.com/office/drawing/2014/main" id="{DB34870A-1A31-6CC1-4FB8-28D50E4B0A9C}"/>
              </a:ext>
            </a:extLst>
          </p:cNvPr>
          <p:cNvSpPr txBox="1">
            <a:spLocks/>
          </p:cNvSpPr>
          <p:nvPr/>
        </p:nvSpPr>
        <p:spPr>
          <a:xfrm>
            <a:off x="4668922" y="1941994"/>
            <a:ext cx="2854156" cy="5856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0000"/>
              </a:lnSpc>
              <a:buNone/>
            </a:pPr>
            <a:r>
              <a:rPr lang="en-US" sz="1800" dirty="0">
                <a:latin typeface="Consolas" panose="020B0609020204030204" pitchFamily="49" charset="0"/>
                <a:cs typeface="Consolas" panose="020B0609020204030204" pitchFamily="49" charset="0"/>
              </a:rPr>
              <a:t>"</a:t>
            </a:r>
            <a:r>
              <a:rPr lang="en-US" sz="1800" dirty="0" err="1">
                <a:latin typeface="Consolas" panose="020B0609020204030204" pitchFamily="49" charset="0"/>
                <a:cs typeface="Consolas" panose="020B0609020204030204" pitchFamily="49" charset="0"/>
              </a:rPr>
              <a:t>href</a:t>
            </a:r>
            <a:r>
              <a:rPr lang="en-US" sz="1800" dirty="0">
                <a:latin typeface="Consolas" panose="020B0609020204030204" pitchFamily="49" charset="0"/>
                <a:cs typeface="Consolas" panose="020B0609020204030204" pitchFamily="49" charset="0"/>
              </a:rPr>
              <a:t>": "https://..."</a:t>
            </a:r>
          </a:p>
          <a:p>
            <a:pPr marL="0" indent="0">
              <a:lnSpc>
                <a:spcPct val="70000"/>
              </a:lnSpc>
              <a:buNone/>
            </a:pPr>
            <a:r>
              <a:rPr lang="en-US" sz="1800" dirty="0">
                <a:solidFill>
                  <a:schemeClr val="accent1"/>
                </a:solidFill>
                <a:latin typeface="Consolas" panose="020B0609020204030204" pitchFamily="49" charset="0"/>
                <a:cs typeface="Consolas" panose="020B0609020204030204" pitchFamily="49" charset="0"/>
              </a:rPr>
              <a:t>"op": "</a:t>
            </a:r>
            <a:r>
              <a:rPr lang="en-US" sz="1800" dirty="0" err="1">
                <a:solidFill>
                  <a:schemeClr val="accent1"/>
                </a:solidFill>
                <a:latin typeface="Consolas" panose="020B0609020204030204" pitchFamily="49" charset="0"/>
                <a:cs typeface="Consolas" panose="020B0609020204030204" pitchFamily="49" charset="0"/>
              </a:rPr>
              <a:t>readProperty</a:t>
            </a:r>
            <a:r>
              <a:rPr lang="en-US" sz="1800" dirty="0">
                <a:solidFill>
                  <a:schemeClr val="accent1"/>
                </a:solidFill>
                <a:latin typeface="Consolas" panose="020B0609020204030204" pitchFamily="49" charset="0"/>
                <a:cs typeface="Consolas" panose="020B0609020204030204" pitchFamily="49" charset="0"/>
              </a:rPr>
              <a:t>"</a:t>
            </a:r>
          </a:p>
        </p:txBody>
      </p:sp>
      <p:sp>
        <p:nvSpPr>
          <p:cNvPr id="16" name="TextBox 15" hidden="1">
            <a:extLst>
              <a:ext uri="{FF2B5EF4-FFF2-40B4-BE49-F238E27FC236}">
                <a16:creationId xmlns:a16="http://schemas.microsoft.com/office/drawing/2014/main" id="{8C1FBCA8-8B41-318C-4380-3A58FCE96E75}"/>
              </a:ext>
            </a:extLst>
          </p:cNvPr>
          <p:cNvSpPr txBox="1"/>
          <p:nvPr/>
        </p:nvSpPr>
        <p:spPr>
          <a:xfrm>
            <a:off x="5432913" y="4193791"/>
            <a:ext cx="675121" cy="369332"/>
          </a:xfrm>
          <a:prstGeom prst="rect">
            <a:avLst/>
          </a:prstGeom>
          <a:noFill/>
        </p:spPr>
        <p:txBody>
          <a:bodyPr wrap="none" rtlCol="0">
            <a:spAutoFit/>
          </a:bodyPr>
          <a:lstStyle/>
          <a:p>
            <a:r>
              <a:rPr lang="en-US" dirty="0">
                <a:solidFill>
                  <a:schemeClr val="accent1"/>
                </a:solidFill>
              </a:rPr>
              <a:t>HTTP</a:t>
            </a:r>
            <a:endParaRPr lang="en-DE" dirty="0">
              <a:solidFill>
                <a:schemeClr val="accent1"/>
              </a:solidFill>
            </a:endParaRPr>
          </a:p>
        </p:txBody>
      </p:sp>
    </p:spTree>
    <p:extLst>
      <p:ext uri="{BB962C8B-B14F-4D97-AF65-F5344CB8AC3E}">
        <p14:creationId xmlns:p14="http://schemas.microsoft.com/office/powerpoint/2010/main" val="170771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900">
        <p159:morph option="byObject"/>
      </p:transition>
    </mc:Choice>
    <mc:Fallback xmlns="">
      <p:transition spd="slow" advTm="29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23204-EB9A-4A45-5D31-A8F80A5727F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08475ED-5B43-04B2-D898-5D156A087011}"/>
              </a:ext>
            </a:extLst>
          </p:cNvPr>
          <p:cNvSpPr txBox="1">
            <a:spLocks/>
          </p:cNvSpPr>
          <p:nvPr/>
        </p:nvSpPr>
        <p:spPr>
          <a:xfrm>
            <a:off x="2198977" y="689330"/>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Protocol Bindings in Practice</a:t>
            </a:r>
            <a:endParaRPr lang="aa-ET" dirty="0">
              <a:solidFill>
                <a:schemeClr val="accent1"/>
              </a:solidFill>
              <a:latin typeface="Century Gothic" panose="020B0502020202020204" pitchFamily="34" charset="0"/>
            </a:endParaRPr>
          </a:p>
        </p:txBody>
      </p:sp>
      <p:sp>
        <p:nvSpPr>
          <p:cNvPr id="15" name="Content Placeholder 2" hidden="1">
            <a:extLst>
              <a:ext uri="{FF2B5EF4-FFF2-40B4-BE49-F238E27FC236}">
                <a16:creationId xmlns:a16="http://schemas.microsoft.com/office/drawing/2014/main" id="{6F959787-8CD9-C068-694C-EA562766C8CE}"/>
              </a:ext>
            </a:extLst>
          </p:cNvPr>
          <p:cNvSpPr txBox="1">
            <a:spLocks/>
          </p:cNvSpPr>
          <p:nvPr/>
        </p:nvSpPr>
        <p:spPr>
          <a:xfrm>
            <a:off x="4668922" y="1941994"/>
            <a:ext cx="2854156" cy="5856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0000"/>
              </a:lnSpc>
              <a:buNone/>
            </a:pPr>
            <a:r>
              <a:rPr lang="en-US" sz="1800" dirty="0">
                <a:latin typeface="Consolas" panose="020B0609020204030204" pitchFamily="49" charset="0"/>
                <a:cs typeface="Consolas" panose="020B0609020204030204" pitchFamily="49" charset="0"/>
              </a:rPr>
              <a:t>"</a:t>
            </a:r>
            <a:r>
              <a:rPr lang="en-US" sz="1800" dirty="0" err="1">
                <a:latin typeface="Consolas" panose="020B0609020204030204" pitchFamily="49" charset="0"/>
                <a:cs typeface="Consolas" panose="020B0609020204030204" pitchFamily="49" charset="0"/>
              </a:rPr>
              <a:t>href</a:t>
            </a:r>
            <a:r>
              <a:rPr lang="en-US" sz="1800" dirty="0">
                <a:latin typeface="Consolas" panose="020B0609020204030204" pitchFamily="49" charset="0"/>
                <a:cs typeface="Consolas" panose="020B0609020204030204" pitchFamily="49" charset="0"/>
              </a:rPr>
              <a:t>": "https://..."</a:t>
            </a:r>
          </a:p>
          <a:p>
            <a:pPr marL="0" indent="0">
              <a:lnSpc>
                <a:spcPct val="70000"/>
              </a:lnSpc>
              <a:buNone/>
            </a:pPr>
            <a:r>
              <a:rPr lang="en-US" sz="1800" dirty="0">
                <a:solidFill>
                  <a:schemeClr val="accent1"/>
                </a:solidFill>
                <a:latin typeface="Consolas" panose="020B0609020204030204" pitchFamily="49" charset="0"/>
                <a:cs typeface="Consolas" panose="020B0609020204030204" pitchFamily="49" charset="0"/>
              </a:rPr>
              <a:t>"op": "</a:t>
            </a:r>
            <a:r>
              <a:rPr lang="en-US" sz="1800" dirty="0" err="1">
                <a:solidFill>
                  <a:schemeClr val="accent1"/>
                </a:solidFill>
                <a:latin typeface="Consolas" panose="020B0609020204030204" pitchFamily="49" charset="0"/>
                <a:cs typeface="Consolas" panose="020B0609020204030204" pitchFamily="49" charset="0"/>
              </a:rPr>
              <a:t>readProperty</a:t>
            </a:r>
            <a:r>
              <a:rPr lang="en-US" sz="1800" dirty="0">
                <a:solidFill>
                  <a:schemeClr val="accent1"/>
                </a:solidFill>
                <a:latin typeface="Consolas" panose="020B0609020204030204" pitchFamily="49" charset="0"/>
                <a:cs typeface="Consolas" panose="020B0609020204030204" pitchFamily="49" charset="0"/>
              </a:rPr>
              <a:t>"</a:t>
            </a:r>
          </a:p>
        </p:txBody>
      </p:sp>
      <p:sp>
        <p:nvSpPr>
          <p:cNvPr id="16" name="TextBox 15" hidden="1">
            <a:extLst>
              <a:ext uri="{FF2B5EF4-FFF2-40B4-BE49-F238E27FC236}">
                <a16:creationId xmlns:a16="http://schemas.microsoft.com/office/drawing/2014/main" id="{6C4A31A0-A397-84E0-6228-505BF17BDBD4}"/>
              </a:ext>
            </a:extLst>
          </p:cNvPr>
          <p:cNvSpPr txBox="1"/>
          <p:nvPr/>
        </p:nvSpPr>
        <p:spPr>
          <a:xfrm>
            <a:off x="5432913" y="4193791"/>
            <a:ext cx="675121" cy="369332"/>
          </a:xfrm>
          <a:prstGeom prst="rect">
            <a:avLst/>
          </a:prstGeom>
          <a:noFill/>
        </p:spPr>
        <p:txBody>
          <a:bodyPr wrap="none" rtlCol="0">
            <a:spAutoFit/>
          </a:bodyPr>
          <a:lstStyle/>
          <a:p>
            <a:r>
              <a:rPr lang="en-US" dirty="0">
                <a:solidFill>
                  <a:schemeClr val="accent1"/>
                </a:solidFill>
              </a:rPr>
              <a:t>HTTP</a:t>
            </a:r>
            <a:endParaRPr lang="en-DE" dirty="0">
              <a:solidFill>
                <a:schemeClr val="accent1"/>
              </a:solidFill>
            </a:endParaRPr>
          </a:p>
        </p:txBody>
      </p:sp>
      <p:grpSp>
        <p:nvGrpSpPr>
          <p:cNvPr id="2" name="Group 1">
            <a:extLst>
              <a:ext uri="{FF2B5EF4-FFF2-40B4-BE49-F238E27FC236}">
                <a16:creationId xmlns:a16="http://schemas.microsoft.com/office/drawing/2014/main" id="{A6036F81-64B0-0713-C56E-AE2E18443BBC}"/>
              </a:ext>
            </a:extLst>
          </p:cNvPr>
          <p:cNvGrpSpPr/>
          <p:nvPr/>
        </p:nvGrpSpPr>
        <p:grpSpPr>
          <a:xfrm>
            <a:off x="1403745" y="3337727"/>
            <a:ext cx="2916766" cy="2827081"/>
            <a:chOff x="8386845" y="932048"/>
            <a:chExt cx="2916766" cy="2827081"/>
          </a:xfrm>
        </p:grpSpPr>
        <p:pic>
          <p:nvPicPr>
            <p:cNvPr id="3" name="Graphic 2" descr="Remote control with solid fill">
              <a:extLst>
                <a:ext uri="{FF2B5EF4-FFF2-40B4-BE49-F238E27FC236}">
                  <a16:creationId xmlns:a16="http://schemas.microsoft.com/office/drawing/2014/main" id="{B35C0E54-F638-C14F-3D5B-F498AF300B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5" name="Graphic 4" descr="Cmd Terminal with solid fill">
              <a:extLst>
                <a:ext uri="{FF2B5EF4-FFF2-40B4-BE49-F238E27FC236}">
                  <a16:creationId xmlns:a16="http://schemas.microsoft.com/office/drawing/2014/main" id="{8567668E-2349-98E2-5A05-D8D2F21DE7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6" name="Graphic 5" descr="Ui Ux with solid fill">
              <a:extLst>
                <a:ext uri="{FF2B5EF4-FFF2-40B4-BE49-F238E27FC236}">
                  <a16:creationId xmlns:a16="http://schemas.microsoft.com/office/drawing/2014/main" id="{5D1F8586-DC6F-179D-C014-81537E71F2B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7" name="TextBox 6">
              <a:extLst>
                <a:ext uri="{FF2B5EF4-FFF2-40B4-BE49-F238E27FC236}">
                  <a16:creationId xmlns:a16="http://schemas.microsoft.com/office/drawing/2014/main" id="{509508AC-7C7B-E417-2A85-96995BE7CE57}"/>
                </a:ext>
              </a:extLst>
            </p:cNvPr>
            <p:cNvSpPr txBox="1"/>
            <p:nvPr/>
          </p:nvSpPr>
          <p:spPr>
            <a:xfrm>
              <a:off x="8386845" y="3174354"/>
              <a:ext cx="2426381"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8" name="Group 7">
            <a:extLst>
              <a:ext uri="{FF2B5EF4-FFF2-40B4-BE49-F238E27FC236}">
                <a16:creationId xmlns:a16="http://schemas.microsoft.com/office/drawing/2014/main" id="{DCCCA3B0-09D2-AB26-6C2D-6A1D6AEDF3B4}"/>
              </a:ext>
            </a:extLst>
          </p:cNvPr>
          <p:cNvGrpSpPr/>
          <p:nvPr/>
        </p:nvGrpSpPr>
        <p:grpSpPr>
          <a:xfrm>
            <a:off x="8361876" y="3209121"/>
            <a:ext cx="2577778" cy="2955687"/>
            <a:chOff x="8634714" y="642551"/>
            <a:chExt cx="2577778" cy="2955687"/>
          </a:xfrm>
        </p:grpSpPr>
        <p:sp>
          <p:nvSpPr>
            <p:cNvPr id="9" name="TextBox 8">
              <a:extLst>
                <a:ext uri="{FF2B5EF4-FFF2-40B4-BE49-F238E27FC236}">
                  <a16:creationId xmlns:a16="http://schemas.microsoft.com/office/drawing/2014/main" id="{D44AD967-9BE4-21E8-93CC-85571E78E2A7}"/>
                </a:ext>
              </a:extLst>
            </p:cNvPr>
            <p:cNvSpPr txBox="1"/>
            <p:nvPr/>
          </p:nvSpPr>
          <p:spPr>
            <a:xfrm>
              <a:off x="8786111" y="3013463"/>
              <a:ext cx="2426381"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0" name="Graphic 9" descr="Thermometer with solid fill">
              <a:extLst>
                <a:ext uri="{FF2B5EF4-FFF2-40B4-BE49-F238E27FC236}">
                  <a16:creationId xmlns:a16="http://schemas.microsoft.com/office/drawing/2014/main" id="{26A78778-B4C2-F927-D44B-9A9F9EAE74E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1" name="Graphic 10" descr="Laptop with solid fill">
              <a:extLst>
                <a:ext uri="{FF2B5EF4-FFF2-40B4-BE49-F238E27FC236}">
                  <a16:creationId xmlns:a16="http://schemas.microsoft.com/office/drawing/2014/main" id="{7B975F56-BFE4-D316-C7C9-6201DFBB535D}"/>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2" name="Graphic 11" descr="Server with solid fill">
              <a:extLst>
                <a:ext uri="{FF2B5EF4-FFF2-40B4-BE49-F238E27FC236}">
                  <a16:creationId xmlns:a16="http://schemas.microsoft.com/office/drawing/2014/main" id="{67E4BC5E-E10E-87DC-B53E-9DF2614BBE7A}"/>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3" name="Graphic 12" descr="Processor with solid fill">
              <a:extLst>
                <a:ext uri="{FF2B5EF4-FFF2-40B4-BE49-F238E27FC236}">
                  <a16:creationId xmlns:a16="http://schemas.microsoft.com/office/drawing/2014/main" id="{488393EB-A792-9518-CD5B-A56B3257ACB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23" name="Content Placeholder 2">
            <a:extLst>
              <a:ext uri="{FF2B5EF4-FFF2-40B4-BE49-F238E27FC236}">
                <a16:creationId xmlns:a16="http://schemas.microsoft.com/office/drawing/2014/main" id="{920018F2-F7FB-3336-FD06-BC2B59100094}"/>
              </a:ext>
            </a:extLst>
          </p:cNvPr>
          <p:cNvSpPr txBox="1">
            <a:spLocks/>
          </p:cNvSpPr>
          <p:nvPr/>
        </p:nvSpPr>
        <p:spPr>
          <a:xfrm>
            <a:off x="1991435" y="3084227"/>
            <a:ext cx="1365168" cy="3526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buFont typeface="Wingdings" panose="05000000000000000000" pitchFamily="2" charset="2"/>
              <a:buChar char="ü"/>
            </a:pPr>
            <a:r>
              <a:rPr lang="en-US" sz="2400" dirty="0">
                <a:solidFill>
                  <a:schemeClr val="accent6"/>
                </a:solidFill>
                <a:latin typeface="Consolas" panose="020B0609020204030204" pitchFamily="49" charset="0"/>
                <a:cs typeface="Consolas" panose="020B0609020204030204" pitchFamily="49" charset="0"/>
              </a:rPr>
              <a:t> HTTP</a:t>
            </a:r>
          </a:p>
        </p:txBody>
      </p:sp>
      <p:grpSp>
        <p:nvGrpSpPr>
          <p:cNvPr id="18" name="Group 17">
            <a:extLst>
              <a:ext uri="{FF2B5EF4-FFF2-40B4-BE49-F238E27FC236}">
                <a16:creationId xmlns:a16="http://schemas.microsoft.com/office/drawing/2014/main" id="{10834224-927A-D326-9D3A-860A01CE2647}"/>
              </a:ext>
            </a:extLst>
          </p:cNvPr>
          <p:cNvGrpSpPr/>
          <p:nvPr/>
        </p:nvGrpSpPr>
        <p:grpSpPr>
          <a:xfrm>
            <a:off x="5231184" y="3485576"/>
            <a:ext cx="2032614" cy="2032614"/>
            <a:chOff x="9792033" y="3821823"/>
            <a:chExt cx="962125" cy="962125"/>
          </a:xfrm>
        </p:grpSpPr>
        <p:sp>
          <p:nvSpPr>
            <p:cNvPr id="19" name="Rectangle 18">
              <a:extLst>
                <a:ext uri="{FF2B5EF4-FFF2-40B4-BE49-F238E27FC236}">
                  <a16:creationId xmlns:a16="http://schemas.microsoft.com/office/drawing/2014/main" id="{3CFC1CA9-FD54-A534-3671-5DDCDDFEC6EB}"/>
                </a:ext>
              </a:extLst>
            </p:cNvPr>
            <p:cNvSpPr/>
            <p:nvPr/>
          </p:nvSpPr>
          <p:spPr>
            <a:xfrm>
              <a:off x="10000536" y="3906156"/>
              <a:ext cx="647757" cy="737303"/>
            </a:xfrm>
            <a:prstGeom prst="rect">
              <a:avLst/>
            </a:prstGeom>
            <a:solidFill>
              <a:schemeClr val="accent3">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5FCC43AE-4599-6EE6-69CA-C114800CD1A0}"/>
                </a:ext>
              </a:extLst>
            </p:cNvPr>
            <p:cNvGrpSpPr/>
            <p:nvPr/>
          </p:nvGrpSpPr>
          <p:grpSpPr>
            <a:xfrm>
              <a:off x="9792033" y="3821823"/>
              <a:ext cx="962125" cy="962125"/>
              <a:chOff x="4300668" y="-1299739"/>
              <a:chExt cx="2827861" cy="2827862"/>
            </a:xfrm>
          </p:grpSpPr>
          <p:pic>
            <p:nvPicPr>
              <p:cNvPr id="21" name="Graphic 20" descr="Paper outline">
                <a:extLst>
                  <a:ext uri="{FF2B5EF4-FFF2-40B4-BE49-F238E27FC236}">
                    <a16:creationId xmlns:a16="http://schemas.microsoft.com/office/drawing/2014/main" id="{25F86206-5D1B-104B-60B5-AA54FAF458E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300668" y="-1299739"/>
                <a:ext cx="2827861" cy="2827862"/>
              </a:xfrm>
              <a:prstGeom prst="rect">
                <a:avLst/>
              </a:prstGeom>
            </p:spPr>
          </p:pic>
          <p:pic>
            <p:nvPicPr>
              <p:cNvPr id="22" name="Picture 21" descr="Logo&#10;&#10;Description automatically generated">
                <a:extLst>
                  <a:ext uri="{FF2B5EF4-FFF2-40B4-BE49-F238E27FC236}">
                    <a16:creationId xmlns:a16="http://schemas.microsoft.com/office/drawing/2014/main" id="{FA16A8C3-B18C-943D-D147-2680C9FAEF5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948340" y="-951731"/>
                <a:ext cx="921590" cy="555788"/>
              </a:xfrm>
              <a:prstGeom prst="rect">
                <a:avLst/>
              </a:prstGeom>
            </p:spPr>
          </p:pic>
        </p:grpSp>
      </p:grpSp>
      <p:sp>
        <p:nvSpPr>
          <p:cNvPr id="24" name="Content Placeholder 2">
            <a:extLst>
              <a:ext uri="{FF2B5EF4-FFF2-40B4-BE49-F238E27FC236}">
                <a16:creationId xmlns:a16="http://schemas.microsoft.com/office/drawing/2014/main" id="{6979231F-2421-C708-B7D0-EB92F4C1C308}"/>
              </a:ext>
            </a:extLst>
          </p:cNvPr>
          <p:cNvSpPr txBox="1">
            <a:spLocks/>
          </p:cNvSpPr>
          <p:nvPr/>
        </p:nvSpPr>
        <p:spPr>
          <a:xfrm>
            <a:off x="5898630" y="4251119"/>
            <a:ext cx="726759" cy="3526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0000"/>
              </a:lnSpc>
              <a:buNone/>
            </a:pPr>
            <a:r>
              <a:rPr lang="en-US" sz="1800" dirty="0">
                <a:solidFill>
                  <a:schemeClr val="accent2"/>
                </a:solidFill>
                <a:latin typeface="Consolas" panose="020B0609020204030204" pitchFamily="49" charset="0"/>
                <a:cs typeface="Consolas" panose="020B0609020204030204" pitchFamily="49" charset="0"/>
              </a:rPr>
              <a:t>HTTP</a:t>
            </a:r>
          </a:p>
          <a:p>
            <a:pPr marL="0" indent="0">
              <a:lnSpc>
                <a:spcPct val="70000"/>
              </a:lnSpc>
              <a:buNone/>
            </a:pPr>
            <a:r>
              <a:rPr lang="en-US" sz="1800" dirty="0">
                <a:solidFill>
                  <a:schemeClr val="accent2"/>
                </a:solidFill>
                <a:latin typeface="Consolas" panose="020B0609020204030204" pitchFamily="49" charset="0"/>
                <a:cs typeface="Consolas" panose="020B0609020204030204" pitchFamily="49" charset="0"/>
              </a:rPr>
              <a:t>CoAP</a:t>
            </a:r>
          </a:p>
          <a:p>
            <a:pPr marL="0" indent="0">
              <a:lnSpc>
                <a:spcPct val="70000"/>
              </a:lnSpc>
              <a:buNone/>
            </a:pPr>
            <a:r>
              <a:rPr lang="en-US" sz="1800" dirty="0">
                <a:solidFill>
                  <a:schemeClr val="accent2"/>
                </a:solidFill>
                <a:latin typeface="Consolas" panose="020B0609020204030204" pitchFamily="49" charset="0"/>
                <a:cs typeface="Consolas" panose="020B0609020204030204" pitchFamily="49" charset="0"/>
              </a:rPr>
              <a:t>MQTT</a:t>
            </a:r>
          </a:p>
        </p:txBody>
      </p:sp>
      <p:cxnSp>
        <p:nvCxnSpPr>
          <p:cNvPr id="26" name="Straight Arrow Connector 25">
            <a:extLst>
              <a:ext uri="{FF2B5EF4-FFF2-40B4-BE49-F238E27FC236}">
                <a16:creationId xmlns:a16="http://schemas.microsoft.com/office/drawing/2014/main" id="{4209DEFF-2916-3714-5BDD-6AF96976BC7D}"/>
              </a:ext>
            </a:extLst>
          </p:cNvPr>
          <p:cNvCxnSpPr>
            <a:cxnSpLocks/>
          </p:cNvCxnSpPr>
          <p:nvPr/>
        </p:nvCxnSpPr>
        <p:spPr>
          <a:xfrm>
            <a:off x="4224914" y="4572175"/>
            <a:ext cx="100627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3617768"/>
      </p:ext>
    </p:extLst>
  </p:cSld>
  <p:clrMapOvr>
    <a:masterClrMapping/>
  </p:clrMapOvr>
  <mc:AlternateContent xmlns:mc="http://schemas.openxmlformats.org/markup-compatibility/2006" xmlns:p159="http://schemas.microsoft.com/office/powerpoint/2015/09/main">
    <mc:Choice Requires="p159">
      <p:transition spd="slow" advTm="10000">
        <p159:morph option="byObject"/>
      </p:transition>
    </mc:Choice>
    <mc:Fallback xmlns="">
      <p:transition spd="slow" advTm="1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800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par>
                          <p:cTn id="8" fill="hold">
                            <p:stCondLst>
                              <p:cond delay="8500"/>
                            </p:stCondLst>
                            <p:childTnLst>
                              <p:par>
                                <p:cTn id="9" presetID="22" presetClass="entr" presetSubtype="8"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left)">
                                      <p:cBhvr>
                                        <p:cTn id="11" dur="500"/>
                                        <p:tgtEl>
                                          <p:spTgt spid="26"/>
                                        </p:tgtEl>
                                      </p:cBhvr>
                                    </p:animEffect>
                                  </p:childTnLst>
                                </p:cTn>
                              </p:par>
                            </p:childTnLst>
                          </p:cTn>
                        </p:par>
                        <p:par>
                          <p:cTn id="12" fill="hold">
                            <p:stCondLst>
                              <p:cond delay="9000"/>
                            </p:stCondLst>
                            <p:childTnLst>
                              <p:par>
                                <p:cTn id="13" presetID="22" presetClass="exit" presetSubtype="8" fill="hold" nodeType="afterEffect">
                                  <p:stCondLst>
                                    <p:cond delay="0"/>
                                  </p:stCondLst>
                                  <p:childTnLst>
                                    <p:animEffect transition="out" filter="wipe(left)">
                                      <p:cBhvr>
                                        <p:cTn id="14" dur="500"/>
                                        <p:tgtEl>
                                          <p:spTgt spid="26"/>
                                        </p:tgtEl>
                                      </p:cBhvr>
                                    </p:animEffect>
                                    <p:set>
                                      <p:cBhvr>
                                        <p:cTn id="15" dur="1" fill="hold">
                                          <p:stCondLst>
                                            <p:cond delay="499"/>
                                          </p:stCondLst>
                                        </p:cTn>
                                        <p:tgtEl>
                                          <p:spTgt spid="26"/>
                                        </p:tgtEl>
                                        <p:attrNameLst>
                                          <p:attrName>style.visibility</p:attrName>
                                        </p:attrNameLst>
                                      </p:cBhvr>
                                      <p:to>
                                        <p:strVal val="hidden"/>
                                      </p:to>
                                    </p:set>
                                  </p:childTnLst>
                                </p:cTn>
                              </p:par>
                            </p:childTnLst>
                          </p:cTn>
                        </p:par>
                        <p:par>
                          <p:cTn id="16" fill="hold">
                            <p:stCondLst>
                              <p:cond delay="9500"/>
                            </p:stCondLst>
                            <p:childTnLst>
                              <p:par>
                                <p:cTn id="17" presetID="22" presetClass="entr" presetSubtype="8" fill="hold" grpId="0" nodeType="afterEffect">
                                  <p:stCondLst>
                                    <p:cond delay="0"/>
                                  </p:stCondLst>
                                  <p:childTnLst>
                                    <p:set>
                                      <p:cBhvr>
                                        <p:cTn id="18" dur="1" fill="hold">
                                          <p:stCondLst>
                                            <p:cond delay="0"/>
                                          </p:stCondLst>
                                        </p:cTn>
                                        <p:tgtEl>
                                          <p:spTgt spid="24">
                                            <p:txEl>
                                              <p:pRg st="0" end="0"/>
                                            </p:txEl>
                                          </p:spTgt>
                                        </p:tgtEl>
                                        <p:attrNameLst>
                                          <p:attrName>style.visibility</p:attrName>
                                        </p:attrNameLst>
                                      </p:cBhvr>
                                      <p:to>
                                        <p:strVal val="visible"/>
                                      </p:to>
                                    </p:set>
                                    <p:animEffect transition="in" filter="wipe(left)">
                                      <p:cBhvr>
                                        <p:cTn id="19" dur="100"/>
                                        <p:tgtEl>
                                          <p:spTgt spid="24">
                                            <p:txEl>
                                              <p:pRg st="0" end="0"/>
                                            </p:txEl>
                                          </p:spTgt>
                                        </p:tgtEl>
                                      </p:cBhvr>
                                    </p:animEffect>
                                  </p:childTnLst>
                                </p:cTn>
                              </p:par>
                            </p:childTnLst>
                          </p:cTn>
                        </p:par>
                        <p:par>
                          <p:cTn id="20" fill="hold">
                            <p:stCondLst>
                              <p:cond delay="9600"/>
                            </p:stCondLst>
                            <p:childTnLst>
                              <p:par>
                                <p:cTn id="21" presetID="22" presetClass="entr" presetSubtype="8" fill="hold" grpId="0" nodeType="afterEffect">
                                  <p:stCondLst>
                                    <p:cond delay="0"/>
                                  </p:stCondLst>
                                  <p:childTnLst>
                                    <p:set>
                                      <p:cBhvr>
                                        <p:cTn id="22" dur="1" fill="hold">
                                          <p:stCondLst>
                                            <p:cond delay="0"/>
                                          </p:stCondLst>
                                        </p:cTn>
                                        <p:tgtEl>
                                          <p:spTgt spid="24">
                                            <p:txEl>
                                              <p:pRg st="1" end="1"/>
                                            </p:txEl>
                                          </p:spTgt>
                                        </p:tgtEl>
                                        <p:attrNameLst>
                                          <p:attrName>style.visibility</p:attrName>
                                        </p:attrNameLst>
                                      </p:cBhvr>
                                      <p:to>
                                        <p:strVal val="visible"/>
                                      </p:to>
                                    </p:set>
                                    <p:animEffect transition="in" filter="wipe(left)">
                                      <p:cBhvr>
                                        <p:cTn id="23" dur="100"/>
                                        <p:tgtEl>
                                          <p:spTgt spid="24">
                                            <p:txEl>
                                              <p:pRg st="1" end="1"/>
                                            </p:txEl>
                                          </p:spTgt>
                                        </p:tgtEl>
                                      </p:cBhvr>
                                    </p:animEffect>
                                  </p:childTnLst>
                                </p:cTn>
                              </p:par>
                            </p:childTnLst>
                          </p:cTn>
                        </p:par>
                        <p:par>
                          <p:cTn id="24" fill="hold">
                            <p:stCondLst>
                              <p:cond delay="9700"/>
                            </p:stCondLst>
                            <p:childTnLst>
                              <p:par>
                                <p:cTn id="25" presetID="22" presetClass="entr" presetSubtype="8" fill="hold" grpId="0" nodeType="afterEffect">
                                  <p:stCondLst>
                                    <p:cond delay="0"/>
                                  </p:stCondLst>
                                  <p:childTnLst>
                                    <p:set>
                                      <p:cBhvr>
                                        <p:cTn id="26" dur="1" fill="hold">
                                          <p:stCondLst>
                                            <p:cond delay="0"/>
                                          </p:stCondLst>
                                        </p:cTn>
                                        <p:tgtEl>
                                          <p:spTgt spid="24">
                                            <p:txEl>
                                              <p:pRg st="2" end="2"/>
                                            </p:txEl>
                                          </p:spTgt>
                                        </p:tgtEl>
                                        <p:attrNameLst>
                                          <p:attrName>style.visibility</p:attrName>
                                        </p:attrNameLst>
                                      </p:cBhvr>
                                      <p:to>
                                        <p:strVal val="visible"/>
                                      </p:to>
                                    </p:set>
                                    <p:animEffect transition="in" filter="wipe(left)">
                                      <p:cBhvr>
                                        <p:cTn id="27" dur="100"/>
                                        <p:tgtEl>
                                          <p:spTgt spid="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FFDA9-070D-6C30-57FD-70E1B543BE8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9B90676-06FB-9039-298B-59194D8AF21F}"/>
              </a:ext>
            </a:extLst>
          </p:cNvPr>
          <p:cNvSpPr txBox="1">
            <a:spLocks/>
          </p:cNvSpPr>
          <p:nvPr/>
        </p:nvSpPr>
        <p:spPr>
          <a:xfrm>
            <a:off x="2198977" y="689330"/>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Protocol Bindings in Practice</a:t>
            </a:r>
            <a:endParaRPr lang="aa-ET" dirty="0">
              <a:solidFill>
                <a:schemeClr val="accent1"/>
              </a:solidFill>
              <a:latin typeface="Century Gothic" panose="020B0502020202020204" pitchFamily="34" charset="0"/>
            </a:endParaRPr>
          </a:p>
        </p:txBody>
      </p:sp>
      <p:sp>
        <p:nvSpPr>
          <p:cNvPr id="15" name="Content Placeholder 2" hidden="1">
            <a:extLst>
              <a:ext uri="{FF2B5EF4-FFF2-40B4-BE49-F238E27FC236}">
                <a16:creationId xmlns:a16="http://schemas.microsoft.com/office/drawing/2014/main" id="{05EF1549-CAFE-B478-CA1F-A87A07B60AC9}"/>
              </a:ext>
            </a:extLst>
          </p:cNvPr>
          <p:cNvSpPr txBox="1">
            <a:spLocks/>
          </p:cNvSpPr>
          <p:nvPr/>
        </p:nvSpPr>
        <p:spPr>
          <a:xfrm>
            <a:off x="4668922" y="1941994"/>
            <a:ext cx="2854156" cy="5856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0000"/>
              </a:lnSpc>
              <a:buNone/>
            </a:pPr>
            <a:r>
              <a:rPr lang="en-US" sz="1800" dirty="0">
                <a:latin typeface="Consolas" panose="020B0609020204030204" pitchFamily="49" charset="0"/>
                <a:cs typeface="Consolas" panose="020B0609020204030204" pitchFamily="49" charset="0"/>
              </a:rPr>
              <a:t>"</a:t>
            </a:r>
            <a:r>
              <a:rPr lang="en-US" sz="1800" dirty="0" err="1">
                <a:latin typeface="Consolas" panose="020B0609020204030204" pitchFamily="49" charset="0"/>
                <a:cs typeface="Consolas" panose="020B0609020204030204" pitchFamily="49" charset="0"/>
              </a:rPr>
              <a:t>href</a:t>
            </a:r>
            <a:r>
              <a:rPr lang="en-US" sz="1800" dirty="0">
                <a:latin typeface="Consolas" panose="020B0609020204030204" pitchFamily="49" charset="0"/>
                <a:cs typeface="Consolas" panose="020B0609020204030204" pitchFamily="49" charset="0"/>
              </a:rPr>
              <a:t>": "https://..."</a:t>
            </a:r>
          </a:p>
          <a:p>
            <a:pPr marL="0" indent="0">
              <a:lnSpc>
                <a:spcPct val="70000"/>
              </a:lnSpc>
              <a:buNone/>
            </a:pPr>
            <a:r>
              <a:rPr lang="en-US" sz="1800" dirty="0">
                <a:solidFill>
                  <a:schemeClr val="accent1"/>
                </a:solidFill>
                <a:latin typeface="Consolas" panose="020B0609020204030204" pitchFamily="49" charset="0"/>
                <a:cs typeface="Consolas" panose="020B0609020204030204" pitchFamily="49" charset="0"/>
              </a:rPr>
              <a:t>"op": "</a:t>
            </a:r>
            <a:r>
              <a:rPr lang="en-US" sz="1800" dirty="0" err="1">
                <a:solidFill>
                  <a:schemeClr val="accent1"/>
                </a:solidFill>
                <a:latin typeface="Consolas" panose="020B0609020204030204" pitchFamily="49" charset="0"/>
                <a:cs typeface="Consolas" panose="020B0609020204030204" pitchFamily="49" charset="0"/>
              </a:rPr>
              <a:t>readProperty</a:t>
            </a:r>
            <a:r>
              <a:rPr lang="en-US" sz="1800" dirty="0">
                <a:solidFill>
                  <a:schemeClr val="accent1"/>
                </a:solidFill>
                <a:latin typeface="Consolas" panose="020B0609020204030204" pitchFamily="49" charset="0"/>
                <a:cs typeface="Consolas" panose="020B0609020204030204" pitchFamily="49" charset="0"/>
              </a:rPr>
              <a:t>"</a:t>
            </a:r>
          </a:p>
        </p:txBody>
      </p:sp>
      <p:sp>
        <p:nvSpPr>
          <p:cNvPr id="16" name="TextBox 15" hidden="1">
            <a:extLst>
              <a:ext uri="{FF2B5EF4-FFF2-40B4-BE49-F238E27FC236}">
                <a16:creationId xmlns:a16="http://schemas.microsoft.com/office/drawing/2014/main" id="{7B6B0F7B-7A51-389B-A80F-63A3C5B0C1B2}"/>
              </a:ext>
            </a:extLst>
          </p:cNvPr>
          <p:cNvSpPr txBox="1"/>
          <p:nvPr/>
        </p:nvSpPr>
        <p:spPr>
          <a:xfrm>
            <a:off x="5432913" y="4193791"/>
            <a:ext cx="675121" cy="369332"/>
          </a:xfrm>
          <a:prstGeom prst="rect">
            <a:avLst/>
          </a:prstGeom>
          <a:noFill/>
        </p:spPr>
        <p:txBody>
          <a:bodyPr wrap="none" rtlCol="0">
            <a:spAutoFit/>
          </a:bodyPr>
          <a:lstStyle/>
          <a:p>
            <a:r>
              <a:rPr lang="en-US" dirty="0">
                <a:solidFill>
                  <a:schemeClr val="accent1"/>
                </a:solidFill>
              </a:rPr>
              <a:t>HTTP</a:t>
            </a:r>
            <a:endParaRPr lang="en-DE" dirty="0">
              <a:solidFill>
                <a:schemeClr val="accent1"/>
              </a:solidFill>
            </a:endParaRPr>
          </a:p>
        </p:txBody>
      </p:sp>
      <p:grpSp>
        <p:nvGrpSpPr>
          <p:cNvPr id="2" name="Group 1">
            <a:extLst>
              <a:ext uri="{FF2B5EF4-FFF2-40B4-BE49-F238E27FC236}">
                <a16:creationId xmlns:a16="http://schemas.microsoft.com/office/drawing/2014/main" id="{84D3746D-E90F-37BC-A8DC-4DE4477D13D3}"/>
              </a:ext>
            </a:extLst>
          </p:cNvPr>
          <p:cNvGrpSpPr/>
          <p:nvPr/>
        </p:nvGrpSpPr>
        <p:grpSpPr>
          <a:xfrm>
            <a:off x="1403745" y="3337727"/>
            <a:ext cx="2916766" cy="2827081"/>
            <a:chOff x="8386845" y="932048"/>
            <a:chExt cx="2916766" cy="2827081"/>
          </a:xfrm>
        </p:grpSpPr>
        <p:pic>
          <p:nvPicPr>
            <p:cNvPr id="3" name="Graphic 2" descr="Remote control with solid fill">
              <a:extLst>
                <a:ext uri="{FF2B5EF4-FFF2-40B4-BE49-F238E27FC236}">
                  <a16:creationId xmlns:a16="http://schemas.microsoft.com/office/drawing/2014/main" id="{95674D36-38A6-38E7-506B-7452B74FE3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5" name="Graphic 4" descr="Cmd Terminal with solid fill">
              <a:extLst>
                <a:ext uri="{FF2B5EF4-FFF2-40B4-BE49-F238E27FC236}">
                  <a16:creationId xmlns:a16="http://schemas.microsoft.com/office/drawing/2014/main" id="{187BB304-563D-EF6F-067B-AC3FB76FCA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6" name="Graphic 5" descr="Ui Ux with solid fill">
              <a:extLst>
                <a:ext uri="{FF2B5EF4-FFF2-40B4-BE49-F238E27FC236}">
                  <a16:creationId xmlns:a16="http://schemas.microsoft.com/office/drawing/2014/main" id="{8E605AEC-E0E2-1189-CF5E-96E01247823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7" name="TextBox 6">
              <a:extLst>
                <a:ext uri="{FF2B5EF4-FFF2-40B4-BE49-F238E27FC236}">
                  <a16:creationId xmlns:a16="http://schemas.microsoft.com/office/drawing/2014/main" id="{9892C060-BCEC-9044-5AA2-D8EE7201C1F2}"/>
                </a:ext>
              </a:extLst>
            </p:cNvPr>
            <p:cNvSpPr txBox="1"/>
            <p:nvPr/>
          </p:nvSpPr>
          <p:spPr>
            <a:xfrm>
              <a:off x="8386845" y="3174354"/>
              <a:ext cx="2426381"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8" name="Group 7">
            <a:extLst>
              <a:ext uri="{FF2B5EF4-FFF2-40B4-BE49-F238E27FC236}">
                <a16:creationId xmlns:a16="http://schemas.microsoft.com/office/drawing/2014/main" id="{EFA9359A-5DDB-F959-7830-30E5F747A3DC}"/>
              </a:ext>
            </a:extLst>
          </p:cNvPr>
          <p:cNvGrpSpPr/>
          <p:nvPr/>
        </p:nvGrpSpPr>
        <p:grpSpPr>
          <a:xfrm>
            <a:off x="8361876" y="3209121"/>
            <a:ext cx="2577778" cy="2955687"/>
            <a:chOff x="8634714" y="642551"/>
            <a:chExt cx="2577778" cy="2955687"/>
          </a:xfrm>
        </p:grpSpPr>
        <p:sp>
          <p:nvSpPr>
            <p:cNvPr id="9" name="TextBox 8">
              <a:extLst>
                <a:ext uri="{FF2B5EF4-FFF2-40B4-BE49-F238E27FC236}">
                  <a16:creationId xmlns:a16="http://schemas.microsoft.com/office/drawing/2014/main" id="{1ED4795B-68E5-0D34-0D6A-6879DE769507}"/>
                </a:ext>
              </a:extLst>
            </p:cNvPr>
            <p:cNvSpPr txBox="1"/>
            <p:nvPr/>
          </p:nvSpPr>
          <p:spPr>
            <a:xfrm>
              <a:off x="8786111" y="3013463"/>
              <a:ext cx="2426381"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0" name="Graphic 9" descr="Thermometer with solid fill">
              <a:extLst>
                <a:ext uri="{FF2B5EF4-FFF2-40B4-BE49-F238E27FC236}">
                  <a16:creationId xmlns:a16="http://schemas.microsoft.com/office/drawing/2014/main" id="{BC336CB9-B0E5-BB11-C985-D5070D5987C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1" name="Graphic 10" descr="Laptop with solid fill">
              <a:extLst>
                <a:ext uri="{FF2B5EF4-FFF2-40B4-BE49-F238E27FC236}">
                  <a16:creationId xmlns:a16="http://schemas.microsoft.com/office/drawing/2014/main" id="{24DFD35C-AA66-DE17-CEEC-C4220D04B405}"/>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2" name="Graphic 11" descr="Server with solid fill">
              <a:extLst>
                <a:ext uri="{FF2B5EF4-FFF2-40B4-BE49-F238E27FC236}">
                  <a16:creationId xmlns:a16="http://schemas.microsoft.com/office/drawing/2014/main" id="{C7923F01-A0AD-6389-611F-85F086A043CB}"/>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3" name="Graphic 12" descr="Processor with solid fill">
              <a:extLst>
                <a:ext uri="{FF2B5EF4-FFF2-40B4-BE49-F238E27FC236}">
                  <a16:creationId xmlns:a16="http://schemas.microsoft.com/office/drawing/2014/main" id="{3919E0B5-7A79-6968-04ED-308CE776CC2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23" name="Content Placeholder 2">
            <a:extLst>
              <a:ext uri="{FF2B5EF4-FFF2-40B4-BE49-F238E27FC236}">
                <a16:creationId xmlns:a16="http://schemas.microsoft.com/office/drawing/2014/main" id="{BB0EF4E4-9D4E-8D4E-8F15-BD1936D6D52F}"/>
              </a:ext>
            </a:extLst>
          </p:cNvPr>
          <p:cNvSpPr txBox="1">
            <a:spLocks/>
          </p:cNvSpPr>
          <p:nvPr/>
        </p:nvSpPr>
        <p:spPr>
          <a:xfrm>
            <a:off x="1991435" y="3084227"/>
            <a:ext cx="1365168" cy="3526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buFont typeface="Wingdings" panose="05000000000000000000" pitchFamily="2" charset="2"/>
              <a:buChar char="ü"/>
            </a:pPr>
            <a:r>
              <a:rPr lang="en-US" sz="2400" dirty="0">
                <a:solidFill>
                  <a:schemeClr val="accent6"/>
                </a:solidFill>
                <a:latin typeface="Consolas" panose="020B0609020204030204" pitchFamily="49" charset="0"/>
                <a:cs typeface="Consolas" panose="020B0609020204030204" pitchFamily="49" charset="0"/>
              </a:rPr>
              <a:t> HTTP</a:t>
            </a:r>
          </a:p>
        </p:txBody>
      </p:sp>
      <p:grpSp>
        <p:nvGrpSpPr>
          <p:cNvPr id="18" name="Group 17">
            <a:extLst>
              <a:ext uri="{FF2B5EF4-FFF2-40B4-BE49-F238E27FC236}">
                <a16:creationId xmlns:a16="http://schemas.microsoft.com/office/drawing/2014/main" id="{21B9111F-8DB9-4D23-2906-503BD792DADF}"/>
              </a:ext>
            </a:extLst>
          </p:cNvPr>
          <p:cNvGrpSpPr/>
          <p:nvPr/>
        </p:nvGrpSpPr>
        <p:grpSpPr>
          <a:xfrm>
            <a:off x="5231184" y="3485576"/>
            <a:ext cx="2032614" cy="2032614"/>
            <a:chOff x="9792033" y="3821823"/>
            <a:chExt cx="962125" cy="962125"/>
          </a:xfrm>
        </p:grpSpPr>
        <p:sp>
          <p:nvSpPr>
            <p:cNvPr id="19" name="Rectangle 18">
              <a:extLst>
                <a:ext uri="{FF2B5EF4-FFF2-40B4-BE49-F238E27FC236}">
                  <a16:creationId xmlns:a16="http://schemas.microsoft.com/office/drawing/2014/main" id="{1027D2F5-F7E4-AEA0-70D9-01095AF65F6D}"/>
                </a:ext>
              </a:extLst>
            </p:cNvPr>
            <p:cNvSpPr/>
            <p:nvPr/>
          </p:nvSpPr>
          <p:spPr>
            <a:xfrm>
              <a:off x="10000536" y="3906156"/>
              <a:ext cx="647757" cy="737303"/>
            </a:xfrm>
            <a:prstGeom prst="rect">
              <a:avLst/>
            </a:prstGeom>
            <a:solidFill>
              <a:schemeClr val="accent3">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9F84AD71-F478-0843-6FE7-57AC6733DDE5}"/>
                </a:ext>
              </a:extLst>
            </p:cNvPr>
            <p:cNvGrpSpPr/>
            <p:nvPr/>
          </p:nvGrpSpPr>
          <p:grpSpPr>
            <a:xfrm>
              <a:off x="9792033" y="3821823"/>
              <a:ext cx="962125" cy="962125"/>
              <a:chOff x="4300668" y="-1299739"/>
              <a:chExt cx="2827861" cy="2827862"/>
            </a:xfrm>
          </p:grpSpPr>
          <p:pic>
            <p:nvPicPr>
              <p:cNvPr id="21" name="Graphic 20" descr="Paper outline">
                <a:extLst>
                  <a:ext uri="{FF2B5EF4-FFF2-40B4-BE49-F238E27FC236}">
                    <a16:creationId xmlns:a16="http://schemas.microsoft.com/office/drawing/2014/main" id="{3282C866-2C7B-7320-AB61-CFBA95C7C3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300668" y="-1299739"/>
                <a:ext cx="2827861" cy="2827862"/>
              </a:xfrm>
              <a:prstGeom prst="rect">
                <a:avLst/>
              </a:prstGeom>
            </p:spPr>
          </p:pic>
          <p:pic>
            <p:nvPicPr>
              <p:cNvPr id="22" name="Picture 21" descr="Logo&#10;&#10;Description automatically generated">
                <a:extLst>
                  <a:ext uri="{FF2B5EF4-FFF2-40B4-BE49-F238E27FC236}">
                    <a16:creationId xmlns:a16="http://schemas.microsoft.com/office/drawing/2014/main" id="{10083A77-CF32-1715-BB87-CDC8E6D64CA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948340" y="-951731"/>
                <a:ext cx="921590" cy="555788"/>
              </a:xfrm>
              <a:prstGeom prst="rect">
                <a:avLst/>
              </a:prstGeom>
            </p:spPr>
          </p:pic>
        </p:grpSp>
      </p:grpSp>
      <p:sp>
        <p:nvSpPr>
          <p:cNvPr id="24" name="Content Placeholder 2">
            <a:extLst>
              <a:ext uri="{FF2B5EF4-FFF2-40B4-BE49-F238E27FC236}">
                <a16:creationId xmlns:a16="http://schemas.microsoft.com/office/drawing/2014/main" id="{6A9FE60A-DA1C-3C34-6229-C3FBB2E43387}"/>
              </a:ext>
            </a:extLst>
          </p:cNvPr>
          <p:cNvSpPr txBox="1">
            <a:spLocks/>
          </p:cNvSpPr>
          <p:nvPr/>
        </p:nvSpPr>
        <p:spPr>
          <a:xfrm>
            <a:off x="5898630" y="4251119"/>
            <a:ext cx="1365168" cy="3526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0000"/>
              </a:lnSpc>
              <a:buNone/>
            </a:pPr>
            <a:r>
              <a:rPr lang="en-US" sz="1800" dirty="0">
                <a:solidFill>
                  <a:schemeClr val="accent6"/>
                </a:solidFill>
                <a:latin typeface="Consolas" panose="020B0609020204030204" pitchFamily="49" charset="0"/>
                <a:cs typeface="Consolas" panose="020B0609020204030204" pitchFamily="49" charset="0"/>
              </a:rPr>
              <a:t>HTTP</a:t>
            </a:r>
          </a:p>
          <a:p>
            <a:pPr marL="0" indent="0">
              <a:lnSpc>
                <a:spcPct val="70000"/>
              </a:lnSpc>
              <a:buNone/>
            </a:pPr>
            <a:r>
              <a:rPr lang="en-US" sz="1800" dirty="0">
                <a:solidFill>
                  <a:schemeClr val="accent3">
                    <a:lumMod val="75000"/>
                  </a:schemeClr>
                </a:solidFill>
                <a:latin typeface="Consolas" panose="020B0609020204030204" pitchFamily="49" charset="0"/>
                <a:cs typeface="Consolas" panose="020B0609020204030204" pitchFamily="49" charset="0"/>
              </a:rPr>
              <a:t>CoAP</a:t>
            </a:r>
          </a:p>
          <a:p>
            <a:pPr marL="0" indent="0">
              <a:lnSpc>
                <a:spcPct val="70000"/>
              </a:lnSpc>
              <a:buNone/>
            </a:pPr>
            <a:r>
              <a:rPr lang="en-US" sz="1800" dirty="0">
                <a:solidFill>
                  <a:schemeClr val="accent3">
                    <a:lumMod val="75000"/>
                  </a:schemeClr>
                </a:solidFill>
                <a:latin typeface="Consolas" panose="020B0609020204030204" pitchFamily="49" charset="0"/>
                <a:cs typeface="Consolas" panose="020B0609020204030204" pitchFamily="49" charset="0"/>
              </a:rPr>
              <a:t>MQTT</a:t>
            </a:r>
          </a:p>
        </p:txBody>
      </p:sp>
      <p:cxnSp>
        <p:nvCxnSpPr>
          <p:cNvPr id="25" name="Straight Arrow Connector 24">
            <a:extLst>
              <a:ext uri="{FF2B5EF4-FFF2-40B4-BE49-F238E27FC236}">
                <a16:creationId xmlns:a16="http://schemas.microsoft.com/office/drawing/2014/main" id="{91F82FF5-7849-0D2F-B7E9-4F5D3FFABFC6}"/>
              </a:ext>
            </a:extLst>
          </p:cNvPr>
          <p:cNvCxnSpPr>
            <a:cxnSpLocks/>
          </p:cNvCxnSpPr>
          <p:nvPr/>
        </p:nvCxnSpPr>
        <p:spPr>
          <a:xfrm>
            <a:off x="7263798" y="4572175"/>
            <a:ext cx="100627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8208346"/>
      </p:ext>
    </p:extLst>
  </p:cSld>
  <p:clrMapOvr>
    <a:masterClrMapping/>
  </p:clrMapOvr>
  <mc:AlternateContent xmlns:mc="http://schemas.openxmlformats.org/markup-compatibility/2006" xmlns:p159="http://schemas.microsoft.com/office/powerpoint/2015/09/main">
    <mc:Choice Requires="p159">
      <p:transition spd="slow" advTm="4000">
        <p159:morph option="byObject"/>
      </p:transition>
    </mc:Choice>
    <mc:Fallback xmlns="">
      <p:transition spd="slow"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par>
                          <p:cTn id="8" fill="hold">
                            <p:stCondLst>
                              <p:cond delay="500"/>
                            </p:stCondLst>
                            <p:childTnLst>
                              <p:par>
                                <p:cTn id="9" presetID="22" presetClass="exit" presetSubtype="8" fill="hold" nodeType="afterEffect">
                                  <p:stCondLst>
                                    <p:cond delay="0"/>
                                  </p:stCondLst>
                                  <p:childTnLst>
                                    <p:animEffect transition="out" filter="wipe(left)">
                                      <p:cBhvr>
                                        <p:cTn id="10" dur="500"/>
                                        <p:tgtEl>
                                          <p:spTgt spid="25"/>
                                        </p:tgtEl>
                                      </p:cBhvr>
                                    </p:animEffect>
                                    <p:set>
                                      <p:cBhvr>
                                        <p:cTn id="11"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51498-C25B-B462-1954-FDB249E6E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56985B-1D00-8BED-2F39-9987C10D99FD}"/>
              </a:ext>
            </a:extLst>
          </p:cNvPr>
          <p:cNvSpPr txBox="1">
            <a:spLocks/>
          </p:cNvSpPr>
          <p:nvPr/>
        </p:nvSpPr>
        <p:spPr>
          <a:xfrm>
            <a:off x="2198977" y="1371917"/>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Protocol Bindings in Practice</a:t>
            </a:r>
            <a:endParaRPr lang="aa-ET" dirty="0">
              <a:solidFill>
                <a:schemeClr val="accent1"/>
              </a:solidFill>
              <a:latin typeface="Century Gothic" panose="020B0502020202020204" pitchFamily="34" charset="0"/>
            </a:endParaRPr>
          </a:p>
        </p:txBody>
      </p:sp>
      <p:sp>
        <p:nvSpPr>
          <p:cNvPr id="3" name="TextBox 19">
            <a:extLst>
              <a:ext uri="{FF2B5EF4-FFF2-40B4-BE49-F238E27FC236}">
                <a16:creationId xmlns:a16="http://schemas.microsoft.com/office/drawing/2014/main" id="{8E8F102F-B632-ED42-6018-FE15A682B556}"/>
              </a:ext>
            </a:extLst>
          </p:cNvPr>
          <p:cNvSpPr txBox="1"/>
          <p:nvPr/>
        </p:nvSpPr>
        <p:spPr>
          <a:xfrm>
            <a:off x="2039435" y="4160520"/>
            <a:ext cx="1221863"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dirty="0">
                <a:solidFill>
                  <a:schemeClr val="accent1"/>
                </a:solidFill>
                <a:latin typeface="Century Gothic" panose="020B0502020202020204" pitchFamily="34" charset="0"/>
              </a:rPr>
              <a:t>HTTP</a:t>
            </a:r>
          </a:p>
        </p:txBody>
      </p:sp>
      <p:sp>
        <p:nvSpPr>
          <p:cNvPr id="5" name="TextBox 19">
            <a:extLst>
              <a:ext uri="{FF2B5EF4-FFF2-40B4-BE49-F238E27FC236}">
                <a16:creationId xmlns:a16="http://schemas.microsoft.com/office/drawing/2014/main" id="{213779E5-1168-56CF-7B9F-33796AD9C1B4}"/>
              </a:ext>
            </a:extLst>
          </p:cNvPr>
          <p:cNvSpPr txBox="1"/>
          <p:nvPr/>
        </p:nvSpPr>
        <p:spPr>
          <a:xfrm>
            <a:off x="4055717" y="4160520"/>
            <a:ext cx="1329083"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dirty="0">
                <a:solidFill>
                  <a:schemeClr val="accent1"/>
                </a:solidFill>
                <a:latin typeface="Century Gothic" panose="020B0502020202020204" pitchFamily="34" charset="0"/>
              </a:rPr>
              <a:t>CoAP</a:t>
            </a:r>
          </a:p>
        </p:txBody>
      </p:sp>
      <p:sp>
        <p:nvSpPr>
          <p:cNvPr id="6" name="TextBox 19">
            <a:extLst>
              <a:ext uri="{FF2B5EF4-FFF2-40B4-BE49-F238E27FC236}">
                <a16:creationId xmlns:a16="http://schemas.microsoft.com/office/drawing/2014/main" id="{3AF26560-7482-C104-79EF-3A53E62152B1}"/>
              </a:ext>
            </a:extLst>
          </p:cNvPr>
          <p:cNvSpPr txBox="1"/>
          <p:nvPr/>
        </p:nvSpPr>
        <p:spPr>
          <a:xfrm>
            <a:off x="6179218" y="4160520"/>
            <a:ext cx="1329083"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dirty="0">
                <a:solidFill>
                  <a:schemeClr val="accent1"/>
                </a:solidFill>
                <a:latin typeface="Century Gothic" panose="020B0502020202020204" pitchFamily="34" charset="0"/>
              </a:rPr>
              <a:t>MQTT</a:t>
            </a:r>
          </a:p>
        </p:txBody>
      </p:sp>
      <p:sp>
        <p:nvSpPr>
          <p:cNvPr id="7" name="TextBox 19">
            <a:extLst>
              <a:ext uri="{FF2B5EF4-FFF2-40B4-BE49-F238E27FC236}">
                <a16:creationId xmlns:a16="http://schemas.microsoft.com/office/drawing/2014/main" id="{D523576C-00F2-0884-183C-C796C8E9D041}"/>
              </a:ext>
            </a:extLst>
          </p:cNvPr>
          <p:cNvSpPr txBox="1"/>
          <p:nvPr/>
        </p:nvSpPr>
        <p:spPr>
          <a:xfrm>
            <a:off x="8302720" y="4160520"/>
            <a:ext cx="1900583"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dirty="0">
                <a:solidFill>
                  <a:schemeClr val="accent1"/>
                </a:solidFill>
                <a:latin typeface="Century Gothic" panose="020B0502020202020204" pitchFamily="34" charset="0"/>
              </a:rPr>
              <a:t>Modbus</a:t>
            </a:r>
          </a:p>
        </p:txBody>
      </p:sp>
    </p:spTree>
    <p:extLst>
      <p:ext uri="{BB962C8B-B14F-4D97-AF65-F5344CB8AC3E}">
        <p14:creationId xmlns:p14="http://schemas.microsoft.com/office/powerpoint/2010/main" val="30773527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8700">
        <p159:morph option="byObject"/>
      </p:transition>
    </mc:Choice>
    <mc:Fallback xmlns="">
      <p:transition spd="slow" advTm="87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1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25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C9E32CF-1F8E-3E52-BE9F-402BD7765AF4}"/>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813CE80E-73B1-7D26-7B5F-92E303A286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9C0363B4-B820-29B0-D691-B5B6BBB62C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71BD0763-D733-1160-8D77-2C2949BB368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A29DA037-E4C6-FAF4-3248-89EB1092282B}"/>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8D6F2371-31D0-0A30-16BD-419969FE8A2D}"/>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C4092145-EB77-9139-9FF9-3414B4E41198}"/>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A164893A-AEC9-99AE-33A2-42F3411FDE1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1A9F491A-9AE7-9950-242B-611C7BB7A687}"/>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4CE39136-4AC6-DEB8-C049-6BF5BD385EDC}"/>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31437647-6056-9369-2DD2-DF2D007EFFA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1C7418B7-2994-7CAF-F7F1-FFD320FB8445}"/>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H</a:t>
            </a:r>
            <a:r>
              <a:rPr lang="bg-BG" dirty="0">
                <a:solidFill>
                  <a:schemeClr val="accent1"/>
                </a:solidFill>
                <a:latin typeface="Century Gothic" panose="020B0502020202020204" pitchFamily="34" charset="0"/>
              </a:rPr>
              <a:t>Т</a:t>
            </a:r>
            <a:r>
              <a:rPr lang="en-GB" dirty="0">
                <a:solidFill>
                  <a:schemeClr val="accent1"/>
                </a:solidFill>
                <a:latin typeface="Century Gothic" panose="020B0502020202020204" pitchFamily="34" charset="0"/>
              </a:rPr>
              <a:t>TP </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2BA47D39-6BC7-319A-D057-50C626E611AB}"/>
              </a:ext>
            </a:extLst>
          </p:cNvPr>
          <p:cNvSpPr txBox="1"/>
          <p:nvPr/>
        </p:nvSpPr>
        <p:spPr>
          <a:xfrm>
            <a:off x="1083789" y="3355765"/>
            <a:ext cx="7576500" cy="2308324"/>
          </a:xfrm>
          <a:prstGeom prst="rect">
            <a:avLst/>
          </a:prstGeom>
          <a:noFill/>
        </p:spPr>
        <p:txBody>
          <a:bodyPr wrap="square" rtlCol="0">
            <a:spAutoFit/>
          </a:bodyPr>
          <a:lstStyle/>
          <a:p>
            <a:r>
              <a:rPr lang="en-US" dirty="0">
                <a:solidFill>
                  <a:schemeClr val="accent1"/>
                </a:solidFill>
              </a:rPr>
              <a:t>    </a:t>
            </a:r>
            <a:r>
              <a:rPr lang="en-US" dirty="0">
                <a:solidFill>
                  <a:schemeClr val="accent5"/>
                </a:solidFill>
              </a:rPr>
              <a:t>"forms"</a:t>
            </a:r>
            <a:r>
              <a:rPr lang="en-US" dirty="0">
                <a:solidFill>
                  <a:schemeClr val="accent1"/>
                </a:solidFill>
              </a:rPr>
              <a:t>: [</a:t>
            </a:r>
          </a:p>
          <a:p>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"https://coffee.example.com/properties/</a:t>
            </a:r>
            <a:r>
              <a:rPr lang="en-US" dirty="0" err="1">
                <a:solidFill>
                  <a:schemeClr val="accent1"/>
                </a:solidFill>
              </a:rPr>
              <a:t>coffeeBeansLeft</a:t>
            </a:r>
            <a:r>
              <a:rPr lang="en-US" dirty="0">
                <a:solidFill>
                  <a:schemeClr val="accent1"/>
                </a:solidFill>
              </a:rPr>
              <a:t>",</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readproperty</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a:t>
            </a:r>
            <a:r>
              <a:rPr lang="en-US" dirty="0" err="1">
                <a:solidFill>
                  <a:schemeClr val="accent1"/>
                </a:solidFill>
              </a:rPr>
              <a:t>json</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htv:methodName</a:t>
            </a:r>
            <a:r>
              <a:rPr lang="en-US" dirty="0">
                <a:solidFill>
                  <a:schemeClr val="accent5"/>
                </a:solidFill>
              </a:rPr>
              <a:t>"</a:t>
            </a:r>
            <a:r>
              <a:rPr lang="en-US" dirty="0">
                <a:solidFill>
                  <a:schemeClr val="accent1"/>
                </a:solidFill>
              </a:rPr>
              <a:t>: "GET"</a:t>
            </a:r>
          </a:p>
          <a:p>
            <a:r>
              <a:rPr lang="en-US" dirty="0">
                <a:solidFill>
                  <a:schemeClr val="accent1"/>
                </a:solidFill>
              </a:rPr>
              <a:t>      }</a:t>
            </a:r>
          </a:p>
          <a:p>
            <a:r>
              <a:rPr lang="en-US" dirty="0">
                <a:solidFill>
                  <a:schemeClr val="accent1"/>
                </a:solidFill>
              </a:rPr>
              <a:t>    ]</a:t>
            </a:r>
          </a:p>
        </p:txBody>
      </p:sp>
      <p:sp>
        <p:nvSpPr>
          <p:cNvPr id="2" name="TextBox 1">
            <a:extLst>
              <a:ext uri="{FF2B5EF4-FFF2-40B4-BE49-F238E27FC236}">
                <a16:creationId xmlns:a16="http://schemas.microsoft.com/office/drawing/2014/main" id="{7F73A81F-DDE5-DE6B-2D0F-AB29BC7EE657}"/>
              </a:ext>
            </a:extLst>
          </p:cNvPr>
          <p:cNvSpPr txBox="1"/>
          <p:nvPr/>
        </p:nvSpPr>
        <p:spPr>
          <a:xfrm>
            <a:off x="1083789" y="1689143"/>
            <a:ext cx="7576500" cy="1754326"/>
          </a:xfrm>
          <a:prstGeom prst="rect">
            <a:avLst/>
          </a:prstGeom>
          <a:noFill/>
        </p:spPr>
        <p:txBody>
          <a:bodyPr wrap="square" rtlCol="0">
            <a:spAutoFit/>
          </a:bodyPr>
          <a:lstStyle/>
          <a:p>
            <a:r>
              <a:rPr lang="en-US" dirty="0">
                <a:solidFill>
                  <a:schemeClr val="accent5"/>
                </a:solidFill>
              </a:rPr>
              <a:t>"properties":</a:t>
            </a:r>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coffeeBeansLeft</a:t>
            </a:r>
            <a:r>
              <a:rPr lang="en-US" dirty="0">
                <a:solidFill>
                  <a:schemeClr val="accent5"/>
                </a:solidFill>
              </a:rPr>
              <a:t>"</a:t>
            </a:r>
            <a:r>
              <a:rPr lang="en-US" dirty="0">
                <a:solidFill>
                  <a:schemeClr val="accent1"/>
                </a:solidFill>
              </a:rPr>
              <a:t>: {</a:t>
            </a:r>
          </a:p>
          <a:p>
            <a:r>
              <a:rPr lang="en-US" dirty="0">
                <a:solidFill>
                  <a:schemeClr val="accent1"/>
                </a:solidFill>
              </a:rPr>
              <a:t>    </a:t>
            </a:r>
            <a:r>
              <a:rPr lang="en-US" dirty="0">
                <a:solidFill>
                  <a:schemeClr val="accent5"/>
                </a:solidFill>
              </a:rPr>
              <a:t>"title"</a:t>
            </a:r>
            <a:r>
              <a:rPr lang="en-US" dirty="0">
                <a:solidFill>
                  <a:schemeClr val="accent1"/>
                </a:solidFill>
              </a:rPr>
              <a:t>: "Remaining Coffee Beans",</a:t>
            </a:r>
          </a:p>
          <a:p>
            <a:r>
              <a:rPr lang="en-US" dirty="0">
                <a:solidFill>
                  <a:schemeClr val="accent1"/>
                </a:solidFill>
              </a:rPr>
              <a:t>    </a:t>
            </a:r>
            <a:r>
              <a:rPr lang="en-US" dirty="0">
                <a:solidFill>
                  <a:schemeClr val="accent5"/>
                </a:solidFill>
              </a:rPr>
              <a:t>"description"</a:t>
            </a:r>
            <a:r>
              <a:rPr lang="en-US" dirty="0">
                <a:solidFill>
                  <a:schemeClr val="accent1"/>
                </a:solidFill>
              </a:rPr>
              <a:t>: "Amount of remaining coffee beans in grams",</a:t>
            </a:r>
          </a:p>
          <a:p>
            <a:r>
              <a:rPr lang="en-US" dirty="0">
                <a:solidFill>
                  <a:schemeClr val="accent1"/>
                </a:solidFill>
              </a:rPr>
              <a:t>    </a:t>
            </a:r>
            <a:r>
              <a:rPr lang="en-US" dirty="0">
                <a:solidFill>
                  <a:schemeClr val="accent5"/>
                </a:solidFill>
              </a:rPr>
              <a:t>"type"</a:t>
            </a:r>
            <a:r>
              <a:rPr lang="en-US" dirty="0">
                <a:solidFill>
                  <a:schemeClr val="accent1"/>
                </a:solidFill>
              </a:rPr>
              <a:t>: "number",</a:t>
            </a:r>
          </a:p>
          <a:p>
            <a:r>
              <a:rPr lang="en-US" dirty="0">
                <a:solidFill>
                  <a:schemeClr val="accent1"/>
                </a:solidFill>
              </a:rPr>
              <a:t>    </a:t>
            </a:r>
            <a:r>
              <a:rPr lang="en-US" dirty="0">
                <a:solidFill>
                  <a:schemeClr val="accent5"/>
                </a:solidFill>
              </a:rPr>
              <a:t>"</a:t>
            </a:r>
            <a:r>
              <a:rPr lang="en-US" dirty="0" err="1">
                <a:solidFill>
                  <a:schemeClr val="accent5"/>
                </a:solidFill>
              </a:rPr>
              <a:t>readOnly</a:t>
            </a:r>
            <a:r>
              <a:rPr lang="en-US" dirty="0">
                <a:solidFill>
                  <a:schemeClr val="accent5"/>
                </a:solidFill>
              </a:rPr>
              <a:t>"</a:t>
            </a:r>
            <a:r>
              <a:rPr lang="en-US" dirty="0">
                <a:solidFill>
                  <a:schemeClr val="accent1"/>
                </a:solidFill>
              </a:rPr>
              <a:t>: true,</a:t>
            </a:r>
          </a:p>
        </p:txBody>
      </p:sp>
    </p:spTree>
    <p:extLst>
      <p:ext uri="{BB962C8B-B14F-4D97-AF65-F5344CB8AC3E}">
        <p14:creationId xmlns:p14="http://schemas.microsoft.com/office/powerpoint/2010/main" val="20789745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7000">
        <p159:morph option="byObject"/>
      </p:transition>
    </mc:Choice>
    <mc:Fallback xmlns="">
      <p:transition spd="slow" advTm="7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150"/>
                                        <p:tgtEl>
                                          <p:spTgt spid="2">
                                            <p:txEl>
                                              <p:pRg st="0" end="0"/>
                                            </p:txEl>
                                          </p:spTgt>
                                        </p:tgtEl>
                                      </p:cBhvr>
                                    </p:animEffect>
                                  </p:childTnLst>
                                </p:cTn>
                              </p:par>
                            </p:childTnLst>
                          </p:cTn>
                        </p:par>
                        <p:par>
                          <p:cTn id="8" fill="hold">
                            <p:stCondLst>
                              <p:cond delay="150"/>
                            </p:stCondLst>
                            <p:childTnLst>
                              <p:par>
                                <p:cTn id="9" presetID="22" presetClass="entr" presetSubtype="8"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150"/>
                                        <p:tgtEl>
                                          <p:spTgt spid="2">
                                            <p:txEl>
                                              <p:pRg st="1" end="1"/>
                                            </p:txEl>
                                          </p:spTgt>
                                        </p:tgtEl>
                                      </p:cBhvr>
                                    </p:animEffect>
                                  </p:childTnLst>
                                </p:cTn>
                              </p:par>
                            </p:childTnLst>
                          </p:cTn>
                        </p:par>
                        <p:par>
                          <p:cTn id="12" fill="hold">
                            <p:stCondLst>
                              <p:cond delay="300"/>
                            </p:stCondLst>
                            <p:childTnLst>
                              <p:par>
                                <p:cTn id="13" presetID="22" presetClass="entr" presetSubtype="8"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left)">
                                      <p:cBhvr>
                                        <p:cTn id="15" dur="150"/>
                                        <p:tgtEl>
                                          <p:spTgt spid="2">
                                            <p:txEl>
                                              <p:pRg st="2" end="2"/>
                                            </p:txEl>
                                          </p:spTgt>
                                        </p:tgtEl>
                                      </p:cBhvr>
                                    </p:animEffect>
                                  </p:childTnLst>
                                </p:cTn>
                              </p:par>
                            </p:childTnLst>
                          </p:cTn>
                        </p:par>
                        <p:par>
                          <p:cTn id="16" fill="hold">
                            <p:stCondLst>
                              <p:cond delay="45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150"/>
                                        <p:tgtEl>
                                          <p:spTgt spid="2">
                                            <p:txEl>
                                              <p:pRg st="3" end="3"/>
                                            </p:txEl>
                                          </p:spTgt>
                                        </p:tgtEl>
                                      </p:cBhvr>
                                    </p:animEffect>
                                  </p:childTnLst>
                                </p:cTn>
                              </p:par>
                            </p:childTnLst>
                          </p:cTn>
                        </p:par>
                        <p:par>
                          <p:cTn id="20" fill="hold">
                            <p:stCondLst>
                              <p:cond delay="600"/>
                            </p:stCondLst>
                            <p:childTnLst>
                              <p:par>
                                <p:cTn id="21" presetID="22" presetClass="entr" presetSubtype="8"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left)">
                                      <p:cBhvr>
                                        <p:cTn id="23" dur="150"/>
                                        <p:tgtEl>
                                          <p:spTgt spid="2">
                                            <p:txEl>
                                              <p:pRg st="4" end="4"/>
                                            </p:txEl>
                                          </p:spTgt>
                                        </p:tgtEl>
                                      </p:cBhvr>
                                    </p:animEffect>
                                  </p:childTnLst>
                                </p:cTn>
                              </p:par>
                            </p:childTnLst>
                          </p:cTn>
                        </p:par>
                        <p:par>
                          <p:cTn id="24" fill="hold">
                            <p:stCondLst>
                              <p:cond delay="750"/>
                            </p:stCondLst>
                            <p:childTnLst>
                              <p:par>
                                <p:cTn id="25" presetID="22" presetClass="entr" presetSubtype="8" fill="hold" grpId="0" nodeType="after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wipe(left)">
                                      <p:cBhvr>
                                        <p:cTn id="27" dur="150"/>
                                        <p:tgtEl>
                                          <p:spTgt spid="2">
                                            <p:txEl>
                                              <p:pRg st="5" end="5"/>
                                            </p:txEl>
                                          </p:spTgt>
                                        </p:tgtEl>
                                      </p:cBhvr>
                                    </p:animEffect>
                                  </p:childTnLst>
                                </p:cTn>
                              </p:par>
                            </p:childTnLst>
                          </p:cTn>
                        </p:par>
                        <p:par>
                          <p:cTn id="28" fill="hold">
                            <p:stCondLst>
                              <p:cond delay="900"/>
                            </p:stCondLst>
                            <p:childTnLst>
                              <p:par>
                                <p:cTn id="29" presetID="22" presetClass="entr" presetSubtype="8" fill="hold" grpId="0" nodeType="afterEffect">
                                  <p:stCondLst>
                                    <p:cond delay="0"/>
                                  </p:stCondLst>
                                  <p:childTnLst>
                                    <p:set>
                                      <p:cBhvr>
                                        <p:cTn id="30" dur="1" fill="hold">
                                          <p:stCondLst>
                                            <p:cond delay="0"/>
                                          </p:stCondLst>
                                        </p:cTn>
                                        <p:tgtEl>
                                          <p:spTgt spid="16">
                                            <p:txEl>
                                              <p:pRg st="0" end="0"/>
                                            </p:txEl>
                                          </p:spTgt>
                                        </p:tgtEl>
                                        <p:attrNameLst>
                                          <p:attrName>style.visibility</p:attrName>
                                        </p:attrNameLst>
                                      </p:cBhvr>
                                      <p:to>
                                        <p:strVal val="visible"/>
                                      </p:to>
                                    </p:set>
                                    <p:animEffect transition="in" filter="wipe(left)">
                                      <p:cBhvr>
                                        <p:cTn id="31" dur="150"/>
                                        <p:tgtEl>
                                          <p:spTgt spid="16">
                                            <p:txEl>
                                              <p:pRg st="0" end="0"/>
                                            </p:txEl>
                                          </p:spTgt>
                                        </p:tgtEl>
                                      </p:cBhvr>
                                    </p:animEffect>
                                  </p:childTnLst>
                                </p:cTn>
                              </p:par>
                            </p:childTnLst>
                          </p:cTn>
                        </p:par>
                        <p:par>
                          <p:cTn id="32" fill="hold">
                            <p:stCondLst>
                              <p:cond delay="1050"/>
                            </p:stCondLst>
                            <p:childTnLst>
                              <p:par>
                                <p:cTn id="33" presetID="22" presetClass="entr" presetSubtype="8" fill="hold" grpId="0" nodeType="afterEffect">
                                  <p:stCondLst>
                                    <p:cond delay="0"/>
                                  </p:stCondLst>
                                  <p:childTnLst>
                                    <p:set>
                                      <p:cBhvr>
                                        <p:cTn id="34" dur="1" fill="hold">
                                          <p:stCondLst>
                                            <p:cond delay="0"/>
                                          </p:stCondLst>
                                        </p:cTn>
                                        <p:tgtEl>
                                          <p:spTgt spid="16">
                                            <p:txEl>
                                              <p:pRg st="1" end="1"/>
                                            </p:txEl>
                                          </p:spTgt>
                                        </p:tgtEl>
                                        <p:attrNameLst>
                                          <p:attrName>style.visibility</p:attrName>
                                        </p:attrNameLst>
                                      </p:cBhvr>
                                      <p:to>
                                        <p:strVal val="visible"/>
                                      </p:to>
                                    </p:set>
                                    <p:animEffect transition="in" filter="wipe(left)">
                                      <p:cBhvr>
                                        <p:cTn id="35" dur="150"/>
                                        <p:tgtEl>
                                          <p:spTgt spid="16">
                                            <p:txEl>
                                              <p:pRg st="1" end="1"/>
                                            </p:txEl>
                                          </p:spTgt>
                                        </p:tgtEl>
                                      </p:cBhvr>
                                    </p:animEffect>
                                  </p:childTnLst>
                                </p:cTn>
                              </p:par>
                            </p:childTnLst>
                          </p:cTn>
                        </p:par>
                        <p:par>
                          <p:cTn id="36" fill="hold">
                            <p:stCondLst>
                              <p:cond delay="1200"/>
                            </p:stCondLst>
                            <p:childTnLst>
                              <p:par>
                                <p:cTn id="37" presetID="22" presetClass="entr" presetSubtype="8" fill="hold" grpId="0" nodeType="afterEffect">
                                  <p:stCondLst>
                                    <p:cond delay="0"/>
                                  </p:stCondLst>
                                  <p:childTnLst>
                                    <p:set>
                                      <p:cBhvr>
                                        <p:cTn id="38" dur="1" fill="hold">
                                          <p:stCondLst>
                                            <p:cond delay="0"/>
                                          </p:stCondLst>
                                        </p:cTn>
                                        <p:tgtEl>
                                          <p:spTgt spid="16">
                                            <p:txEl>
                                              <p:pRg st="2" end="2"/>
                                            </p:txEl>
                                          </p:spTgt>
                                        </p:tgtEl>
                                        <p:attrNameLst>
                                          <p:attrName>style.visibility</p:attrName>
                                        </p:attrNameLst>
                                      </p:cBhvr>
                                      <p:to>
                                        <p:strVal val="visible"/>
                                      </p:to>
                                    </p:set>
                                    <p:animEffect transition="in" filter="wipe(left)">
                                      <p:cBhvr>
                                        <p:cTn id="39" dur="150"/>
                                        <p:tgtEl>
                                          <p:spTgt spid="16">
                                            <p:txEl>
                                              <p:pRg st="2" end="2"/>
                                            </p:txEl>
                                          </p:spTgt>
                                        </p:tgtEl>
                                      </p:cBhvr>
                                    </p:animEffect>
                                  </p:childTnLst>
                                </p:cTn>
                              </p:par>
                            </p:childTnLst>
                          </p:cTn>
                        </p:par>
                        <p:par>
                          <p:cTn id="40" fill="hold">
                            <p:stCondLst>
                              <p:cond delay="1350"/>
                            </p:stCondLst>
                            <p:childTnLst>
                              <p:par>
                                <p:cTn id="41" presetID="22" presetClass="entr" presetSubtype="8" fill="hold" grpId="0" nodeType="afterEffect">
                                  <p:stCondLst>
                                    <p:cond delay="0"/>
                                  </p:stCondLst>
                                  <p:childTnLst>
                                    <p:set>
                                      <p:cBhvr>
                                        <p:cTn id="42" dur="1" fill="hold">
                                          <p:stCondLst>
                                            <p:cond delay="0"/>
                                          </p:stCondLst>
                                        </p:cTn>
                                        <p:tgtEl>
                                          <p:spTgt spid="16">
                                            <p:txEl>
                                              <p:pRg st="3" end="3"/>
                                            </p:txEl>
                                          </p:spTgt>
                                        </p:tgtEl>
                                        <p:attrNameLst>
                                          <p:attrName>style.visibility</p:attrName>
                                        </p:attrNameLst>
                                      </p:cBhvr>
                                      <p:to>
                                        <p:strVal val="visible"/>
                                      </p:to>
                                    </p:set>
                                    <p:animEffect transition="in" filter="wipe(left)">
                                      <p:cBhvr>
                                        <p:cTn id="43" dur="150"/>
                                        <p:tgtEl>
                                          <p:spTgt spid="16">
                                            <p:txEl>
                                              <p:pRg st="3" end="3"/>
                                            </p:txEl>
                                          </p:spTgt>
                                        </p:tgtEl>
                                      </p:cBhvr>
                                    </p:animEffect>
                                  </p:childTnLst>
                                </p:cTn>
                              </p:par>
                            </p:childTnLst>
                          </p:cTn>
                        </p:par>
                        <p:par>
                          <p:cTn id="44" fill="hold">
                            <p:stCondLst>
                              <p:cond delay="1500"/>
                            </p:stCondLst>
                            <p:childTnLst>
                              <p:par>
                                <p:cTn id="45" presetID="22" presetClass="entr" presetSubtype="8" fill="hold" grpId="0" nodeType="afterEffect">
                                  <p:stCondLst>
                                    <p:cond delay="0"/>
                                  </p:stCondLst>
                                  <p:childTnLst>
                                    <p:set>
                                      <p:cBhvr>
                                        <p:cTn id="46" dur="1" fill="hold">
                                          <p:stCondLst>
                                            <p:cond delay="0"/>
                                          </p:stCondLst>
                                        </p:cTn>
                                        <p:tgtEl>
                                          <p:spTgt spid="16">
                                            <p:txEl>
                                              <p:pRg st="4" end="4"/>
                                            </p:txEl>
                                          </p:spTgt>
                                        </p:tgtEl>
                                        <p:attrNameLst>
                                          <p:attrName>style.visibility</p:attrName>
                                        </p:attrNameLst>
                                      </p:cBhvr>
                                      <p:to>
                                        <p:strVal val="visible"/>
                                      </p:to>
                                    </p:set>
                                    <p:animEffect transition="in" filter="wipe(left)">
                                      <p:cBhvr>
                                        <p:cTn id="47" dur="150"/>
                                        <p:tgtEl>
                                          <p:spTgt spid="16">
                                            <p:txEl>
                                              <p:pRg st="4" end="4"/>
                                            </p:txEl>
                                          </p:spTgt>
                                        </p:tgtEl>
                                      </p:cBhvr>
                                    </p:animEffect>
                                  </p:childTnLst>
                                </p:cTn>
                              </p:par>
                            </p:childTnLst>
                          </p:cTn>
                        </p:par>
                        <p:par>
                          <p:cTn id="48" fill="hold">
                            <p:stCondLst>
                              <p:cond delay="1650"/>
                            </p:stCondLst>
                            <p:childTnLst>
                              <p:par>
                                <p:cTn id="49" presetID="22" presetClass="entr" presetSubtype="8" fill="hold" grpId="0" nodeType="afterEffect">
                                  <p:stCondLst>
                                    <p:cond delay="0"/>
                                  </p:stCondLst>
                                  <p:childTnLst>
                                    <p:set>
                                      <p:cBhvr>
                                        <p:cTn id="50" dur="1" fill="hold">
                                          <p:stCondLst>
                                            <p:cond delay="0"/>
                                          </p:stCondLst>
                                        </p:cTn>
                                        <p:tgtEl>
                                          <p:spTgt spid="16">
                                            <p:txEl>
                                              <p:pRg st="5" end="5"/>
                                            </p:txEl>
                                          </p:spTgt>
                                        </p:tgtEl>
                                        <p:attrNameLst>
                                          <p:attrName>style.visibility</p:attrName>
                                        </p:attrNameLst>
                                      </p:cBhvr>
                                      <p:to>
                                        <p:strVal val="visible"/>
                                      </p:to>
                                    </p:set>
                                    <p:animEffect transition="in" filter="wipe(left)">
                                      <p:cBhvr>
                                        <p:cTn id="51" dur="150"/>
                                        <p:tgtEl>
                                          <p:spTgt spid="16">
                                            <p:txEl>
                                              <p:pRg st="5" end="5"/>
                                            </p:txEl>
                                          </p:spTgt>
                                        </p:tgtEl>
                                      </p:cBhvr>
                                    </p:animEffect>
                                  </p:childTnLst>
                                </p:cTn>
                              </p:par>
                            </p:childTnLst>
                          </p:cTn>
                        </p:par>
                        <p:par>
                          <p:cTn id="52" fill="hold">
                            <p:stCondLst>
                              <p:cond delay="1800"/>
                            </p:stCondLst>
                            <p:childTnLst>
                              <p:par>
                                <p:cTn id="53" presetID="22" presetClass="entr" presetSubtype="8" fill="hold" grpId="0" nodeType="afterEffect">
                                  <p:stCondLst>
                                    <p:cond delay="0"/>
                                  </p:stCondLst>
                                  <p:childTnLst>
                                    <p:set>
                                      <p:cBhvr>
                                        <p:cTn id="54" dur="1" fill="hold">
                                          <p:stCondLst>
                                            <p:cond delay="0"/>
                                          </p:stCondLst>
                                        </p:cTn>
                                        <p:tgtEl>
                                          <p:spTgt spid="16">
                                            <p:txEl>
                                              <p:pRg st="6" end="6"/>
                                            </p:txEl>
                                          </p:spTgt>
                                        </p:tgtEl>
                                        <p:attrNameLst>
                                          <p:attrName>style.visibility</p:attrName>
                                        </p:attrNameLst>
                                      </p:cBhvr>
                                      <p:to>
                                        <p:strVal val="visible"/>
                                      </p:to>
                                    </p:set>
                                    <p:animEffect transition="in" filter="wipe(left)">
                                      <p:cBhvr>
                                        <p:cTn id="55" dur="150"/>
                                        <p:tgtEl>
                                          <p:spTgt spid="16">
                                            <p:txEl>
                                              <p:pRg st="6" end="6"/>
                                            </p:txEl>
                                          </p:spTgt>
                                        </p:tgtEl>
                                      </p:cBhvr>
                                    </p:animEffect>
                                  </p:childTnLst>
                                </p:cTn>
                              </p:par>
                            </p:childTnLst>
                          </p:cTn>
                        </p:par>
                        <p:par>
                          <p:cTn id="56" fill="hold">
                            <p:stCondLst>
                              <p:cond delay="1950"/>
                            </p:stCondLst>
                            <p:childTnLst>
                              <p:par>
                                <p:cTn id="57" presetID="22" presetClass="entr" presetSubtype="8" fill="hold" grpId="0" nodeType="afterEffect">
                                  <p:stCondLst>
                                    <p:cond delay="0"/>
                                  </p:stCondLst>
                                  <p:childTnLst>
                                    <p:set>
                                      <p:cBhvr>
                                        <p:cTn id="58" dur="1" fill="hold">
                                          <p:stCondLst>
                                            <p:cond delay="0"/>
                                          </p:stCondLst>
                                        </p:cTn>
                                        <p:tgtEl>
                                          <p:spTgt spid="16">
                                            <p:txEl>
                                              <p:pRg st="7" end="7"/>
                                            </p:txEl>
                                          </p:spTgt>
                                        </p:tgtEl>
                                        <p:attrNameLst>
                                          <p:attrName>style.visibility</p:attrName>
                                        </p:attrNameLst>
                                      </p:cBhvr>
                                      <p:to>
                                        <p:strVal val="visible"/>
                                      </p:to>
                                    </p:set>
                                    <p:animEffect transition="in" filter="wipe(left)">
                                      <p:cBhvr>
                                        <p:cTn id="59" dur="150"/>
                                        <p:tgtEl>
                                          <p:spTgt spid="16">
                                            <p:txEl>
                                              <p:pRg st="7" end="7"/>
                                            </p:txEl>
                                          </p:spTgt>
                                        </p:tgtEl>
                                      </p:cBhvr>
                                    </p:animEffect>
                                  </p:childTnLst>
                                </p:cTn>
                              </p:par>
                            </p:childTnLst>
                          </p:cTn>
                        </p:par>
                        <p:par>
                          <p:cTn id="60" fill="hold">
                            <p:stCondLst>
                              <p:cond delay="2100"/>
                            </p:stCondLst>
                            <p:childTnLst>
                              <p:par>
                                <p:cTn id="61" presetID="26" presetClass="emph" presetSubtype="0" fill="hold" nodeType="afterEffect">
                                  <p:stCondLst>
                                    <p:cond delay="1000"/>
                                  </p:stCondLst>
                                  <p:childTnLst>
                                    <p:animEffect transition="out" filter="fade">
                                      <p:cBhvr>
                                        <p:cTn id="62" dur="500" tmFilter="0, 0; .2, .5; .8, .5; 1, 0"/>
                                        <p:tgtEl>
                                          <p:spTgt spid="16">
                                            <p:txEl>
                                              <p:pRg st="3" end="3"/>
                                            </p:txEl>
                                          </p:spTgt>
                                        </p:tgtEl>
                                      </p:cBhvr>
                                    </p:animEffect>
                                    <p:animScale>
                                      <p:cBhvr>
                                        <p:cTn id="63" dur="250" autoRev="1" fill="hold"/>
                                        <p:tgtEl>
                                          <p:spTgt spid="16">
                                            <p:txEl>
                                              <p:pRg st="3" end="3"/>
                                            </p:txEl>
                                          </p:spTgt>
                                        </p:tgtEl>
                                      </p:cBhvr>
                                      <p:by x="105000" y="105000"/>
                                    </p:animScale>
                                  </p:childTnLst>
                                </p:cTn>
                              </p:par>
                            </p:childTnLst>
                          </p:cTn>
                        </p:par>
                        <p:par>
                          <p:cTn id="64" fill="hold">
                            <p:stCondLst>
                              <p:cond delay="3600"/>
                            </p:stCondLst>
                            <p:childTnLst>
                              <p:par>
                                <p:cTn id="65" presetID="26" presetClass="emph" presetSubtype="0" fill="hold" nodeType="afterEffect">
                                  <p:stCondLst>
                                    <p:cond delay="0"/>
                                  </p:stCondLst>
                                  <p:childTnLst>
                                    <p:animEffect transition="out" filter="fade">
                                      <p:cBhvr>
                                        <p:cTn id="66" dur="500" tmFilter="0, 0; .2, .5; .8, .5; 1, 0"/>
                                        <p:tgtEl>
                                          <p:spTgt spid="16">
                                            <p:txEl>
                                              <p:pRg st="3" end="3"/>
                                            </p:txEl>
                                          </p:spTgt>
                                        </p:tgtEl>
                                      </p:cBhvr>
                                    </p:animEffect>
                                    <p:animScale>
                                      <p:cBhvr>
                                        <p:cTn id="67" dur="250" autoRev="1" fill="hold"/>
                                        <p:tgtEl>
                                          <p:spTgt spid="16">
                                            <p:txEl>
                                              <p:pRg st="3" end="3"/>
                                            </p:txEl>
                                          </p:spTgt>
                                        </p:tgtEl>
                                      </p:cBhvr>
                                      <p:by x="105000" y="105000"/>
                                    </p:animScale>
                                  </p:childTnLst>
                                </p:cTn>
                              </p:par>
                            </p:childTnLst>
                          </p:cTn>
                        </p:par>
                        <p:par>
                          <p:cTn id="68" fill="hold">
                            <p:stCondLst>
                              <p:cond delay="4100"/>
                            </p:stCondLst>
                            <p:childTnLst>
                              <p:par>
                                <p:cTn id="69" presetID="26" presetClass="emph" presetSubtype="0" fill="hold" nodeType="afterEffect">
                                  <p:stCondLst>
                                    <p:cond delay="0"/>
                                  </p:stCondLst>
                                  <p:childTnLst>
                                    <p:animEffect transition="out" filter="fade">
                                      <p:cBhvr>
                                        <p:cTn id="70" dur="500" tmFilter="0, 0; .2, .5; .8, .5; 1, 0"/>
                                        <p:tgtEl>
                                          <p:spTgt spid="16">
                                            <p:txEl>
                                              <p:pRg st="3" end="3"/>
                                            </p:txEl>
                                          </p:spTgt>
                                        </p:tgtEl>
                                      </p:cBhvr>
                                    </p:animEffect>
                                    <p:animScale>
                                      <p:cBhvr>
                                        <p:cTn id="71" dur="250" autoRev="1" fill="hold"/>
                                        <p:tgtEl>
                                          <p:spTgt spid="16">
                                            <p:txEl>
                                              <p:pRg st="3" end="3"/>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E6B7D-995C-B73C-7F0E-2631C531A461}"/>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E9DFC0A-BEEA-E112-4F21-120B92218BF2}"/>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EA31F16D-5DE9-212F-1F5F-499DAD0DCC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A4120DEB-EE48-B087-77F2-809E16C90A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18F5ECEA-9B3E-B486-6739-E3CD1CACD00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568B67FE-F2CB-F093-7ED5-FF5A4DFEB6D9}"/>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92066BF4-F972-85CC-ABF9-E8A59C503FFA}"/>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018746DD-F97B-703E-6468-4CC923B9E98E}"/>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56A58F84-7922-58A0-767E-F58244869CE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91CBDACE-9C72-B722-19C2-467C0CBB2ED9}"/>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C6BA37CA-442C-FC84-7DE5-6A1053AF1C57}"/>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CCE79FB0-43C4-DBEF-92F2-A20DFB42B9D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5F725662-52CB-5E6F-78AF-E20C6884DBDE}"/>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H</a:t>
            </a:r>
            <a:r>
              <a:rPr lang="bg-BG" dirty="0">
                <a:solidFill>
                  <a:schemeClr val="accent1"/>
                </a:solidFill>
                <a:latin typeface="Century Gothic" panose="020B0502020202020204" pitchFamily="34" charset="0"/>
              </a:rPr>
              <a:t>Т</a:t>
            </a:r>
            <a:r>
              <a:rPr lang="en-GB" dirty="0">
                <a:solidFill>
                  <a:schemeClr val="accent1"/>
                </a:solidFill>
                <a:latin typeface="Century Gothic" panose="020B0502020202020204" pitchFamily="34" charset="0"/>
              </a:rPr>
              <a:t>TP </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FFDAF199-C6CE-452E-BEB8-3E445C333655}"/>
              </a:ext>
            </a:extLst>
          </p:cNvPr>
          <p:cNvSpPr txBox="1"/>
          <p:nvPr/>
        </p:nvSpPr>
        <p:spPr>
          <a:xfrm>
            <a:off x="1083789" y="1812911"/>
            <a:ext cx="7576500" cy="2308324"/>
          </a:xfrm>
          <a:prstGeom prst="rect">
            <a:avLst/>
          </a:prstGeom>
          <a:noFill/>
        </p:spPr>
        <p:txBody>
          <a:bodyPr wrap="square" rtlCol="0">
            <a:spAutoFit/>
          </a:bodyPr>
          <a:lstStyle/>
          <a:p>
            <a:r>
              <a:rPr lang="en-US" dirty="0">
                <a:solidFill>
                  <a:schemeClr val="accent1"/>
                </a:solidFill>
              </a:rPr>
              <a:t>    </a:t>
            </a:r>
            <a:r>
              <a:rPr lang="en-US" dirty="0">
                <a:solidFill>
                  <a:schemeClr val="accent5"/>
                </a:solidFill>
              </a:rPr>
              <a:t>"forms"</a:t>
            </a:r>
            <a:r>
              <a:rPr lang="en-US" dirty="0">
                <a:solidFill>
                  <a:schemeClr val="accent1"/>
                </a:solidFill>
              </a:rPr>
              <a:t>: [</a:t>
            </a:r>
          </a:p>
          <a:p>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"https://coffee.example.com/properties/</a:t>
            </a:r>
            <a:r>
              <a:rPr lang="en-US" dirty="0" err="1">
                <a:solidFill>
                  <a:schemeClr val="accent1"/>
                </a:solidFill>
              </a:rPr>
              <a:t>coffeeBeansLeft</a:t>
            </a:r>
            <a:r>
              <a:rPr lang="en-US" dirty="0">
                <a:solidFill>
                  <a:schemeClr val="accent1"/>
                </a:solidFill>
              </a:rPr>
              <a:t>",</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readproperty</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a:t>
            </a:r>
            <a:r>
              <a:rPr lang="en-US" dirty="0" err="1">
                <a:solidFill>
                  <a:schemeClr val="accent1"/>
                </a:solidFill>
              </a:rPr>
              <a:t>json</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htv:methodName</a:t>
            </a:r>
            <a:r>
              <a:rPr lang="en-US" dirty="0">
                <a:solidFill>
                  <a:schemeClr val="accent5"/>
                </a:solidFill>
              </a:rPr>
              <a:t>"</a:t>
            </a:r>
            <a:r>
              <a:rPr lang="en-US" dirty="0">
                <a:solidFill>
                  <a:schemeClr val="accent1"/>
                </a:solidFill>
              </a:rPr>
              <a:t>: "GET"</a:t>
            </a:r>
          </a:p>
          <a:p>
            <a:r>
              <a:rPr lang="en-US" dirty="0">
                <a:solidFill>
                  <a:schemeClr val="accent1"/>
                </a:solidFill>
              </a:rPr>
              <a:t>      }</a:t>
            </a:r>
          </a:p>
          <a:p>
            <a:r>
              <a:rPr lang="en-US" dirty="0">
                <a:solidFill>
                  <a:schemeClr val="accent1"/>
                </a:solidFill>
              </a:rPr>
              <a:t>    ]</a:t>
            </a:r>
          </a:p>
        </p:txBody>
      </p:sp>
    </p:spTree>
    <p:extLst>
      <p:ext uri="{BB962C8B-B14F-4D97-AF65-F5344CB8AC3E}">
        <p14:creationId xmlns:p14="http://schemas.microsoft.com/office/powerpoint/2010/main" val="2210444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3C2D0-3FF4-E64E-1111-4121AB036460}"/>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91660DE5-106E-297C-4607-95EC5DD1FEF1}"/>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A3933A68-4D60-D445-65A9-1A9E2B66A2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85D7FBB3-1622-2450-EC9A-1ACC20419C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9BC87100-E82B-69BD-2114-C6C714486A0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188B136C-296A-A9AE-6CA0-7D7B36C46131}"/>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D10CA9EB-29C8-A00B-1FAC-DB9C36F9F35A}"/>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9350A487-6E57-57FC-31D8-941AA727DE46}"/>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71941426-389B-D105-1608-B74C3264D81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5B6CFE33-96C8-A6F4-F44F-FC7BCE59153E}"/>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93E16639-B6F3-A4F0-38C2-3892CA49975C}"/>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9B926283-D577-8B62-137F-39AC6B76222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FE7D0A65-CD55-6113-A682-8ACDDDC0E7DD}"/>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H</a:t>
            </a:r>
            <a:r>
              <a:rPr lang="bg-BG" dirty="0">
                <a:solidFill>
                  <a:schemeClr val="accent1"/>
                </a:solidFill>
                <a:latin typeface="Century Gothic" panose="020B0502020202020204" pitchFamily="34" charset="0"/>
              </a:rPr>
              <a:t>Т</a:t>
            </a:r>
            <a:r>
              <a:rPr lang="en-GB" dirty="0">
                <a:solidFill>
                  <a:schemeClr val="accent1"/>
                </a:solidFill>
                <a:latin typeface="Century Gothic" panose="020B0502020202020204" pitchFamily="34" charset="0"/>
              </a:rPr>
              <a:t>TP </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D7144893-4CDB-9DCE-992D-6093F9992C7D}"/>
              </a:ext>
            </a:extLst>
          </p:cNvPr>
          <p:cNvSpPr txBox="1"/>
          <p:nvPr/>
        </p:nvSpPr>
        <p:spPr>
          <a:xfrm>
            <a:off x="1083789" y="1812911"/>
            <a:ext cx="7576500" cy="2308324"/>
          </a:xfrm>
          <a:prstGeom prst="rect">
            <a:avLst/>
          </a:prstGeom>
          <a:noFill/>
        </p:spPr>
        <p:txBody>
          <a:bodyPr wrap="square" rtlCol="0">
            <a:spAutoFit/>
          </a:bodyPr>
          <a:lstStyle/>
          <a:p>
            <a:r>
              <a:rPr lang="en-US" dirty="0">
                <a:solidFill>
                  <a:schemeClr val="accent3">
                    <a:lumMod val="65000"/>
                  </a:schemeClr>
                </a:solidFill>
              </a:rPr>
              <a:t>    "forms": [</a:t>
            </a:r>
          </a:p>
          <a:p>
            <a:r>
              <a:rPr lang="en-US" dirty="0">
                <a:solidFill>
                  <a:schemeClr val="accent3">
                    <a:lumMod val="65000"/>
                  </a:schemeClr>
                </a:solidFill>
              </a:rPr>
              <a:t>      {</a:t>
            </a:r>
          </a:p>
          <a:p>
            <a:r>
              <a:rPr lang="en-US" dirty="0">
                <a:solidFill>
                  <a:schemeClr val="accent3">
                    <a:lumMod val="65000"/>
                  </a:schemeClr>
                </a:solidFill>
              </a:rPr>
              <a:t>        "</a:t>
            </a:r>
            <a:r>
              <a:rPr lang="en-US" dirty="0" err="1">
                <a:solidFill>
                  <a:schemeClr val="accent3">
                    <a:lumMod val="65000"/>
                  </a:schemeClr>
                </a:solidFill>
              </a:rPr>
              <a:t>href</a:t>
            </a:r>
            <a:r>
              <a:rPr lang="en-US" dirty="0">
                <a:solidFill>
                  <a:schemeClr val="accent3">
                    <a:lumMod val="65000"/>
                  </a:schemeClr>
                </a:solidFill>
              </a:rPr>
              <a:t>": "https://coffee.example.com/properties/</a:t>
            </a:r>
            <a:r>
              <a:rPr lang="en-US" dirty="0" err="1">
                <a:solidFill>
                  <a:schemeClr val="accent3">
                    <a:lumMod val="65000"/>
                  </a:schemeClr>
                </a:solidFill>
              </a:rPr>
              <a:t>coffeeBeansLeft</a:t>
            </a:r>
            <a:r>
              <a:rPr lang="en-US" dirty="0">
                <a:solidFill>
                  <a:schemeClr val="accent3">
                    <a:lumMod val="65000"/>
                  </a:schemeClr>
                </a:solidFill>
              </a:rPr>
              <a:t>",</a:t>
            </a:r>
          </a:p>
          <a:p>
            <a:r>
              <a:rPr lang="en-US" dirty="0">
                <a:solidFill>
                  <a:schemeClr val="accent3">
                    <a:lumMod val="65000"/>
                  </a:schemeClr>
                </a:solidFill>
              </a:rPr>
              <a:t>        "op": "</a:t>
            </a:r>
            <a:r>
              <a:rPr lang="en-US" dirty="0" err="1">
                <a:solidFill>
                  <a:schemeClr val="accent3">
                    <a:lumMod val="65000"/>
                  </a:schemeClr>
                </a:solidFill>
              </a:rPr>
              <a:t>readproperty</a:t>
            </a:r>
            <a:r>
              <a:rPr lang="en-US" dirty="0">
                <a:solidFill>
                  <a:schemeClr val="accent3">
                    <a:lumMod val="65000"/>
                  </a:schemeClr>
                </a:solidFill>
              </a:rPr>
              <a:t>",</a:t>
            </a:r>
          </a:p>
          <a:p>
            <a:r>
              <a:rPr lang="en-US" dirty="0">
                <a:solidFill>
                  <a:schemeClr val="accent3">
                    <a:lumMod val="65000"/>
                  </a:schemeClr>
                </a:solidFill>
              </a:rPr>
              <a:t>        "</a:t>
            </a:r>
            <a:r>
              <a:rPr lang="en-US" dirty="0" err="1">
                <a:solidFill>
                  <a:schemeClr val="accent3">
                    <a:lumMod val="65000"/>
                  </a:schemeClr>
                </a:solidFill>
              </a:rPr>
              <a:t>contentType</a:t>
            </a:r>
            <a:r>
              <a:rPr lang="en-US" dirty="0">
                <a:solidFill>
                  <a:schemeClr val="accent3">
                    <a:lumMod val="65000"/>
                  </a:schemeClr>
                </a:solidFill>
              </a:rPr>
              <a:t>": "application/</a:t>
            </a:r>
            <a:r>
              <a:rPr lang="en-US" dirty="0" err="1">
                <a:solidFill>
                  <a:schemeClr val="accent3">
                    <a:lumMod val="65000"/>
                  </a:schemeClr>
                </a:solidFill>
              </a:rPr>
              <a:t>json</a:t>
            </a:r>
            <a:r>
              <a:rPr lang="en-US" dirty="0">
                <a:solidFill>
                  <a:schemeClr val="accent3">
                    <a:lumMod val="65000"/>
                  </a:schemeClr>
                </a:solidFill>
              </a:rPr>
              <a:t>",</a:t>
            </a:r>
          </a:p>
          <a:p>
            <a:r>
              <a:rPr lang="en-US" dirty="0">
                <a:solidFill>
                  <a:schemeClr val="accent3">
                    <a:lumMod val="65000"/>
                  </a:schemeClr>
                </a:solidFill>
              </a:rPr>
              <a:t>        "</a:t>
            </a:r>
            <a:r>
              <a:rPr lang="en-US" dirty="0" err="1">
                <a:solidFill>
                  <a:schemeClr val="accent3">
                    <a:lumMod val="65000"/>
                  </a:schemeClr>
                </a:solidFill>
              </a:rPr>
              <a:t>htv:methodName</a:t>
            </a:r>
            <a:r>
              <a:rPr lang="en-US" dirty="0">
                <a:solidFill>
                  <a:schemeClr val="accent3">
                    <a:lumMod val="65000"/>
                  </a:schemeClr>
                </a:solidFill>
              </a:rPr>
              <a:t>": "GET"</a:t>
            </a:r>
          </a:p>
          <a:p>
            <a:r>
              <a:rPr lang="en-US" dirty="0">
                <a:solidFill>
                  <a:schemeClr val="accent3">
                    <a:lumMod val="65000"/>
                  </a:schemeClr>
                </a:solidFill>
              </a:rPr>
              <a:t>      }</a:t>
            </a:r>
          </a:p>
          <a:p>
            <a:r>
              <a:rPr lang="en-US" dirty="0">
                <a:solidFill>
                  <a:schemeClr val="accent3">
                    <a:lumMod val="65000"/>
                  </a:schemeClr>
                </a:solidFill>
              </a:rPr>
              <a:t>    ]</a:t>
            </a:r>
          </a:p>
        </p:txBody>
      </p:sp>
      <p:sp>
        <p:nvSpPr>
          <p:cNvPr id="2" name="ReqLabel">
            <a:extLst>
              <a:ext uri="{FF2B5EF4-FFF2-40B4-BE49-F238E27FC236}">
                <a16:creationId xmlns:a16="http://schemas.microsoft.com/office/drawing/2014/main" id="{0ED200AA-2543-91DA-FF2A-5208EA12AB52}"/>
              </a:ext>
            </a:extLst>
          </p:cNvPr>
          <p:cNvSpPr txBox="1"/>
          <p:nvPr/>
        </p:nvSpPr>
        <p:spPr>
          <a:xfrm>
            <a:off x="1377262" y="4658765"/>
            <a:ext cx="2360560"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2"/>
                </a:solidFill>
                <a:latin typeface="Century Gothic" panose="020B0502020202020204" pitchFamily="34" charset="0"/>
              </a:rPr>
              <a:t>► HTTP REQUEST</a:t>
            </a:r>
          </a:p>
        </p:txBody>
      </p:sp>
    </p:spTree>
    <p:extLst>
      <p:ext uri="{BB962C8B-B14F-4D97-AF65-F5344CB8AC3E}">
        <p14:creationId xmlns:p14="http://schemas.microsoft.com/office/powerpoint/2010/main" val="3671368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600">
        <p159:morph option="byObject"/>
      </p:transition>
    </mc:Choice>
    <mc:Fallback xmlns="">
      <p:transition spd="slow" advTm="16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A44AB-6A3A-CFB1-C45D-B7438305146D}"/>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02801575-3258-9218-AF6E-39C65F051E33}"/>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9D7F3E90-5BAF-E3A9-4996-FD102AA819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DA108988-D5A2-5222-B11E-0508D77AB6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7C44EA6E-1B0A-9237-80B9-4C60F74E591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FE45FEFF-09CC-85A3-55C2-2B69B426FC3C}"/>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95785A80-EFF2-C20C-8A01-FF2C95F4B92A}"/>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7B181D2A-06F9-9B5E-B00A-778D3994A68B}"/>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76814828-C51B-6366-73D2-51E9E8BAE842}"/>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04493F9C-B139-6E64-CC25-2EA4B3C9AED4}"/>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871AB852-41E2-5028-01F3-AFED9DBEB2A5}"/>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AE430821-FFF1-20AA-CC8C-519531B79C4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82BB5DEB-0A31-F2CE-B0C0-8B12F7A4AC04}"/>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H</a:t>
            </a:r>
            <a:r>
              <a:rPr lang="bg-BG" dirty="0">
                <a:solidFill>
                  <a:schemeClr val="accent1"/>
                </a:solidFill>
                <a:latin typeface="Century Gothic" panose="020B0502020202020204" pitchFamily="34" charset="0"/>
              </a:rPr>
              <a:t>Т</a:t>
            </a:r>
            <a:r>
              <a:rPr lang="en-GB" dirty="0">
                <a:solidFill>
                  <a:schemeClr val="accent1"/>
                </a:solidFill>
                <a:latin typeface="Century Gothic" panose="020B0502020202020204" pitchFamily="34" charset="0"/>
              </a:rPr>
              <a:t>TP </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C971BD42-FAAE-38BD-16F7-1FA75F7C93CB}"/>
              </a:ext>
            </a:extLst>
          </p:cNvPr>
          <p:cNvSpPr txBox="1"/>
          <p:nvPr/>
        </p:nvSpPr>
        <p:spPr>
          <a:xfrm>
            <a:off x="1083789" y="1812911"/>
            <a:ext cx="7576500" cy="2308324"/>
          </a:xfrm>
          <a:prstGeom prst="rect">
            <a:avLst/>
          </a:prstGeom>
          <a:noFill/>
        </p:spPr>
        <p:txBody>
          <a:bodyPr wrap="square" rtlCol="0">
            <a:spAutoFit/>
          </a:bodyPr>
          <a:lstStyle/>
          <a:p>
            <a:r>
              <a:rPr lang="en-US" dirty="0">
                <a:solidFill>
                  <a:schemeClr val="accent3">
                    <a:lumMod val="65000"/>
                  </a:schemeClr>
                </a:solidFill>
              </a:rPr>
              <a:t>    "forms": [</a:t>
            </a:r>
          </a:p>
          <a:p>
            <a:r>
              <a:rPr lang="en-US" dirty="0">
                <a:solidFill>
                  <a:schemeClr val="accent3">
                    <a:lumMod val="65000"/>
                  </a:schemeClr>
                </a:solidFill>
              </a:rPr>
              <a:t>      {</a:t>
            </a:r>
          </a:p>
          <a:p>
            <a:r>
              <a:rPr lang="en-US" dirty="0">
                <a:solidFill>
                  <a:schemeClr val="accent3">
                    <a:lumMod val="65000"/>
                  </a:schemeClr>
                </a:solidFill>
              </a:rPr>
              <a:t>       </a:t>
            </a:r>
            <a:r>
              <a:rPr lang="en-US" dirty="0">
                <a:solidFill>
                  <a:schemeClr val="accent5"/>
                </a:solidFill>
              </a:rPr>
              <a:t> "</a:t>
            </a:r>
            <a:r>
              <a:rPr lang="en-US" dirty="0" err="1">
                <a:solidFill>
                  <a:schemeClr val="accent5"/>
                </a:solidFill>
              </a:rPr>
              <a:t>href</a:t>
            </a:r>
            <a:r>
              <a:rPr lang="en-US" dirty="0">
                <a:solidFill>
                  <a:schemeClr val="accent5"/>
                </a:solidFill>
              </a:rPr>
              <a:t>"</a:t>
            </a:r>
            <a:r>
              <a:rPr lang="en-US" dirty="0">
                <a:solidFill>
                  <a:schemeClr val="accent1"/>
                </a:solidFill>
              </a:rPr>
              <a:t>: "https://coffee.example.com/properties/</a:t>
            </a:r>
            <a:r>
              <a:rPr lang="en-US" dirty="0" err="1">
                <a:solidFill>
                  <a:schemeClr val="accent1"/>
                </a:solidFill>
              </a:rPr>
              <a:t>coffeeBeansLeft</a:t>
            </a:r>
            <a:r>
              <a:rPr lang="en-US" dirty="0">
                <a:solidFill>
                  <a:schemeClr val="accent1"/>
                </a:solidFill>
              </a:rPr>
              <a:t>"</a:t>
            </a:r>
            <a:r>
              <a:rPr lang="en-US" dirty="0">
                <a:solidFill>
                  <a:schemeClr val="accent3">
                    <a:lumMod val="65000"/>
                  </a:schemeClr>
                </a:solidFill>
              </a:rPr>
              <a:t>,</a:t>
            </a:r>
          </a:p>
          <a:p>
            <a:r>
              <a:rPr lang="en-US" dirty="0">
                <a:solidFill>
                  <a:schemeClr val="accent3">
                    <a:lumMod val="65000"/>
                  </a:schemeClr>
                </a:solidFill>
              </a:rPr>
              <a:t>        "op": "</a:t>
            </a:r>
            <a:r>
              <a:rPr lang="en-US" dirty="0" err="1">
                <a:solidFill>
                  <a:schemeClr val="accent3">
                    <a:lumMod val="65000"/>
                  </a:schemeClr>
                </a:solidFill>
              </a:rPr>
              <a:t>readproperty</a:t>
            </a:r>
            <a:r>
              <a:rPr lang="en-US" dirty="0">
                <a:solidFill>
                  <a:schemeClr val="accent3">
                    <a:lumMod val="65000"/>
                  </a:schemeClr>
                </a:solidFill>
              </a:rPr>
              <a:t>",</a:t>
            </a:r>
          </a:p>
          <a:p>
            <a:r>
              <a:rPr lang="en-US" dirty="0">
                <a:solidFill>
                  <a:schemeClr val="accent3">
                    <a:lumMod val="65000"/>
                  </a:schemeClr>
                </a:solidFill>
              </a:rPr>
              <a:t>        "</a:t>
            </a:r>
            <a:r>
              <a:rPr lang="en-US" dirty="0" err="1">
                <a:solidFill>
                  <a:schemeClr val="accent3">
                    <a:lumMod val="65000"/>
                  </a:schemeClr>
                </a:solidFill>
              </a:rPr>
              <a:t>contentType</a:t>
            </a:r>
            <a:r>
              <a:rPr lang="en-US" dirty="0">
                <a:solidFill>
                  <a:schemeClr val="accent3">
                    <a:lumMod val="65000"/>
                  </a:schemeClr>
                </a:solidFill>
              </a:rPr>
              <a:t>": "application/</a:t>
            </a:r>
            <a:r>
              <a:rPr lang="en-US" dirty="0" err="1">
                <a:solidFill>
                  <a:schemeClr val="accent3">
                    <a:lumMod val="65000"/>
                  </a:schemeClr>
                </a:solidFill>
              </a:rPr>
              <a:t>json</a:t>
            </a:r>
            <a:r>
              <a:rPr lang="en-US" dirty="0">
                <a:solidFill>
                  <a:schemeClr val="accent3">
                    <a:lumMod val="65000"/>
                  </a:schemeClr>
                </a:solidFill>
              </a:rPr>
              <a:t>",</a:t>
            </a:r>
          </a:p>
          <a:p>
            <a:r>
              <a:rPr lang="en-US" dirty="0">
                <a:solidFill>
                  <a:schemeClr val="accent1"/>
                </a:solidFill>
              </a:rPr>
              <a:t>        </a:t>
            </a:r>
            <a:r>
              <a:rPr lang="en-US" dirty="0">
                <a:solidFill>
                  <a:schemeClr val="accent5"/>
                </a:solidFill>
              </a:rPr>
              <a:t>"</a:t>
            </a:r>
            <a:r>
              <a:rPr lang="en-US" dirty="0" err="1">
                <a:solidFill>
                  <a:schemeClr val="accent5"/>
                </a:solidFill>
              </a:rPr>
              <a:t>htv:methodName</a:t>
            </a:r>
            <a:r>
              <a:rPr lang="en-US" dirty="0">
                <a:solidFill>
                  <a:schemeClr val="accent5"/>
                </a:solidFill>
              </a:rPr>
              <a:t>"</a:t>
            </a:r>
            <a:r>
              <a:rPr lang="en-US" dirty="0">
                <a:solidFill>
                  <a:schemeClr val="accent1"/>
                </a:solidFill>
              </a:rPr>
              <a:t>: "GET"</a:t>
            </a:r>
          </a:p>
          <a:p>
            <a:r>
              <a:rPr lang="en-US" dirty="0">
                <a:solidFill>
                  <a:schemeClr val="accent3">
                    <a:lumMod val="65000"/>
                  </a:schemeClr>
                </a:solidFill>
              </a:rPr>
              <a:t>      }</a:t>
            </a:r>
          </a:p>
          <a:p>
            <a:r>
              <a:rPr lang="en-US" dirty="0">
                <a:solidFill>
                  <a:schemeClr val="accent3">
                    <a:lumMod val="65000"/>
                  </a:schemeClr>
                </a:solidFill>
              </a:rPr>
              <a:t>    ]</a:t>
            </a:r>
          </a:p>
        </p:txBody>
      </p:sp>
      <p:sp>
        <p:nvSpPr>
          <p:cNvPr id="2" name="ReqLabel">
            <a:extLst>
              <a:ext uri="{FF2B5EF4-FFF2-40B4-BE49-F238E27FC236}">
                <a16:creationId xmlns:a16="http://schemas.microsoft.com/office/drawing/2014/main" id="{FE9672AB-3D16-589D-A7A1-114F04044548}"/>
              </a:ext>
            </a:extLst>
          </p:cNvPr>
          <p:cNvSpPr txBox="1"/>
          <p:nvPr/>
        </p:nvSpPr>
        <p:spPr>
          <a:xfrm>
            <a:off x="1377262" y="4658765"/>
            <a:ext cx="2360560"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2"/>
                </a:solidFill>
                <a:latin typeface="Century Gothic" panose="020B0502020202020204" pitchFamily="34" charset="0"/>
              </a:rPr>
              <a:t>► HTTP REQUEST</a:t>
            </a:r>
          </a:p>
        </p:txBody>
      </p:sp>
      <p:sp>
        <p:nvSpPr>
          <p:cNvPr id="3" name="TextBox 2">
            <a:extLst>
              <a:ext uri="{FF2B5EF4-FFF2-40B4-BE49-F238E27FC236}">
                <a16:creationId xmlns:a16="http://schemas.microsoft.com/office/drawing/2014/main" id="{6AB21F9A-FE64-0E17-BCAC-7A74A649B5B5}"/>
              </a:ext>
            </a:extLst>
          </p:cNvPr>
          <p:cNvSpPr txBox="1"/>
          <p:nvPr/>
        </p:nvSpPr>
        <p:spPr>
          <a:xfrm>
            <a:off x="1377262" y="5060165"/>
            <a:ext cx="4169970" cy="861774"/>
          </a:xfrm>
          <a:prstGeom prst="rect">
            <a:avLst/>
          </a:prstGeom>
          <a:noFill/>
        </p:spPr>
        <p:txBody>
          <a:bodyPr wrap="square" rtlCol="0">
            <a:spAutoFit/>
          </a:bodyPr>
          <a:lstStyle/>
          <a:p>
            <a:r>
              <a:rPr lang="en-US" sz="1600" dirty="0">
                <a:solidFill>
                  <a:schemeClr val="accent1"/>
                </a:solidFill>
              </a:rPr>
              <a:t>GET /properties/</a:t>
            </a:r>
            <a:r>
              <a:rPr lang="en-US" sz="1600" dirty="0" err="1">
                <a:solidFill>
                  <a:schemeClr val="accent1"/>
                </a:solidFill>
              </a:rPr>
              <a:t>coffeeBeansLeft</a:t>
            </a:r>
            <a:r>
              <a:rPr lang="en-US" sz="1600" dirty="0">
                <a:solidFill>
                  <a:schemeClr val="accent1"/>
                </a:solidFill>
              </a:rPr>
              <a:t> HTTP/1.1</a:t>
            </a:r>
          </a:p>
          <a:p>
            <a:r>
              <a:rPr lang="en-US" sz="1600" dirty="0">
                <a:solidFill>
                  <a:schemeClr val="accent1"/>
                </a:solidFill>
              </a:rPr>
              <a:t>Host: coffee.example.com</a:t>
            </a:r>
          </a:p>
          <a:p>
            <a:r>
              <a:rPr lang="en-US" sz="1600" dirty="0">
                <a:solidFill>
                  <a:schemeClr val="accent3">
                    <a:lumMod val="95000"/>
                  </a:schemeClr>
                </a:solidFill>
              </a:rPr>
              <a:t>Accept: application/</a:t>
            </a:r>
            <a:r>
              <a:rPr lang="en-US" sz="1600" dirty="0" err="1">
                <a:solidFill>
                  <a:schemeClr val="accent3">
                    <a:lumMod val="95000"/>
                  </a:schemeClr>
                </a:solidFill>
              </a:rPr>
              <a:t>json</a:t>
            </a:r>
            <a:endParaRPr lang="en-US" sz="1600" dirty="0">
              <a:solidFill>
                <a:schemeClr val="accent3">
                  <a:lumMod val="95000"/>
                </a:schemeClr>
              </a:solidFill>
            </a:endParaRPr>
          </a:p>
        </p:txBody>
      </p:sp>
    </p:spTree>
    <p:extLst>
      <p:ext uri="{BB962C8B-B14F-4D97-AF65-F5344CB8AC3E}">
        <p14:creationId xmlns:p14="http://schemas.microsoft.com/office/powerpoint/2010/main" val="8507890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200">
        <p159:morph option="byObject"/>
      </p:transition>
    </mc:Choice>
    <mc:Fallback xmlns="">
      <p:transition spd="slow" advTm="32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D571B-36A6-D337-F602-23E45C922D63}"/>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599FD45F-8B3A-E5DA-63A3-14821ACC9081}"/>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5EFC80DB-D21C-4683-92DD-C411B52848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119F3B2B-0408-B143-3B7A-7A87C2D4D6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88D1B254-BD84-55AB-5004-CD8BF62D0A2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2AF93B16-3B6A-EB46-A485-C322817589BC}"/>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18FCE2C3-6216-7107-7425-E27D5556CDF6}"/>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6D341CFE-78CA-3C33-4421-20010DD71FC9}"/>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7EBB4266-E027-79E0-1DF3-229CDEEF62A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A55D1105-7F8E-8A36-465D-ABBBA2C10732}"/>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ABD58DC2-C07D-97D8-C3E9-43C593CF5355}"/>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415D5668-7064-2746-8F82-7AEF7CDA1D9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9C507720-E9E4-E5DE-7EDD-C7AF51C64BB0}"/>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H</a:t>
            </a:r>
            <a:r>
              <a:rPr lang="bg-BG" dirty="0">
                <a:solidFill>
                  <a:schemeClr val="accent1"/>
                </a:solidFill>
                <a:latin typeface="Century Gothic" panose="020B0502020202020204" pitchFamily="34" charset="0"/>
              </a:rPr>
              <a:t>Т</a:t>
            </a:r>
            <a:r>
              <a:rPr lang="en-GB" dirty="0">
                <a:solidFill>
                  <a:schemeClr val="accent1"/>
                </a:solidFill>
                <a:latin typeface="Century Gothic" panose="020B0502020202020204" pitchFamily="34" charset="0"/>
              </a:rPr>
              <a:t>TP </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D20CC0AE-93CD-6DD7-663C-98951059164B}"/>
              </a:ext>
            </a:extLst>
          </p:cNvPr>
          <p:cNvSpPr txBox="1"/>
          <p:nvPr/>
        </p:nvSpPr>
        <p:spPr>
          <a:xfrm>
            <a:off x="1083789" y="1812911"/>
            <a:ext cx="7576500" cy="2308324"/>
          </a:xfrm>
          <a:prstGeom prst="rect">
            <a:avLst/>
          </a:prstGeom>
          <a:noFill/>
        </p:spPr>
        <p:txBody>
          <a:bodyPr wrap="square" rtlCol="0">
            <a:spAutoFit/>
          </a:bodyPr>
          <a:lstStyle/>
          <a:p>
            <a:r>
              <a:rPr lang="en-US" dirty="0">
                <a:solidFill>
                  <a:schemeClr val="accent3">
                    <a:lumMod val="65000"/>
                  </a:schemeClr>
                </a:solidFill>
              </a:rPr>
              <a:t>    "forms": [</a:t>
            </a:r>
          </a:p>
          <a:p>
            <a:r>
              <a:rPr lang="en-US" dirty="0">
                <a:solidFill>
                  <a:schemeClr val="accent3">
                    <a:lumMod val="65000"/>
                  </a:schemeClr>
                </a:solidFill>
              </a:rPr>
              <a:t>      {</a:t>
            </a:r>
          </a:p>
          <a:p>
            <a:r>
              <a:rPr lang="en-US" dirty="0">
                <a:solidFill>
                  <a:schemeClr val="accent3">
                    <a:lumMod val="65000"/>
                  </a:schemeClr>
                </a:solidFill>
              </a:rPr>
              <a:t>        "</a:t>
            </a:r>
            <a:r>
              <a:rPr lang="en-US" dirty="0" err="1">
                <a:solidFill>
                  <a:schemeClr val="accent3">
                    <a:lumMod val="65000"/>
                  </a:schemeClr>
                </a:solidFill>
              </a:rPr>
              <a:t>href</a:t>
            </a:r>
            <a:r>
              <a:rPr lang="en-US" dirty="0">
                <a:solidFill>
                  <a:schemeClr val="accent3">
                    <a:lumMod val="65000"/>
                  </a:schemeClr>
                </a:solidFill>
              </a:rPr>
              <a:t>": "https://coffee.example.com/properties/</a:t>
            </a:r>
            <a:r>
              <a:rPr lang="en-US" dirty="0" err="1">
                <a:solidFill>
                  <a:schemeClr val="accent3">
                    <a:lumMod val="65000"/>
                  </a:schemeClr>
                </a:solidFill>
              </a:rPr>
              <a:t>coffeeBeansLeft</a:t>
            </a:r>
            <a:r>
              <a:rPr lang="en-US" dirty="0">
                <a:solidFill>
                  <a:schemeClr val="accent3">
                    <a:lumMod val="65000"/>
                  </a:schemeClr>
                </a:solidFill>
              </a:rPr>
              <a:t>",</a:t>
            </a:r>
          </a:p>
          <a:p>
            <a:r>
              <a:rPr lang="en-US" dirty="0">
                <a:solidFill>
                  <a:schemeClr val="accent3">
                    <a:lumMod val="65000"/>
                  </a:schemeClr>
                </a:solidFill>
              </a:rPr>
              <a:t>        "op": "</a:t>
            </a:r>
            <a:r>
              <a:rPr lang="en-US" dirty="0" err="1">
                <a:solidFill>
                  <a:schemeClr val="accent3">
                    <a:lumMod val="65000"/>
                  </a:schemeClr>
                </a:solidFill>
              </a:rPr>
              <a:t>readproperty</a:t>
            </a:r>
            <a:r>
              <a:rPr lang="en-US" dirty="0">
                <a:solidFill>
                  <a:schemeClr val="accent3">
                    <a:lumMod val="65000"/>
                  </a:schemeClr>
                </a:solidFill>
              </a:rPr>
              <a:t>",</a:t>
            </a:r>
          </a:p>
          <a:p>
            <a:r>
              <a:rPr lang="en-US" dirty="0">
                <a:solidFill>
                  <a:schemeClr val="accent3">
                    <a:lumMod val="65000"/>
                  </a:schemeClr>
                </a:solidFill>
              </a:rPr>
              <a:t>        "</a:t>
            </a:r>
            <a:r>
              <a:rPr lang="en-US" dirty="0" err="1">
                <a:solidFill>
                  <a:schemeClr val="accent3">
                    <a:lumMod val="65000"/>
                  </a:schemeClr>
                </a:solidFill>
              </a:rPr>
              <a:t>contentType</a:t>
            </a:r>
            <a:r>
              <a:rPr lang="en-US" dirty="0">
                <a:solidFill>
                  <a:schemeClr val="accent3">
                    <a:lumMod val="65000"/>
                  </a:schemeClr>
                </a:solidFill>
              </a:rPr>
              <a:t>": "application/</a:t>
            </a:r>
            <a:r>
              <a:rPr lang="en-US" dirty="0" err="1">
                <a:solidFill>
                  <a:schemeClr val="accent3">
                    <a:lumMod val="65000"/>
                  </a:schemeClr>
                </a:solidFill>
              </a:rPr>
              <a:t>json</a:t>
            </a:r>
            <a:r>
              <a:rPr lang="en-US" dirty="0">
                <a:solidFill>
                  <a:schemeClr val="accent3">
                    <a:lumMod val="65000"/>
                  </a:schemeClr>
                </a:solidFill>
              </a:rPr>
              <a:t>",</a:t>
            </a:r>
          </a:p>
          <a:p>
            <a:r>
              <a:rPr lang="en-US" dirty="0">
                <a:solidFill>
                  <a:schemeClr val="accent3">
                    <a:lumMod val="65000"/>
                  </a:schemeClr>
                </a:solidFill>
              </a:rPr>
              <a:t>        "</a:t>
            </a:r>
            <a:r>
              <a:rPr lang="en-US" dirty="0" err="1">
                <a:solidFill>
                  <a:schemeClr val="accent3">
                    <a:lumMod val="65000"/>
                  </a:schemeClr>
                </a:solidFill>
              </a:rPr>
              <a:t>htv:methodName</a:t>
            </a:r>
            <a:r>
              <a:rPr lang="en-US" dirty="0">
                <a:solidFill>
                  <a:schemeClr val="accent3">
                    <a:lumMod val="65000"/>
                  </a:schemeClr>
                </a:solidFill>
              </a:rPr>
              <a:t>": "GET"</a:t>
            </a:r>
          </a:p>
          <a:p>
            <a:r>
              <a:rPr lang="en-US" dirty="0">
                <a:solidFill>
                  <a:schemeClr val="accent3">
                    <a:lumMod val="65000"/>
                  </a:schemeClr>
                </a:solidFill>
              </a:rPr>
              <a:t>      }</a:t>
            </a:r>
          </a:p>
          <a:p>
            <a:r>
              <a:rPr lang="en-US" dirty="0">
                <a:solidFill>
                  <a:schemeClr val="accent3">
                    <a:lumMod val="65000"/>
                  </a:schemeClr>
                </a:solidFill>
              </a:rPr>
              <a:t>    ]</a:t>
            </a:r>
          </a:p>
        </p:txBody>
      </p:sp>
      <p:sp>
        <p:nvSpPr>
          <p:cNvPr id="2" name="ReqLabel">
            <a:extLst>
              <a:ext uri="{FF2B5EF4-FFF2-40B4-BE49-F238E27FC236}">
                <a16:creationId xmlns:a16="http://schemas.microsoft.com/office/drawing/2014/main" id="{FC8357F4-DF20-DBF5-C041-76F05D984DB6}"/>
              </a:ext>
            </a:extLst>
          </p:cNvPr>
          <p:cNvSpPr txBox="1"/>
          <p:nvPr/>
        </p:nvSpPr>
        <p:spPr>
          <a:xfrm>
            <a:off x="1377262" y="4658765"/>
            <a:ext cx="2360560"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2"/>
                </a:solidFill>
                <a:latin typeface="Century Gothic" panose="020B0502020202020204" pitchFamily="34" charset="0"/>
              </a:rPr>
              <a:t>► HTTP REQUEST</a:t>
            </a:r>
          </a:p>
        </p:txBody>
      </p:sp>
      <p:sp>
        <p:nvSpPr>
          <p:cNvPr id="3" name="TextBox 2">
            <a:extLst>
              <a:ext uri="{FF2B5EF4-FFF2-40B4-BE49-F238E27FC236}">
                <a16:creationId xmlns:a16="http://schemas.microsoft.com/office/drawing/2014/main" id="{A99E1440-1A39-973E-B9E7-F8BB887FAC9E}"/>
              </a:ext>
            </a:extLst>
          </p:cNvPr>
          <p:cNvSpPr txBox="1"/>
          <p:nvPr/>
        </p:nvSpPr>
        <p:spPr>
          <a:xfrm>
            <a:off x="1377262" y="5060165"/>
            <a:ext cx="4169970" cy="861774"/>
          </a:xfrm>
          <a:prstGeom prst="rect">
            <a:avLst/>
          </a:prstGeom>
          <a:noFill/>
        </p:spPr>
        <p:txBody>
          <a:bodyPr wrap="square" rtlCol="0">
            <a:spAutoFit/>
          </a:bodyPr>
          <a:lstStyle/>
          <a:p>
            <a:r>
              <a:rPr lang="en-US" sz="1600" dirty="0">
                <a:solidFill>
                  <a:schemeClr val="accent1"/>
                </a:solidFill>
              </a:rPr>
              <a:t>GET /properties/</a:t>
            </a:r>
            <a:r>
              <a:rPr lang="en-US" sz="1600" dirty="0" err="1">
                <a:solidFill>
                  <a:schemeClr val="accent1"/>
                </a:solidFill>
              </a:rPr>
              <a:t>coffeeBeansLeft</a:t>
            </a:r>
            <a:r>
              <a:rPr lang="en-US" sz="1600" dirty="0">
                <a:solidFill>
                  <a:schemeClr val="accent1"/>
                </a:solidFill>
              </a:rPr>
              <a:t> HTTP/1.1</a:t>
            </a:r>
          </a:p>
          <a:p>
            <a:r>
              <a:rPr lang="en-US" sz="1600" dirty="0">
                <a:solidFill>
                  <a:schemeClr val="accent1"/>
                </a:solidFill>
              </a:rPr>
              <a:t>Host: coffee.example.com</a:t>
            </a:r>
          </a:p>
          <a:p>
            <a:r>
              <a:rPr lang="en-US" sz="1600" dirty="0">
                <a:solidFill>
                  <a:schemeClr val="accent3">
                    <a:lumMod val="95000"/>
                  </a:schemeClr>
                </a:solidFill>
              </a:rPr>
              <a:t>Accept: application/</a:t>
            </a:r>
            <a:r>
              <a:rPr lang="en-US" sz="1600" dirty="0" err="1">
                <a:solidFill>
                  <a:schemeClr val="accent3">
                    <a:lumMod val="95000"/>
                  </a:schemeClr>
                </a:solidFill>
              </a:rPr>
              <a:t>json</a:t>
            </a:r>
            <a:endParaRPr lang="en-US" sz="1600" dirty="0">
              <a:solidFill>
                <a:schemeClr val="accent3">
                  <a:lumMod val="95000"/>
                </a:schemeClr>
              </a:solidFill>
            </a:endParaRPr>
          </a:p>
        </p:txBody>
      </p:sp>
    </p:spTree>
    <p:extLst>
      <p:ext uri="{BB962C8B-B14F-4D97-AF65-F5344CB8AC3E}">
        <p14:creationId xmlns:p14="http://schemas.microsoft.com/office/powerpoint/2010/main" val="13634671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EA566-39AA-E3C4-E9CC-CF5EFC66DB4B}"/>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F0A33D9-8188-491D-4966-CD1452FCDEA4}"/>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614FA6E3-CFC8-EDEF-E51E-84249BDC2A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9C6EF793-50F9-554B-7F19-5781E9C55E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65C7E5DC-A92B-0931-C196-F741EA897FA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EFE44254-0C03-ADCA-ED56-019F1DC41562}"/>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0856FF40-44CA-56B8-35E5-B299CF07EA6E}"/>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B85B8606-4659-ACAF-E1D7-7414E10096D4}"/>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3561E4F4-129B-2E61-82CE-E69539B425D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F286FC25-A57D-D900-5AD9-8BA1A679A35F}"/>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D5C8E467-1D49-1F6B-A01E-F9B589E013B1}"/>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3B87975A-4A57-B336-0184-E5B409C0874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DF4D35A4-2715-CA80-CFAA-899F1EA4B164}"/>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H</a:t>
            </a:r>
            <a:r>
              <a:rPr lang="bg-BG" dirty="0">
                <a:solidFill>
                  <a:schemeClr val="accent1"/>
                </a:solidFill>
                <a:latin typeface="Century Gothic" panose="020B0502020202020204" pitchFamily="34" charset="0"/>
              </a:rPr>
              <a:t>Т</a:t>
            </a:r>
            <a:r>
              <a:rPr lang="en-GB" dirty="0">
                <a:solidFill>
                  <a:schemeClr val="accent1"/>
                </a:solidFill>
                <a:latin typeface="Century Gothic" panose="020B0502020202020204" pitchFamily="34" charset="0"/>
              </a:rPr>
              <a:t>TP </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7D583CDE-A146-28A1-722F-F22F59587E0C}"/>
              </a:ext>
            </a:extLst>
          </p:cNvPr>
          <p:cNvSpPr txBox="1"/>
          <p:nvPr/>
        </p:nvSpPr>
        <p:spPr>
          <a:xfrm>
            <a:off x="1083789" y="1812911"/>
            <a:ext cx="7576500" cy="2308324"/>
          </a:xfrm>
          <a:prstGeom prst="rect">
            <a:avLst/>
          </a:prstGeom>
          <a:noFill/>
        </p:spPr>
        <p:txBody>
          <a:bodyPr wrap="square" rtlCol="0">
            <a:spAutoFit/>
          </a:bodyPr>
          <a:lstStyle/>
          <a:p>
            <a:r>
              <a:rPr lang="en-US" dirty="0">
                <a:solidFill>
                  <a:schemeClr val="accent3">
                    <a:lumMod val="65000"/>
                  </a:schemeClr>
                </a:solidFill>
              </a:rPr>
              <a:t>    "forms": [</a:t>
            </a:r>
          </a:p>
          <a:p>
            <a:r>
              <a:rPr lang="en-US" dirty="0">
                <a:solidFill>
                  <a:schemeClr val="accent3">
                    <a:lumMod val="65000"/>
                  </a:schemeClr>
                </a:solidFill>
              </a:rPr>
              <a:t>      {</a:t>
            </a:r>
          </a:p>
          <a:p>
            <a:r>
              <a:rPr lang="en-US" dirty="0">
                <a:solidFill>
                  <a:schemeClr val="accent3">
                    <a:lumMod val="65000"/>
                  </a:schemeClr>
                </a:solidFill>
              </a:rPr>
              <a:t>        "</a:t>
            </a:r>
            <a:r>
              <a:rPr lang="en-US" dirty="0" err="1">
                <a:solidFill>
                  <a:schemeClr val="accent3">
                    <a:lumMod val="65000"/>
                  </a:schemeClr>
                </a:solidFill>
              </a:rPr>
              <a:t>href</a:t>
            </a:r>
            <a:r>
              <a:rPr lang="en-US" dirty="0">
                <a:solidFill>
                  <a:schemeClr val="accent3">
                    <a:lumMod val="65000"/>
                  </a:schemeClr>
                </a:solidFill>
              </a:rPr>
              <a:t>": "https://coffee.example.com/properties/</a:t>
            </a:r>
            <a:r>
              <a:rPr lang="en-US" dirty="0" err="1">
                <a:solidFill>
                  <a:schemeClr val="accent3">
                    <a:lumMod val="65000"/>
                  </a:schemeClr>
                </a:solidFill>
              </a:rPr>
              <a:t>coffeeBeansLeft</a:t>
            </a:r>
            <a:r>
              <a:rPr lang="en-US" dirty="0">
                <a:solidFill>
                  <a:schemeClr val="accent3">
                    <a:lumMod val="65000"/>
                  </a:schemeClr>
                </a:solidFill>
              </a:rPr>
              <a:t>",</a:t>
            </a:r>
          </a:p>
          <a:p>
            <a:r>
              <a:rPr lang="en-US" dirty="0">
                <a:solidFill>
                  <a:schemeClr val="accent3">
                    <a:lumMod val="65000"/>
                  </a:schemeClr>
                </a:solidFill>
              </a:rPr>
              <a:t>        "op": "</a:t>
            </a:r>
            <a:r>
              <a:rPr lang="en-US" dirty="0" err="1">
                <a:solidFill>
                  <a:schemeClr val="accent3">
                    <a:lumMod val="65000"/>
                  </a:schemeClr>
                </a:solidFill>
              </a:rPr>
              <a:t>readproperty</a:t>
            </a:r>
            <a:r>
              <a:rPr lang="en-US" dirty="0">
                <a:solidFill>
                  <a:schemeClr val="accent3">
                    <a:lumMod val="65000"/>
                  </a:schemeClr>
                </a:solidFill>
              </a:rPr>
              <a:t>",</a:t>
            </a:r>
          </a:p>
          <a:p>
            <a:r>
              <a:rPr lang="en-US" dirty="0">
                <a:solidFill>
                  <a:schemeClr val="accent3">
                    <a:lumMod val="65000"/>
                  </a:schemeClr>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a:t>
            </a:r>
            <a:r>
              <a:rPr lang="en-US" dirty="0" err="1">
                <a:solidFill>
                  <a:schemeClr val="accent1"/>
                </a:solidFill>
              </a:rPr>
              <a:t>json</a:t>
            </a:r>
            <a:r>
              <a:rPr lang="en-US" dirty="0">
                <a:solidFill>
                  <a:schemeClr val="accent1"/>
                </a:solidFill>
              </a:rPr>
              <a:t>"</a:t>
            </a:r>
            <a:r>
              <a:rPr lang="en-US" dirty="0">
                <a:solidFill>
                  <a:schemeClr val="accent3">
                    <a:lumMod val="75000"/>
                  </a:schemeClr>
                </a:solidFill>
              </a:rPr>
              <a:t>,</a:t>
            </a:r>
          </a:p>
          <a:p>
            <a:r>
              <a:rPr lang="en-US" dirty="0">
                <a:solidFill>
                  <a:schemeClr val="accent3">
                    <a:lumMod val="65000"/>
                  </a:schemeClr>
                </a:solidFill>
              </a:rPr>
              <a:t>        "</a:t>
            </a:r>
            <a:r>
              <a:rPr lang="en-US" dirty="0" err="1">
                <a:solidFill>
                  <a:schemeClr val="accent3">
                    <a:lumMod val="65000"/>
                  </a:schemeClr>
                </a:solidFill>
              </a:rPr>
              <a:t>htv:methodName</a:t>
            </a:r>
            <a:r>
              <a:rPr lang="en-US" dirty="0">
                <a:solidFill>
                  <a:schemeClr val="accent3">
                    <a:lumMod val="65000"/>
                  </a:schemeClr>
                </a:solidFill>
              </a:rPr>
              <a:t>": "GET"</a:t>
            </a:r>
          </a:p>
          <a:p>
            <a:r>
              <a:rPr lang="en-US" dirty="0">
                <a:solidFill>
                  <a:schemeClr val="accent3">
                    <a:lumMod val="65000"/>
                  </a:schemeClr>
                </a:solidFill>
              </a:rPr>
              <a:t>      }</a:t>
            </a:r>
          </a:p>
          <a:p>
            <a:r>
              <a:rPr lang="en-US" dirty="0">
                <a:solidFill>
                  <a:schemeClr val="accent3">
                    <a:lumMod val="65000"/>
                  </a:schemeClr>
                </a:solidFill>
              </a:rPr>
              <a:t>    ]</a:t>
            </a:r>
          </a:p>
        </p:txBody>
      </p:sp>
      <p:sp>
        <p:nvSpPr>
          <p:cNvPr id="2" name="ReqLabel">
            <a:extLst>
              <a:ext uri="{FF2B5EF4-FFF2-40B4-BE49-F238E27FC236}">
                <a16:creationId xmlns:a16="http://schemas.microsoft.com/office/drawing/2014/main" id="{0F6EA614-8976-016D-E7D0-CBC19DB35F63}"/>
              </a:ext>
            </a:extLst>
          </p:cNvPr>
          <p:cNvSpPr txBox="1"/>
          <p:nvPr/>
        </p:nvSpPr>
        <p:spPr>
          <a:xfrm>
            <a:off x="1377262" y="4658765"/>
            <a:ext cx="2360560"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2"/>
                </a:solidFill>
                <a:latin typeface="Century Gothic" panose="020B0502020202020204" pitchFamily="34" charset="0"/>
              </a:rPr>
              <a:t>► HTTP REQUEST</a:t>
            </a:r>
          </a:p>
        </p:txBody>
      </p:sp>
      <p:sp>
        <p:nvSpPr>
          <p:cNvPr id="3" name="TextBox 2">
            <a:extLst>
              <a:ext uri="{FF2B5EF4-FFF2-40B4-BE49-F238E27FC236}">
                <a16:creationId xmlns:a16="http://schemas.microsoft.com/office/drawing/2014/main" id="{EBC69532-726D-E420-D530-2668502CC531}"/>
              </a:ext>
            </a:extLst>
          </p:cNvPr>
          <p:cNvSpPr txBox="1"/>
          <p:nvPr/>
        </p:nvSpPr>
        <p:spPr>
          <a:xfrm>
            <a:off x="1377262" y="5060165"/>
            <a:ext cx="4169970" cy="861774"/>
          </a:xfrm>
          <a:prstGeom prst="rect">
            <a:avLst/>
          </a:prstGeom>
          <a:noFill/>
        </p:spPr>
        <p:txBody>
          <a:bodyPr wrap="square" rtlCol="0">
            <a:spAutoFit/>
          </a:bodyPr>
          <a:lstStyle/>
          <a:p>
            <a:r>
              <a:rPr lang="en-US" sz="1600" dirty="0">
                <a:solidFill>
                  <a:schemeClr val="accent1"/>
                </a:solidFill>
              </a:rPr>
              <a:t>GET /properties/</a:t>
            </a:r>
            <a:r>
              <a:rPr lang="en-US" sz="1600" dirty="0" err="1">
                <a:solidFill>
                  <a:schemeClr val="accent1"/>
                </a:solidFill>
              </a:rPr>
              <a:t>coffeeBeansLeft</a:t>
            </a:r>
            <a:r>
              <a:rPr lang="en-US" sz="1600" dirty="0">
                <a:solidFill>
                  <a:schemeClr val="accent1"/>
                </a:solidFill>
              </a:rPr>
              <a:t> HTTP/1.1</a:t>
            </a:r>
          </a:p>
          <a:p>
            <a:r>
              <a:rPr lang="en-US" sz="1600" dirty="0">
                <a:solidFill>
                  <a:schemeClr val="accent1"/>
                </a:solidFill>
              </a:rPr>
              <a:t>Host: coffee.example.com</a:t>
            </a:r>
          </a:p>
          <a:p>
            <a:r>
              <a:rPr lang="en-US" sz="1600" dirty="0">
                <a:solidFill>
                  <a:schemeClr val="accent1"/>
                </a:solidFill>
              </a:rPr>
              <a:t>Accept: application/</a:t>
            </a:r>
            <a:r>
              <a:rPr lang="en-US" sz="1600" dirty="0" err="1">
                <a:solidFill>
                  <a:schemeClr val="accent1"/>
                </a:solidFill>
              </a:rPr>
              <a:t>json</a:t>
            </a:r>
            <a:endParaRPr lang="en-US" sz="1600" dirty="0">
              <a:solidFill>
                <a:schemeClr val="accent1"/>
              </a:solidFill>
            </a:endParaRPr>
          </a:p>
        </p:txBody>
      </p:sp>
    </p:spTree>
    <p:extLst>
      <p:ext uri="{BB962C8B-B14F-4D97-AF65-F5344CB8AC3E}">
        <p14:creationId xmlns:p14="http://schemas.microsoft.com/office/powerpoint/2010/main" val="2460862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700">
        <p159:morph option="byObject"/>
      </p:transition>
    </mc:Choice>
    <mc:Fallback xmlns="">
      <p:transition spd="slow" advTm="37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82B8A-0F3E-EFF1-3328-3EB55375C423}"/>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D48CA36D-5F7F-5005-2F9B-9FFE60C683BE}"/>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208AAADE-FD9C-3CEC-897E-EF1EF6876D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BCC9D1E2-3503-EDDF-1FE4-F47014FB2A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078531E0-FDB4-35C6-1B0D-449ED4E3B45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64BD6BCB-253E-7A01-9A37-5CE4ED7A1AFB}"/>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AD2498AE-B717-57D4-CF21-65F38550719F}"/>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2A0868E9-CD82-C1CB-9A04-A1AB8F3F8055}"/>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13DC59FE-B042-EEF7-7DEC-E491F4C780F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2F6A3EFF-BAA9-26D8-1F45-F620B34FC59A}"/>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88C5F3F8-E9E6-6F9E-3A00-1363C7C06218}"/>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0DBC26E8-6134-E573-EB00-74A4F57A9F1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A235CBD6-23A6-AF3A-A91C-FF6D9274429B}"/>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H</a:t>
            </a:r>
            <a:r>
              <a:rPr lang="bg-BG" dirty="0">
                <a:solidFill>
                  <a:schemeClr val="accent1"/>
                </a:solidFill>
                <a:latin typeface="Century Gothic" panose="020B0502020202020204" pitchFamily="34" charset="0"/>
              </a:rPr>
              <a:t>Т</a:t>
            </a:r>
            <a:r>
              <a:rPr lang="en-GB" dirty="0">
                <a:solidFill>
                  <a:schemeClr val="accent1"/>
                </a:solidFill>
                <a:latin typeface="Century Gothic" panose="020B0502020202020204" pitchFamily="34" charset="0"/>
              </a:rPr>
              <a:t>TP </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C7F5299B-3371-6E9E-0899-2F1625419BED}"/>
              </a:ext>
            </a:extLst>
          </p:cNvPr>
          <p:cNvSpPr txBox="1"/>
          <p:nvPr/>
        </p:nvSpPr>
        <p:spPr>
          <a:xfrm>
            <a:off x="1083789" y="1812911"/>
            <a:ext cx="7576500" cy="2308324"/>
          </a:xfrm>
          <a:prstGeom prst="rect">
            <a:avLst/>
          </a:prstGeom>
          <a:noFill/>
        </p:spPr>
        <p:txBody>
          <a:bodyPr wrap="square" rtlCol="0">
            <a:spAutoFit/>
          </a:bodyPr>
          <a:lstStyle/>
          <a:p>
            <a:r>
              <a:rPr lang="en-US" dirty="0">
                <a:solidFill>
                  <a:schemeClr val="accent1"/>
                </a:solidFill>
              </a:rPr>
              <a:t>    </a:t>
            </a:r>
            <a:r>
              <a:rPr lang="en-US" dirty="0">
                <a:solidFill>
                  <a:schemeClr val="accent5"/>
                </a:solidFill>
              </a:rPr>
              <a:t>"forms"</a:t>
            </a:r>
            <a:r>
              <a:rPr lang="en-US" dirty="0">
                <a:solidFill>
                  <a:schemeClr val="accent1"/>
                </a:solidFill>
              </a:rPr>
              <a:t>: [</a:t>
            </a:r>
          </a:p>
          <a:p>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"https://coffee.example.com/properties/</a:t>
            </a:r>
            <a:r>
              <a:rPr lang="en-US" dirty="0" err="1">
                <a:solidFill>
                  <a:schemeClr val="accent1"/>
                </a:solidFill>
              </a:rPr>
              <a:t>coffeeBeansLeft</a:t>
            </a:r>
            <a:r>
              <a:rPr lang="en-US" dirty="0">
                <a:solidFill>
                  <a:schemeClr val="accent1"/>
                </a:solidFill>
              </a:rPr>
              <a:t>",</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readproperty</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a:t>
            </a:r>
            <a:r>
              <a:rPr lang="en-US" dirty="0" err="1">
                <a:solidFill>
                  <a:schemeClr val="accent1"/>
                </a:solidFill>
              </a:rPr>
              <a:t>json</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htv:methodName</a:t>
            </a:r>
            <a:r>
              <a:rPr lang="en-US" dirty="0">
                <a:solidFill>
                  <a:schemeClr val="accent5"/>
                </a:solidFill>
              </a:rPr>
              <a:t>"</a:t>
            </a:r>
            <a:r>
              <a:rPr lang="en-US" dirty="0">
                <a:solidFill>
                  <a:schemeClr val="accent1"/>
                </a:solidFill>
              </a:rPr>
              <a:t>: "GET"</a:t>
            </a:r>
          </a:p>
          <a:p>
            <a:r>
              <a:rPr lang="en-US" dirty="0">
                <a:solidFill>
                  <a:schemeClr val="accent1"/>
                </a:solidFill>
              </a:rPr>
              <a:t>      }</a:t>
            </a:r>
          </a:p>
          <a:p>
            <a:r>
              <a:rPr lang="en-US" dirty="0">
                <a:solidFill>
                  <a:schemeClr val="accent1"/>
                </a:solidFill>
              </a:rPr>
              <a:t>    ]</a:t>
            </a:r>
          </a:p>
        </p:txBody>
      </p:sp>
      <p:cxnSp>
        <p:nvCxnSpPr>
          <p:cNvPr id="3" name="Straight Arrow Connector 2">
            <a:extLst>
              <a:ext uri="{FF2B5EF4-FFF2-40B4-BE49-F238E27FC236}">
                <a16:creationId xmlns:a16="http://schemas.microsoft.com/office/drawing/2014/main" id="{B62252A8-E88D-6CA5-6EE1-8A72275D0D93}"/>
              </a:ext>
            </a:extLst>
          </p:cNvPr>
          <p:cNvCxnSpPr>
            <a:cxnSpLocks/>
          </p:cNvCxnSpPr>
          <p:nvPr/>
        </p:nvCxnSpPr>
        <p:spPr>
          <a:xfrm flipH="1">
            <a:off x="10043875" y="3538385"/>
            <a:ext cx="5653" cy="6296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89D1ED3-F526-0202-C975-024F2667BFD9}"/>
              </a:ext>
            </a:extLst>
          </p:cNvPr>
          <p:cNvSpPr txBox="1"/>
          <p:nvPr/>
        </p:nvSpPr>
        <p:spPr>
          <a:xfrm>
            <a:off x="10129382" y="3668518"/>
            <a:ext cx="944297" cy="369332"/>
          </a:xfrm>
          <a:prstGeom prst="rect">
            <a:avLst/>
          </a:prstGeom>
          <a:noFill/>
        </p:spPr>
        <p:txBody>
          <a:bodyPr wrap="none" rtlCol="0">
            <a:spAutoFit/>
          </a:bodyPr>
          <a:lstStyle/>
          <a:p>
            <a:r>
              <a:rPr lang="en-US" dirty="0">
                <a:solidFill>
                  <a:schemeClr val="accent1"/>
                </a:solidFill>
              </a:rPr>
              <a:t>Request</a:t>
            </a:r>
            <a:endParaRPr lang="en-DE" dirty="0">
              <a:solidFill>
                <a:schemeClr val="accent1"/>
              </a:solidFill>
            </a:endParaRPr>
          </a:p>
        </p:txBody>
      </p:sp>
      <p:sp>
        <p:nvSpPr>
          <p:cNvPr id="18" name="ReqLabel">
            <a:extLst>
              <a:ext uri="{FF2B5EF4-FFF2-40B4-BE49-F238E27FC236}">
                <a16:creationId xmlns:a16="http://schemas.microsoft.com/office/drawing/2014/main" id="{EE9DFD6F-DA22-7FA8-2C19-3978C576CEC3}"/>
              </a:ext>
            </a:extLst>
          </p:cNvPr>
          <p:cNvSpPr txBox="1"/>
          <p:nvPr/>
        </p:nvSpPr>
        <p:spPr>
          <a:xfrm>
            <a:off x="1377262" y="4658765"/>
            <a:ext cx="2360560"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2"/>
                </a:solidFill>
                <a:latin typeface="Century Gothic" panose="020B0502020202020204" pitchFamily="34" charset="0"/>
              </a:rPr>
              <a:t>► HTTP REQUEST</a:t>
            </a:r>
          </a:p>
        </p:txBody>
      </p:sp>
      <p:sp>
        <p:nvSpPr>
          <p:cNvPr id="20" name="TextBox 19">
            <a:extLst>
              <a:ext uri="{FF2B5EF4-FFF2-40B4-BE49-F238E27FC236}">
                <a16:creationId xmlns:a16="http://schemas.microsoft.com/office/drawing/2014/main" id="{D5467477-6641-EDFF-EA73-0F380E7A3E40}"/>
              </a:ext>
            </a:extLst>
          </p:cNvPr>
          <p:cNvSpPr txBox="1"/>
          <p:nvPr/>
        </p:nvSpPr>
        <p:spPr>
          <a:xfrm>
            <a:off x="1377262" y="5060165"/>
            <a:ext cx="4169970" cy="861774"/>
          </a:xfrm>
          <a:prstGeom prst="rect">
            <a:avLst/>
          </a:prstGeom>
          <a:noFill/>
        </p:spPr>
        <p:txBody>
          <a:bodyPr wrap="square" rtlCol="0">
            <a:spAutoFit/>
          </a:bodyPr>
          <a:lstStyle/>
          <a:p>
            <a:r>
              <a:rPr lang="en-US" sz="1600" dirty="0">
                <a:solidFill>
                  <a:schemeClr val="accent1"/>
                </a:solidFill>
              </a:rPr>
              <a:t>GET /properties/</a:t>
            </a:r>
            <a:r>
              <a:rPr lang="en-US" sz="1600" dirty="0" err="1">
                <a:solidFill>
                  <a:schemeClr val="accent1"/>
                </a:solidFill>
              </a:rPr>
              <a:t>coffeeBeansLeft</a:t>
            </a:r>
            <a:r>
              <a:rPr lang="en-US" sz="1600" dirty="0">
                <a:solidFill>
                  <a:schemeClr val="accent1"/>
                </a:solidFill>
              </a:rPr>
              <a:t> HTTP/1.1</a:t>
            </a:r>
          </a:p>
          <a:p>
            <a:r>
              <a:rPr lang="en-US" sz="1600" dirty="0">
                <a:solidFill>
                  <a:schemeClr val="accent1"/>
                </a:solidFill>
              </a:rPr>
              <a:t>Host: coffee.example.com</a:t>
            </a:r>
          </a:p>
          <a:p>
            <a:r>
              <a:rPr lang="en-US" sz="1600" dirty="0">
                <a:solidFill>
                  <a:schemeClr val="accent1"/>
                </a:solidFill>
              </a:rPr>
              <a:t>Accept: application/</a:t>
            </a:r>
            <a:r>
              <a:rPr lang="en-US" sz="1600" dirty="0" err="1">
                <a:solidFill>
                  <a:schemeClr val="accent1"/>
                </a:solidFill>
              </a:rPr>
              <a:t>json</a:t>
            </a:r>
            <a:endParaRPr lang="en-US" sz="1600" dirty="0">
              <a:solidFill>
                <a:schemeClr val="accent1"/>
              </a:solidFill>
            </a:endParaRPr>
          </a:p>
        </p:txBody>
      </p:sp>
    </p:spTree>
    <p:extLst>
      <p:ext uri="{BB962C8B-B14F-4D97-AF65-F5344CB8AC3E}">
        <p14:creationId xmlns:p14="http://schemas.microsoft.com/office/powerpoint/2010/main" val="1635956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
        <p159:morph option="byObject"/>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708CF-D057-37E7-2CB3-5DDA5FF1FA7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17B53D72-3871-5FEC-CA78-13D2398187D9}"/>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3AD1858A-4645-DFD8-333E-E5871B5752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E18A1A22-092E-CFA2-DA88-B181B8B472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CE72A67D-0384-1523-6B38-84B38784FB5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F5EAA021-BA5D-0AAC-604F-4CA0121E5AA5}"/>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B92DDA7A-4AA1-1656-E4D8-02B712FDE5A5}"/>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A1DCD0C2-0155-C8A9-F6A3-55170C0733A7}"/>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230EEECF-CAB4-3A50-25C9-BE6C4F5032E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DEF9133B-4D8E-024A-9928-97F6242370F3}"/>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448E583F-B0A4-8AF5-F54B-1C898FE8B64C}"/>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69BA69C6-080A-266A-9F3E-7F7795DC7B5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9ECDC878-5108-0DB3-08E7-AB226ECD785C}"/>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H</a:t>
            </a:r>
            <a:r>
              <a:rPr lang="bg-BG" dirty="0">
                <a:solidFill>
                  <a:schemeClr val="accent1"/>
                </a:solidFill>
                <a:latin typeface="Century Gothic" panose="020B0502020202020204" pitchFamily="34" charset="0"/>
              </a:rPr>
              <a:t>Т</a:t>
            </a:r>
            <a:r>
              <a:rPr lang="en-GB" dirty="0">
                <a:solidFill>
                  <a:schemeClr val="accent1"/>
                </a:solidFill>
                <a:latin typeface="Century Gothic" panose="020B0502020202020204" pitchFamily="34" charset="0"/>
              </a:rPr>
              <a:t>TP </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D2AD1D6A-DE22-8157-E138-94935EA35F3E}"/>
              </a:ext>
            </a:extLst>
          </p:cNvPr>
          <p:cNvSpPr txBox="1"/>
          <p:nvPr/>
        </p:nvSpPr>
        <p:spPr>
          <a:xfrm>
            <a:off x="1083789" y="1812911"/>
            <a:ext cx="7576500" cy="2308324"/>
          </a:xfrm>
          <a:prstGeom prst="rect">
            <a:avLst/>
          </a:prstGeom>
          <a:noFill/>
        </p:spPr>
        <p:txBody>
          <a:bodyPr wrap="square" rtlCol="0">
            <a:spAutoFit/>
          </a:bodyPr>
          <a:lstStyle/>
          <a:p>
            <a:r>
              <a:rPr lang="en-US" dirty="0">
                <a:solidFill>
                  <a:schemeClr val="accent1"/>
                </a:solidFill>
              </a:rPr>
              <a:t>    </a:t>
            </a:r>
            <a:r>
              <a:rPr lang="en-US" dirty="0">
                <a:solidFill>
                  <a:schemeClr val="accent5"/>
                </a:solidFill>
              </a:rPr>
              <a:t>"forms"</a:t>
            </a:r>
            <a:r>
              <a:rPr lang="en-US" dirty="0">
                <a:solidFill>
                  <a:schemeClr val="accent1"/>
                </a:solidFill>
              </a:rPr>
              <a:t>: [</a:t>
            </a:r>
          </a:p>
          <a:p>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"https://coffee.example.com/properties/</a:t>
            </a:r>
            <a:r>
              <a:rPr lang="en-US" dirty="0" err="1">
                <a:solidFill>
                  <a:schemeClr val="accent1"/>
                </a:solidFill>
              </a:rPr>
              <a:t>coffeeBeansLeft</a:t>
            </a:r>
            <a:r>
              <a:rPr lang="en-US" dirty="0">
                <a:solidFill>
                  <a:schemeClr val="accent1"/>
                </a:solidFill>
              </a:rPr>
              <a:t>",</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readproperty</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a:t>
            </a:r>
            <a:r>
              <a:rPr lang="en-US" dirty="0" err="1">
                <a:solidFill>
                  <a:schemeClr val="accent1"/>
                </a:solidFill>
              </a:rPr>
              <a:t>json</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htv:methodName</a:t>
            </a:r>
            <a:r>
              <a:rPr lang="en-US" dirty="0">
                <a:solidFill>
                  <a:schemeClr val="accent5"/>
                </a:solidFill>
              </a:rPr>
              <a:t>"</a:t>
            </a:r>
            <a:r>
              <a:rPr lang="en-US" dirty="0">
                <a:solidFill>
                  <a:schemeClr val="accent1"/>
                </a:solidFill>
              </a:rPr>
              <a:t>: "GET"</a:t>
            </a:r>
          </a:p>
          <a:p>
            <a:r>
              <a:rPr lang="en-US" dirty="0">
                <a:solidFill>
                  <a:schemeClr val="accent1"/>
                </a:solidFill>
              </a:rPr>
              <a:t>      }</a:t>
            </a:r>
          </a:p>
          <a:p>
            <a:r>
              <a:rPr lang="en-US" dirty="0">
                <a:solidFill>
                  <a:schemeClr val="accent1"/>
                </a:solidFill>
              </a:rPr>
              <a:t>    ]</a:t>
            </a:r>
          </a:p>
        </p:txBody>
      </p:sp>
      <p:sp>
        <p:nvSpPr>
          <p:cNvPr id="18" name="ReqLabel">
            <a:extLst>
              <a:ext uri="{FF2B5EF4-FFF2-40B4-BE49-F238E27FC236}">
                <a16:creationId xmlns:a16="http://schemas.microsoft.com/office/drawing/2014/main" id="{7E896230-4DC8-4871-AD5A-2DD0DE27C9A0}"/>
              </a:ext>
            </a:extLst>
          </p:cNvPr>
          <p:cNvSpPr txBox="1"/>
          <p:nvPr/>
        </p:nvSpPr>
        <p:spPr>
          <a:xfrm>
            <a:off x="1377262" y="4658765"/>
            <a:ext cx="2360560"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2"/>
                </a:solidFill>
                <a:latin typeface="Century Gothic" panose="020B0502020202020204" pitchFamily="34" charset="0"/>
              </a:rPr>
              <a:t>► HTTP REQUEST</a:t>
            </a:r>
          </a:p>
        </p:txBody>
      </p:sp>
      <p:sp>
        <p:nvSpPr>
          <p:cNvPr id="20" name="TextBox 19">
            <a:extLst>
              <a:ext uri="{FF2B5EF4-FFF2-40B4-BE49-F238E27FC236}">
                <a16:creationId xmlns:a16="http://schemas.microsoft.com/office/drawing/2014/main" id="{C7E93928-B314-BFF0-8356-62E18B2FC1CB}"/>
              </a:ext>
            </a:extLst>
          </p:cNvPr>
          <p:cNvSpPr txBox="1"/>
          <p:nvPr/>
        </p:nvSpPr>
        <p:spPr>
          <a:xfrm>
            <a:off x="1377262" y="5060165"/>
            <a:ext cx="4169970" cy="861774"/>
          </a:xfrm>
          <a:prstGeom prst="rect">
            <a:avLst/>
          </a:prstGeom>
          <a:noFill/>
        </p:spPr>
        <p:txBody>
          <a:bodyPr wrap="square" rtlCol="0">
            <a:spAutoFit/>
          </a:bodyPr>
          <a:lstStyle/>
          <a:p>
            <a:r>
              <a:rPr lang="en-US" sz="1600" dirty="0">
                <a:solidFill>
                  <a:schemeClr val="accent1"/>
                </a:solidFill>
              </a:rPr>
              <a:t>GET /properties/</a:t>
            </a:r>
            <a:r>
              <a:rPr lang="en-US" sz="1600" dirty="0" err="1">
                <a:solidFill>
                  <a:schemeClr val="accent1"/>
                </a:solidFill>
              </a:rPr>
              <a:t>coffeeBeansLeft</a:t>
            </a:r>
            <a:r>
              <a:rPr lang="en-US" sz="1600" dirty="0">
                <a:solidFill>
                  <a:schemeClr val="accent1"/>
                </a:solidFill>
              </a:rPr>
              <a:t> HTTP/1.1</a:t>
            </a:r>
          </a:p>
          <a:p>
            <a:r>
              <a:rPr lang="en-US" sz="1600" dirty="0">
                <a:solidFill>
                  <a:schemeClr val="accent1"/>
                </a:solidFill>
              </a:rPr>
              <a:t>Host: coffee.example.com</a:t>
            </a:r>
          </a:p>
          <a:p>
            <a:r>
              <a:rPr lang="en-US" sz="1600" dirty="0">
                <a:solidFill>
                  <a:schemeClr val="accent1"/>
                </a:solidFill>
              </a:rPr>
              <a:t>Accept: application/</a:t>
            </a:r>
            <a:r>
              <a:rPr lang="en-US" sz="1600" dirty="0" err="1">
                <a:solidFill>
                  <a:schemeClr val="accent1"/>
                </a:solidFill>
              </a:rPr>
              <a:t>json</a:t>
            </a:r>
            <a:endParaRPr lang="en-US" sz="1600" dirty="0">
              <a:solidFill>
                <a:schemeClr val="accent1"/>
              </a:solidFill>
            </a:endParaRPr>
          </a:p>
        </p:txBody>
      </p:sp>
      <p:sp>
        <p:nvSpPr>
          <p:cNvPr id="23" name="TextBox 22">
            <a:extLst>
              <a:ext uri="{FF2B5EF4-FFF2-40B4-BE49-F238E27FC236}">
                <a16:creationId xmlns:a16="http://schemas.microsoft.com/office/drawing/2014/main" id="{A330AC2E-1D79-B9CC-6D7D-1F02C7CA3932}"/>
              </a:ext>
            </a:extLst>
          </p:cNvPr>
          <p:cNvSpPr txBox="1"/>
          <p:nvPr/>
        </p:nvSpPr>
        <p:spPr>
          <a:xfrm>
            <a:off x="5547232" y="5058765"/>
            <a:ext cx="4169970" cy="830997"/>
          </a:xfrm>
          <a:prstGeom prst="rect">
            <a:avLst/>
          </a:prstGeom>
          <a:noFill/>
        </p:spPr>
        <p:txBody>
          <a:bodyPr wrap="square" rtlCol="0">
            <a:spAutoFit/>
          </a:bodyPr>
          <a:lstStyle/>
          <a:p>
            <a:r>
              <a:rPr lang="en-US" sz="1600" dirty="0">
                <a:solidFill>
                  <a:schemeClr val="accent1"/>
                </a:solidFill>
              </a:rPr>
              <a:t>HTTP/1.1 200 OK</a:t>
            </a:r>
          </a:p>
          <a:p>
            <a:r>
              <a:rPr lang="en-US" sz="1600" dirty="0">
                <a:solidFill>
                  <a:schemeClr val="accent1"/>
                </a:solidFill>
              </a:rPr>
              <a:t>Content-Type: application/</a:t>
            </a:r>
            <a:r>
              <a:rPr lang="en-US" sz="1600" dirty="0" err="1">
                <a:solidFill>
                  <a:schemeClr val="accent1"/>
                </a:solidFill>
              </a:rPr>
              <a:t>json</a:t>
            </a:r>
            <a:endParaRPr lang="en-US" sz="1600" dirty="0">
              <a:solidFill>
                <a:schemeClr val="accent1"/>
              </a:solidFill>
            </a:endParaRPr>
          </a:p>
          <a:p>
            <a:r>
              <a:rPr lang="en-US" sz="1600" dirty="0">
                <a:solidFill>
                  <a:schemeClr val="accent1"/>
                </a:solidFill>
              </a:rPr>
              <a:t>Payload: 320</a:t>
            </a:r>
          </a:p>
        </p:txBody>
      </p:sp>
      <p:sp>
        <p:nvSpPr>
          <p:cNvPr id="24" name="RespLabel">
            <a:extLst>
              <a:ext uri="{FF2B5EF4-FFF2-40B4-BE49-F238E27FC236}">
                <a16:creationId xmlns:a16="http://schemas.microsoft.com/office/drawing/2014/main" id="{1A71F2BE-162B-9160-13D0-1EB4F3361CAB}"/>
              </a:ext>
            </a:extLst>
          </p:cNvPr>
          <p:cNvSpPr txBox="1"/>
          <p:nvPr/>
        </p:nvSpPr>
        <p:spPr>
          <a:xfrm>
            <a:off x="5547232" y="4659604"/>
            <a:ext cx="2193173"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6"/>
                </a:solidFill>
                <a:latin typeface="Century Gothic" panose="020B0502020202020204" pitchFamily="34" charset="0"/>
              </a:rPr>
              <a:t>◄ RESPONSE</a:t>
            </a:r>
          </a:p>
        </p:txBody>
      </p:sp>
      <p:cxnSp>
        <p:nvCxnSpPr>
          <p:cNvPr id="2" name="Straight Arrow Connector 1">
            <a:extLst>
              <a:ext uri="{FF2B5EF4-FFF2-40B4-BE49-F238E27FC236}">
                <a16:creationId xmlns:a16="http://schemas.microsoft.com/office/drawing/2014/main" id="{9BEB9B77-DB97-15AA-C14D-AC0952ACB353}"/>
              </a:ext>
            </a:extLst>
          </p:cNvPr>
          <p:cNvCxnSpPr>
            <a:cxnSpLocks/>
          </p:cNvCxnSpPr>
          <p:nvPr/>
        </p:nvCxnSpPr>
        <p:spPr>
          <a:xfrm flipH="1" flipV="1">
            <a:off x="10043875" y="3538385"/>
            <a:ext cx="5653" cy="6296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FDD4838-52D6-5F82-3845-EE3D411AEBD0}"/>
              </a:ext>
            </a:extLst>
          </p:cNvPr>
          <p:cNvSpPr txBox="1"/>
          <p:nvPr/>
        </p:nvSpPr>
        <p:spPr>
          <a:xfrm flipH="1">
            <a:off x="10129380" y="3668518"/>
            <a:ext cx="1181713" cy="369332"/>
          </a:xfrm>
          <a:prstGeom prst="rect">
            <a:avLst/>
          </a:prstGeom>
          <a:noFill/>
        </p:spPr>
        <p:txBody>
          <a:bodyPr wrap="square" rtlCol="0">
            <a:spAutoFit/>
          </a:bodyPr>
          <a:lstStyle/>
          <a:p>
            <a:r>
              <a:rPr lang="en-US" dirty="0">
                <a:solidFill>
                  <a:schemeClr val="accent1"/>
                </a:solidFill>
              </a:rPr>
              <a:t>Response</a:t>
            </a:r>
          </a:p>
        </p:txBody>
      </p:sp>
    </p:spTree>
    <p:extLst>
      <p:ext uri="{BB962C8B-B14F-4D97-AF65-F5344CB8AC3E}">
        <p14:creationId xmlns:p14="http://schemas.microsoft.com/office/powerpoint/2010/main" val="927727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7400">
        <p159:morph option="byObject"/>
      </p:transition>
    </mc:Choice>
    <mc:Fallback xmlns="">
      <p:transition spd="slow" advTm="74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DD512-30A6-E778-4A7C-9223A6916FD0}"/>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615021C2-1B32-B640-0428-7CC39D264C53}"/>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FF019572-3DCD-0609-DD81-6ECEC8313F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DC59D555-7381-7C42-C913-0E7A1163D6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DD5B6C47-1610-807F-E39F-3888CE2FF41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426F6B0D-8F51-AAB7-BB32-406F5EE3D4ED}"/>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035A81AA-21EB-E809-ADF7-C0EDDE505147}"/>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113C5DD5-7FD3-F9A3-9C72-EA404C79C8BB}"/>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7B279969-AD1C-A377-6FA2-1708A7CF406C}"/>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44E1A524-CDD7-1986-4765-6C87A5063E83}"/>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76093367-C0C1-9B17-377A-DE5872E2ACF4}"/>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22FEE1F1-1CE7-23AA-56F9-8099F27290D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1E2EE21A-1C9E-AD1E-9F7B-2D5E527279E2}"/>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H</a:t>
            </a:r>
            <a:r>
              <a:rPr lang="bg-BG" dirty="0">
                <a:solidFill>
                  <a:schemeClr val="accent1"/>
                </a:solidFill>
                <a:latin typeface="Century Gothic" panose="020B0502020202020204" pitchFamily="34" charset="0"/>
              </a:rPr>
              <a:t>Т</a:t>
            </a:r>
            <a:r>
              <a:rPr lang="en-GB" dirty="0">
                <a:solidFill>
                  <a:schemeClr val="accent1"/>
                </a:solidFill>
                <a:latin typeface="Century Gothic" panose="020B0502020202020204" pitchFamily="34" charset="0"/>
              </a:rPr>
              <a:t>TP </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99CA6FB4-E37D-B851-7F21-883D43050382}"/>
              </a:ext>
            </a:extLst>
          </p:cNvPr>
          <p:cNvSpPr txBox="1"/>
          <p:nvPr/>
        </p:nvSpPr>
        <p:spPr>
          <a:xfrm>
            <a:off x="1083789" y="1812911"/>
            <a:ext cx="7576500" cy="2308324"/>
          </a:xfrm>
          <a:prstGeom prst="rect">
            <a:avLst/>
          </a:prstGeom>
          <a:noFill/>
        </p:spPr>
        <p:txBody>
          <a:bodyPr wrap="square" rtlCol="0">
            <a:spAutoFit/>
          </a:bodyPr>
          <a:lstStyle/>
          <a:p>
            <a:r>
              <a:rPr lang="en-US" dirty="0">
                <a:solidFill>
                  <a:schemeClr val="accent1"/>
                </a:solidFill>
              </a:rPr>
              <a:t>    </a:t>
            </a:r>
            <a:r>
              <a:rPr lang="en-US" dirty="0">
                <a:solidFill>
                  <a:schemeClr val="accent5"/>
                </a:solidFill>
              </a:rPr>
              <a:t>"forms"</a:t>
            </a:r>
            <a:r>
              <a:rPr lang="en-US" dirty="0">
                <a:solidFill>
                  <a:schemeClr val="accent1"/>
                </a:solidFill>
              </a:rPr>
              <a:t>: [</a:t>
            </a:r>
          </a:p>
          <a:p>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"https://coffee.example.com/properties/</a:t>
            </a:r>
            <a:r>
              <a:rPr lang="en-US" dirty="0" err="1">
                <a:solidFill>
                  <a:schemeClr val="accent1"/>
                </a:solidFill>
              </a:rPr>
              <a:t>coffeeBeansLeft</a:t>
            </a:r>
            <a:r>
              <a:rPr lang="en-US" dirty="0">
                <a:solidFill>
                  <a:schemeClr val="accent1"/>
                </a:solidFill>
              </a:rPr>
              <a:t>",</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readproperty</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a:t>
            </a:r>
            <a:r>
              <a:rPr lang="en-US" dirty="0" err="1">
                <a:solidFill>
                  <a:schemeClr val="accent1"/>
                </a:solidFill>
              </a:rPr>
              <a:t>json</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htv:methodName</a:t>
            </a:r>
            <a:r>
              <a:rPr lang="en-US" dirty="0">
                <a:solidFill>
                  <a:schemeClr val="accent5"/>
                </a:solidFill>
              </a:rPr>
              <a:t>"</a:t>
            </a:r>
            <a:r>
              <a:rPr lang="en-US" dirty="0">
                <a:solidFill>
                  <a:schemeClr val="accent1"/>
                </a:solidFill>
              </a:rPr>
              <a:t>: "GET"</a:t>
            </a:r>
          </a:p>
          <a:p>
            <a:r>
              <a:rPr lang="en-US" dirty="0">
                <a:solidFill>
                  <a:schemeClr val="accent1"/>
                </a:solidFill>
              </a:rPr>
              <a:t>      }</a:t>
            </a:r>
          </a:p>
          <a:p>
            <a:r>
              <a:rPr lang="en-US" dirty="0">
                <a:solidFill>
                  <a:schemeClr val="accent1"/>
                </a:solidFill>
              </a:rPr>
              <a:t>    ]</a:t>
            </a:r>
          </a:p>
        </p:txBody>
      </p:sp>
      <p:sp>
        <p:nvSpPr>
          <p:cNvPr id="18" name="ReqLabel">
            <a:extLst>
              <a:ext uri="{FF2B5EF4-FFF2-40B4-BE49-F238E27FC236}">
                <a16:creationId xmlns:a16="http://schemas.microsoft.com/office/drawing/2014/main" id="{1B34AA22-7C5C-4606-7D10-69D18C4F8BC6}"/>
              </a:ext>
            </a:extLst>
          </p:cNvPr>
          <p:cNvSpPr txBox="1"/>
          <p:nvPr/>
        </p:nvSpPr>
        <p:spPr>
          <a:xfrm>
            <a:off x="1377262" y="4658765"/>
            <a:ext cx="2360560"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2"/>
                </a:solidFill>
                <a:latin typeface="Century Gothic" panose="020B0502020202020204" pitchFamily="34" charset="0"/>
              </a:rPr>
              <a:t>► HTTP REQUEST</a:t>
            </a:r>
          </a:p>
        </p:txBody>
      </p:sp>
      <p:sp>
        <p:nvSpPr>
          <p:cNvPr id="20" name="TextBox 19">
            <a:extLst>
              <a:ext uri="{FF2B5EF4-FFF2-40B4-BE49-F238E27FC236}">
                <a16:creationId xmlns:a16="http://schemas.microsoft.com/office/drawing/2014/main" id="{0BB1F728-F4B8-5829-F449-94B62ED89EF0}"/>
              </a:ext>
            </a:extLst>
          </p:cNvPr>
          <p:cNvSpPr txBox="1"/>
          <p:nvPr/>
        </p:nvSpPr>
        <p:spPr>
          <a:xfrm>
            <a:off x="1377262" y="5060165"/>
            <a:ext cx="4169970" cy="861774"/>
          </a:xfrm>
          <a:prstGeom prst="rect">
            <a:avLst/>
          </a:prstGeom>
          <a:noFill/>
        </p:spPr>
        <p:txBody>
          <a:bodyPr wrap="square" rtlCol="0">
            <a:spAutoFit/>
          </a:bodyPr>
          <a:lstStyle/>
          <a:p>
            <a:r>
              <a:rPr lang="en-US" sz="1600" dirty="0">
                <a:solidFill>
                  <a:schemeClr val="accent1"/>
                </a:solidFill>
              </a:rPr>
              <a:t>GET /properties/</a:t>
            </a:r>
            <a:r>
              <a:rPr lang="en-US" sz="1600" dirty="0" err="1">
                <a:solidFill>
                  <a:schemeClr val="accent1"/>
                </a:solidFill>
              </a:rPr>
              <a:t>coffeeBeansLeft</a:t>
            </a:r>
            <a:r>
              <a:rPr lang="en-US" sz="1600" dirty="0">
                <a:solidFill>
                  <a:schemeClr val="accent1"/>
                </a:solidFill>
              </a:rPr>
              <a:t> HTTP/1.1</a:t>
            </a:r>
          </a:p>
          <a:p>
            <a:r>
              <a:rPr lang="en-US" sz="1600" dirty="0">
                <a:solidFill>
                  <a:schemeClr val="accent1"/>
                </a:solidFill>
              </a:rPr>
              <a:t>Host: coffee.example.com</a:t>
            </a:r>
          </a:p>
          <a:p>
            <a:r>
              <a:rPr lang="en-US" sz="1600" dirty="0">
                <a:solidFill>
                  <a:schemeClr val="accent1"/>
                </a:solidFill>
              </a:rPr>
              <a:t>Accept: application/</a:t>
            </a:r>
            <a:r>
              <a:rPr lang="en-US" sz="1600" dirty="0" err="1">
                <a:solidFill>
                  <a:schemeClr val="accent1"/>
                </a:solidFill>
              </a:rPr>
              <a:t>json</a:t>
            </a:r>
            <a:endParaRPr lang="en-US" sz="1600" dirty="0">
              <a:solidFill>
                <a:schemeClr val="accent1"/>
              </a:solidFill>
            </a:endParaRPr>
          </a:p>
        </p:txBody>
      </p:sp>
      <p:sp>
        <p:nvSpPr>
          <p:cNvPr id="23" name="TextBox 22">
            <a:extLst>
              <a:ext uri="{FF2B5EF4-FFF2-40B4-BE49-F238E27FC236}">
                <a16:creationId xmlns:a16="http://schemas.microsoft.com/office/drawing/2014/main" id="{6D0BD3BF-59EF-B42F-0B26-32935B0F4A52}"/>
              </a:ext>
            </a:extLst>
          </p:cNvPr>
          <p:cNvSpPr txBox="1"/>
          <p:nvPr/>
        </p:nvSpPr>
        <p:spPr>
          <a:xfrm>
            <a:off x="5547232" y="5058765"/>
            <a:ext cx="4169970" cy="830997"/>
          </a:xfrm>
          <a:prstGeom prst="rect">
            <a:avLst/>
          </a:prstGeom>
          <a:noFill/>
        </p:spPr>
        <p:txBody>
          <a:bodyPr wrap="square" rtlCol="0">
            <a:spAutoFit/>
          </a:bodyPr>
          <a:lstStyle/>
          <a:p>
            <a:r>
              <a:rPr lang="en-US" sz="1600" dirty="0">
                <a:solidFill>
                  <a:schemeClr val="accent1"/>
                </a:solidFill>
              </a:rPr>
              <a:t>HTTP/1.1 200 OK</a:t>
            </a:r>
          </a:p>
          <a:p>
            <a:r>
              <a:rPr lang="en-US" sz="1600" dirty="0">
                <a:solidFill>
                  <a:schemeClr val="accent1"/>
                </a:solidFill>
              </a:rPr>
              <a:t>Content-Type: application/</a:t>
            </a:r>
            <a:r>
              <a:rPr lang="en-US" sz="1600" dirty="0" err="1">
                <a:solidFill>
                  <a:schemeClr val="accent1"/>
                </a:solidFill>
              </a:rPr>
              <a:t>json</a:t>
            </a:r>
            <a:endParaRPr lang="en-US" sz="1600" dirty="0">
              <a:solidFill>
                <a:schemeClr val="accent1"/>
              </a:solidFill>
            </a:endParaRPr>
          </a:p>
          <a:p>
            <a:r>
              <a:rPr lang="en-US" sz="1600" dirty="0">
                <a:solidFill>
                  <a:schemeClr val="accent1"/>
                </a:solidFill>
              </a:rPr>
              <a:t>Payload: </a:t>
            </a:r>
            <a:r>
              <a:rPr lang="en-US" sz="1600" dirty="0">
                <a:solidFill>
                  <a:schemeClr val="accent6"/>
                </a:solidFill>
              </a:rPr>
              <a:t>320</a:t>
            </a:r>
          </a:p>
        </p:txBody>
      </p:sp>
      <p:sp>
        <p:nvSpPr>
          <p:cNvPr id="24" name="RespLabel">
            <a:extLst>
              <a:ext uri="{FF2B5EF4-FFF2-40B4-BE49-F238E27FC236}">
                <a16:creationId xmlns:a16="http://schemas.microsoft.com/office/drawing/2014/main" id="{C3B2C358-4DFC-AD9C-0474-DD69DF27B115}"/>
              </a:ext>
            </a:extLst>
          </p:cNvPr>
          <p:cNvSpPr txBox="1"/>
          <p:nvPr/>
        </p:nvSpPr>
        <p:spPr>
          <a:xfrm>
            <a:off x="5547232" y="4659604"/>
            <a:ext cx="2193173"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6"/>
                </a:solidFill>
                <a:latin typeface="Century Gothic" panose="020B0502020202020204" pitchFamily="34" charset="0"/>
              </a:rPr>
              <a:t>◄ RESPONSE</a:t>
            </a:r>
          </a:p>
        </p:txBody>
      </p:sp>
      <p:cxnSp>
        <p:nvCxnSpPr>
          <p:cNvPr id="2" name="Straight Arrow Connector 1">
            <a:extLst>
              <a:ext uri="{FF2B5EF4-FFF2-40B4-BE49-F238E27FC236}">
                <a16:creationId xmlns:a16="http://schemas.microsoft.com/office/drawing/2014/main" id="{649A3FA6-495D-C07B-FC47-EAE044D10A70}"/>
              </a:ext>
            </a:extLst>
          </p:cNvPr>
          <p:cNvCxnSpPr>
            <a:cxnSpLocks/>
          </p:cNvCxnSpPr>
          <p:nvPr/>
        </p:nvCxnSpPr>
        <p:spPr>
          <a:xfrm flipH="1" flipV="1">
            <a:off x="10043875" y="3538385"/>
            <a:ext cx="5653" cy="6296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52E0C94-4C83-47EB-BC1C-151325D3C09D}"/>
              </a:ext>
            </a:extLst>
          </p:cNvPr>
          <p:cNvSpPr txBox="1"/>
          <p:nvPr/>
        </p:nvSpPr>
        <p:spPr>
          <a:xfrm flipH="1">
            <a:off x="10129380" y="3668518"/>
            <a:ext cx="1181713" cy="369332"/>
          </a:xfrm>
          <a:prstGeom prst="rect">
            <a:avLst/>
          </a:prstGeom>
          <a:noFill/>
        </p:spPr>
        <p:txBody>
          <a:bodyPr wrap="square" rtlCol="0">
            <a:spAutoFit/>
          </a:bodyPr>
          <a:lstStyle/>
          <a:p>
            <a:r>
              <a:rPr lang="en-US" dirty="0">
                <a:solidFill>
                  <a:schemeClr val="accent1"/>
                </a:solidFill>
              </a:rPr>
              <a:t>Response</a:t>
            </a:r>
          </a:p>
        </p:txBody>
      </p:sp>
      <p:sp>
        <p:nvSpPr>
          <p:cNvPr id="17" name="TextBox 16">
            <a:extLst>
              <a:ext uri="{FF2B5EF4-FFF2-40B4-BE49-F238E27FC236}">
                <a16:creationId xmlns:a16="http://schemas.microsoft.com/office/drawing/2014/main" id="{709F255A-EFCC-79D0-DAFC-D909E5C3B7DE}"/>
              </a:ext>
            </a:extLst>
          </p:cNvPr>
          <p:cNvSpPr txBox="1"/>
          <p:nvPr/>
        </p:nvSpPr>
        <p:spPr>
          <a:xfrm>
            <a:off x="1286234" y="873981"/>
            <a:ext cx="6094602" cy="923330"/>
          </a:xfrm>
          <a:prstGeom prst="rect">
            <a:avLst/>
          </a:prstGeom>
          <a:noFill/>
        </p:spPr>
        <p:txBody>
          <a:bodyPr wrap="square">
            <a:spAutoFit/>
          </a:bodyPr>
          <a:lstStyle/>
          <a:p>
            <a:r>
              <a:rPr lang="en-US" dirty="0">
                <a:solidFill>
                  <a:schemeClr val="accent1"/>
                </a:solidFill>
              </a:rPr>
              <a:t>...</a:t>
            </a:r>
          </a:p>
          <a:p>
            <a:r>
              <a:rPr lang="en-US" dirty="0">
                <a:solidFill>
                  <a:schemeClr val="accent5"/>
                </a:solidFill>
              </a:rPr>
              <a:t>"type"</a:t>
            </a:r>
            <a:r>
              <a:rPr lang="en-US" dirty="0">
                <a:solidFill>
                  <a:schemeClr val="accent1"/>
                </a:solidFill>
              </a:rPr>
              <a:t>: "number",</a:t>
            </a:r>
          </a:p>
          <a:p>
            <a:r>
              <a:rPr lang="en-US" dirty="0">
                <a:solidFill>
                  <a:schemeClr val="accent1"/>
                </a:solidFill>
              </a:rPr>
              <a:t>...</a:t>
            </a:r>
            <a:endParaRPr lang="en-DE" dirty="0">
              <a:solidFill>
                <a:schemeClr val="accent1"/>
              </a:solidFill>
            </a:endParaRPr>
          </a:p>
        </p:txBody>
      </p:sp>
    </p:spTree>
    <p:extLst>
      <p:ext uri="{BB962C8B-B14F-4D97-AF65-F5344CB8AC3E}">
        <p14:creationId xmlns:p14="http://schemas.microsoft.com/office/powerpoint/2010/main" val="1049782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1600">
        <p159:morph option="byObject"/>
      </p:transition>
    </mc:Choice>
    <mc:Fallback xmlns="">
      <p:transition spd="slow" advTm="116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left)">
                                      <p:cBhvr>
                                        <p:cTn id="7" dur="150"/>
                                        <p:tgtEl>
                                          <p:spTgt spid="17">
                                            <p:txEl>
                                              <p:pRg st="0" end="0"/>
                                            </p:txEl>
                                          </p:spTgt>
                                        </p:tgtEl>
                                      </p:cBhvr>
                                    </p:animEffect>
                                  </p:childTnLst>
                                </p:cTn>
                              </p:par>
                              <p:par>
                                <p:cTn id="8" presetID="22" presetClass="entr" presetSubtype="8" fill="hold" grpId="0" nodeType="withEffect">
                                  <p:stCondLst>
                                    <p:cond delay="1000"/>
                                  </p:stCondLst>
                                  <p:childTnLst>
                                    <p:set>
                                      <p:cBhvr>
                                        <p:cTn id="9" dur="1" fill="hold">
                                          <p:stCondLst>
                                            <p:cond delay="0"/>
                                          </p:stCondLst>
                                        </p:cTn>
                                        <p:tgtEl>
                                          <p:spTgt spid="17">
                                            <p:txEl>
                                              <p:pRg st="1" end="1"/>
                                            </p:txEl>
                                          </p:spTgt>
                                        </p:tgtEl>
                                        <p:attrNameLst>
                                          <p:attrName>style.visibility</p:attrName>
                                        </p:attrNameLst>
                                      </p:cBhvr>
                                      <p:to>
                                        <p:strVal val="visible"/>
                                      </p:to>
                                    </p:set>
                                    <p:animEffect transition="in" filter="wipe(left)">
                                      <p:cBhvr>
                                        <p:cTn id="10" dur="150"/>
                                        <p:tgtEl>
                                          <p:spTgt spid="17">
                                            <p:txEl>
                                              <p:pRg st="1" end="1"/>
                                            </p:txEl>
                                          </p:spTgt>
                                        </p:tgtEl>
                                      </p:cBhvr>
                                    </p:animEffect>
                                  </p:childTnLst>
                                </p:cTn>
                              </p:par>
                              <p:par>
                                <p:cTn id="11" presetID="22" presetClass="entr" presetSubtype="8" fill="hold" grpId="0" nodeType="withEffect">
                                  <p:stCondLst>
                                    <p:cond delay="1000"/>
                                  </p:stCondLst>
                                  <p:childTnLst>
                                    <p:set>
                                      <p:cBhvr>
                                        <p:cTn id="12" dur="1" fill="hold">
                                          <p:stCondLst>
                                            <p:cond delay="0"/>
                                          </p:stCondLst>
                                        </p:cTn>
                                        <p:tgtEl>
                                          <p:spTgt spid="17">
                                            <p:txEl>
                                              <p:pRg st="2" end="2"/>
                                            </p:txEl>
                                          </p:spTgt>
                                        </p:tgtEl>
                                        <p:attrNameLst>
                                          <p:attrName>style.visibility</p:attrName>
                                        </p:attrNameLst>
                                      </p:cBhvr>
                                      <p:to>
                                        <p:strVal val="visible"/>
                                      </p:to>
                                    </p:set>
                                    <p:animEffect transition="in" filter="wipe(left)">
                                      <p:cBhvr>
                                        <p:cTn id="13" dur="150"/>
                                        <p:tgtEl>
                                          <p:spTgt spid="17">
                                            <p:txEl>
                                              <p:pRg st="2" end="2"/>
                                            </p:txEl>
                                          </p:spTgt>
                                        </p:tgtEl>
                                      </p:cBhvr>
                                    </p:animEffect>
                                  </p:childTnLst>
                                </p:cTn>
                              </p:par>
                            </p:childTnLst>
                          </p:cTn>
                        </p:par>
                        <p:par>
                          <p:cTn id="14" fill="hold">
                            <p:stCondLst>
                              <p:cond delay="1150"/>
                            </p:stCondLst>
                            <p:childTnLst>
                              <p:par>
                                <p:cTn id="15" presetID="22" presetClass="exit" presetSubtype="2" fill="hold" grpId="1" nodeType="afterEffect">
                                  <p:stCondLst>
                                    <p:cond delay="4000"/>
                                  </p:stCondLst>
                                  <p:childTnLst>
                                    <p:animEffect transition="out" filter="wipe(right)">
                                      <p:cBhvr>
                                        <p:cTn id="16" dur="150"/>
                                        <p:tgtEl>
                                          <p:spTgt spid="17">
                                            <p:txEl>
                                              <p:pRg st="0" end="0"/>
                                            </p:txEl>
                                          </p:spTgt>
                                        </p:tgtEl>
                                      </p:cBhvr>
                                    </p:animEffect>
                                    <p:set>
                                      <p:cBhvr>
                                        <p:cTn id="17" dur="1" fill="hold">
                                          <p:stCondLst>
                                            <p:cond delay="149"/>
                                          </p:stCondLst>
                                        </p:cTn>
                                        <p:tgtEl>
                                          <p:spTgt spid="17">
                                            <p:txEl>
                                              <p:pRg st="0" end="0"/>
                                            </p:txEl>
                                          </p:spTgt>
                                        </p:tgtEl>
                                        <p:attrNameLst>
                                          <p:attrName>style.visibility</p:attrName>
                                        </p:attrNameLst>
                                      </p:cBhvr>
                                      <p:to>
                                        <p:strVal val="hidden"/>
                                      </p:to>
                                    </p:set>
                                  </p:childTnLst>
                                </p:cTn>
                              </p:par>
                              <p:par>
                                <p:cTn id="18" presetID="22" presetClass="exit" presetSubtype="2" fill="hold" grpId="1" nodeType="withEffect">
                                  <p:stCondLst>
                                    <p:cond delay="4000"/>
                                  </p:stCondLst>
                                  <p:childTnLst>
                                    <p:animEffect transition="out" filter="wipe(right)">
                                      <p:cBhvr>
                                        <p:cTn id="19" dur="150"/>
                                        <p:tgtEl>
                                          <p:spTgt spid="17">
                                            <p:txEl>
                                              <p:pRg st="1" end="1"/>
                                            </p:txEl>
                                          </p:spTgt>
                                        </p:tgtEl>
                                      </p:cBhvr>
                                    </p:animEffect>
                                    <p:set>
                                      <p:cBhvr>
                                        <p:cTn id="20" dur="1" fill="hold">
                                          <p:stCondLst>
                                            <p:cond delay="149"/>
                                          </p:stCondLst>
                                        </p:cTn>
                                        <p:tgtEl>
                                          <p:spTgt spid="17">
                                            <p:txEl>
                                              <p:pRg st="1" end="1"/>
                                            </p:txEl>
                                          </p:spTgt>
                                        </p:tgtEl>
                                        <p:attrNameLst>
                                          <p:attrName>style.visibility</p:attrName>
                                        </p:attrNameLst>
                                      </p:cBhvr>
                                      <p:to>
                                        <p:strVal val="hidden"/>
                                      </p:to>
                                    </p:set>
                                  </p:childTnLst>
                                </p:cTn>
                              </p:par>
                              <p:par>
                                <p:cTn id="21" presetID="22" presetClass="exit" presetSubtype="2" fill="hold" grpId="1" nodeType="withEffect">
                                  <p:stCondLst>
                                    <p:cond delay="4000"/>
                                  </p:stCondLst>
                                  <p:childTnLst>
                                    <p:animEffect transition="out" filter="wipe(right)">
                                      <p:cBhvr>
                                        <p:cTn id="22" dur="150"/>
                                        <p:tgtEl>
                                          <p:spTgt spid="17">
                                            <p:txEl>
                                              <p:pRg st="2" end="2"/>
                                            </p:txEl>
                                          </p:spTgt>
                                        </p:tgtEl>
                                      </p:cBhvr>
                                    </p:animEffect>
                                    <p:set>
                                      <p:cBhvr>
                                        <p:cTn id="23" dur="1" fill="hold">
                                          <p:stCondLst>
                                            <p:cond delay="149"/>
                                          </p:stCondLst>
                                        </p:cTn>
                                        <p:tgtEl>
                                          <p:spTgt spid="17">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allAtOnce"/>
      <p:bldP spid="17" grpId="1" build="allAtOnce"/>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13BF654-DEF1-3128-E70D-9801BFEDEFB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825C1992-39D2-3215-774E-BA79282AB14C}"/>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9DC5763C-018F-391D-C451-81FF80617C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A6F78401-6905-F9D0-FA3E-16D59CB96E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7BAB1A1C-6EAF-A04C-ACFF-608D66C894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D4D792E0-8A36-90D8-506D-3EAB41DCE3C2}"/>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1F0D6335-F248-50C9-7A34-CB833497C51E}"/>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CEDD583A-7342-D745-B7F5-3EC974BE05F3}"/>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581ED28D-EBA4-4688-36ED-5DE5E8063C41}"/>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8E52E152-9BFD-7F62-486C-044E71873FA6}"/>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3166746B-2CE3-D470-AA4A-AEEF9E8F9C70}"/>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57D2DBF3-6EBB-07E7-8718-24AC171201E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9C566F48-C5A7-8C07-5F1B-343691ABB5B9}"/>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H</a:t>
            </a:r>
            <a:r>
              <a:rPr lang="bg-BG" dirty="0">
                <a:solidFill>
                  <a:schemeClr val="accent1"/>
                </a:solidFill>
                <a:latin typeface="Century Gothic" panose="020B0502020202020204" pitchFamily="34" charset="0"/>
              </a:rPr>
              <a:t>Т</a:t>
            </a:r>
            <a:r>
              <a:rPr lang="en-GB" dirty="0">
                <a:solidFill>
                  <a:schemeClr val="accent1"/>
                </a:solidFill>
                <a:latin typeface="Century Gothic" panose="020B0502020202020204" pitchFamily="34" charset="0"/>
              </a:rPr>
              <a:t>TP </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1CC3611F-EA81-0907-15BA-5F8F3725C838}"/>
              </a:ext>
            </a:extLst>
          </p:cNvPr>
          <p:cNvSpPr txBox="1"/>
          <p:nvPr/>
        </p:nvSpPr>
        <p:spPr>
          <a:xfrm>
            <a:off x="1083789" y="1691238"/>
            <a:ext cx="7576500" cy="4524315"/>
          </a:xfrm>
          <a:prstGeom prst="rect">
            <a:avLst/>
          </a:prstGeom>
          <a:noFill/>
        </p:spPr>
        <p:txBody>
          <a:bodyPr wrap="square" rtlCol="0">
            <a:spAutoFit/>
          </a:bodyPr>
          <a:lstStyle/>
          <a:p>
            <a:r>
              <a:rPr lang="en-US" dirty="0">
                <a:solidFill>
                  <a:schemeClr val="accent1"/>
                </a:solidFill>
              </a:rPr>
              <a:t>... </a:t>
            </a:r>
          </a:p>
          <a:p>
            <a:r>
              <a:rPr lang="en-US" dirty="0">
                <a:solidFill>
                  <a:schemeClr val="accent5"/>
                </a:solidFill>
              </a:rPr>
              <a:t>"properties":</a:t>
            </a:r>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coffeeBeansLeft</a:t>
            </a:r>
            <a:r>
              <a:rPr lang="en-US" dirty="0">
                <a:solidFill>
                  <a:schemeClr val="accent5"/>
                </a:solidFill>
              </a:rPr>
              <a:t>"</a:t>
            </a:r>
            <a:r>
              <a:rPr lang="en-US" dirty="0">
                <a:solidFill>
                  <a:schemeClr val="accent1"/>
                </a:solidFill>
              </a:rPr>
              <a:t>: {</a:t>
            </a:r>
          </a:p>
          <a:p>
            <a:r>
              <a:rPr lang="en-US" dirty="0">
                <a:solidFill>
                  <a:schemeClr val="accent1"/>
                </a:solidFill>
              </a:rPr>
              <a:t>    </a:t>
            </a:r>
            <a:r>
              <a:rPr lang="en-US" dirty="0">
                <a:solidFill>
                  <a:schemeClr val="accent5"/>
                </a:solidFill>
              </a:rPr>
              <a:t>"title"</a:t>
            </a:r>
            <a:r>
              <a:rPr lang="en-US" dirty="0">
                <a:solidFill>
                  <a:schemeClr val="accent1"/>
                </a:solidFill>
              </a:rPr>
              <a:t>: "Remaining Coffee Beans",</a:t>
            </a:r>
          </a:p>
          <a:p>
            <a:r>
              <a:rPr lang="en-US" dirty="0">
                <a:solidFill>
                  <a:schemeClr val="accent1"/>
                </a:solidFill>
              </a:rPr>
              <a:t>    </a:t>
            </a:r>
            <a:r>
              <a:rPr lang="en-US" dirty="0">
                <a:solidFill>
                  <a:schemeClr val="accent5"/>
                </a:solidFill>
              </a:rPr>
              <a:t>"description"</a:t>
            </a:r>
            <a:r>
              <a:rPr lang="en-US" dirty="0">
                <a:solidFill>
                  <a:schemeClr val="accent1"/>
                </a:solidFill>
              </a:rPr>
              <a:t>: "Amount of remaining coffee beans in grams",</a:t>
            </a:r>
          </a:p>
          <a:p>
            <a:r>
              <a:rPr lang="en-US" dirty="0">
                <a:solidFill>
                  <a:schemeClr val="accent1"/>
                </a:solidFill>
              </a:rPr>
              <a:t>    </a:t>
            </a:r>
            <a:r>
              <a:rPr lang="en-US" dirty="0">
                <a:solidFill>
                  <a:schemeClr val="accent5"/>
                </a:solidFill>
              </a:rPr>
              <a:t>"type"</a:t>
            </a:r>
            <a:r>
              <a:rPr lang="en-US" dirty="0">
                <a:solidFill>
                  <a:schemeClr val="accent1"/>
                </a:solidFill>
              </a:rPr>
              <a:t>: "number",</a:t>
            </a:r>
          </a:p>
          <a:p>
            <a:r>
              <a:rPr lang="en-US" dirty="0">
                <a:solidFill>
                  <a:schemeClr val="accent1"/>
                </a:solidFill>
              </a:rPr>
              <a:t>    </a:t>
            </a:r>
            <a:r>
              <a:rPr lang="en-US" dirty="0">
                <a:solidFill>
                  <a:schemeClr val="accent5"/>
                </a:solidFill>
              </a:rPr>
              <a:t>"</a:t>
            </a:r>
            <a:r>
              <a:rPr lang="en-US" dirty="0" err="1">
                <a:solidFill>
                  <a:schemeClr val="accent5"/>
                </a:solidFill>
              </a:rPr>
              <a:t>readOnly</a:t>
            </a:r>
            <a:r>
              <a:rPr lang="en-US" dirty="0">
                <a:solidFill>
                  <a:schemeClr val="accent5"/>
                </a:solidFill>
              </a:rPr>
              <a:t>"</a:t>
            </a:r>
            <a:r>
              <a:rPr lang="en-US" dirty="0">
                <a:solidFill>
                  <a:schemeClr val="accent1"/>
                </a:solidFill>
              </a:rPr>
              <a:t>: true,</a:t>
            </a:r>
          </a:p>
          <a:p>
            <a:r>
              <a:rPr lang="en-US" dirty="0">
                <a:solidFill>
                  <a:schemeClr val="accent1"/>
                </a:solidFill>
              </a:rPr>
              <a:t>    </a:t>
            </a:r>
            <a:r>
              <a:rPr lang="en-US" dirty="0">
                <a:solidFill>
                  <a:schemeClr val="accent5"/>
                </a:solidFill>
              </a:rPr>
              <a:t>"forms"</a:t>
            </a:r>
            <a:r>
              <a:rPr lang="en-US" dirty="0">
                <a:solidFill>
                  <a:schemeClr val="accent1"/>
                </a:solidFill>
              </a:rPr>
              <a:t>: [</a:t>
            </a:r>
          </a:p>
          <a:p>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"https://coffee.example.com/properties/</a:t>
            </a:r>
            <a:r>
              <a:rPr lang="en-US" dirty="0" err="1">
                <a:solidFill>
                  <a:schemeClr val="accent1"/>
                </a:solidFill>
              </a:rPr>
              <a:t>coffeeBeansLeft</a:t>
            </a:r>
            <a:r>
              <a:rPr lang="en-US" dirty="0">
                <a:solidFill>
                  <a:schemeClr val="accent1"/>
                </a:solidFill>
              </a:rPr>
              <a:t>",</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readproperty</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a:t>
            </a:r>
            <a:r>
              <a:rPr lang="en-US" dirty="0" err="1">
                <a:solidFill>
                  <a:schemeClr val="accent1"/>
                </a:solidFill>
              </a:rPr>
              <a:t>json</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htv:methodName</a:t>
            </a:r>
            <a:r>
              <a:rPr lang="en-US" dirty="0">
                <a:solidFill>
                  <a:schemeClr val="accent5"/>
                </a:solidFill>
              </a:rPr>
              <a:t>"</a:t>
            </a:r>
            <a:r>
              <a:rPr lang="en-US" dirty="0">
                <a:solidFill>
                  <a:schemeClr val="accent1"/>
                </a:solidFill>
              </a:rPr>
              <a:t>: "GET"</a:t>
            </a:r>
          </a:p>
          <a:p>
            <a:r>
              <a:rPr lang="en-US" dirty="0">
                <a:solidFill>
                  <a:schemeClr val="accent1"/>
                </a:solidFill>
              </a:rPr>
              <a:t>      }</a:t>
            </a:r>
          </a:p>
          <a:p>
            <a:r>
              <a:rPr lang="en-US" dirty="0">
                <a:solidFill>
                  <a:schemeClr val="accent1"/>
                </a:solidFill>
              </a:rPr>
              <a:t>    ]</a:t>
            </a:r>
          </a:p>
          <a:p>
            <a:r>
              <a:rPr lang="en-US" dirty="0">
                <a:solidFill>
                  <a:schemeClr val="accent1"/>
                </a:solidFill>
              </a:rPr>
              <a:t> ...</a:t>
            </a:r>
          </a:p>
        </p:txBody>
      </p:sp>
      <p:cxnSp>
        <p:nvCxnSpPr>
          <p:cNvPr id="24" name="Straight Arrow Connector 23" hidden="1">
            <a:extLst>
              <a:ext uri="{FF2B5EF4-FFF2-40B4-BE49-F238E27FC236}">
                <a16:creationId xmlns:a16="http://schemas.microsoft.com/office/drawing/2014/main" id="{F3B6DCC6-9DBA-1287-3CBC-5119E3B3E2E5}"/>
              </a:ext>
            </a:extLst>
          </p:cNvPr>
          <p:cNvCxnSpPr>
            <a:cxnSpLocks/>
          </p:cNvCxnSpPr>
          <p:nvPr/>
        </p:nvCxnSpPr>
        <p:spPr>
          <a:xfrm flipH="1">
            <a:off x="10043875" y="3538385"/>
            <a:ext cx="5653" cy="6296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5" name="TextBox 24" hidden="1">
            <a:extLst>
              <a:ext uri="{FF2B5EF4-FFF2-40B4-BE49-F238E27FC236}">
                <a16:creationId xmlns:a16="http://schemas.microsoft.com/office/drawing/2014/main" id="{4DE458DD-1B84-0A46-9998-E843CFF38537}"/>
              </a:ext>
            </a:extLst>
          </p:cNvPr>
          <p:cNvSpPr txBox="1"/>
          <p:nvPr/>
        </p:nvSpPr>
        <p:spPr>
          <a:xfrm>
            <a:off x="10129382" y="3668518"/>
            <a:ext cx="675121" cy="369332"/>
          </a:xfrm>
          <a:prstGeom prst="rect">
            <a:avLst/>
          </a:prstGeom>
          <a:noFill/>
        </p:spPr>
        <p:txBody>
          <a:bodyPr wrap="none" rtlCol="0">
            <a:spAutoFit/>
          </a:bodyPr>
          <a:lstStyle/>
          <a:p>
            <a:r>
              <a:rPr lang="en-US" dirty="0">
                <a:solidFill>
                  <a:schemeClr val="accent1"/>
                </a:solidFill>
              </a:rPr>
              <a:t>HTTP</a:t>
            </a:r>
            <a:endParaRPr lang="en-DE" dirty="0">
              <a:solidFill>
                <a:schemeClr val="accent1"/>
              </a:solidFill>
            </a:endParaRPr>
          </a:p>
        </p:txBody>
      </p:sp>
    </p:spTree>
    <p:extLst>
      <p:ext uri="{BB962C8B-B14F-4D97-AF65-F5344CB8AC3E}">
        <p14:creationId xmlns:p14="http://schemas.microsoft.com/office/powerpoint/2010/main" val="12419686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150"/>
                                        <p:tgtEl>
                                          <p:spTgt spid="16">
                                            <p:txEl>
                                              <p:pRg st="0" end="0"/>
                                            </p:txEl>
                                          </p:spTgt>
                                        </p:tgtEl>
                                      </p:cBhvr>
                                    </p:animEffect>
                                  </p:childTnLst>
                                </p:cTn>
                              </p:par>
                            </p:childTnLst>
                          </p:cTn>
                        </p:par>
                        <p:par>
                          <p:cTn id="8" fill="hold">
                            <p:stCondLst>
                              <p:cond delay="150"/>
                            </p:stCondLst>
                            <p:childTnLst>
                              <p:par>
                                <p:cTn id="9" presetID="22" presetClass="entr" presetSubtype="8" fill="hold" grpId="0" nodeType="after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Effect transition="in" filter="wipe(left)">
                                      <p:cBhvr>
                                        <p:cTn id="11" dur="150"/>
                                        <p:tgtEl>
                                          <p:spTgt spid="16">
                                            <p:txEl>
                                              <p:pRg st="1" end="1"/>
                                            </p:txEl>
                                          </p:spTgt>
                                        </p:tgtEl>
                                      </p:cBhvr>
                                    </p:animEffect>
                                  </p:childTnLst>
                                </p:cTn>
                              </p:par>
                            </p:childTnLst>
                          </p:cTn>
                        </p:par>
                        <p:par>
                          <p:cTn id="12" fill="hold">
                            <p:stCondLst>
                              <p:cond delay="300"/>
                            </p:stCondLst>
                            <p:childTnLst>
                              <p:par>
                                <p:cTn id="13" presetID="22" presetClass="entr" presetSubtype="8" fill="hold" grpId="0" nodeType="after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Effect transition="in" filter="wipe(left)">
                                      <p:cBhvr>
                                        <p:cTn id="15" dur="150"/>
                                        <p:tgtEl>
                                          <p:spTgt spid="16">
                                            <p:txEl>
                                              <p:pRg st="2" end="2"/>
                                            </p:txEl>
                                          </p:spTgt>
                                        </p:tgtEl>
                                      </p:cBhvr>
                                    </p:animEffect>
                                  </p:childTnLst>
                                </p:cTn>
                              </p:par>
                            </p:childTnLst>
                          </p:cTn>
                        </p:par>
                        <p:par>
                          <p:cTn id="16" fill="hold">
                            <p:stCondLst>
                              <p:cond delay="450"/>
                            </p:stCondLst>
                            <p:childTnLst>
                              <p:par>
                                <p:cTn id="17" presetID="22" presetClass="entr" presetSubtype="8" fill="hold" grpId="0" nodeType="after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Effect transition="in" filter="wipe(left)">
                                      <p:cBhvr>
                                        <p:cTn id="19" dur="150"/>
                                        <p:tgtEl>
                                          <p:spTgt spid="16">
                                            <p:txEl>
                                              <p:pRg st="3" end="3"/>
                                            </p:txEl>
                                          </p:spTgt>
                                        </p:tgtEl>
                                      </p:cBhvr>
                                    </p:animEffect>
                                  </p:childTnLst>
                                </p:cTn>
                              </p:par>
                            </p:childTnLst>
                          </p:cTn>
                        </p:par>
                        <p:par>
                          <p:cTn id="20" fill="hold">
                            <p:stCondLst>
                              <p:cond delay="600"/>
                            </p:stCondLst>
                            <p:childTnLst>
                              <p:par>
                                <p:cTn id="21" presetID="22" presetClass="entr" presetSubtype="8" fill="hold" grpId="0" nodeType="after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Effect transition="in" filter="wipe(left)">
                                      <p:cBhvr>
                                        <p:cTn id="23" dur="150"/>
                                        <p:tgtEl>
                                          <p:spTgt spid="16">
                                            <p:txEl>
                                              <p:pRg st="4" end="4"/>
                                            </p:txEl>
                                          </p:spTgt>
                                        </p:tgtEl>
                                      </p:cBhvr>
                                    </p:animEffect>
                                  </p:childTnLst>
                                </p:cTn>
                              </p:par>
                            </p:childTnLst>
                          </p:cTn>
                        </p:par>
                        <p:par>
                          <p:cTn id="24" fill="hold">
                            <p:stCondLst>
                              <p:cond delay="750"/>
                            </p:stCondLst>
                            <p:childTnLst>
                              <p:par>
                                <p:cTn id="25" presetID="22" presetClass="entr" presetSubtype="8" fill="hold" grpId="0" nodeType="after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Effect transition="in" filter="wipe(left)">
                                      <p:cBhvr>
                                        <p:cTn id="27" dur="150"/>
                                        <p:tgtEl>
                                          <p:spTgt spid="16">
                                            <p:txEl>
                                              <p:pRg st="5" end="5"/>
                                            </p:txEl>
                                          </p:spTgt>
                                        </p:tgtEl>
                                      </p:cBhvr>
                                    </p:animEffect>
                                  </p:childTnLst>
                                </p:cTn>
                              </p:par>
                            </p:childTnLst>
                          </p:cTn>
                        </p:par>
                        <p:par>
                          <p:cTn id="28" fill="hold">
                            <p:stCondLst>
                              <p:cond delay="900"/>
                            </p:stCondLst>
                            <p:childTnLst>
                              <p:par>
                                <p:cTn id="29" presetID="22" presetClass="entr" presetSubtype="8" fill="hold" grpId="0" nodeType="after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Effect transition="in" filter="wipe(left)">
                                      <p:cBhvr>
                                        <p:cTn id="31" dur="150"/>
                                        <p:tgtEl>
                                          <p:spTgt spid="16">
                                            <p:txEl>
                                              <p:pRg st="6" end="6"/>
                                            </p:txEl>
                                          </p:spTgt>
                                        </p:tgtEl>
                                      </p:cBhvr>
                                    </p:animEffect>
                                  </p:childTnLst>
                                </p:cTn>
                              </p:par>
                            </p:childTnLst>
                          </p:cTn>
                        </p:par>
                        <p:par>
                          <p:cTn id="32" fill="hold">
                            <p:stCondLst>
                              <p:cond delay="1050"/>
                            </p:stCondLst>
                            <p:childTnLst>
                              <p:par>
                                <p:cTn id="33" presetID="22" presetClass="entr" presetSubtype="8" fill="hold" grpId="0" nodeType="afterEffect">
                                  <p:stCondLst>
                                    <p:cond delay="0"/>
                                  </p:stCondLst>
                                  <p:childTnLst>
                                    <p:set>
                                      <p:cBhvr>
                                        <p:cTn id="34" dur="1" fill="hold">
                                          <p:stCondLst>
                                            <p:cond delay="0"/>
                                          </p:stCondLst>
                                        </p:cTn>
                                        <p:tgtEl>
                                          <p:spTgt spid="16">
                                            <p:txEl>
                                              <p:pRg st="7" end="7"/>
                                            </p:txEl>
                                          </p:spTgt>
                                        </p:tgtEl>
                                        <p:attrNameLst>
                                          <p:attrName>style.visibility</p:attrName>
                                        </p:attrNameLst>
                                      </p:cBhvr>
                                      <p:to>
                                        <p:strVal val="visible"/>
                                      </p:to>
                                    </p:set>
                                    <p:animEffect transition="in" filter="wipe(left)">
                                      <p:cBhvr>
                                        <p:cTn id="35" dur="150"/>
                                        <p:tgtEl>
                                          <p:spTgt spid="16">
                                            <p:txEl>
                                              <p:pRg st="7" end="7"/>
                                            </p:txEl>
                                          </p:spTgt>
                                        </p:tgtEl>
                                      </p:cBhvr>
                                    </p:animEffect>
                                  </p:childTnLst>
                                </p:cTn>
                              </p:par>
                            </p:childTnLst>
                          </p:cTn>
                        </p:par>
                        <p:par>
                          <p:cTn id="36" fill="hold">
                            <p:stCondLst>
                              <p:cond delay="1200"/>
                            </p:stCondLst>
                            <p:childTnLst>
                              <p:par>
                                <p:cTn id="37" presetID="22" presetClass="entr" presetSubtype="8" fill="hold" grpId="0" nodeType="afterEffect">
                                  <p:stCondLst>
                                    <p:cond delay="0"/>
                                  </p:stCondLst>
                                  <p:childTnLst>
                                    <p:set>
                                      <p:cBhvr>
                                        <p:cTn id="38" dur="1" fill="hold">
                                          <p:stCondLst>
                                            <p:cond delay="0"/>
                                          </p:stCondLst>
                                        </p:cTn>
                                        <p:tgtEl>
                                          <p:spTgt spid="16">
                                            <p:txEl>
                                              <p:pRg st="8" end="8"/>
                                            </p:txEl>
                                          </p:spTgt>
                                        </p:tgtEl>
                                        <p:attrNameLst>
                                          <p:attrName>style.visibility</p:attrName>
                                        </p:attrNameLst>
                                      </p:cBhvr>
                                      <p:to>
                                        <p:strVal val="visible"/>
                                      </p:to>
                                    </p:set>
                                    <p:animEffect transition="in" filter="wipe(left)">
                                      <p:cBhvr>
                                        <p:cTn id="39" dur="150"/>
                                        <p:tgtEl>
                                          <p:spTgt spid="16">
                                            <p:txEl>
                                              <p:pRg st="8" end="8"/>
                                            </p:txEl>
                                          </p:spTgt>
                                        </p:tgtEl>
                                      </p:cBhvr>
                                    </p:animEffect>
                                  </p:childTnLst>
                                </p:cTn>
                              </p:par>
                            </p:childTnLst>
                          </p:cTn>
                        </p:par>
                        <p:par>
                          <p:cTn id="40" fill="hold">
                            <p:stCondLst>
                              <p:cond delay="1350"/>
                            </p:stCondLst>
                            <p:childTnLst>
                              <p:par>
                                <p:cTn id="41" presetID="22" presetClass="entr" presetSubtype="8" fill="hold" grpId="0" nodeType="afterEffect">
                                  <p:stCondLst>
                                    <p:cond delay="0"/>
                                  </p:stCondLst>
                                  <p:childTnLst>
                                    <p:set>
                                      <p:cBhvr>
                                        <p:cTn id="42" dur="1" fill="hold">
                                          <p:stCondLst>
                                            <p:cond delay="0"/>
                                          </p:stCondLst>
                                        </p:cTn>
                                        <p:tgtEl>
                                          <p:spTgt spid="16">
                                            <p:txEl>
                                              <p:pRg st="9" end="9"/>
                                            </p:txEl>
                                          </p:spTgt>
                                        </p:tgtEl>
                                        <p:attrNameLst>
                                          <p:attrName>style.visibility</p:attrName>
                                        </p:attrNameLst>
                                      </p:cBhvr>
                                      <p:to>
                                        <p:strVal val="visible"/>
                                      </p:to>
                                    </p:set>
                                    <p:animEffect transition="in" filter="wipe(left)">
                                      <p:cBhvr>
                                        <p:cTn id="43" dur="150"/>
                                        <p:tgtEl>
                                          <p:spTgt spid="16">
                                            <p:txEl>
                                              <p:pRg st="9" end="9"/>
                                            </p:txEl>
                                          </p:spTgt>
                                        </p:tgtEl>
                                      </p:cBhvr>
                                    </p:animEffect>
                                  </p:childTnLst>
                                </p:cTn>
                              </p:par>
                            </p:childTnLst>
                          </p:cTn>
                        </p:par>
                        <p:par>
                          <p:cTn id="44" fill="hold">
                            <p:stCondLst>
                              <p:cond delay="1500"/>
                            </p:stCondLst>
                            <p:childTnLst>
                              <p:par>
                                <p:cTn id="45" presetID="22" presetClass="entr" presetSubtype="8" fill="hold" grpId="0" nodeType="afterEffect">
                                  <p:stCondLst>
                                    <p:cond delay="0"/>
                                  </p:stCondLst>
                                  <p:childTnLst>
                                    <p:set>
                                      <p:cBhvr>
                                        <p:cTn id="46" dur="1" fill="hold">
                                          <p:stCondLst>
                                            <p:cond delay="0"/>
                                          </p:stCondLst>
                                        </p:cTn>
                                        <p:tgtEl>
                                          <p:spTgt spid="16">
                                            <p:txEl>
                                              <p:pRg st="10" end="10"/>
                                            </p:txEl>
                                          </p:spTgt>
                                        </p:tgtEl>
                                        <p:attrNameLst>
                                          <p:attrName>style.visibility</p:attrName>
                                        </p:attrNameLst>
                                      </p:cBhvr>
                                      <p:to>
                                        <p:strVal val="visible"/>
                                      </p:to>
                                    </p:set>
                                    <p:animEffect transition="in" filter="wipe(left)">
                                      <p:cBhvr>
                                        <p:cTn id="47" dur="150"/>
                                        <p:tgtEl>
                                          <p:spTgt spid="16">
                                            <p:txEl>
                                              <p:pRg st="10" end="10"/>
                                            </p:txEl>
                                          </p:spTgt>
                                        </p:tgtEl>
                                      </p:cBhvr>
                                    </p:animEffect>
                                  </p:childTnLst>
                                </p:cTn>
                              </p:par>
                            </p:childTnLst>
                          </p:cTn>
                        </p:par>
                        <p:par>
                          <p:cTn id="48" fill="hold">
                            <p:stCondLst>
                              <p:cond delay="1650"/>
                            </p:stCondLst>
                            <p:childTnLst>
                              <p:par>
                                <p:cTn id="49" presetID="22" presetClass="entr" presetSubtype="8" fill="hold" grpId="0" nodeType="afterEffect">
                                  <p:stCondLst>
                                    <p:cond delay="0"/>
                                  </p:stCondLst>
                                  <p:childTnLst>
                                    <p:set>
                                      <p:cBhvr>
                                        <p:cTn id="50" dur="1" fill="hold">
                                          <p:stCondLst>
                                            <p:cond delay="0"/>
                                          </p:stCondLst>
                                        </p:cTn>
                                        <p:tgtEl>
                                          <p:spTgt spid="16">
                                            <p:txEl>
                                              <p:pRg st="11" end="11"/>
                                            </p:txEl>
                                          </p:spTgt>
                                        </p:tgtEl>
                                        <p:attrNameLst>
                                          <p:attrName>style.visibility</p:attrName>
                                        </p:attrNameLst>
                                      </p:cBhvr>
                                      <p:to>
                                        <p:strVal val="visible"/>
                                      </p:to>
                                    </p:set>
                                    <p:animEffect transition="in" filter="wipe(left)">
                                      <p:cBhvr>
                                        <p:cTn id="51" dur="150"/>
                                        <p:tgtEl>
                                          <p:spTgt spid="16">
                                            <p:txEl>
                                              <p:pRg st="11" end="11"/>
                                            </p:txEl>
                                          </p:spTgt>
                                        </p:tgtEl>
                                      </p:cBhvr>
                                    </p:animEffect>
                                  </p:childTnLst>
                                </p:cTn>
                              </p:par>
                            </p:childTnLst>
                          </p:cTn>
                        </p:par>
                        <p:par>
                          <p:cTn id="52" fill="hold">
                            <p:stCondLst>
                              <p:cond delay="1800"/>
                            </p:stCondLst>
                            <p:childTnLst>
                              <p:par>
                                <p:cTn id="53" presetID="22" presetClass="entr" presetSubtype="8" fill="hold" grpId="0" nodeType="afterEffect">
                                  <p:stCondLst>
                                    <p:cond delay="0"/>
                                  </p:stCondLst>
                                  <p:childTnLst>
                                    <p:set>
                                      <p:cBhvr>
                                        <p:cTn id="54" dur="1" fill="hold">
                                          <p:stCondLst>
                                            <p:cond delay="0"/>
                                          </p:stCondLst>
                                        </p:cTn>
                                        <p:tgtEl>
                                          <p:spTgt spid="16">
                                            <p:txEl>
                                              <p:pRg st="12" end="12"/>
                                            </p:txEl>
                                          </p:spTgt>
                                        </p:tgtEl>
                                        <p:attrNameLst>
                                          <p:attrName>style.visibility</p:attrName>
                                        </p:attrNameLst>
                                      </p:cBhvr>
                                      <p:to>
                                        <p:strVal val="visible"/>
                                      </p:to>
                                    </p:set>
                                    <p:animEffect transition="in" filter="wipe(left)">
                                      <p:cBhvr>
                                        <p:cTn id="55" dur="150"/>
                                        <p:tgtEl>
                                          <p:spTgt spid="16">
                                            <p:txEl>
                                              <p:pRg st="12" end="12"/>
                                            </p:txEl>
                                          </p:spTgt>
                                        </p:tgtEl>
                                      </p:cBhvr>
                                    </p:animEffect>
                                  </p:childTnLst>
                                </p:cTn>
                              </p:par>
                            </p:childTnLst>
                          </p:cTn>
                        </p:par>
                        <p:par>
                          <p:cTn id="56" fill="hold">
                            <p:stCondLst>
                              <p:cond delay="1950"/>
                            </p:stCondLst>
                            <p:childTnLst>
                              <p:par>
                                <p:cTn id="57" presetID="22" presetClass="entr" presetSubtype="8" fill="hold" grpId="0" nodeType="afterEffect">
                                  <p:stCondLst>
                                    <p:cond delay="0"/>
                                  </p:stCondLst>
                                  <p:childTnLst>
                                    <p:set>
                                      <p:cBhvr>
                                        <p:cTn id="58" dur="1" fill="hold">
                                          <p:stCondLst>
                                            <p:cond delay="0"/>
                                          </p:stCondLst>
                                        </p:cTn>
                                        <p:tgtEl>
                                          <p:spTgt spid="16">
                                            <p:txEl>
                                              <p:pRg st="13" end="13"/>
                                            </p:txEl>
                                          </p:spTgt>
                                        </p:tgtEl>
                                        <p:attrNameLst>
                                          <p:attrName>style.visibility</p:attrName>
                                        </p:attrNameLst>
                                      </p:cBhvr>
                                      <p:to>
                                        <p:strVal val="visible"/>
                                      </p:to>
                                    </p:set>
                                    <p:animEffect transition="in" filter="wipe(left)">
                                      <p:cBhvr>
                                        <p:cTn id="59" dur="150"/>
                                        <p:tgtEl>
                                          <p:spTgt spid="16">
                                            <p:txEl>
                                              <p:pRg st="13" end="13"/>
                                            </p:txEl>
                                          </p:spTgt>
                                        </p:tgtEl>
                                      </p:cBhvr>
                                    </p:animEffect>
                                  </p:childTnLst>
                                </p:cTn>
                              </p:par>
                            </p:childTnLst>
                          </p:cTn>
                        </p:par>
                        <p:par>
                          <p:cTn id="60" fill="hold">
                            <p:stCondLst>
                              <p:cond delay="2100"/>
                            </p:stCondLst>
                            <p:childTnLst>
                              <p:par>
                                <p:cTn id="61" presetID="22" presetClass="entr" presetSubtype="8" fill="hold" grpId="0" nodeType="afterEffect">
                                  <p:stCondLst>
                                    <p:cond delay="0"/>
                                  </p:stCondLst>
                                  <p:childTnLst>
                                    <p:set>
                                      <p:cBhvr>
                                        <p:cTn id="62" dur="1" fill="hold">
                                          <p:stCondLst>
                                            <p:cond delay="0"/>
                                          </p:stCondLst>
                                        </p:cTn>
                                        <p:tgtEl>
                                          <p:spTgt spid="16">
                                            <p:txEl>
                                              <p:pRg st="14" end="14"/>
                                            </p:txEl>
                                          </p:spTgt>
                                        </p:tgtEl>
                                        <p:attrNameLst>
                                          <p:attrName>style.visibility</p:attrName>
                                        </p:attrNameLst>
                                      </p:cBhvr>
                                      <p:to>
                                        <p:strVal val="visible"/>
                                      </p:to>
                                    </p:set>
                                    <p:animEffect transition="in" filter="wipe(left)">
                                      <p:cBhvr>
                                        <p:cTn id="63" dur="150"/>
                                        <p:tgtEl>
                                          <p:spTgt spid="16">
                                            <p:txEl>
                                              <p:pRg st="14" end="14"/>
                                            </p:txEl>
                                          </p:spTgt>
                                        </p:tgtEl>
                                      </p:cBhvr>
                                    </p:animEffect>
                                  </p:childTnLst>
                                </p:cTn>
                              </p:par>
                            </p:childTnLst>
                          </p:cTn>
                        </p:par>
                        <p:par>
                          <p:cTn id="64" fill="hold">
                            <p:stCondLst>
                              <p:cond delay="2250"/>
                            </p:stCondLst>
                            <p:childTnLst>
                              <p:par>
                                <p:cTn id="65" presetID="22" presetClass="entr" presetSubtype="8" fill="hold" grpId="0" nodeType="afterEffect">
                                  <p:stCondLst>
                                    <p:cond delay="0"/>
                                  </p:stCondLst>
                                  <p:childTnLst>
                                    <p:set>
                                      <p:cBhvr>
                                        <p:cTn id="66" dur="1" fill="hold">
                                          <p:stCondLst>
                                            <p:cond delay="0"/>
                                          </p:stCondLst>
                                        </p:cTn>
                                        <p:tgtEl>
                                          <p:spTgt spid="16">
                                            <p:txEl>
                                              <p:pRg st="15" end="15"/>
                                            </p:txEl>
                                          </p:spTgt>
                                        </p:tgtEl>
                                        <p:attrNameLst>
                                          <p:attrName>style.visibility</p:attrName>
                                        </p:attrNameLst>
                                      </p:cBhvr>
                                      <p:to>
                                        <p:strVal val="visible"/>
                                      </p:to>
                                    </p:set>
                                    <p:animEffect transition="in" filter="wipe(left)">
                                      <p:cBhvr>
                                        <p:cTn id="67" dur="150"/>
                                        <p:tgtEl>
                                          <p:spTgt spid="16">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D393D75-AD22-5B01-FFB8-CFA061B8E294}"/>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96F7972D-FD70-F4B5-786C-002FB3011D72}"/>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FE7C5DA5-DB5C-0F80-B298-C78EE57337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AD2F6B71-B39E-728D-E9AC-66428089CB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91DF30E9-E22B-2694-67A5-48CADB593E0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E132A587-CD8D-19B7-BF35-29E26AF33F57}"/>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BB8AD045-AB74-7D0F-99EC-07AB77EA1E1F}"/>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8669813E-968A-5479-07AE-414242365333}"/>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F8A93BB1-49F3-8C91-E736-2CC31620BCC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806CF021-73D2-D305-C5D4-97F1C602949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EDD4ECC2-DAF5-84FA-1EBB-4BEE128D09FC}"/>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FD76A6FE-9D57-35B9-EB6F-E111A559DAA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5D5C2FBB-9111-67B1-04E3-D813C7F89209}"/>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H</a:t>
            </a:r>
            <a:r>
              <a:rPr lang="bg-BG" dirty="0">
                <a:solidFill>
                  <a:schemeClr val="accent1"/>
                </a:solidFill>
                <a:latin typeface="Century Gothic" panose="020B0502020202020204" pitchFamily="34" charset="0"/>
              </a:rPr>
              <a:t>Т</a:t>
            </a:r>
            <a:r>
              <a:rPr lang="en-GB" dirty="0">
                <a:solidFill>
                  <a:schemeClr val="accent1"/>
                </a:solidFill>
                <a:latin typeface="Century Gothic" panose="020B0502020202020204" pitchFamily="34" charset="0"/>
              </a:rPr>
              <a:t>TP </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7701652E-789C-9B9A-E9D4-678BC23A9EF5}"/>
              </a:ext>
            </a:extLst>
          </p:cNvPr>
          <p:cNvSpPr txBox="1"/>
          <p:nvPr/>
        </p:nvSpPr>
        <p:spPr>
          <a:xfrm>
            <a:off x="1083789" y="1691238"/>
            <a:ext cx="7576500" cy="4524315"/>
          </a:xfrm>
          <a:prstGeom prst="rect">
            <a:avLst/>
          </a:prstGeom>
          <a:noFill/>
        </p:spPr>
        <p:txBody>
          <a:bodyPr wrap="square" rtlCol="0">
            <a:spAutoFit/>
          </a:bodyPr>
          <a:lstStyle/>
          <a:p>
            <a:r>
              <a:rPr lang="en-US" dirty="0">
                <a:solidFill>
                  <a:schemeClr val="accent3">
                    <a:lumMod val="75000"/>
                  </a:schemeClr>
                </a:solidFill>
              </a:rPr>
              <a:t>... </a:t>
            </a:r>
          </a:p>
          <a:p>
            <a:r>
              <a:rPr lang="en-US" dirty="0">
                <a:solidFill>
                  <a:schemeClr val="accent3">
                    <a:lumMod val="75000"/>
                  </a:schemeClr>
                </a:solidFill>
              </a:rPr>
              <a:t>"properties": {</a:t>
            </a:r>
          </a:p>
          <a:p>
            <a:r>
              <a:rPr lang="en-US" dirty="0">
                <a:solidFill>
                  <a:schemeClr val="accent3">
                    <a:lumMod val="75000"/>
                  </a:schemeClr>
                </a:solidFill>
              </a:rPr>
              <a:t>  "</a:t>
            </a:r>
            <a:r>
              <a:rPr lang="en-US" dirty="0" err="1">
                <a:solidFill>
                  <a:schemeClr val="accent3">
                    <a:lumMod val="75000"/>
                  </a:schemeClr>
                </a:solidFill>
              </a:rPr>
              <a:t>coffeeBeansLeft</a:t>
            </a:r>
            <a:r>
              <a:rPr lang="en-US" dirty="0">
                <a:solidFill>
                  <a:schemeClr val="accent3">
                    <a:lumMod val="75000"/>
                  </a:schemeClr>
                </a:solidFill>
              </a:rPr>
              <a:t>": {</a:t>
            </a:r>
          </a:p>
          <a:p>
            <a:r>
              <a:rPr lang="en-US" dirty="0">
                <a:solidFill>
                  <a:schemeClr val="accent3">
                    <a:lumMod val="75000"/>
                  </a:schemeClr>
                </a:solidFill>
              </a:rPr>
              <a:t>    "title": "Remaining Coffee Beans",</a:t>
            </a:r>
          </a:p>
          <a:p>
            <a:r>
              <a:rPr lang="en-US" dirty="0">
                <a:solidFill>
                  <a:schemeClr val="accent3">
                    <a:lumMod val="75000"/>
                  </a:schemeClr>
                </a:solidFill>
              </a:rPr>
              <a:t>    "description": "Amount of remaining coffee beans in grams",</a:t>
            </a:r>
          </a:p>
          <a:p>
            <a:r>
              <a:rPr lang="en-US" dirty="0">
                <a:solidFill>
                  <a:schemeClr val="accent3">
                    <a:lumMod val="75000"/>
                  </a:schemeClr>
                </a:solidFill>
              </a:rPr>
              <a:t>    "type": "number",</a:t>
            </a:r>
          </a:p>
          <a:p>
            <a:r>
              <a:rPr lang="en-US" dirty="0">
                <a:solidFill>
                  <a:schemeClr val="accent3">
                    <a:lumMod val="75000"/>
                  </a:schemeClr>
                </a:solidFill>
              </a:rPr>
              <a:t>    "</a:t>
            </a:r>
            <a:r>
              <a:rPr lang="en-US" dirty="0" err="1">
                <a:solidFill>
                  <a:schemeClr val="accent3">
                    <a:lumMod val="75000"/>
                  </a:schemeClr>
                </a:solidFill>
              </a:rPr>
              <a:t>readOnly</a:t>
            </a:r>
            <a:r>
              <a:rPr lang="en-US" dirty="0">
                <a:solidFill>
                  <a:schemeClr val="accent3">
                    <a:lumMod val="75000"/>
                  </a:schemeClr>
                </a:solidFill>
              </a:rPr>
              <a:t>": true,</a:t>
            </a:r>
          </a:p>
          <a:p>
            <a:r>
              <a:rPr lang="en-US" dirty="0">
                <a:solidFill>
                  <a:schemeClr val="accent3">
                    <a:lumMod val="75000"/>
                  </a:schemeClr>
                </a:solidFill>
              </a:rPr>
              <a:t>    "forms": [</a:t>
            </a:r>
          </a:p>
          <a:p>
            <a:r>
              <a:rPr lang="en-US" dirty="0">
                <a:solidFill>
                  <a:schemeClr val="accent3">
                    <a:lumMod val="75000"/>
                  </a:schemeClr>
                </a:solidFill>
              </a:rPr>
              <a:t>      {</a:t>
            </a:r>
          </a:p>
          <a:p>
            <a:r>
              <a:rPr lang="en-US" dirty="0">
                <a:solidFill>
                  <a:schemeClr val="accent3">
                    <a:lumMod val="75000"/>
                  </a:schemeClr>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"https://coffee.example.com/properties/</a:t>
            </a:r>
            <a:r>
              <a:rPr lang="en-US" dirty="0" err="1">
                <a:solidFill>
                  <a:schemeClr val="accent1"/>
                </a:solidFill>
              </a:rPr>
              <a:t>coffeeBeansLeft</a:t>
            </a:r>
            <a:r>
              <a:rPr lang="en-US" dirty="0">
                <a:solidFill>
                  <a:schemeClr val="accent1"/>
                </a:solidFill>
              </a:rPr>
              <a:t>",</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readproperty</a:t>
            </a:r>
            <a:r>
              <a:rPr lang="en-US" dirty="0">
                <a:solidFill>
                  <a:schemeClr val="accent1"/>
                </a:solidFill>
              </a:rPr>
              <a:t>",</a:t>
            </a:r>
          </a:p>
          <a:p>
            <a:r>
              <a:rPr lang="en-US" dirty="0">
                <a:solidFill>
                  <a:schemeClr val="accent3">
                    <a:lumMod val="75000"/>
                  </a:schemeClr>
                </a:solidFill>
              </a:rPr>
              <a:t>        "</a:t>
            </a:r>
            <a:r>
              <a:rPr lang="en-US" dirty="0" err="1">
                <a:solidFill>
                  <a:schemeClr val="accent3">
                    <a:lumMod val="75000"/>
                  </a:schemeClr>
                </a:solidFill>
              </a:rPr>
              <a:t>contentType</a:t>
            </a:r>
            <a:r>
              <a:rPr lang="en-US" dirty="0">
                <a:solidFill>
                  <a:schemeClr val="accent3">
                    <a:lumMod val="75000"/>
                  </a:schemeClr>
                </a:solidFill>
              </a:rPr>
              <a:t>": "application/</a:t>
            </a:r>
            <a:r>
              <a:rPr lang="en-US" dirty="0" err="1">
                <a:solidFill>
                  <a:schemeClr val="accent3">
                    <a:lumMod val="75000"/>
                  </a:schemeClr>
                </a:solidFill>
              </a:rPr>
              <a:t>json</a:t>
            </a:r>
            <a:r>
              <a:rPr lang="en-US" dirty="0">
                <a:solidFill>
                  <a:schemeClr val="accent3">
                    <a:lumMod val="75000"/>
                  </a:schemeClr>
                </a:solidFill>
              </a:rPr>
              <a:t>",</a:t>
            </a:r>
          </a:p>
          <a:p>
            <a:r>
              <a:rPr lang="en-US" dirty="0">
                <a:solidFill>
                  <a:schemeClr val="accent3">
                    <a:lumMod val="75000"/>
                  </a:schemeClr>
                </a:solidFill>
              </a:rPr>
              <a:t>        "</a:t>
            </a:r>
            <a:r>
              <a:rPr lang="en-US" dirty="0" err="1">
                <a:solidFill>
                  <a:schemeClr val="accent3">
                    <a:lumMod val="75000"/>
                  </a:schemeClr>
                </a:solidFill>
              </a:rPr>
              <a:t>htv:methodName</a:t>
            </a:r>
            <a:r>
              <a:rPr lang="en-US" dirty="0">
                <a:solidFill>
                  <a:schemeClr val="accent3">
                    <a:lumMod val="75000"/>
                  </a:schemeClr>
                </a:solidFill>
              </a:rPr>
              <a:t>": "GET"</a:t>
            </a:r>
          </a:p>
          <a:p>
            <a:r>
              <a:rPr lang="en-US" dirty="0">
                <a:solidFill>
                  <a:schemeClr val="accent3">
                    <a:lumMod val="75000"/>
                  </a:schemeClr>
                </a:solidFill>
              </a:rPr>
              <a:t>      }</a:t>
            </a:r>
          </a:p>
          <a:p>
            <a:r>
              <a:rPr lang="en-US" dirty="0">
                <a:solidFill>
                  <a:schemeClr val="accent3">
                    <a:lumMod val="75000"/>
                  </a:schemeClr>
                </a:solidFill>
              </a:rPr>
              <a:t>    ]</a:t>
            </a:r>
          </a:p>
          <a:p>
            <a:r>
              <a:rPr lang="en-US" dirty="0">
                <a:solidFill>
                  <a:schemeClr val="accent3">
                    <a:lumMod val="75000"/>
                  </a:schemeClr>
                </a:solidFill>
              </a:rPr>
              <a:t> ...</a:t>
            </a:r>
          </a:p>
        </p:txBody>
      </p:sp>
      <p:cxnSp>
        <p:nvCxnSpPr>
          <p:cNvPr id="17" name="Straight Arrow Connector 16">
            <a:extLst>
              <a:ext uri="{FF2B5EF4-FFF2-40B4-BE49-F238E27FC236}">
                <a16:creationId xmlns:a16="http://schemas.microsoft.com/office/drawing/2014/main" id="{C1868269-947F-0525-B2BB-73B94E36AA30}"/>
              </a:ext>
            </a:extLst>
          </p:cNvPr>
          <p:cNvCxnSpPr>
            <a:cxnSpLocks/>
          </p:cNvCxnSpPr>
          <p:nvPr/>
        </p:nvCxnSpPr>
        <p:spPr>
          <a:xfrm flipH="1">
            <a:off x="10043875" y="3538385"/>
            <a:ext cx="5653" cy="6296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9974767-DAF5-8D58-0145-C2A7EB1FEC98}"/>
              </a:ext>
            </a:extLst>
          </p:cNvPr>
          <p:cNvSpPr txBox="1"/>
          <p:nvPr/>
        </p:nvSpPr>
        <p:spPr>
          <a:xfrm>
            <a:off x="10129382" y="3668518"/>
            <a:ext cx="675121" cy="369332"/>
          </a:xfrm>
          <a:prstGeom prst="rect">
            <a:avLst/>
          </a:prstGeom>
          <a:noFill/>
        </p:spPr>
        <p:txBody>
          <a:bodyPr wrap="none" rtlCol="0">
            <a:spAutoFit/>
          </a:bodyPr>
          <a:lstStyle/>
          <a:p>
            <a:r>
              <a:rPr lang="en-US" dirty="0">
                <a:solidFill>
                  <a:schemeClr val="accent1"/>
                </a:solidFill>
              </a:rPr>
              <a:t>HTTP</a:t>
            </a:r>
            <a:endParaRPr lang="en-DE" dirty="0">
              <a:solidFill>
                <a:schemeClr val="accent1"/>
              </a:solidFill>
            </a:endParaRPr>
          </a:p>
        </p:txBody>
      </p:sp>
    </p:spTree>
    <p:extLst>
      <p:ext uri="{BB962C8B-B14F-4D97-AF65-F5344CB8AC3E}">
        <p14:creationId xmlns:p14="http://schemas.microsoft.com/office/powerpoint/2010/main" val="3474544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5895B2F-E2A4-B4DF-64AC-FC32D4566AE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8F72B9A6-B9D3-F3A0-FE36-17CA7345DAC1}"/>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3092A843-0D85-503F-BD62-E7B956E295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0F060879-978D-0B76-C9BE-0B91DC1EF6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5579D4A5-C198-5ECC-E1D7-788AB455994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13EB0E77-8068-BC45-07BB-42417F2B2A73}"/>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A9B33D90-97DE-6742-EFF8-F3DAB420DB5D}"/>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61DD1D9E-4813-EA0D-7A69-28132C3961A9}"/>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A9CB8335-B420-12C2-228F-D316DB450515}"/>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0A96C097-2EED-118A-0BFC-803FEE51726A}"/>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EF91F1DD-3880-755E-5B2A-8AAED047C418}"/>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BAAC5ECB-B66E-061F-BBC4-96A6B39CA00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16F7A582-1E7C-7577-190A-7094C9590F3B}"/>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H</a:t>
            </a:r>
            <a:r>
              <a:rPr lang="bg-BG" dirty="0">
                <a:solidFill>
                  <a:schemeClr val="accent1"/>
                </a:solidFill>
                <a:latin typeface="Century Gothic" panose="020B0502020202020204" pitchFamily="34" charset="0"/>
              </a:rPr>
              <a:t>Т</a:t>
            </a:r>
            <a:r>
              <a:rPr lang="en-GB" dirty="0">
                <a:solidFill>
                  <a:schemeClr val="accent1"/>
                </a:solidFill>
                <a:latin typeface="Century Gothic" panose="020B0502020202020204" pitchFamily="34" charset="0"/>
              </a:rPr>
              <a:t>TP </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196713BA-DF43-5F70-D83E-68222E4F1BAE}"/>
              </a:ext>
            </a:extLst>
          </p:cNvPr>
          <p:cNvSpPr txBox="1"/>
          <p:nvPr/>
        </p:nvSpPr>
        <p:spPr>
          <a:xfrm>
            <a:off x="1083789" y="1691238"/>
            <a:ext cx="7576500" cy="4524315"/>
          </a:xfrm>
          <a:prstGeom prst="rect">
            <a:avLst/>
          </a:prstGeom>
          <a:noFill/>
        </p:spPr>
        <p:txBody>
          <a:bodyPr wrap="square" rtlCol="0">
            <a:spAutoFit/>
          </a:bodyPr>
          <a:lstStyle/>
          <a:p>
            <a:r>
              <a:rPr lang="en-US" dirty="0">
                <a:solidFill>
                  <a:schemeClr val="accent3">
                    <a:lumMod val="75000"/>
                  </a:schemeClr>
                </a:solidFill>
              </a:rPr>
              <a:t>... </a:t>
            </a:r>
          </a:p>
          <a:p>
            <a:r>
              <a:rPr lang="en-US" dirty="0">
                <a:solidFill>
                  <a:schemeClr val="accent3">
                    <a:lumMod val="75000"/>
                  </a:schemeClr>
                </a:solidFill>
              </a:rPr>
              <a:t>"properties": {</a:t>
            </a:r>
          </a:p>
          <a:p>
            <a:r>
              <a:rPr lang="en-US" dirty="0">
                <a:solidFill>
                  <a:schemeClr val="accent3">
                    <a:lumMod val="75000"/>
                  </a:schemeClr>
                </a:solidFill>
              </a:rPr>
              <a:t>  "</a:t>
            </a:r>
            <a:r>
              <a:rPr lang="en-US" dirty="0" err="1">
                <a:solidFill>
                  <a:schemeClr val="accent3">
                    <a:lumMod val="75000"/>
                  </a:schemeClr>
                </a:solidFill>
              </a:rPr>
              <a:t>coffeeBeansLeft</a:t>
            </a:r>
            <a:r>
              <a:rPr lang="en-US" dirty="0">
                <a:solidFill>
                  <a:schemeClr val="accent3">
                    <a:lumMod val="75000"/>
                  </a:schemeClr>
                </a:solidFill>
              </a:rPr>
              <a:t>": {</a:t>
            </a:r>
          </a:p>
          <a:p>
            <a:r>
              <a:rPr lang="en-US" dirty="0">
                <a:solidFill>
                  <a:schemeClr val="accent3">
                    <a:lumMod val="75000"/>
                  </a:schemeClr>
                </a:solidFill>
              </a:rPr>
              <a:t>    "title": "Remaining Coffee Beans",</a:t>
            </a:r>
          </a:p>
          <a:p>
            <a:r>
              <a:rPr lang="en-US" dirty="0">
                <a:solidFill>
                  <a:schemeClr val="accent3">
                    <a:lumMod val="75000"/>
                  </a:schemeClr>
                </a:solidFill>
              </a:rPr>
              <a:t>    "description": "Amount of remaining coffee beans in grams",</a:t>
            </a:r>
          </a:p>
          <a:p>
            <a:r>
              <a:rPr lang="en-US" dirty="0">
                <a:solidFill>
                  <a:schemeClr val="accent3">
                    <a:lumMod val="75000"/>
                  </a:schemeClr>
                </a:solidFill>
              </a:rPr>
              <a:t>    "type": "number",</a:t>
            </a:r>
          </a:p>
          <a:p>
            <a:r>
              <a:rPr lang="en-US" dirty="0">
                <a:solidFill>
                  <a:schemeClr val="accent3">
                    <a:lumMod val="75000"/>
                  </a:schemeClr>
                </a:solidFill>
              </a:rPr>
              <a:t>    "</a:t>
            </a:r>
            <a:r>
              <a:rPr lang="en-US" dirty="0" err="1">
                <a:solidFill>
                  <a:schemeClr val="accent3">
                    <a:lumMod val="75000"/>
                  </a:schemeClr>
                </a:solidFill>
              </a:rPr>
              <a:t>readOnly</a:t>
            </a:r>
            <a:r>
              <a:rPr lang="en-US" dirty="0">
                <a:solidFill>
                  <a:schemeClr val="accent3">
                    <a:lumMod val="75000"/>
                  </a:schemeClr>
                </a:solidFill>
              </a:rPr>
              <a:t>": true,</a:t>
            </a:r>
          </a:p>
          <a:p>
            <a:r>
              <a:rPr lang="en-US" dirty="0">
                <a:solidFill>
                  <a:schemeClr val="accent3">
                    <a:lumMod val="75000"/>
                  </a:schemeClr>
                </a:solidFill>
              </a:rPr>
              <a:t>    "forms": [</a:t>
            </a:r>
          </a:p>
          <a:p>
            <a:r>
              <a:rPr lang="en-US" dirty="0">
                <a:solidFill>
                  <a:schemeClr val="accent3">
                    <a:lumMod val="75000"/>
                  </a:schemeClr>
                </a:solidFill>
              </a:rPr>
              <a:t>      {</a:t>
            </a:r>
          </a:p>
          <a:p>
            <a:r>
              <a:rPr lang="en-US" dirty="0">
                <a:solidFill>
                  <a:schemeClr val="accent3">
                    <a:lumMod val="75000"/>
                  </a:schemeClr>
                </a:solidFill>
              </a:rPr>
              <a:t>        "</a:t>
            </a:r>
            <a:r>
              <a:rPr lang="en-US" dirty="0" err="1">
                <a:solidFill>
                  <a:schemeClr val="accent3">
                    <a:lumMod val="75000"/>
                  </a:schemeClr>
                </a:solidFill>
              </a:rPr>
              <a:t>href</a:t>
            </a:r>
            <a:r>
              <a:rPr lang="en-US" dirty="0">
                <a:solidFill>
                  <a:schemeClr val="accent3">
                    <a:lumMod val="75000"/>
                  </a:schemeClr>
                </a:solidFill>
              </a:rPr>
              <a:t>": "https://coffee.example.com/properties/</a:t>
            </a:r>
            <a:r>
              <a:rPr lang="en-US" dirty="0" err="1">
                <a:solidFill>
                  <a:schemeClr val="accent3">
                    <a:lumMod val="75000"/>
                  </a:schemeClr>
                </a:solidFill>
              </a:rPr>
              <a:t>coffeeBeansLeft</a:t>
            </a:r>
            <a:r>
              <a:rPr lang="en-US" dirty="0">
                <a:solidFill>
                  <a:schemeClr val="accent3">
                    <a:lumMod val="75000"/>
                  </a:schemeClr>
                </a:solidFill>
              </a:rPr>
              <a:t>",</a:t>
            </a:r>
          </a:p>
          <a:p>
            <a:r>
              <a:rPr lang="en-US" dirty="0">
                <a:solidFill>
                  <a:schemeClr val="accent3">
                    <a:lumMod val="75000"/>
                  </a:schemeClr>
                </a:solidFill>
              </a:rPr>
              <a:t>        "op": "</a:t>
            </a:r>
            <a:r>
              <a:rPr lang="en-US" dirty="0" err="1">
                <a:solidFill>
                  <a:schemeClr val="accent3">
                    <a:lumMod val="75000"/>
                  </a:schemeClr>
                </a:solidFill>
              </a:rPr>
              <a:t>readproperty</a:t>
            </a:r>
            <a:r>
              <a:rPr lang="en-US" dirty="0">
                <a:solidFill>
                  <a:schemeClr val="accent3">
                    <a:lumMod val="75000"/>
                  </a:schemeClr>
                </a:solidFill>
              </a:rPr>
              <a:t>",</a:t>
            </a:r>
          </a:p>
          <a:p>
            <a:r>
              <a:rPr lang="en-US" dirty="0">
                <a:solidFill>
                  <a:schemeClr val="accent3">
                    <a:lumMod val="75000"/>
                  </a:schemeClr>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a:t>
            </a:r>
            <a:r>
              <a:rPr lang="en-US" dirty="0" err="1">
                <a:solidFill>
                  <a:schemeClr val="accent1"/>
                </a:solidFill>
              </a:rPr>
              <a:t>json</a:t>
            </a:r>
            <a:r>
              <a:rPr lang="en-US" dirty="0">
                <a:solidFill>
                  <a:schemeClr val="accent1"/>
                </a:solidFill>
              </a:rPr>
              <a:t>",</a:t>
            </a:r>
          </a:p>
          <a:p>
            <a:r>
              <a:rPr lang="en-US" dirty="0">
                <a:solidFill>
                  <a:schemeClr val="accent3">
                    <a:lumMod val="75000"/>
                  </a:schemeClr>
                </a:solidFill>
              </a:rPr>
              <a:t>        "</a:t>
            </a:r>
            <a:r>
              <a:rPr lang="en-US" dirty="0" err="1">
                <a:solidFill>
                  <a:schemeClr val="accent3">
                    <a:lumMod val="75000"/>
                  </a:schemeClr>
                </a:solidFill>
              </a:rPr>
              <a:t>htv:methodName</a:t>
            </a:r>
            <a:r>
              <a:rPr lang="en-US" dirty="0">
                <a:solidFill>
                  <a:schemeClr val="accent3">
                    <a:lumMod val="75000"/>
                  </a:schemeClr>
                </a:solidFill>
              </a:rPr>
              <a:t>": "GET"</a:t>
            </a:r>
          </a:p>
          <a:p>
            <a:r>
              <a:rPr lang="en-US" dirty="0">
                <a:solidFill>
                  <a:schemeClr val="accent3">
                    <a:lumMod val="75000"/>
                  </a:schemeClr>
                </a:solidFill>
              </a:rPr>
              <a:t>      }</a:t>
            </a:r>
          </a:p>
          <a:p>
            <a:r>
              <a:rPr lang="en-US" dirty="0">
                <a:solidFill>
                  <a:schemeClr val="accent3">
                    <a:lumMod val="75000"/>
                  </a:schemeClr>
                </a:solidFill>
              </a:rPr>
              <a:t>    ]</a:t>
            </a:r>
          </a:p>
          <a:p>
            <a:r>
              <a:rPr lang="en-US" dirty="0">
                <a:solidFill>
                  <a:schemeClr val="accent3">
                    <a:lumMod val="75000"/>
                  </a:schemeClr>
                </a:solidFill>
              </a:rPr>
              <a:t> ...</a:t>
            </a:r>
          </a:p>
        </p:txBody>
      </p:sp>
      <p:cxnSp>
        <p:nvCxnSpPr>
          <p:cNvPr id="2" name="Straight Arrow Connector 1">
            <a:extLst>
              <a:ext uri="{FF2B5EF4-FFF2-40B4-BE49-F238E27FC236}">
                <a16:creationId xmlns:a16="http://schemas.microsoft.com/office/drawing/2014/main" id="{FD21AA58-1916-CFD1-7E17-F18F1374DCDB}"/>
              </a:ext>
            </a:extLst>
          </p:cNvPr>
          <p:cNvCxnSpPr>
            <a:cxnSpLocks/>
          </p:cNvCxnSpPr>
          <p:nvPr/>
        </p:nvCxnSpPr>
        <p:spPr>
          <a:xfrm flipH="1" flipV="1">
            <a:off x="10043875" y="3538385"/>
            <a:ext cx="5653" cy="6296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15B8D24-5D49-A568-CA89-2709BB5FEDAE}"/>
              </a:ext>
            </a:extLst>
          </p:cNvPr>
          <p:cNvSpPr txBox="1"/>
          <p:nvPr/>
        </p:nvSpPr>
        <p:spPr>
          <a:xfrm flipH="1">
            <a:off x="10129382" y="3668518"/>
            <a:ext cx="675121" cy="369332"/>
          </a:xfrm>
          <a:prstGeom prst="rect">
            <a:avLst/>
          </a:prstGeom>
          <a:noFill/>
        </p:spPr>
        <p:txBody>
          <a:bodyPr wrap="square" rtlCol="0">
            <a:spAutoFit/>
          </a:bodyPr>
          <a:lstStyle/>
          <a:p>
            <a:r>
              <a:rPr lang="en-US" dirty="0">
                <a:solidFill>
                  <a:schemeClr val="accent1"/>
                </a:solidFill>
              </a:rPr>
              <a:t>JSON</a:t>
            </a:r>
          </a:p>
        </p:txBody>
      </p:sp>
    </p:spTree>
    <p:extLst>
      <p:ext uri="{BB962C8B-B14F-4D97-AF65-F5344CB8AC3E}">
        <p14:creationId xmlns:p14="http://schemas.microsoft.com/office/powerpoint/2010/main" val="25401691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4F76ED8-000B-FD9B-963C-4E32822F7693}"/>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48F76371-8E14-1E63-3974-89D878A95150}"/>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232575B1-6D82-91C4-834C-9A74B09C9C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3B4C1890-3F9F-DCA4-A62E-BD5226364D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8511AC5F-D38D-F5FC-7A92-0C8252ABD98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7A3D317B-C2E2-252D-9D34-D228727EBC9B}"/>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C7DD1CD4-D4ED-F2F0-3357-FFF71B1D58BA}"/>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9A3742A0-31A2-DB50-7211-326FD0143F0F}"/>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4478A468-E2EA-0611-5C7E-075D0D7E6C5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D18BBDF1-69AD-8BD5-2C96-D9806C67141A}"/>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8C501DB1-DA9E-286D-6EEE-3CA7EE69CE2E}"/>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12D1FA62-D9D6-5B6B-C3EE-558E964D123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4D9D1E03-54AB-E7AA-537B-E8D1C5B93596}"/>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H</a:t>
            </a:r>
            <a:r>
              <a:rPr lang="bg-BG" dirty="0">
                <a:solidFill>
                  <a:schemeClr val="accent1"/>
                </a:solidFill>
                <a:latin typeface="Century Gothic" panose="020B0502020202020204" pitchFamily="34" charset="0"/>
              </a:rPr>
              <a:t>Т</a:t>
            </a:r>
            <a:r>
              <a:rPr lang="en-GB" dirty="0">
                <a:solidFill>
                  <a:schemeClr val="accent1"/>
                </a:solidFill>
                <a:latin typeface="Century Gothic" panose="020B0502020202020204" pitchFamily="34" charset="0"/>
              </a:rPr>
              <a:t>TP </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B821BCC7-A9FF-28A2-F10E-A56AA4D6A22F}"/>
              </a:ext>
            </a:extLst>
          </p:cNvPr>
          <p:cNvSpPr txBox="1"/>
          <p:nvPr/>
        </p:nvSpPr>
        <p:spPr>
          <a:xfrm>
            <a:off x="1083789" y="1691238"/>
            <a:ext cx="7576500" cy="4524315"/>
          </a:xfrm>
          <a:prstGeom prst="rect">
            <a:avLst/>
          </a:prstGeom>
          <a:noFill/>
        </p:spPr>
        <p:txBody>
          <a:bodyPr wrap="square" rtlCol="0">
            <a:spAutoFit/>
          </a:bodyPr>
          <a:lstStyle/>
          <a:p>
            <a:r>
              <a:rPr lang="en-US" dirty="0">
                <a:solidFill>
                  <a:schemeClr val="accent3">
                    <a:lumMod val="75000"/>
                  </a:schemeClr>
                </a:solidFill>
              </a:rPr>
              <a:t>... </a:t>
            </a:r>
          </a:p>
          <a:p>
            <a:r>
              <a:rPr lang="en-US" dirty="0">
                <a:solidFill>
                  <a:schemeClr val="accent3">
                    <a:lumMod val="75000"/>
                  </a:schemeClr>
                </a:solidFill>
              </a:rPr>
              <a:t>"properties": {</a:t>
            </a:r>
          </a:p>
          <a:p>
            <a:r>
              <a:rPr lang="en-US" dirty="0">
                <a:solidFill>
                  <a:schemeClr val="accent3">
                    <a:lumMod val="75000"/>
                  </a:schemeClr>
                </a:solidFill>
              </a:rPr>
              <a:t>  "</a:t>
            </a:r>
            <a:r>
              <a:rPr lang="en-US" dirty="0" err="1">
                <a:solidFill>
                  <a:schemeClr val="accent3">
                    <a:lumMod val="75000"/>
                  </a:schemeClr>
                </a:solidFill>
              </a:rPr>
              <a:t>coffeeBeansLeft</a:t>
            </a:r>
            <a:r>
              <a:rPr lang="en-US" dirty="0">
                <a:solidFill>
                  <a:schemeClr val="accent3">
                    <a:lumMod val="75000"/>
                  </a:schemeClr>
                </a:solidFill>
              </a:rPr>
              <a:t>": {</a:t>
            </a:r>
          </a:p>
          <a:p>
            <a:r>
              <a:rPr lang="en-US" dirty="0">
                <a:solidFill>
                  <a:schemeClr val="accent3">
                    <a:lumMod val="75000"/>
                  </a:schemeClr>
                </a:solidFill>
              </a:rPr>
              <a:t>    "title": "Remaining Coffee Beans",</a:t>
            </a:r>
          </a:p>
          <a:p>
            <a:r>
              <a:rPr lang="en-US" dirty="0">
                <a:solidFill>
                  <a:schemeClr val="accent3">
                    <a:lumMod val="75000"/>
                  </a:schemeClr>
                </a:solidFill>
              </a:rPr>
              <a:t>    "description": "Amount of remaining coffee beans in grams",</a:t>
            </a:r>
          </a:p>
          <a:p>
            <a:r>
              <a:rPr lang="en-US" dirty="0">
                <a:solidFill>
                  <a:schemeClr val="accent3">
                    <a:lumMod val="75000"/>
                  </a:schemeClr>
                </a:solidFill>
              </a:rPr>
              <a:t>    "type": "number",</a:t>
            </a:r>
          </a:p>
          <a:p>
            <a:r>
              <a:rPr lang="en-US" dirty="0">
                <a:solidFill>
                  <a:schemeClr val="accent3">
                    <a:lumMod val="75000"/>
                  </a:schemeClr>
                </a:solidFill>
              </a:rPr>
              <a:t>    "</a:t>
            </a:r>
            <a:r>
              <a:rPr lang="en-US" dirty="0" err="1">
                <a:solidFill>
                  <a:schemeClr val="accent3">
                    <a:lumMod val="75000"/>
                  </a:schemeClr>
                </a:solidFill>
              </a:rPr>
              <a:t>readOnly</a:t>
            </a:r>
            <a:r>
              <a:rPr lang="en-US" dirty="0">
                <a:solidFill>
                  <a:schemeClr val="accent3">
                    <a:lumMod val="75000"/>
                  </a:schemeClr>
                </a:solidFill>
              </a:rPr>
              <a:t>": true,</a:t>
            </a:r>
          </a:p>
          <a:p>
            <a:r>
              <a:rPr lang="en-US" dirty="0">
                <a:solidFill>
                  <a:schemeClr val="accent3">
                    <a:lumMod val="75000"/>
                  </a:schemeClr>
                </a:solidFill>
              </a:rPr>
              <a:t>    "forms": [</a:t>
            </a:r>
          </a:p>
          <a:p>
            <a:r>
              <a:rPr lang="en-US" dirty="0">
                <a:solidFill>
                  <a:schemeClr val="accent3">
                    <a:lumMod val="75000"/>
                  </a:schemeClr>
                </a:solidFill>
              </a:rPr>
              <a:t>      {</a:t>
            </a:r>
          </a:p>
          <a:p>
            <a:r>
              <a:rPr lang="en-US" dirty="0">
                <a:solidFill>
                  <a:schemeClr val="accent3">
                    <a:lumMod val="75000"/>
                  </a:schemeClr>
                </a:solidFill>
              </a:rPr>
              <a:t>        "</a:t>
            </a:r>
            <a:r>
              <a:rPr lang="en-US" dirty="0" err="1">
                <a:solidFill>
                  <a:schemeClr val="accent3">
                    <a:lumMod val="75000"/>
                  </a:schemeClr>
                </a:solidFill>
              </a:rPr>
              <a:t>href</a:t>
            </a:r>
            <a:r>
              <a:rPr lang="en-US" dirty="0">
                <a:solidFill>
                  <a:schemeClr val="accent3">
                    <a:lumMod val="75000"/>
                  </a:schemeClr>
                </a:solidFill>
              </a:rPr>
              <a:t>": "https://coffee.example.com/properties/</a:t>
            </a:r>
            <a:r>
              <a:rPr lang="en-US" dirty="0" err="1">
                <a:solidFill>
                  <a:schemeClr val="accent3">
                    <a:lumMod val="75000"/>
                  </a:schemeClr>
                </a:solidFill>
              </a:rPr>
              <a:t>coffeeBeansLeft</a:t>
            </a:r>
            <a:r>
              <a:rPr lang="en-US" dirty="0">
                <a:solidFill>
                  <a:schemeClr val="accent3">
                    <a:lumMod val="75000"/>
                  </a:schemeClr>
                </a:solidFill>
              </a:rPr>
              <a:t>",</a:t>
            </a:r>
          </a:p>
          <a:p>
            <a:r>
              <a:rPr lang="en-US" dirty="0">
                <a:solidFill>
                  <a:schemeClr val="accent3">
                    <a:lumMod val="75000"/>
                  </a:schemeClr>
                </a:solidFill>
              </a:rPr>
              <a:t>        "op": "</a:t>
            </a:r>
            <a:r>
              <a:rPr lang="en-US" dirty="0" err="1">
                <a:solidFill>
                  <a:schemeClr val="accent3">
                    <a:lumMod val="75000"/>
                  </a:schemeClr>
                </a:solidFill>
              </a:rPr>
              <a:t>readproperty</a:t>
            </a:r>
            <a:r>
              <a:rPr lang="en-US" dirty="0">
                <a:solidFill>
                  <a:schemeClr val="accent3">
                    <a:lumMod val="75000"/>
                  </a:schemeClr>
                </a:solidFill>
              </a:rPr>
              <a:t>",</a:t>
            </a:r>
          </a:p>
          <a:p>
            <a:r>
              <a:rPr lang="en-US" dirty="0">
                <a:solidFill>
                  <a:schemeClr val="accent3">
                    <a:lumMod val="75000"/>
                  </a:schemeClr>
                </a:solidFill>
              </a:rPr>
              <a:t>        "</a:t>
            </a:r>
            <a:r>
              <a:rPr lang="en-US" dirty="0" err="1">
                <a:solidFill>
                  <a:schemeClr val="accent3">
                    <a:lumMod val="75000"/>
                  </a:schemeClr>
                </a:solidFill>
              </a:rPr>
              <a:t>contentType</a:t>
            </a:r>
            <a:r>
              <a:rPr lang="en-US" dirty="0">
                <a:solidFill>
                  <a:schemeClr val="accent3">
                    <a:lumMod val="75000"/>
                  </a:schemeClr>
                </a:solidFill>
              </a:rPr>
              <a:t>": "application/</a:t>
            </a:r>
            <a:r>
              <a:rPr lang="en-US" dirty="0" err="1">
                <a:solidFill>
                  <a:schemeClr val="accent3">
                    <a:lumMod val="75000"/>
                  </a:schemeClr>
                </a:solidFill>
              </a:rPr>
              <a:t>json</a:t>
            </a:r>
            <a:r>
              <a:rPr lang="en-US" dirty="0">
                <a:solidFill>
                  <a:schemeClr val="accent3">
                    <a:lumMod val="75000"/>
                  </a:schemeClr>
                </a:solidFill>
              </a:rPr>
              <a:t>",</a:t>
            </a:r>
          </a:p>
          <a:p>
            <a:r>
              <a:rPr lang="en-US" dirty="0">
                <a:solidFill>
                  <a:schemeClr val="accent3">
                    <a:lumMod val="75000"/>
                  </a:schemeClr>
                </a:solidFill>
              </a:rPr>
              <a:t>        </a:t>
            </a:r>
            <a:r>
              <a:rPr lang="en-US" dirty="0">
                <a:solidFill>
                  <a:schemeClr val="accent5"/>
                </a:solidFill>
              </a:rPr>
              <a:t>"</a:t>
            </a:r>
            <a:r>
              <a:rPr lang="en-US" dirty="0" err="1">
                <a:solidFill>
                  <a:schemeClr val="accent5"/>
                </a:solidFill>
              </a:rPr>
              <a:t>htv:methodName</a:t>
            </a:r>
            <a:r>
              <a:rPr lang="en-US" dirty="0">
                <a:solidFill>
                  <a:schemeClr val="accent5"/>
                </a:solidFill>
              </a:rPr>
              <a:t>"</a:t>
            </a:r>
            <a:r>
              <a:rPr lang="en-US" dirty="0">
                <a:solidFill>
                  <a:schemeClr val="accent1"/>
                </a:solidFill>
              </a:rPr>
              <a:t>: "GET"</a:t>
            </a:r>
          </a:p>
          <a:p>
            <a:r>
              <a:rPr lang="en-US" dirty="0">
                <a:solidFill>
                  <a:schemeClr val="accent3">
                    <a:lumMod val="75000"/>
                  </a:schemeClr>
                </a:solidFill>
              </a:rPr>
              <a:t>      }</a:t>
            </a:r>
          </a:p>
          <a:p>
            <a:r>
              <a:rPr lang="en-US" dirty="0">
                <a:solidFill>
                  <a:schemeClr val="accent3">
                    <a:lumMod val="75000"/>
                  </a:schemeClr>
                </a:solidFill>
              </a:rPr>
              <a:t>    ]</a:t>
            </a:r>
          </a:p>
          <a:p>
            <a:r>
              <a:rPr lang="en-US" dirty="0">
                <a:solidFill>
                  <a:schemeClr val="accent3">
                    <a:lumMod val="75000"/>
                  </a:schemeClr>
                </a:solidFill>
              </a:rPr>
              <a:t> ...</a:t>
            </a:r>
          </a:p>
        </p:txBody>
      </p:sp>
      <p:cxnSp>
        <p:nvCxnSpPr>
          <p:cNvPr id="2" name="Straight Arrow Connector 1">
            <a:extLst>
              <a:ext uri="{FF2B5EF4-FFF2-40B4-BE49-F238E27FC236}">
                <a16:creationId xmlns:a16="http://schemas.microsoft.com/office/drawing/2014/main" id="{035AE251-0DE7-02EA-C2B9-D16DD806B361}"/>
              </a:ext>
            </a:extLst>
          </p:cNvPr>
          <p:cNvCxnSpPr>
            <a:cxnSpLocks/>
          </p:cNvCxnSpPr>
          <p:nvPr/>
        </p:nvCxnSpPr>
        <p:spPr>
          <a:xfrm flipH="1">
            <a:off x="10043875" y="3538385"/>
            <a:ext cx="5653" cy="6296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7ECCDAC-1843-B28C-1825-088694D86431}"/>
              </a:ext>
            </a:extLst>
          </p:cNvPr>
          <p:cNvSpPr txBox="1"/>
          <p:nvPr/>
        </p:nvSpPr>
        <p:spPr>
          <a:xfrm>
            <a:off x="10129382" y="3668518"/>
            <a:ext cx="1098314" cy="369332"/>
          </a:xfrm>
          <a:prstGeom prst="rect">
            <a:avLst/>
          </a:prstGeom>
          <a:noFill/>
        </p:spPr>
        <p:txBody>
          <a:bodyPr wrap="none" rtlCol="0">
            <a:spAutoFit/>
          </a:bodyPr>
          <a:lstStyle/>
          <a:p>
            <a:r>
              <a:rPr lang="en-US" dirty="0">
                <a:solidFill>
                  <a:schemeClr val="accent1"/>
                </a:solidFill>
              </a:rPr>
              <a:t>HTTP GET</a:t>
            </a:r>
            <a:endParaRPr lang="en-DE" dirty="0">
              <a:solidFill>
                <a:schemeClr val="accent1"/>
              </a:solidFill>
            </a:endParaRPr>
          </a:p>
        </p:txBody>
      </p:sp>
    </p:spTree>
    <p:extLst>
      <p:ext uri="{BB962C8B-B14F-4D97-AF65-F5344CB8AC3E}">
        <p14:creationId xmlns:p14="http://schemas.microsoft.com/office/powerpoint/2010/main" val="20691103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51B6-7169-7D0F-D541-322ABCC210D0}"/>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ED329359-7BAC-E01A-0DCC-A1DFF45C5F24}"/>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0A92A7B2-BFDF-FF0A-7163-8CEF07C7FD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41264DFC-EC00-5729-68EE-4BD0D250D5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816A6371-BB80-5116-9ED4-57405FEAC3E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CDA84C30-A059-F8FA-F445-388B376600F6}"/>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B51A714E-429A-85E7-84C0-5A67F87FBEB2}"/>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A8E4134C-9344-44D4-7C3C-13125A5B3ADC}"/>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FF16FF8F-D829-EACB-ECC0-2259643E0872}"/>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0E66A8BC-8639-5C55-9AD2-DA27C7192EF7}"/>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58FBB97E-DD9F-DEFB-12A3-CA2DF31C977C}"/>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1E92054E-48E1-0C16-11F1-7DEBC254713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CE31DBB1-B022-BECE-85BA-803CAC0D62F4}"/>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CoAP</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1EAD9F30-D708-D734-9116-C1E1A36CEF24}"/>
              </a:ext>
            </a:extLst>
          </p:cNvPr>
          <p:cNvSpPr txBox="1"/>
          <p:nvPr/>
        </p:nvSpPr>
        <p:spPr>
          <a:xfrm>
            <a:off x="1108151" y="1444789"/>
            <a:ext cx="7576500" cy="3108543"/>
          </a:xfrm>
          <a:prstGeom prst="rect">
            <a:avLst/>
          </a:prstGeom>
          <a:noFill/>
        </p:spPr>
        <p:txBody>
          <a:bodyPr wrap="square" rtlCol="0">
            <a:spAutoFit/>
          </a:bodyPr>
          <a:lstStyle/>
          <a:p>
            <a:r>
              <a:rPr lang="en-US" sz="1400" dirty="0">
                <a:solidFill>
                  <a:schemeClr val="accent1"/>
                </a:solidFill>
              </a:rPr>
              <a:t> </a:t>
            </a:r>
            <a:r>
              <a:rPr lang="en-US" sz="1400" dirty="0">
                <a:solidFill>
                  <a:schemeClr val="accent5"/>
                </a:solidFill>
              </a:rPr>
              <a:t>"actions"</a:t>
            </a:r>
            <a:r>
              <a:rPr lang="en-US" sz="1400" dirty="0">
                <a:solidFill>
                  <a:schemeClr val="accent1"/>
                </a:solidFill>
              </a:rPr>
              <a:t>: {</a:t>
            </a:r>
          </a:p>
          <a:p>
            <a:r>
              <a:rPr lang="en-US" sz="1400" dirty="0">
                <a:solidFill>
                  <a:schemeClr val="accent1"/>
                </a:solidFill>
              </a:rPr>
              <a:t>  </a:t>
            </a:r>
            <a:r>
              <a:rPr lang="en-US" sz="1400" dirty="0">
                <a:solidFill>
                  <a:schemeClr val="accent5"/>
                </a:solidFill>
              </a:rPr>
              <a:t>"</a:t>
            </a:r>
            <a:r>
              <a:rPr lang="en-US" sz="1400" dirty="0" err="1">
                <a:solidFill>
                  <a:schemeClr val="accent5"/>
                </a:solidFill>
              </a:rPr>
              <a:t>brewCoffee</a:t>
            </a:r>
            <a:r>
              <a:rPr lang="en-US" sz="1400" dirty="0">
                <a:solidFill>
                  <a:schemeClr val="accent5"/>
                </a:solidFill>
              </a:rPr>
              <a:t>"</a:t>
            </a:r>
            <a:r>
              <a:rPr lang="en-US" sz="1400" dirty="0">
                <a:solidFill>
                  <a:schemeClr val="accent1"/>
                </a:solidFill>
              </a:rPr>
              <a:t>: {</a:t>
            </a:r>
          </a:p>
          <a:p>
            <a:r>
              <a:rPr lang="en-US" sz="1400" dirty="0">
                <a:solidFill>
                  <a:schemeClr val="accent1"/>
                </a:solidFill>
              </a:rPr>
              <a:t>    </a:t>
            </a:r>
            <a:r>
              <a:rPr lang="en-US" sz="1400" dirty="0">
                <a:solidFill>
                  <a:schemeClr val="accent5"/>
                </a:solidFill>
              </a:rPr>
              <a:t>"title"</a:t>
            </a:r>
            <a:r>
              <a:rPr lang="en-US" sz="1400" dirty="0">
                <a:solidFill>
                  <a:schemeClr val="accent1"/>
                </a:solidFill>
              </a:rPr>
              <a:t>: "Brew Coffee",</a:t>
            </a:r>
          </a:p>
          <a:p>
            <a:r>
              <a:rPr lang="en-US" sz="1400" dirty="0">
                <a:solidFill>
                  <a:schemeClr val="accent1"/>
                </a:solidFill>
              </a:rPr>
              <a:t>   </a:t>
            </a:r>
            <a:r>
              <a:rPr lang="en-US" sz="1400" dirty="0">
                <a:solidFill>
                  <a:schemeClr val="accent5"/>
                </a:solidFill>
              </a:rPr>
              <a:t> "description"</a:t>
            </a:r>
            <a:r>
              <a:rPr lang="en-US" sz="1400" dirty="0">
                <a:solidFill>
                  <a:schemeClr val="accent1"/>
                </a:solidFill>
              </a:rPr>
              <a:t>: "Starts brewing a cup of coffee",</a:t>
            </a:r>
          </a:p>
          <a:p>
            <a:r>
              <a:rPr lang="en-US" sz="1400" dirty="0">
                <a:solidFill>
                  <a:schemeClr val="accent1"/>
                </a:solidFill>
              </a:rPr>
              <a:t>    </a:t>
            </a:r>
            <a:r>
              <a:rPr lang="en-US" sz="1400" dirty="0">
                <a:solidFill>
                  <a:schemeClr val="accent5"/>
                </a:solidFill>
              </a:rPr>
              <a:t>"input"</a:t>
            </a:r>
            <a:r>
              <a:rPr lang="en-US" sz="1400" dirty="0">
                <a:solidFill>
                  <a:schemeClr val="accent1"/>
                </a:solidFill>
              </a:rPr>
              <a:t>: {</a:t>
            </a:r>
          </a:p>
          <a:p>
            <a:r>
              <a:rPr lang="en-US" sz="1400" dirty="0">
                <a:solidFill>
                  <a:schemeClr val="accent1"/>
                </a:solidFill>
              </a:rPr>
              <a:t>      </a:t>
            </a:r>
            <a:r>
              <a:rPr lang="en-US" sz="1400" dirty="0">
                <a:solidFill>
                  <a:schemeClr val="accent5"/>
                </a:solidFill>
              </a:rPr>
              <a:t>"type"</a:t>
            </a:r>
            <a:r>
              <a:rPr lang="en-US" sz="1400" dirty="0">
                <a:solidFill>
                  <a:schemeClr val="accent1"/>
                </a:solidFill>
              </a:rPr>
              <a:t>: "object",</a:t>
            </a:r>
          </a:p>
          <a:p>
            <a:r>
              <a:rPr lang="en-US" sz="1400" dirty="0">
                <a:solidFill>
                  <a:schemeClr val="accent1"/>
                </a:solidFill>
              </a:rPr>
              <a:t>      </a:t>
            </a:r>
            <a:r>
              <a:rPr lang="en-US" sz="1400" dirty="0">
                <a:solidFill>
                  <a:schemeClr val="accent5"/>
                </a:solidFill>
              </a:rPr>
              <a:t>"properties"</a:t>
            </a:r>
            <a:r>
              <a:rPr lang="en-US" sz="1400" dirty="0">
                <a:solidFill>
                  <a:schemeClr val="accent1"/>
                </a:solidFill>
              </a:rPr>
              <a:t>: {</a:t>
            </a:r>
          </a:p>
          <a:p>
            <a:r>
              <a:rPr lang="en-US" sz="1400" dirty="0">
                <a:solidFill>
                  <a:schemeClr val="accent1"/>
                </a:solidFill>
              </a:rPr>
              <a:t>        </a:t>
            </a:r>
            <a:r>
              <a:rPr lang="en-US" sz="1400" dirty="0">
                <a:solidFill>
                  <a:schemeClr val="accent5"/>
                </a:solidFill>
              </a:rPr>
              <a:t>"size"</a:t>
            </a:r>
            <a:r>
              <a:rPr lang="en-US" sz="1400" dirty="0">
                <a:solidFill>
                  <a:schemeClr val="accent1"/>
                </a:solidFill>
              </a:rPr>
              <a:t>: {</a:t>
            </a:r>
          </a:p>
          <a:p>
            <a:r>
              <a:rPr lang="en-US" sz="1400" dirty="0">
                <a:solidFill>
                  <a:schemeClr val="accent1"/>
                </a:solidFill>
              </a:rPr>
              <a:t>          </a:t>
            </a:r>
            <a:r>
              <a:rPr lang="en-US" sz="1400" dirty="0">
                <a:solidFill>
                  <a:schemeClr val="accent5"/>
                </a:solidFill>
              </a:rPr>
              <a:t>"type"</a:t>
            </a:r>
            <a:r>
              <a:rPr lang="en-US" sz="1400" dirty="0">
                <a:solidFill>
                  <a:schemeClr val="accent1"/>
                </a:solidFill>
              </a:rPr>
              <a:t>: "string",</a:t>
            </a:r>
          </a:p>
          <a:p>
            <a:r>
              <a:rPr lang="en-US" sz="1400" dirty="0">
                <a:solidFill>
                  <a:schemeClr val="accent1"/>
                </a:solidFill>
              </a:rPr>
              <a:t>          </a:t>
            </a:r>
            <a:r>
              <a:rPr lang="en-US" sz="1400" dirty="0">
                <a:solidFill>
                  <a:schemeClr val="accent5"/>
                </a:solidFill>
              </a:rPr>
              <a:t>"</a:t>
            </a:r>
            <a:r>
              <a:rPr lang="en-US" sz="1400" dirty="0" err="1">
                <a:solidFill>
                  <a:schemeClr val="accent5"/>
                </a:solidFill>
              </a:rPr>
              <a:t>enum</a:t>
            </a:r>
            <a:r>
              <a:rPr lang="en-US" sz="1400" dirty="0">
                <a:solidFill>
                  <a:schemeClr val="accent5"/>
                </a:solidFill>
              </a:rPr>
              <a:t>"</a:t>
            </a:r>
            <a:r>
              <a:rPr lang="en-US" sz="1400" dirty="0">
                <a:solidFill>
                  <a:schemeClr val="accent1"/>
                </a:solidFill>
              </a:rPr>
              <a:t>: ["small", "medium", "large"]</a:t>
            </a:r>
          </a:p>
          <a:p>
            <a:r>
              <a:rPr lang="en-US" sz="1400" dirty="0">
                <a:solidFill>
                  <a:schemeClr val="accent1"/>
                </a:solidFill>
              </a:rPr>
              <a:t>        }</a:t>
            </a:r>
          </a:p>
          <a:p>
            <a:r>
              <a:rPr lang="en-US" sz="1400" dirty="0">
                <a:solidFill>
                  <a:schemeClr val="accent1"/>
                </a:solidFill>
              </a:rPr>
              <a:t>      }</a:t>
            </a:r>
          </a:p>
          <a:p>
            <a:r>
              <a:rPr lang="en-US" sz="1400" dirty="0">
                <a:solidFill>
                  <a:schemeClr val="accent1"/>
                </a:solidFill>
              </a:rPr>
              <a:t>    },</a:t>
            </a:r>
          </a:p>
          <a:p>
            <a:r>
              <a:rPr lang="en-US" sz="1400" dirty="0">
                <a:solidFill>
                  <a:schemeClr val="accent1"/>
                </a:solidFill>
              </a:rPr>
              <a:t>   </a:t>
            </a:r>
          </a:p>
        </p:txBody>
      </p:sp>
      <p:sp>
        <p:nvSpPr>
          <p:cNvPr id="3" name="TextBox 2">
            <a:extLst>
              <a:ext uri="{FF2B5EF4-FFF2-40B4-BE49-F238E27FC236}">
                <a16:creationId xmlns:a16="http://schemas.microsoft.com/office/drawing/2014/main" id="{6A13170E-58AF-0684-57B0-719956D7D71C}"/>
              </a:ext>
            </a:extLst>
          </p:cNvPr>
          <p:cNvSpPr txBox="1"/>
          <p:nvPr/>
        </p:nvSpPr>
        <p:spPr>
          <a:xfrm>
            <a:off x="1105560" y="4214650"/>
            <a:ext cx="7576500" cy="1877437"/>
          </a:xfrm>
          <a:prstGeom prst="rect">
            <a:avLst/>
          </a:prstGeom>
          <a:noFill/>
        </p:spPr>
        <p:txBody>
          <a:bodyPr wrap="square" rtlCol="0">
            <a:spAutoFit/>
          </a:bodyPr>
          <a:lstStyle/>
          <a:p>
            <a:r>
              <a:rPr lang="en-US" sz="1400" dirty="0">
                <a:solidFill>
                  <a:schemeClr val="accent1"/>
                </a:solidFill>
              </a:rPr>
              <a:t>    </a:t>
            </a:r>
            <a:r>
              <a:rPr lang="en-US" sz="1400" dirty="0">
                <a:solidFill>
                  <a:schemeClr val="accent5"/>
                </a:solidFill>
              </a:rPr>
              <a:t>"forms"</a:t>
            </a:r>
            <a:r>
              <a:rPr lang="en-US" sz="1400" dirty="0">
                <a:solidFill>
                  <a:schemeClr val="accent1"/>
                </a:solidFill>
              </a:rPr>
              <a:t>: [</a:t>
            </a:r>
          </a:p>
          <a:p>
            <a:r>
              <a:rPr lang="en-US" sz="1400" dirty="0">
                <a:solidFill>
                  <a:schemeClr val="accent1"/>
                </a:solidFill>
              </a:rPr>
              <a:t>      {</a:t>
            </a:r>
          </a:p>
          <a:p>
            <a:r>
              <a:rPr lang="en-US" sz="1400" dirty="0">
                <a:solidFill>
                  <a:schemeClr val="accent1"/>
                </a:solidFill>
              </a:rPr>
              <a:t>        </a:t>
            </a:r>
            <a:r>
              <a:rPr lang="en-US" sz="1400" dirty="0">
                <a:solidFill>
                  <a:schemeClr val="accent5"/>
                </a:solidFill>
              </a:rPr>
              <a:t>"</a:t>
            </a:r>
            <a:r>
              <a:rPr lang="en-US" sz="1400" dirty="0" err="1">
                <a:solidFill>
                  <a:schemeClr val="accent5"/>
                </a:solidFill>
              </a:rPr>
              <a:t>href</a:t>
            </a:r>
            <a:r>
              <a:rPr lang="en-US" sz="1400" dirty="0">
                <a:solidFill>
                  <a:schemeClr val="accent5"/>
                </a:solidFill>
              </a:rPr>
              <a:t>"</a:t>
            </a:r>
            <a:r>
              <a:rPr lang="en-US" sz="1400" dirty="0">
                <a:solidFill>
                  <a:schemeClr val="accent1"/>
                </a:solidFill>
              </a:rPr>
              <a:t>: "</a:t>
            </a:r>
            <a:r>
              <a:rPr lang="en-US" sz="1400" dirty="0" err="1">
                <a:solidFill>
                  <a:schemeClr val="accent1"/>
                </a:solidFill>
              </a:rPr>
              <a:t>coap</a:t>
            </a:r>
            <a:r>
              <a:rPr lang="en-US" sz="1400" dirty="0">
                <a:solidFill>
                  <a:schemeClr val="accent1"/>
                </a:solidFill>
              </a:rPr>
              <a:t>://coffee.example.com/actions/</a:t>
            </a:r>
            <a:r>
              <a:rPr lang="en-US" sz="1400" dirty="0" err="1">
                <a:solidFill>
                  <a:schemeClr val="accent1"/>
                </a:solidFill>
              </a:rPr>
              <a:t>brewCoffee</a:t>
            </a:r>
            <a:r>
              <a:rPr lang="en-US" sz="1400" dirty="0">
                <a:solidFill>
                  <a:schemeClr val="accent1"/>
                </a:solidFill>
              </a:rPr>
              <a:t>",</a:t>
            </a:r>
          </a:p>
          <a:p>
            <a:r>
              <a:rPr lang="en-US" sz="1400" dirty="0">
                <a:solidFill>
                  <a:schemeClr val="accent1"/>
                </a:solidFill>
              </a:rPr>
              <a:t>        </a:t>
            </a:r>
            <a:r>
              <a:rPr lang="en-US" sz="1400" dirty="0">
                <a:solidFill>
                  <a:schemeClr val="accent5"/>
                </a:solidFill>
              </a:rPr>
              <a:t>"op"</a:t>
            </a:r>
            <a:r>
              <a:rPr lang="en-US" sz="1400" dirty="0">
                <a:solidFill>
                  <a:schemeClr val="accent1"/>
                </a:solidFill>
              </a:rPr>
              <a:t>: "</a:t>
            </a:r>
            <a:r>
              <a:rPr lang="en-US" sz="1400" dirty="0" err="1">
                <a:solidFill>
                  <a:schemeClr val="accent1"/>
                </a:solidFill>
              </a:rPr>
              <a:t>invokeaction</a:t>
            </a:r>
            <a:r>
              <a:rPr lang="en-US" sz="1400" dirty="0">
                <a:solidFill>
                  <a:schemeClr val="accent1"/>
                </a:solidFill>
              </a:rPr>
              <a:t>",</a:t>
            </a:r>
          </a:p>
          <a:p>
            <a:r>
              <a:rPr lang="en-US" sz="1400" dirty="0">
                <a:solidFill>
                  <a:schemeClr val="accent1"/>
                </a:solidFill>
              </a:rPr>
              <a:t>        </a:t>
            </a:r>
            <a:r>
              <a:rPr lang="en-US" sz="1400" dirty="0">
                <a:solidFill>
                  <a:schemeClr val="accent5"/>
                </a:solidFill>
              </a:rPr>
              <a:t>"</a:t>
            </a:r>
            <a:r>
              <a:rPr lang="en-US" sz="1400" dirty="0" err="1">
                <a:solidFill>
                  <a:schemeClr val="accent5"/>
                </a:solidFill>
              </a:rPr>
              <a:t>contentType</a:t>
            </a:r>
            <a:r>
              <a:rPr lang="en-US" sz="1400" dirty="0">
                <a:solidFill>
                  <a:schemeClr val="accent5"/>
                </a:solidFill>
              </a:rPr>
              <a:t>"</a:t>
            </a:r>
            <a:r>
              <a:rPr lang="en-US" sz="1400" dirty="0">
                <a:solidFill>
                  <a:schemeClr val="accent1"/>
                </a:solidFill>
              </a:rPr>
              <a:t>: "application/</a:t>
            </a:r>
            <a:r>
              <a:rPr lang="en-US" sz="1400" dirty="0" err="1">
                <a:solidFill>
                  <a:schemeClr val="accent1"/>
                </a:solidFill>
              </a:rPr>
              <a:t>cbor</a:t>
            </a:r>
            <a:r>
              <a:rPr lang="en-US" sz="1400" dirty="0">
                <a:solidFill>
                  <a:schemeClr val="accent1"/>
                </a:solidFill>
              </a:rPr>
              <a:t>",</a:t>
            </a:r>
          </a:p>
          <a:p>
            <a:r>
              <a:rPr lang="en-US" sz="1400" dirty="0">
                <a:solidFill>
                  <a:schemeClr val="accent1"/>
                </a:solidFill>
              </a:rPr>
              <a:t>        </a:t>
            </a:r>
            <a:r>
              <a:rPr lang="en-US" sz="1400" dirty="0">
                <a:solidFill>
                  <a:schemeClr val="accent5"/>
                </a:solidFill>
              </a:rPr>
              <a:t>"</a:t>
            </a:r>
            <a:r>
              <a:rPr lang="en-US" sz="1400" dirty="0" err="1">
                <a:solidFill>
                  <a:schemeClr val="accent5"/>
                </a:solidFill>
              </a:rPr>
              <a:t>cov:method</a:t>
            </a:r>
            <a:r>
              <a:rPr lang="en-US" sz="1400" dirty="0">
                <a:solidFill>
                  <a:schemeClr val="accent5"/>
                </a:solidFill>
              </a:rPr>
              <a:t>"</a:t>
            </a:r>
            <a:r>
              <a:rPr lang="en-US" sz="1400" dirty="0">
                <a:solidFill>
                  <a:schemeClr val="accent1"/>
                </a:solidFill>
              </a:rPr>
              <a:t>: "POST"</a:t>
            </a:r>
          </a:p>
          <a:p>
            <a:r>
              <a:rPr lang="en-US" sz="1400" dirty="0">
                <a:solidFill>
                  <a:schemeClr val="accent1"/>
                </a:solidFill>
              </a:rPr>
              <a:t>      }</a:t>
            </a:r>
          </a:p>
          <a:p>
            <a:r>
              <a:rPr lang="en-US" sz="1400" dirty="0">
                <a:solidFill>
                  <a:schemeClr val="accent1"/>
                </a:solidFill>
              </a:rPr>
              <a:t>    ]</a:t>
            </a:r>
          </a:p>
        </p:txBody>
      </p:sp>
    </p:spTree>
    <p:extLst>
      <p:ext uri="{BB962C8B-B14F-4D97-AF65-F5344CB8AC3E}">
        <p14:creationId xmlns:p14="http://schemas.microsoft.com/office/powerpoint/2010/main" val="411007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700">
        <p159:morph option="byObject"/>
      </p:transition>
    </mc:Choice>
    <mc:Fallback xmlns="">
      <p:transition spd="slow" advTm="47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100"/>
                                        <p:tgtEl>
                                          <p:spTgt spid="16">
                                            <p:txEl>
                                              <p:pRg st="0" end="0"/>
                                            </p:txEl>
                                          </p:spTgt>
                                        </p:tgtEl>
                                      </p:cBhvr>
                                    </p:animEffect>
                                  </p:childTnLst>
                                </p:cTn>
                              </p:par>
                            </p:childTnLst>
                          </p:cTn>
                        </p:par>
                        <p:par>
                          <p:cTn id="8" fill="hold">
                            <p:stCondLst>
                              <p:cond delay="100"/>
                            </p:stCondLst>
                            <p:childTnLst>
                              <p:par>
                                <p:cTn id="9" presetID="22" presetClass="entr" presetSubtype="8" fill="hold" grpId="0" nodeType="after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Effect transition="in" filter="wipe(left)">
                                      <p:cBhvr>
                                        <p:cTn id="11" dur="100"/>
                                        <p:tgtEl>
                                          <p:spTgt spid="16">
                                            <p:txEl>
                                              <p:pRg st="1" end="1"/>
                                            </p:txEl>
                                          </p:spTgt>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Effect transition="in" filter="wipe(left)">
                                      <p:cBhvr>
                                        <p:cTn id="15" dur="100"/>
                                        <p:tgtEl>
                                          <p:spTgt spid="16">
                                            <p:txEl>
                                              <p:pRg st="2" end="2"/>
                                            </p:txEl>
                                          </p:spTgt>
                                        </p:tgtEl>
                                      </p:cBhvr>
                                    </p:animEffect>
                                  </p:childTnLst>
                                </p:cTn>
                              </p:par>
                            </p:childTnLst>
                          </p:cTn>
                        </p:par>
                        <p:par>
                          <p:cTn id="16" fill="hold">
                            <p:stCondLst>
                              <p:cond delay="300"/>
                            </p:stCondLst>
                            <p:childTnLst>
                              <p:par>
                                <p:cTn id="17" presetID="22" presetClass="entr" presetSubtype="8" fill="hold" grpId="0" nodeType="after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Effect transition="in" filter="wipe(left)">
                                      <p:cBhvr>
                                        <p:cTn id="19" dur="100"/>
                                        <p:tgtEl>
                                          <p:spTgt spid="16">
                                            <p:txEl>
                                              <p:pRg st="3" end="3"/>
                                            </p:txEl>
                                          </p:spTgt>
                                        </p:tgtEl>
                                      </p:cBhvr>
                                    </p:animEffect>
                                  </p:childTnLst>
                                </p:cTn>
                              </p:par>
                            </p:childTnLst>
                          </p:cTn>
                        </p:par>
                        <p:par>
                          <p:cTn id="20" fill="hold">
                            <p:stCondLst>
                              <p:cond delay="400"/>
                            </p:stCondLst>
                            <p:childTnLst>
                              <p:par>
                                <p:cTn id="21" presetID="22" presetClass="entr" presetSubtype="8" fill="hold" grpId="0" nodeType="after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Effect transition="in" filter="wipe(left)">
                                      <p:cBhvr>
                                        <p:cTn id="23" dur="100"/>
                                        <p:tgtEl>
                                          <p:spTgt spid="16">
                                            <p:txEl>
                                              <p:pRg st="4" end="4"/>
                                            </p:txEl>
                                          </p:spTgt>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Effect transition="in" filter="wipe(left)">
                                      <p:cBhvr>
                                        <p:cTn id="27" dur="100"/>
                                        <p:tgtEl>
                                          <p:spTgt spid="16">
                                            <p:txEl>
                                              <p:pRg st="5" end="5"/>
                                            </p:txEl>
                                          </p:spTgt>
                                        </p:tgtEl>
                                      </p:cBhvr>
                                    </p:animEffect>
                                  </p:childTnLst>
                                </p:cTn>
                              </p:par>
                            </p:childTnLst>
                          </p:cTn>
                        </p:par>
                        <p:par>
                          <p:cTn id="28" fill="hold">
                            <p:stCondLst>
                              <p:cond delay="600"/>
                            </p:stCondLst>
                            <p:childTnLst>
                              <p:par>
                                <p:cTn id="29" presetID="22" presetClass="entr" presetSubtype="8" fill="hold" grpId="0" nodeType="after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Effect transition="in" filter="wipe(left)">
                                      <p:cBhvr>
                                        <p:cTn id="31" dur="100"/>
                                        <p:tgtEl>
                                          <p:spTgt spid="16">
                                            <p:txEl>
                                              <p:pRg st="6" end="6"/>
                                            </p:txEl>
                                          </p:spTgt>
                                        </p:tgtEl>
                                      </p:cBhvr>
                                    </p:animEffect>
                                  </p:childTnLst>
                                </p:cTn>
                              </p:par>
                            </p:childTnLst>
                          </p:cTn>
                        </p:par>
                        <p:par>
                          <p:cTn id="32" fill="hold">
                            <p:stCondLst>
                              <p:cond delay="700"/>
                            </p:stCondLst>
                            <p:childTnLst>
                              <p:par>
                                <p:cTn id="33" presetID="22" presetClass="entr" presetSubtype="8" fill="hold" grpId="0" nodeType="afterEffect">
                                  <p:stCondLst>
                                    <p:cond delay="0"/>
                                  </p:stCondLst>
                                  <p:childTnLst>
                                    <p:set>
                                      <p:cBhvr>
                                        <p:cTn id="34" dur="1" fill="hold">
                                          <p:stCondLst>
                                            <p:cond delay="0"/>
                                          </p:stCondLst>
                                        </p:cTn>
                                        <p:tgtEl>
                                          <p:spTgt spid="16">
                                            <p:txEl>
                                              <p:pRg st="7" end="7"/>
                                            </p:txEl>
                                          </p:spTgt>
                                        </p:tgtEl>
                                        <p:attrNameLst>
                                          <p:attrName>style.visibility</p:attrName>
                                        </p:attrNameLst>
                                      </p:cBhvr>
                                      <p:to>
                                        <p:strVal val="visible"/>
                                      </p:to>
                                    </p:set>
                                    <p:animEffect transition="in" filter="wipe(left)">
                                      <p:cBhvr>
                                        <p:cTn id="35" dur="100"/>
                                        <p:tgtEl>
                                          <p:spTgt spid="16">
                                            <p:txEl>
                                              <p:pRg st="7" end="7"/>
                                            </p:txEl>
                                          </p:spTgt>
                                        </p:tgtEl>
                                      </p:cBhvr>
                                    </p:animEffect>
                                  </p:childTnLst>
                                </p:cTn>
                              </p:par>
                            </p:childTnLst>
                          </p:cTn>
                        </p:par>
                        <p:par>
                          <p:cTn id="36" fill="hold">
                            <p:stCondLst>
                              <p:cond delay="800"/>
                            </p:stCondLst>
                            <p:childTnLst>
                              <p:par>
                                <p:cTn id="37" presetID="22" presetClass="entr" presetSubtype="8" fill="hold" grpId="0" nodeType="afterEffect">
                                  <p:stCondLst>
                                    <p:cond delay="0"/>
                                  </p:stCondLst>
                                  <p:childTnLst>
                                    <p:set>
                                      <p:cBhvr>
                                        <p:cTn id="38" dur="1" fill="hold">
                                          <p:stCondLst>
                                            <p:cond delay="0"/>
                                          </p:stCondLst>
                                        </p:cTn>
                                        <p:tgtEl>
                                          <p:spTgt spid="16">
                                            <p:txEl>
                                              <p:pRg st="8" end="8"/>
                                            </p:txEl>
                                          </p:spTgt>
                                        </p:tgtEl>
                                        <p:attrNameLst>
                                          <p:attrName>style.visibility</p:attrName>
                                        </p:attrNameLst>
                                      </p:cBhvr>
                                      <p:to>
                                        <p:strVal val="visible"/>
                                      </p:to>
                                    </p:set>
                                    <p:animEffect transition="in" filter="wipe(left)">
                                      <p:cBhvr>
                                        <p:cTn id="39" dur="100"/>
                                        <p:tgtEl>
                                          <p:spTgt spid="16">
                                            <p:txEl>
                                              <p:pRg st="8" end="8"/>
                                            </p:txEl>
                                          </p:spTgt>
                                        </p:tgtEl>
                                      </p:cBhvr>
                                    </p:animEffect>
                                  </p:childTnLst>
                                </p:cTn>
                              </p:par>
                            </p:childTnLst>
                          </p:cTn>
                        </p:par>
                        <p:par>
                          <p:cTn id="40" fill="hold">
                            <p:stCondLst>
                              <p:cond delay="900"/>
                            </p:stCondLst>
                            <p:childTnLst>
                              <p:par>
                                <p:cTn id="41" presetID="22" presetClass="entr" presetSubtype="8" fill="hold" grpId="0" nodeType="afterEffect">
                                  <p:stCondLst>
                                    <p:cond delay="0"/>
                                  </p:stCondLst>
                                  <p:childTnLst>
                                    <p:set>
                                      <p:cBhvr>
                                        <p:cTn id="42" dur="1" fill="hold">
                                          <p:stCondLst>
                                            <p:cond delay="0"/>
                                          </p:stCondLst>
                                        </p:cTn>
                                        <p:tgtEl>
                                          <p:spTgt spid="16">
                                            <p:txEl>
                                              <p:pRg st="9" end="9"/>
                                            </p:txEl>
                                          </p:spTgt>
                                        </p:tgtEl>
                                        <p:attrNameLst>
                                          <p:attrName>style.visibility</p:attrName>
                                        </p:attrNameLst>
                                      </p:cBhvr>
                                      <p:to>
                                        <p:strVal val="visible"/>
                                      </p:to>
                                    </p:set>
                                    <p:animEffect transition="in" filter="wipe(left)">
                                      <p:cBhvr>
                                        <p:cTn id="43" dur="100"/>
                                        <p:tgtEl>
                                          <p:spTgt spid="16">
                                            <p:txEl>
                                              <p:pRg st="9" end="9"/>
                                            </p:txEl>
                                          </p:spTgt>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16">
                                            <p:txEl>
                                              <p:pRg st="10" end="10"/>
                                            </p:txEl>
                                          </p:spTgt>
                                        </p:tgtEl>
                                        <p:attrNameLst>
                                          <p:attrName>style.visibility</p:attrName>
                                        </p:attrNameLst>
                                      </p:cBhvr>
                                      <p:to>
                                        <p:strVal val="visible"/>
                                      </p:to>
                                    </p:set>
                                    <p:animEffect transition="in" filter="wipe(left)">
                                      <p:cBhvr>
                                        <p:cTn id="47" dur="100"/>
                                        <p:tgtEl>
                                          <p:spTgt spid="16">
                                            <p:txEl>
                                              <p:pRg st="10" end="10"/>
                                            </p:txEl>
                                          </p:spTgt>
                                        </p:tgtEl>
                                      </p:cBhvr>
                                    </p:animEffect>
                                  </p:childTnLst>
                                </p:cTn>
                              </p:par>
                            </p:childTnLst>
                          </p:cTn>
                        </p:par>
                        <p:par>
                          <p:cTn id="48" fill="hold">
                            <p:stCondLst>
                              <p:cond delay="1100"/>
                            </p:stCondLst>
                            <p:childTnLst>
                              <p:par>
                                <p:cTn id="49" presetID="22" presetClass="entr" presetSubtype="8" fill="hold" grpId="0" nodeType="afterEffect">
                                  <p:stCondLst>
                                    <p:cond delay="0"/>
                                  </p:stCondLst>
                                  <p:childTnLst>
                                    <p:set>
                                      <p:cBhvr>
                                        <p:cTn id="50" dur="1" fill="hold">
                                          <p:stCondLst>
                                            <p:cond delay="0"/>
                                          </p:stCondLst>
                                        </p:cTn>
                                        <p:tgtEl>
                                          <p:spTgt spid="16">
                                            <p:txEl>
                                              <p:pRg st="11" end="11"/>
                                            </p:txEl>
                                          </p:spTgt>
                                        </p:tgtEl>
                                        <p:attrNameLst>
                                          <p:attrName>style.visibility</p:attrName>
                                        </p:attrNameLst>
                                      </p:cBhvr>
                                      <p:to>
                                        <p:strVal val="visible"/>
                                      </p:to>
                                    </p:set>
                                    <p:animEffect transition="in" filter="wipe(left)">
                                      <p:cBhvr>
                                        <p:cTn id="51" dur="100"/>
                                        <p:tgtEl>
                                          <p:spTgt spid="16">
                                            <p:txEl>
                                              <p:pRg st="11" end="11"/>
                                            </p:txEl>
                                          </p:spTgt>
                                        </p:tgtEl>
                                      </p:cBhvr>
                                    </p:animEffect>
                                  </p:childTnLst>
                                </p:cTn>
                              </p:par>
                            </p:childTnLst>
                          </p:cTn>
                        </p:par>
                        <p:par>
                          <p:cTn id="52" fill="hold">
                            <p:stCondLst>
                              <p:cond delay="1200"/>
                            </p:stCondLst>
                            <p:childTnLst>
                              <p:par>
                                <p:cTn id="53" presetID="22" presetClass="entr" presetSubtype="8" fill="hold" grpId="0" nodeType="afterEffect">
                                  <p:stCondLst>
                                    <p:cond delay="0"/>
                                  </p:stCondLst>
                                  <p:childTnLst>
                                    <p:set>
                                      <p:cBhvr>
                                        <p:cTn id="54" dur="1" fill="hold">
                                          <p:stCondLst>
                                            <p:cond delay="0"/>
                                          </p:stCondLst>
                                        </p:cTn>
                                        <p:tgtEl>
                                          <p:spTgt spid="16">
                                            <p:txEl>
                                              <p:pRg st="12" end="12"/>
                                            </p:txEl>
                                          </p:spTgt>
                                        </p:tgtEl>
                                        <p:attrNameLst>
                                          <p:attrName>style.visibility</p:attrName>
                                        </p:attrNameLst>
                                      </p:cBhvr>
                                      <p:to>
                                        <p:strVal val="visible"/>
                                      </p:to>
                                    </p:set>
                                    <p:animEffect transition="in" filter="wipe(left)">
                                      <p:cBhvr>
                                        <p:cTn id="55" dur="100"/>
                                        <p:tgtEl>
                                          <p:spTgt spid="16">
                                            <p:txEl>
                                              <p:pRg st="12" end="12"/>
                                            </p:txEl>
                                          </p:spTgt>
                                        </p:tgtEl>
                                      </p:cBhvr>
                                    </p:animEffect>
                                  </p:childTnLst>
                                </p:cTn>
                              </p:par>
                            </p:childTnLst>
                          </p:cTn>
                        </p:par>
                        <p:par>
                          <p:cTn id="56" fill="hold">
                            <p:stCondLst>
                              <p:cond delay="1300"/>
                            </p:stCondLst>
                            <p:childTnLst>
                              <p:par>
                                <p:cTn id="57" presetID="22" presetClass="entr" presetSubtype="8" fill="hold" grpId="0" nodeType="afterEffect">
                                  <p:stCondLst>
                                    <p:cond delay="0"/>
                                  </p:stCondLst>
                                  <p:childTnLst>
                                    <p:set>
                                      <p:cBhvr>
                                        <p:cTn id="58" dur="1" fill="hold">
                                          <p:stCondLst>
                                            <p:cond delay="0"/>
                                          </p:stCondLst>
                                        </p:cTn>
                                        <p:tgtEl>
                                          <p:spTgt spid="16">
                                            <p:txEl>
                                              <p:pRg st="13" end="13"/>
                                            </p:txEl>
                                          </p:spTgt>
                                        </p:tgtEl>
                                        <p:attrNameLst>
                                          <p:attrName>style.visibility</p:attrName>
                                        </p:attrNameLst>
                                      </p:cBhvr>
                                      <p:to>
                                        <p:strVal val="visible"/>
                                      </p:to>
                                    </p:set>
                                    <p:animEffect transition="in" filter="wipe(left)">
                                      <p:cBhvr>
                                        <p:cTn id="59" dur="100"/>
                                        <p:tgtEl>
                                          <p:spTgt spid="16">
                                            <p:txEl>
                                              <p:pRg st="13" end="13"/>
                                            </p:txEl>
                                          </p:spTgt>
                                        </p:tgtEl>
                                      </p:cBhvr>
                                    </p:animEffect>
                                  </p:childTnLst>
                                </p:cTn>
                              </p:par>
                            </p:childTnLst>
                          </p:cTn>
                        </p:par>
                        <p:par>
                          <p:cTn id="60" fill="hold">
                            <p:stCondLst>
                              <p:cond delay="1400"/>
                            </p:stCondLst>
                            <p:childTnLst>
                              <p:par>
                                <p:cTn id="61" presetID="22" presetClass="entr" presetSubtype="8" fill="hold" grpId="0" nodeType="afterEffect">
                                  <p:stCondLst>
                                    <p:cond delay="0"/>
                                  </p:stCondLst>
                                  <p:childTnLst>
                                    <p:set>
                                      <p:cBhvr>
                                        <p:cTn id="62" dur="1" fill="hold">
                                          <p:stCondLst>
                                            <p:cond delay="0"/>
                                          </p:stCondLst>
                                        </p:cTn>
                                        <p:tgtEl>
                                          <p:spTgt spid="3">
                                            <p:txEl>
                                              <p:pRg st="0" end="0"/>
                                            </p:txEl>
                                          </p:spTgt>
                                        </p:tgtEl>
                                        <p:attrNameLst>
                                          <p:attrName>style.visibility</p:attrName>
                                        </p:attrNameLst>
                                      </p:cBhvr>
                                      <p:to>
                                        <p:strVal val="visible"/>
                                      </p:to>
                                    </p:set>
                                    <p:animEffect transition="in" filter="wipe(left)">
                                      <p:cBhvr>
                                        <p:cTn id="63" dur="100"/>
                                        <p:tgtEl>
                                          <p:spTgt spid="3">
                                            <p:txEl>
                                              <p:pRg st="0" end="0"/>
                                            </p:txEl>
                                          </p:spTgt>
                                        </p:tgtEl>
                                      </p:cBhvr>
                                    </p:animEffect>
                                  </p:childTnLst>
                                </p:cTn>
                              </p:par>
                            </p:childTnLst>
                          </p:cTn>
                        </p:par>
                        <p:par>
                          <p:cTn id="64" fill="hold">
                            <p:stCondLst>
                              <p:cond delay="1500"/>
                            </p:stCondLst>
                            <p:childTnLst>
                              <p:par>
                                <p:cTn id="65" presetID="22" presetClass="entr" presetSubtype="8" fill="hold" grpId="0" nodeType="afterEffect">
                                  <p:stCondLst>
                                    <p:cond delay="0"/>
                                  </p:stCondLst>
                                  <p:childTnLst>
                                    <p:set>
                                      <p:cBhvr>
                                        <p:cTn id="66" dur="1" fill="hold">
                                          <p:stCondLst>
                                            <p:cond delay="0"/>
                                          </p:stCondLst>
                                        </p:cTn>
                                        <p:tgtEl>
                                          <p:spTgt spid="3">
                                            <p:txEl>
                                              <p:pRg st="1" end="1"/>
                                            </p:txEl>
                                          </p:spTgt>
                                        </p:tgtEl>
                                        <p:attrNameLst>
                                          <p:attrName>style.visibility</p:attrName>
                                        </p:attrNameLst>
                                      </p:cBhvr>
                                      <p:to>
                                        <p:strVal val="visible"/>
                                      </p:to>
                                    </p:set>
                                    <p:animEffect transition="in" filter="wipe(left)">
                                      <p:cBhvr>
                                        <p:cTn id="67" dur="100"/>
                                        <p:tgtEl>
                                          <p:spTgt spid="3">
                                            <p:txEl>
                                              <p:pRg st="1" end="1"/>
                                            </p:txEl>
                                          </p:spTgt>
                                        </p:tgtEl>
                                      </p:cBhvr>
                                    </p:animEffect>
                                  </p:childTnLst>
                                </p:cTn>
                              </p:par>
                            </p:childTnLst>
                          </p:cTn>
                        </p:par>
                        <p:par>
                          <p:cTn id="68" fill="hold">
                            <p:stCondLst>
                              <p:cond delay="1600"/>
                            </p:stCondLst>
                            <p:childTnLst>
                              <p:par>
                                <p:cTn id="69" presetID="22" presetClass="entr" presetSubtype="8" fill="hold" grpId="0" nodeType="afterEffect">
                                  <p:stCondLst>
                                    <p:cond delay="0"/>
                                  </p:stCondLst>
                                  <p:childTnLst>
                                    <p:set>
                                      <p:cBhvr>
                                        <p:cTn id="70" dur="1" fill="hold">
                                          <p:stCondLst>
                                            <p:cond delay="0"/>
                                          </p:stCondLst>
                                        </p:cTn>
                                        <p:tgtEl>
                                          <p:spTgt spid="3">
                                            <p:txEl>
                                              <p:pRg st="2" end="2"/>
                                            </p:txEl>
                                          </p:spTgt>
                                        </p:tgtEl>
                                        <p:attrNameLst>
                                          <p:attrName>style.visibility</p:attrName>
                                        </p:attrNameLst>
                                      </p:cBhvr>
                                      <p:to>
                                        <p:strVal val="visible"/>
                                      </p:to>
                                    </p:set>
                                    <p:animEffect transition="in" filter="wipe(left)">
                                      <p:cBhvr>
                                        <p:cTn id="71" dur="100"/>
                                        <p:tgtEl>
                                          <p:spTgt spid="3">
                                            <p:txEl>
                                              <p:pRg st="2" end="2"/>
                                            </p:txEl>
                                          </p:spTgt>
                                        </p:tgtEl>
                                      </p:cBhvr>
                                    </p:animEffect>
                                  </p:childTnLst>
                                </p:cTn>
                              </p:par>
                            </p:childTnLst>
                          </p:cTn>
                        </p:par>
                        <p:par>
                          <p:cTn id="72" fill="hold">
                            <p:stCondLst>
                              <p:cond delay="1700"/>
                            </p:stCondLst>
                            <p:childTnLst>
                              <p:par>
                                <p:cTn id="73" presetID="22" presetClass="entr" presetSubtype="8" fill="hold" grpId="0" nodeType="afterEffect">
                                  <p:stCondLst>
                                    <p:cond delay="0"/>
                                  </p:stCondLst>
                                  <p:childTnLst>
                                    <p:set>
                                      <p:cBhvr>
                                        <p:cTn id="74" dur="1" fill="hold">
                                          <p:stCondLst>
                                            <p:cond delay="0"/>
                                          </p:stCondLst>
                                        </p:cTn>
                                        <p:tgtEl>
                                          <p:spTgt spid="3">
                                            <p:txEl>
                                              <p:pRg st="3" end="3"/>
                                            </p:txEl>
                                          </p:spTgt>
                                        </p:tgtEl>
                                        <p:attrNameLst>
                                          <p:attrName>style.visibility</p:attrName>
                                        </p:attrNameLst>
                                      </p:cBhvr>
                                      <p:to>
                                        <p:strVal val="visible"/>
                                      </p:to>
                                    </p:set>
                                    <p:animEffect transition="in" filter="wipe(left)">
                                      <p:cBhvr>
                                        <p:cTn id="75" dur="100"/>
                                        <p:tgtEl>
                                          <p:spTgt spid="3">
                                            <p:txEl>
                                              <p:pRg st="3" end="3"/>
                                            </p:txEl>
                                          </p:spTgt>
                                        </p:tgtEl>
                                      </p:cBhvr>
                                    </p:animEffect>
                                  </p:childTnLst>
                                </p:cTn>
                              </p:par>
                            </p:childTnLst>
                          </p:cTn>
                        </p:par>
                        <p:par>
                          <p:cTn id="76" fill="hold">
                            <p:stCondLst>
                              <p:cond delay="1800"/>
                            </p:stCondLst>
                            <p:childTnLst>
                              <p:par>
                                <p:cTn id="77" presetID="22" presetClass="entr" presetSubtype="8" fill="hold" grpId="0" nodeType="afterEffect">
                                  <p:stCondLst>
                                    <p:cond delay="0"/>
                                  </p:stCondLst>
                                  <p:childTnLst>
                                    <p:set>
                                      <p:cBhvr>
                                        <p:cTn id="78" dur="1" fill="hold">
                                          <p:stCondLst>
                                            <p:cond delay="0"/>
                                          </p:stCondLst>
                                        </p:cTn>
                                        <p:tgtEl>
                                          <p:spTgt spid="3">
                                            <p:txEl>
                                              <p:pRg st="4" end="4"/>
                                            </p:txEl>
                                          </p:spTgt>
                                        </p:tgtEl>
                                        <p:attrNameLst>
                                          <p:attrName>style.visibility</p:attrName>
                                        </p:attrNameLst>
                                      </p:cBhvr>
                                      <p:to>
                                        <p:strVal val="visible"/>
                                      </p:to>
                                    </p:set>
                                    <p:animEffect transition="in" filter="wipe(left)">
                                      <p:cBhvr>
                                        <p:cTn id="79" dur="100"/>
                                        <p:tgtEl>
                                          <p:spTgt spid="3">
                                            <p:txEl>
                                              <p:pRg st="4" end="4"/>
                                            </p:txEl>
                                          </p:spTgt>
                                        </p:tgtEl>
                                      </p:cBhvr>
                                    </p:animEffect>
                                  </p:childTnLst>
                                </p:cTn>
                              </p:par>
                            </p:childTnLst>
                          </p:cTn>
                        </p:par>
                        <p:par>
                          <p:cTn id="80" fill="hold">
                            <p:stCondLst>
                              <p:cond delay="1900"/>
                            </p:stCondLst>
                            <p:childTnLst>
                              <p:par>
                                <p:cTn id="81" presetID="22" presetClass="entr" presetSubtype="8" fill="hold" grpId="0" nodeType="afterEffect">
                                  <p:stCondLst>
                                    <p:cond delay="0"/>
                                  </p:stCondLst>
                                  <p:childTnLst>
                                    <p:set>
                                      <p:cBhvr>
                                        <p:cTn id="82" dur="1" fill="hold">
                                          <p:stCondLst>
                                            <p:cond delay="0"/>
                                          </p:stCondLst>
                                        </p:cTn>
                                        <p:tgtEl>
                                          <p:spTgt spid="3">
                                            <p:txEl>
                                              <p:pRg st="5" end="5"/>
                                            </p:txEl>
                                          </p:spTgt>
                                        </p:tgtEl>
                                        <p:attrNameLst>
                                          <p:attrName>style.visibility</p:attrName>
                                        </p:attrNameLst>
                                      </p:cBhvr>
                                      <p:to>
                                        <p:strVal val="visible"/>
                                      </p:to>
                                    </p:set>
                                    <p:animEffect transition="in" filter="wipe(left)">
                                      <p:cBhvr>
                                        <p:cTn id="83" dur="100"/>
                                        <p:tgtEl>
                                          <p:spTgt spid="3">
                                            <p:txEl>
                                              <p:pRg st="5" end="5"/>
                                            </p:txEl>
                                          </p:spTgt>
                                        </p:tgtEl>
                                      </p:cBhvr>
                                    </p:animEffect>
                                  </p:childTnLst>
                                </p:cTn>
                              </p:par>
                            </p:childTnLst>
                          </p:cTn>
                        </p:par>
                        <p:par>
                          <p:cTn id="84" fill="hold">
                            <p:stCondLst>
                              <p:cond delay="2000"/>
                            </p:stCondLst>
                            <p:childTnLst>
                              <p:par>
                                <p:cTn id="85" presetID="22" presetClass="entr" presetSubtype="8" fill="hold" grpId="0" nodeType="afterEffect">
                                  <p:stCondLst>
                                    <p:cond delay="0"/>
                                  </p:stCondLst>
                                  <p:childTnLst>
                                    <p:set>
                                      <p:cBhvr>
                                        <p:cTn id="86" dur="1" fill="hold">
                                          <p:stCondLst>
                                            <p:cond delay="0"/>
                                          </p:stCondLst>
                                        </p:cTn>
                                        <p:tgtEl>
                                          <p:spTgt spid="3">
                                            <p:txEl>
                                              <p:pRg st="6" end="6"/>
                                            </p:txEl>
                                          </p:spTgt>
                                        </p:tgtEl>
                                        <p:attrNameLst>
                                          <p:attrName>style.visibility</p:attrName>
                                        </p:attrNameLst>
                                      </p:cBhvr>
                                      <p:to>
                                        <p:strVal val="visible"/>
                                      </p:to>
                                    </p:set>
                                    <p:animEffect transition="in" filter="wipe(left)">
                                      <p:cBhvr>
                                        <p:cTn id="87" dur="100"/>
                                        <p:tgtEl>
                                          <p:spTgt spid="3">
                                            <p:txEl>
                                              <p:pRg st="6" end="6"/>
                                            </p:txEl>
                                          </p:spTgt>
                                        </p:tgtEl>
                                      </p:cBhvr>
                                    </p:animEffect>
                                  </p:childTnLst>
                                </p:cTn>
                              </p:par>
                            </p:childTnLst>
                          </p:cTn>
                        </p:par>
                        <p:par>
                          <p:cTn id="88" fill="hold">
                            <p:stCondLst>
                              <p:cond delay="2100"/>
                            </p:stCondLst>
                            <p:childTnLst>
                              <p:par>
                                <p:cTn id="89" presetID="22" presetClass="entr" presetSubtype="8" fill="hold" grpId="0" nodeType="afterEffect">
                                  <p:stCondLst>
                                    <p:cond delay="0"/>
                                  </p:stCondLst>
                                  <p:childTnLst>
                                    <p:set>
                                      <p:cBhvr>
                                        <p:cTn id="90" dur="1" fill="hold">
                                          <p:stCondLst>
                                            <p:cond delay="0"/>
                                          </p:stCondLst>
                                        </p:cTn>
                                        <p:tgtEl>
                                          <p:spTgt spid="3">
                                            <p:txEl>
                                              <p:pRg st="7" end="7"/>
                                            </p:txEl>
                                          </p:spTgt>
                                        </p:tgtEl>
                                        <p:attrNameLst>
                                          <p:attrName>style.visibility</p:attrName>
                                        </p:attrNameLst>
                                      </p:cBhvr>
                                      <p:to>
                                        <p:strVal val="visible"/>
                                      </p:to>
                                    </p:set>
                                    <p:animEffect transition="in" filter="wipe(left)">
                                      <p:cBhvr>
                                        <p:cTn id="91" dur="1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4B27F-9589-793B-B5B6-FCC8CFB2960E}"/>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20E52F62-C65F-C8D9-274E-6117B89C6330}"/>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B7C4DCE2-E6C7-9642-BB9E-DCDB883B28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F51BB268-8478-58FA-C67B-2DE22CA1D3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FB2F7D96-2AFB-9B9F-E5F1-D2997996975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644FC5F9-2D91-3D0E-082E-7076D2D757EE}"/>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B213FC1F-45D2-E47A-75D8-EF465F8DFB59}"/>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1228D820-3AD5-CA0C-5951-7A34935DEE58}"/>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4D5AF468-C60B-6D7E-2320-A4AE8EE9ACB8}"/>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9F60DF60-54B7-C2E0-9475-E9492732A165}"/>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13961A78-AAA9-4C90-3331-3145206D1396}"/>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B29421B7-DEA5-9D54-344A-3712CACAFFB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E3D5B5AC-1D27-F000-44F7-DDDF1BC03895}"/>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CoAP</a:t>
            </a:r>
            <a:endParaRPr lang="aa-ET" dirty="0">
              <a:solidFill>
                <a:schemeClr val="accent1"/>
              </a:solidFill>
              <a:latin typeface="Century Gothic" panose="020B0502020202020204" pitchFamily="34" charset="0"/>
            </a:endParaRPr>
          </a:p>
        </p:txBody>
      </p:sp>
      <p:sp>
        <p:nvSpPr>
          <p:cNvPr id="3" name="TextBox 2">
            <a:extLst>
              <a:ext uri="{FF2B5EF4-FFF2-40B4-BE49-F238E27FC236}">
                <a16:creationId xmlns:a16="http://schemas.microsoft.com/office/drawing/2014/main" id="{F5117793-7DA5-04B6-25E3-107ED7BE2BB0}"/>
              </a:ext>
            </a:extLst>
          </p:cNvPr>
          <p:cNvSpPr txBox="1"/>
          <p:nvPr/>
        </p:nvSpPr>
        <p:spPr>
          <a:xfrm>
            <a:off x="1105560" y="1832038"/>
            <a:ext cx="7576500" cy="2308324"/>
          </a:xfrm>
          <a:prstGeom prst="rect">
            <a:avLst/>
          </a:prstGeom>
          <a:noFill/>
        </p:spPr>
        <p:txBody>
          <a:bodyPr wrap="square" rtlCol="0">
            <a:spAutoFit/>
          </a:bodyPr>
          <a:lstStyle/>
          <a:p>
            <a:r>
              <a:rPr lang="en-US" dirty="0">
                <a:solidFill>
                  <a:schemeClr val="accent1"/>
                </a:solidFill>
              </a:rPr>
              <a:t>    </a:t>
            </a:r>
            <a:r>
              <a:rPr lang="en-US" dirty="0">
                <a:solidFill>
                  <a:schemeClr val="accent5"/>
                </a:solidFill>
              </a:rPr>
              <a:t>"forms"</a:t>
            </a:r>
            <a:r>
              <a:rPr lang="en-US" dirty="0">
                <a:solidFill>
                  <a:schemeClr val="accent1"/>
                </a:solidFill>
              </a:rPr>
              <a:t>: [</a:t>
            </a:r>
          </a:p>
          <a:p>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a:t>
            </a:r>
            <a:r>
              <a:rPr lang="en-US" dirty="0" err="1">
                <a:solidFill>
                  <a:schemeClr val="accent2"/>
                </a:solidFill>
              </a:rPr>
              <a:t>coap</a:t>
            </a:r>
            <a:r>
              <a:rPr lang="en-US" dirty="0">
                <a:solidFill>
                  <a:schemeClr val="accent1"/>
                </a:solidFill>
              </a:rPr>
              <a:t>://coffee.example.com/actions/</a:t>
            </a:r>
            <a:r>
              <a:rPr lang="en-US" dirty="0" err="1">
                <a:solidFill>
                  <a:schemeClr val="accent1"/>
                </a:solidFill>
              </a:rPr>
              <a:t>brewCoffee</a:t>
            </a:r>
            <a:r>
              <a:rPr lang="en-US" dirty="0">
                <a:solidFill>
                  <a:schemeClr val="accent1"/>
                </a:solidFill>
              </a:rPr>
              <a:t>",</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invokeaction</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a:t>
            </a:r>
            <a:r>
              <a:rPr lang="en-US" dirty="0" err="1">
                <a:solidFill>
                  <a:schemeClr val="accent1"/>
                </a:solidFill>
              </a:rPr>
              <a:t>cbor</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cov:method</a:t>
            </a:r>
            <a:r>
              <a:rPr lang="en-US" dirty="0">
                <a:solidFill>
                  <a:schemeClr val="accent5"/>
                </a:solidFill>
              </a:rPr>
              <a:t>"</a:t>
            </a:r>
            <a:r>
              <a:rPr lang="en-US" dirty="0">
                <a:solidFill>
                  <a:schemeClr val="accent1"/>
                </a:solidFill>
              </a:rPr>
              <a:t>: "POST"</a:t>
            </a:r>
          </a:p>
          <a:p>
            <a:r>
              <a:rPr lang="en-US" dirty="0">
                <a:solidFill>
                  <a:schemeClr val="accent1"/>
                </a:solidFill>
              </a:rPr>
              <a:t>      }</a:t>
            </a:r>
          </a:p>
          <a:p>
            <a:r>
              <a:rPr lang="en-US" dirty="0">
                <a:solidFill>
                  <a:schemeClr val="accent1"/>
                </a:solidFill>
              </a:rPr>
              <a:t>    ]</a:t>
            </a:r>
          </a:p>
        </p:txBody>
      </p:sp>
    </p:spTree>
    <p:extLst>
      <p:ext uri="{BB962C8B-B14F-4D97-AF65-F5344CB8AC3E}">
        <p14:creationId xmlns:p14="http://schemas.microsoft.com/office/powerpoint/2010/main" val="3568300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AE8ED-88AF-49B8-194C-24350ED98AF4}"/>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4C1DEDC-6646-DEEF-A9B5-5747D6B03487}"/>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9F9DB270-D9A0-294A-5ED8-D1846951B3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E5BE7E0C-7841-B2B1-B4A3-DDC16C2D9A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0D5A842C-77AD-B6EF-799E-365028C837C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5D973D3B-EBB6-7620-26C6-97F2F7777CE3}"/>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93482618-4721-111F-EE82-3E134901DBAC}"/>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06A3C47A-368D-5DCF-628E-FC91F88772FB}"/>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130934C7-F4AE-C1BD-7736-1BA0CEAF652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0A9DAC8E-72C4-61AB-5664-F83B764D14C5}"/>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FB549C63-F62B-7312-16F5-6266990DA6E7}"/>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8EFF04C1-1495-7290-75C9-08C0FA317E3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E047B074-BCF2-B31B-2AD3-265AC3662B15}"/>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CoAP</a:t>
            </a:r>
            <a:endParaRPr lang="aa-ET" dirty="0">
              <a:solidFill>
                <a:schemeClr val="accent1"/>
              </a:solidFill>
              <a:latin typeface="Century Gothic" panose="020B0502020202020204" pitchFamily="34" charset="0"/>
            </a:endParaRPr>
          </a:p>
        </p:txBody>
      </p:sp>
      <p:sp>
        <p:nvSpPr>
          <p:cNvPr id="3" name="TextBox 2">
            <a:extLst>
              <a:ext uri="{FF2B5EF4-FFF2-40B4-BE49-F238E27FC236}">
                <a16:creationId xmlns:a16="http://schemas.microsoft.com/office/drawing/2014/main" id="{9669390C-F5FE-E7A1-F819-7D8CA9CD6ED6}"/>
              </a:ext>
            </a:extLst>
          </p:cNvPr>
          <p:cNvSpPr txBox="1"/>
          <p:nvPr/>
        </p:nvSpPr>
        <p:spPr>
          <a:xfrm>
            <a:off x="1105560" y="1832038"/>
            <a:ext cx="7576500" cy="2308324"/>
          </a:xfrm>
          <a:prstGeom prst="rect">
            <a:avLst/>
          </a:prstGeom>
          <a:noFill/>
        </p:spPr>
        <p:txBody>
          <a:bodyPr wrap="square" rtlCol="0">
            <a:spAutoFit/>
          </a:bodyPr>
          <a:lstStyle/>
          <a:p>
            <a:r>
              <a:rPr lang="en-US" dirty="0">
                <a:solidFill>
                  <a:schemeClr val="accent3">
                    <a:lumMod val="65000"/>
                  </a:schemeClr>
                </a:solidFill>
              </a:rPr>
              <a:t>    "forms": [</a:t>
            </a:r>
          </a:p>
          <a:p>
            <a:r>
              <a:rPr lang="en-US" dirty="0">
                <a:solidFill>
                  <a:schemeClr val="accent3">
                    <a:lumMod val="65000"/>
                  </a:schemeClr>
                </a:solidFill>
              </a:rPr>
              <a:t>      {</a:t>
            </a:r>
          </a:p>
          <a:p>
            <a:r>
              <a:rPr lang="en-US" dirty="0">
                <a:solidFill>
                  <a:schemeClr val="accent3">
                    <a:lumMod val="65000"/>
                  </a:schemeClr>
                </a:solidFill>
              </a:rPr>
              <a:t>        "</a:t>
            </a:r>
            <a:r>
              <a:rPr lang="en-US" dirty="0" err="1">
                <a:solidFill>
                  <a:schemeClr val="accent3">
                    <a:lumMod val="65000"/>
                  </a:schemeClr>
                </a:solidFill>
              </a:rPr>
              <a:t>href</a:t>
            </a:r>
            <a:r>
              <a:rPr lang="en-US" dirty="0">
                <a:solidFill>
                  <a:schemeClr val="accent3">
                    <a:lumMod val="65000"/>
                  </a:schemeClr>
                </a:solidFill>
              </a:rPr>
              <a:t>": "</a:t>
            </a:r>
            <a:r>
              <a:rPr lang="en-US" dirty="0" err="1">
                <a:solidFill>
                  <a:schemeClr val="accent3">
                    <a:lumMod val="65000"/>
                  </a:schemeClr>
                </a:solidFill>
              </a:rPr>
              <a:t>coap</a:t>
            </a:r>
            <a:r>
              <a:rPr lang="en-US" dirty="0">
                <a:solidFill>
                  <a:schemeClr val="accent3">
                    <a:lumMod val="65000"/>
                  </a:schemeClr>
                </a:solidFill>
              </a:rPr>
              <a:t>://coffee.example.com/actions/</a:t>
            </a:r>
            <a:r>
              <a:rPr lang="en-US" dirty="0" err="1">
                <a:solidFill>
                  <a:schemeClr val="accent3">
                    <a:lumMod val="65000"/>
                  </a:schemeClr>
                </a:solidFill>
              </a:rPr>
              <a:t>brewCoffee</a:t>
            </a:r>
            <a:r>
              <a:rPr lang="en-US" dirty="0">
                <a:solidFill>
                  <a:schemeClr val="accent3">
                    <a:lumMod val="65000"/>
                  </a:schemeClr>
                </a:solidFill>
              </a:rPr>
              <a:t>",</a:t>
            </a:r>
          </a:p>
          <a:p>
            <a:r>
              <a:rPr lang="en-US" dirty="0">
                <a:solidFill>
                  <a:schemeClr val="accent3">
                    <a:lumMod val="65000"/>
                  </a:schemeClr>
                </a:solidFill>
              </a:rPr>
              <a:t>        "op": "</a:t>
            </a:r>
            <a:r>
              <a:rPr lang="en-US" dirty="0" err="1">
                <a:solidFill>
                  <a:schemeClr val="accent3">
                    <a:lumMod val="65000"/>
                  </a:schemeClr>
                </a:solidFill>
              </a:rPr>
              <a:t>invokeaction</a:t>
            </a:r>
            <a:r>
              <a:rPr lang="en-US" dirty="0">
                <a:solidFill>
                  <a:schemeClr val="accent3">
                    <a:lumMod val="65000"/>
                  </a:schemeClr>
                </a:solidFill>
              </a:rPr>
              <a:t>",</a:t>
            </a:r>
          </a:p>
          <a:p>
            <a:r>
              <a:rPr lang="en-US" dirty="0">
                <a:solidFill>
                  <a:schemeClr val="accent3">
                    <a:lumMod val="65000"/>
                  </a:schemeClr>
                </a:solidFill>
              </a:rPr>
              <a:t>        "</a:t>
            </a:r>
            <a:r>
              <a:rPr lang="en-US" dirty="0" err="1">
                <a:solidFill>
                  <a:schemeClr val="accent3">
                    <a:lumMod val="65000"/>
                  </a:schemeClr>
                </a:solidFill>
              </a:rPr>
              <a:t>contentType</a:t>
            </a:r>
            <a:r>
              <a:rPr lang="en-US" dirty="0">
                <a:solidFill>
                  <a:schemeClr val="accent3">
                    <a:lumMod val="65000"/>
                  </a:schemeClr>
                </a:solidFill>
              </a:rPr>
              <a:t>": "application/</a:t>
            </a:r>
            <a:r>
              <a:rPr lang="en-US" dirty="0" err="1">
                <a:solidFill>
                  <a:schemeClr val="accent3">
                    <a:lumMod val="65000"/>
                  </a:schemeClr>
                </a:solidFill>
              </a:rPr>
              <a:t>cbor</a:t>
            </a:r>
            <a:r>
              <a:rPr lang="en-US" dirty="0">
                <a:solidFill>
                  <a:schemeClr val="accent3">
                    <a:lumMod val="65000"/>
                  </a:schemeClr>
                </a:solidFill>
              </a:rPr>
              <a:t>",</a:t>
            </a:r>
          </a:p>
          <a:p>
            <a:r>
              <a:rPr lang="en-US" dirty="0">
                <a:solidFill>
                  <a:schemeClr val="accent3">
                    <a:lumMod val="65000"/>
                  </a:schemeClr>
                </a:solidFill>
              </a:rPr>
              <a:t>        "</a:t>
            </a:r>
            <a:r>
              <a:rPr lang="en-US" dirty="0" err="1">
                <a:solidFill>
                  <a:schemeClr val="accent3">
                    <a:lumMod val="65000"/>
                  </a:schemeClr>
                </a:solidFill>
              </a:rPr>
              <a:t>cov:method</a:t>
            </a:r>
            <a:r>
              <a:rPr lang="en-US" dirty="0">
                <a:solidFill>
                  <a:schemeClr val="accent3">
                    <a:lumMod val="65000"/>
                  </a:schemeClr>
                </a:solidFill>
              </a:rPr>
              <a:t>": "POST"</a:t>
            </a:r>
          </a:p>
          <a:p>
            <a:r>
              <a:rPr lang="en-US" dirty="0">
                <a:solidFill>
                  <a:schemeClr val="accent3">
                    <a:lumMod val="65000"/>
                  </a:schemeClr>
                </a:solidFill>
              </a:rPr>
              <a:t>      }</a:t>
            </a:r>
          </a:p>
          <a:p>
            <a:r>
              <a:rPr lang="en-US" dirty="0">
                <a:solidFill>
                  <a:schemeClr val="accent3">
                    <a:lumMod val="65000"/>
                  </a:schemeClr>
                </a:solidFill>
              </a:rPr>
              <a:t>    ]</a:t>
            </a:r>
          </a:p>
        </p:txBody>
      </p:sp>
      <p:sp>
        <p:nvSpPr>
          <p:cNvPr id="2" name="ReqLabel">
            <a:extLst>
              <a:ext uri="{FF2B5EF4-FFF2-40B4-BE49-F238E27FC236}">
                <a16:creationId xmlns:a16="http://schemas.microsoft.com/office/drawing/2014/main" id="{D4F2D233-3D23-3DAA-021E-4B608CCB42A3}"/>
              </a:ext>
            </a:extLst>
          </p:cNvPr>
          <p:cNvSpPr txBox="1"/>
          <p:nvPr/>
        </p:nvSpPr>
        <p:spPr>
          <a:xfrm>
            <a:off x="1018697" y="4371713"/>
            <a:ext cx="2360560"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1"/>
                </a:solidFill>
                <a:latin typeface="Century Gothic" panose="020B0502020202020204" pitchFamily="34" charset="0"/>
              </a:rPr>
              <a:t>► CoAP REQUEST</a:t>
            </a:r>
          </a:p>
        </p:txBody>
      </p:sp>
    </p:spTree>
    <p:extLst>
      <p:ext uri="{BB962C8B-B14F-4D97-AF65-F5344CB8AC3E}">
        <p14:creationId xmlns:p14="http://schemas.microsoft.com/office/powerpoint/2010/main" val="11324403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8CD21-C53F-A4A6-9CE9-33547C2F6D46}"/>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7874E2F-61C7-F769-122D-180C76E1D00B}"/>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FFD335D8-3CD6-F430-71D2-9559F1E836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0B9CE43C-4BA8-F1BD-CB0F-635148FEF9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0A885C94-08F0-258F-F68D-14CF2B126C6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7387CA08-FD48-D94F-8147-67993289FE7D}"/>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C0211B9F-79B6-BC6B-839C-80597DB74E70}"/>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DEC89616-D08D-6F8B-8DF7-031C038FE068}"/>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086D8B9E-F0C3-E6E3-C887-E3F95DE5B92D}"/>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9DC0D34E-ABC7-D924-C025-AD4D8E5C239D}"/>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344B2F18-8C96-A7EF-836D-9D51B14E9431}"/>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13D8EC77-C403-1FB5-472E-04B4E4FC1A8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6ACFE9BB-31AF-1AE7-3403-BA64B6352349}"/>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CoAP</a:t>
            </a:r>
            <a:endParaRPr lang="aa-ET" dirty="0">
              <a:solidFill>
                <a:schemeClr val="accent1"/>
              </a:solidFill>
              <a:latin typeface="Century Gothic" panose="020B0502020202020204" pitchFamily="34" charset="0"/>
            </a:endParaRPr>
          </a:p>
        </p:txBody>
      </p:sp>
      <p:sp>
        <p:nvSpPr>
          <p:cNvPr id="3" name="TextBox 2">
            <a:extLst>
              <a:ext uri="{FF2B5EF4-FFF2-40B4-BE49-F238E27FC236}">
                <a16:creationId xmlns:a16="http://schemas.microsoft.com/office/drawing/2014/main" id="{4E37E284-74FB-1DE8-BF67-FD72E3A85070}"/>
              </a:ext>
            </a:extLst>
          </p:cNvPr>
          <p:cNvSpPr txBox="1"/>
          <p:nvPr/>
        </p:nvSpPr>
        <p:spPr>
          <a:xfrm>
            <a:off x="1105560" y="1832038"/>
            <a:ext cx="7576500" cy="2308324"/>
          </a:xfrm>
          <a:prstGeom prst="rect">
            <a:avLst/>
          </a:prstGeom>
          <a:noFill/>
        </p:spPr>
        <p:txBody>
          <a:bodyPr wrap="square" rtlCol="0">
            <a:spAutoFit/>
          </a:bodyPr>
          <a:lstStyle/>
          <a:p>
            <a:r>
              <a:rPr lang="en-US" dirty="0">
                <a:solidFill>
                  <a:schemeClr val="accent3">
                    <a:lumMod val="65000"/>
                  </a:schemeClr>
                </a:solidFill>
              </a:rPr>
              <a:t>    "forms": [</a:t>
            </a:r>
          </a:p>
          <a:p>
            <a:r>
              <a:rPr lang="en-US" dirty="0">
                <a:solidFill>
                  <a:schemeClr val="accent3">
                    <a:lumMod val="65000"/>
                  </a:schemeClr>
                </a:solidFill>
              </a:rPr>
              <a:t>      {</a:t>
            </a:r>
          </a:p>
          <a:p>
            <a:r>
              <a:rPr lang="en-US" dirty="0">
                <a:solidFill>
                  <a:schemeClr val="accent3">
                    <a:lumMod val="65000"/>
                  </a:schemeClr>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a:t>
            </a:r>
            <a:r>
              <a:rPr lang="en-US" dirty="0" err="1">
                <a:solidFill>
                  <a:schemeClr val="accent1"/>
                </a:solidFill>
              </a:rPr>
              <a:t>coap</a:t>
            </a:r>
            <a:r>
              <a:rPr lang="en-US" dirty="0">
                <a:solidFill>
                  <a:schemeClr val="accent1"/>
                </a:solidFill>
              </a:rPr>
              <a:t>://coffee.example.com/actions/</a:t>
            </a:r>
            <a:r>
              <a:rPr lang="en-US" dirty="0" err="1">
                <a:solidFill>
                  <a:schemeClr val="accent1"/>
                </a:solidFill>
              </a:rPr>
              <a:t>brewCoffee</a:t>
            </a:r>
            <a:r>
              <a:rPr lang="en-US" dirty="0">
                <a:solidFill>
                  <a:schemeClr val="accent1"/>
                </a:solidFill>
              </a:rPr>
              <a:t>"</a:t>
            </a:r>
            <a:r>
              <a:rPr lang="en-US" dirty="0">
                <a:solidFill>
                  <a:schemeClr val="accent3">
                    <a:lumMod val="65000"/>
                  </a:schemeClr>
                </a:solidFill>
              </a:rPr>
              <a:t>,</a:t>
            </a:r>
          </a:p>
          <a:p>
            <a:r>
              <a:rPr lang="en-US" dirty="0">
                <a:solidFill>
                  <a:schemeClr val="accent3">
                    <a:lumMod val="65000"/>
                  </a:schemeClr>
                </a:solidFill>
              </a:rPr>
              <a:t>        "op": "</a:t>
            </a:r>
            <a:r>
              <a:rPr lang="en-US" dirty="0" err="1">
                <a:solidFill>
                  <a:schemeClr val="accent3">
                    <a:lumMod val="65000"/>
                  </a:schemeClr>
                </a:solidFill>
              </a:rPr>
              <a:t>invokeaction</a:t>
            </a:r>
            <a:r>
              <a:rPr lang="en-US" dirty="0">
                <a:solidFill>
                  <a:schemeClr val="accent3">
                    <a:lumMod val="65000"/>
                  </a:schemeClr>
                </a:solidFill>
              </a:rPr>
              <a:t>",</a:t>
            </a:r>
          </a:p>
          <a:p>
            <a:r>
              <a:rPr lang="en-US" dirty="0">
                <a:solidFill>
                  <a:schemeClr val="accent3">
                    <a:lumMod val="65000"/>
                  </a:schemeClr>
                </a:solidFill>
              </a:rPr>
              <a:t>        "</a:t>
            </a:r>
            <a:r>
              <a:rPr lang="en-US" dirty="0" err="1">
                <a:solidFill>
                  <a:schemeClr val="accent3">
                    <a:lumMod val="65000"/>
                  </a:schemeClr>
                </a:solidFill>
              </a:rPr>
              <a:t>contentType</a:t>
            </a:r>
            <a:r>
              <a:rPr lang="en-US" dirty="0">
                <a:solidFill>
                  <a:schemeClr val="accent3">
                    <a:lumMod val="65000"/>
                  </a:schemeClr>
                </a:solidFill>
              </a:rPr>
              <a:t>": "application/</a:t>
            </a:r>
            <a:r>
              <a:rPr lang="en-US" dirty="0" err="1">
                <a:solidFill>
                  <a:schemeClr val="accent3">
                    <a:lumMod val="65000"/>
                  </a:schemeClr>
                </a:solidFill>
              </a:rPr>
              <a:t>cbor</a:t>
            </a:r>
            <a:r>
              <a:rPr lang="en-US" dirty="0">
                <a:solidFill>
                  <a:schemeClr val="accent3">
                    <a:lumMod val="65000"/>
                  </a:schemeClr>
                </a:solidFill>
              </a:rPr>
              <a:t>",</a:t>
            </a:r>
          </a:p>
          <a:p>
            <a:r>
              <a:rPr lang="en-US" dirty="0">
                <a:solidFill>
                  <a:schemeClr val="accent1"/>
                </a:solidFill>
              </a:rPr>
              <a:t>        </a:t>
            </a:r>
            <a:r>
              <a:rPr lang="en-US" dirty="0">
                <a:solidFill>
                  <a:schemeClr val="accent5"/>
                </a:solidFill>
              </a:rPr>
              <a:t>"</a:t>
            </a:r>
            <a:r>
              <a:rPr lang="en-US" dirty="0" err="1">
                <a:solidFill>
                  <a:schemeClr val="accent5"/>
                </a:solidFill>
              </a:rPr>
              <a:t>cov:method</a:t>
            </a:r>
            <a:r>
              <a:rPr lang="en-US" dirty="0">
                <a:solidFill>
                  <a:schemeClr val="accent5"/>
                </a:solidFill>
              </a:rPr>
              <a:t>"</a:t>
            </a:r>
            <a:r>
              <a:rPr lang="en-US" dirty="0">
                <a:solidFill>
                  <a:schemeClr val="accent1"/>
                </a:solidFill>
              </a:rPr>
              <a:t>: "POST"</a:t>
            </a:r>
          </a:p>
          <a:p>
            <a:r>
              <a:rPr lang="en-US" dirty="0">
                <a:solidFill>
                  <a:schemeClr val="accent3">
                    <a:lumMod val="65000"/>
                  </a:schemeClr>
                </a:solidFill>
              </a:rPr>
              <a:t>      }</a:t>
            </a:r>
          </a:p>
          <a:p>
            <a:r>
              <a:rPr lang="en-US" dirty="0">
                <a:solidFill>
                  <a:schemeClr val="accent3">
                    <a:lumMod val="65000"/>
                  </a:schemeClr>
                </a:solidFill>
              </a:rPr>
              <a:t>    ]</a:t>
            </a:r>
          </a:p>
        </p:txBody>
      </p:sp>
      <p:sp>
        <p:nvSpPr>
          <p:cNvPr id="2" name="ReqLabel">
            <a:extLst>
              <a:ext uri="{FF2B5EF4-FFF2-40B4-BE49-F238E27FC236}">
                <a16:creationId xmlns:a16="http://schemas.microsoft.com/office/drawing/2014/main" id="{5B5DF36F-E61B-2C8B-4D0D-4901E0AF8DA8}"/>
              </a:ext>
            </a:extLst>
          </p:cNvPr>
          <p:cNvSpPr txBox="1"/>
          <p:nvPr/>
        </p:nvSpPr>
        <p:spPr>
          <a:xfrm>
            <a:off x="1018697" y="4371713"/>
            <a:ext cx="2360560"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1"/>
                </a:solidFill>
                <a:latin typeface="Century Gothic" panose="020B0502020202020204" pitchFamily="34" charset="0"/>
              </a:rPr>
              <a:t>► CoAP REQUEST</a:t>
            </a:r>
          </a:p>
        </p:txBody>
      </p:sp>
      <p:sp>
        <p:nvSpPr>
          <p:cNvPr id="16" name="TextBox 15">
            <a:extLst>
              <a:ext uri="{FF2B5EF4-FFF2-40B4-BE49-F238E27FC236}">
                <a16:creationId xmlns:a16="http://schemas.microsoft.com/office/drawing/2014/main" id="{66226F25-B58A-F430-C2B6-3EB8557AFBDC}"/>
              </a:ext>
            </a:extLst>
          </p:cNvPr>
          <p:cNvSpPr txBox="1"/>
          <p:nvPr/>
        </p:nvSpPr>
        <p:spPr>
          <a:xfrm>
            <a:off x="1018696" y="4773113"/>
            <a:ext cx="5404539" cy="1323439"/>
          </a:xfrm>
          <a:prstGeom prst="rect">
            <a:avLst/>
          </a:prstGeom>
          <a:noFill/>
        </p:spPr>
        <p:txBody>
          <a:bodyPr wrap="square" rtlCol="0">
            <a:spAutoFit/>
          </a:bodyPr>
          <a:lstStyle/>
          <a:p>
            <a:r>
              <a:rPr lang="en-US" sz="1600" dirty="0">
                <a:solidFill>
                  <a:schemeClr val="accent1"/>
                </a:solidFill>
              </a:rPr>
              <a:t>CoAP POST coap://coffee.example.com/actions/brewCoffee</a:t>
            </a:r>
          </a:p>
          <a:p>
            <a:r>
              <a:rPr lang="en-US" sz="1600" dirty="0">
                <a:solidFill>
                  <a:schemeClr val="accent1"/>
                </a:solidFill>
              </a:rPr>
              <a:t>Token: 0x4a2b</a:t>
            </a:r>
          </a:p>
          <a:p>
            <a:r>
              <a:rPr lang="en-US" sz="1600" dirty="0">
                <a:solidFill>
                  <a:schemeClr val="accent3">
                    <a:lumMod val="95000"/>
                  </a:schemeClr>
                </a:solidFill>
              </a:rPr>
              <a:t>Content-Format: 60  (= application/</a:t>
            </a:r>
            <a:r>
              <a:rPr lang="en-US" sz="1600" dirty="0" err="1">
                <a:solidFill>
                  <a:schemeClr val="accent3">
                    <a:lumMod val="95000"/>
                  </a:schemeClr>
                </a:solidFill>
              </a:rPr>
              <a:t>cbor</a:t>
            </a:r>
            <a:r>
              <a:rPr lang="en-US" sz="1600" dirty="0">
                <a:solidFill>
                  <a:schemeClr val="accent3">
                    <a:lumMod val="95000"/>
                  </a:schemeClr>
                </a:solidFill>
              </a:rPr>
              <a:t>)</a:t>
            </a:r>
          </a:p>
          <a:p>
            <a:r>
              <a:rPr lang="en-US" sz="1600" dirty="0">
                <a:solidFill>
                  <a:schemeClr val="accent3">
                    <a:lumMod val="95000"/>
                  </a:schemeClr>
                </a:solidFill>
              </a:rPr>
              <a:t>Payload (CBOR): a1 64 73 69 7a 65 66 6d 65 64 69 75 6d</a:t>
            </a:r>
          </a:p>
          <a:p>
            <a:r>
              <a:rPr lang="en-US" sz="1600" dirty="0">
                <a:solidFill>
                  <a:schemeClr val="accent3">
                    <a:lumMod val="95000"/>
                  </a:schemeClr>
                </a:solidFill>
              </a:rPr>
              <a:t>            decoded: { "size": "medium" }</a:t>
            </a:r>
          </a:p>
        </p:txBody>
      </p:sp>
    </p:spTree>
    <p:extLst>
      <p:ext uri="{BB962C8B-B14F-4D97-AF65-F5344CB8AC3E}">
        <p14:creationId xmlns:p14="http://schemas.microsoft.com/office/powerpoint/2010/main" val="11136949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5000">
        <p159:morph option="byObject"/>
      </p:transition>
    </mc:Choice>
    <mc:Fallback xmlns="">
      <p:transition spd="slow" advTm="5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703AB-39FB-E5C8-61E0-94DDEF217954}"/>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CB04F5A6-9F19-150F-1AE6-B6C2FB526441}"/>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D3A551C7-D6F1-F2EF-13DA-F5881759A7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F251BDB5-3AE4-5218-3A20-DFC882B4CE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15A68410-4578-D23C-A460-69B72548BAD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12A7054D-0014-D191-0F11-AF69AE13FBD3}"/>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1906D5B8-BDAF-5375-883E-D72A564C3AB6}"/>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A833FFC3-97EF-73F7-DF22-D26DA1628062}"/>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073BC63E-CDAD-1BB2-ECFD-A22EA650733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3766FA6D-0B64-2FC9-C77D-D24B688CB33E}"/>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9254BC78-B9A3-3159-1896-24247C969D30}"/>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BE503540-EBF8-5736-17FC-4255AFA51B8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7FA8507C-CDBE-6EB5-AC34-6ED6966943C5}"/>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CoAP</a:t>
            </a:r>
            <a:endParaRPr lang="aa-ET" dirty="0">
              <a:solidFill>
                <a:schemeClr val="accent1"/>
              </a:solidFill>
              <a:latin typeface="Century Gothic" panose="020B0502020202020204" pitchFamily="34" charset="0"/>
            </a:endParaRPr>
          </a:p>
        </p:txBody>
      </p:sp>
      <p:sp>
        <p:nvSpPr>
          <p:cNvPr id="3" name="TextBox 2">
            <a:extLst>
              <a:ext uri="{FF2B5EF4-FFF2-40B4-BE49-F238E27FC236}">
                <a16:creationId xmlns:a16="http://schemas.microsoft.com/office/drawing/2014/main" id="{07B76261-28C4-BD29-6A34-3B557A6A312D}"/>
              </a:ext>
            </a:extLst>
          </p:cNvPr>
          <p:cNvSpPr txBox="1"/>
          <p:nvPr/>
        </p:nvSpPr>
        <p:spPr>
          <a:xfrm>
            <a:off x="1105560" y="1832038"/>
            <a:ext cx="7576500" cy="2308324"/>
          </a:xfrm>
          <a:prstGeom prst="rect">
            <a:avLst/>
          </a:prstGeom>
          <a:noFill/>
        </p:spPr>
        <p:txBody>
          <a:bodyPr wrap="square" rtlCol="0">
            <a:spAutoFit/>
          </a:bodyPr>
          <a:lstStyle/>
          <a:p>
            <a:r>
              <a:rPr lang="en-US" dirty="0">
                <a:solidFill>
                  <a:schemeClr val="accent3">
                    <a:lumMod val="65000"/>
                  </a:schemeClr>
                </a:solidFill>
              </a:rPr>
              <a:t>    "forms": [</a:t>
            </a:r>
          </a:p>
          <a:p>
            <a:r>
              <a:rPr lang="en-US" dirty="0">
                <a:solidFill>
                  <a:schemeClr val="accent3">
                    <a:lumMod val="65000"/>
                  </a:schemeClr>
                </a:solidFill>
              </a:rPr>
              <a:t>      {</a:t>
            </a:r>
          </a:p>
          <a:p>
            <a:r>
              <a:rPr lang="en-US" dirty="0">
                <a:solidFill>
                  <a:schemeClr val="accent3">
                    <a:lumMod val="65000"/>
                  </a:schemeClr>
                </a:solidFill>
              </a:rPr>
              <a:t>        "</a:t>
            </a:r>
            <a:r>
              <a:rPr lang="en-US" dirty="0" err="1">
                <a:solidFill>
                  <a:schemeClr val="accent3">
                    <a:lumMod val="65000"/>
                  </a:schemeClr>
                </a:solidFill>
              </a:rPr>
              <a:t>href</a:t>
            </a:r>
            <a:r>
              <a:rPr lang="en-US" dirty="0">
                <a:solidFill>
                  <a:schemeClr val="accent3">
                    <a:lumMod val="65000"/>
                  </a:schemeClr>
                </a:solidFill>
              </a:rPr>
              <a:t>": "</a:t>
            </a:r>
            <a:r>
              <a:rPr lang="en-US" dirty="0" err="1">
                <a:solidFill>
                  <a:schemeClr val="accent3">
                    <a:lumMod val="65000"/>
                  </a:schemeClr>
                </a:solidFill>
              </a:rPr>
              <a:t>coap</a:t>
            </a:r>
            <a:r>
              <a:rPr lang="en-US" dirty="0">
                <a:solidFill>
                  <a:schemeClr val="accent3">
                    <a:lumMod val="65000"/>
                  </a:schemeClr>
                </a:solidFill>
              </a:rPr>
              <a:t>://coffee.example.com/actions/</a:t>
            </a:r>
            <a:r>
              <a:rPr lang="en-US" dirty="0" err="1">
                <a:solidFill>
                  <a:schemeClr val="accent3">
                    <a:lumMod val="65000"/>
                  </a:schemeClr>
                </a:solidFill>
              </a:rPr>
              <a:t>brewCoffee</a:t>
            </a:r>
            <a:r>
              <a:rPr lang="en-US" dirty="0">
                <a:solidFill>
                  <a:schemeClr val="accent3">
                    <a:lumMod val="65000"/>
                  </a:schemeClr>
                </a:solidFill>
              </a:rPr>
              <a:t>",</a:t>
            </a:r>
          </a:p>
          <a:p>
            <a:r>
              <a:rPr lang="en-US" dirty="0">
                <a:solidFill>
                  <a:schemeClr val="accent3">
                    <a:lumMod val="65000"/>
                  </a:schemeClr>
                </a:solidFill>
              </a:rPr>
              <a:t>        "op": "</a:t>
            </a:r>
            <a:r>
              <a:rPr lang="en-US" dirty="0" err="1">
                <a:solidFill>
                  <a:schemeClr val="accent3">
                    <a:lumMod val="65000"/>
                  </a:schemeClr>
                </a:solidFill>
              </a:rPr>
              <a:t>invokeaction</a:t>
            </a:r>
            <a:r>
              <a:rPr lang="en-US" dirty="0">
                <a:solidFill>
                  <a:schemeClr val="accent3">
                    <a:lumMod val="65000"/>
                  </a:schemeClr>
                </a:solidFill>
              </a:rPr>
              <a:t>",</a:t>
            </a:r>
          </a:p>
          <a:p>
            <a:r>
              <a:rPr lang="en-US" dirty="0">
                <a:solidFill>
                  <a:schemeClr val="accent3">
                    <a:lumMod val="65000"/>
                  </a:schemeClr>
                </a:solidFill>
              </a:rPr>
              <a:t>        "</a:t>
            </a:r>
            <a:r>
              <a:rPr lang="en-US" dirty="0" err="1">
                <a:solidFill>
                  <a:schemeClr val="accent3">
                    <a:lumMod val="65000"/>
                  </a:schemeClr>
                </a:solidFill>
              </a:rPr>
              <a:t>contentType</a:t>
            </a:r>
            <a:r>
              <a:rPr lang="en-US" dirty="0">
                <a:solidFill>
                  <a:schemeClr val="accent3">
                    <a:lumMod val="65000"/>
                  </a:schemeClr>
                </a:solidFill>
              </a:rPr>
              <a:t>": "application/</a:t>
            </a:r>
            <a:r>
              <a:rPr lang="en-US" dirty="0" err="1">
                <a:solidFill>
                  <a:schemeClr val="accent3">
                    <a:lumMod val="65000"/>
                  </a:schemeClr>
                </a:solidFill>
              </a:rPr>
              <a:t>cbor</a:t>
            </a:r>
            <a:r>
              <a:rPr lang="en-US" dirty="0">
                <a:solidFill>
                  <a:schemeClr val="accent3">
                    <a:lumMod val="65000"/>
                  </a:schemeClr>
                </a:solidFill>
              </a:rPr>
              <a:t>",</a:t>
            </a:r>
          </a:p>
          <a:p>
            <a:r>
              <a:rPr lang="en-US" dirty="0">
                <a:solidFill>
                  <a:schemeClr val="accent3">
                    <a:lumMod val="65000"/>
                  </a:schemeClr>
                </a:solidFill>
              </a:rPr>
              <a:t>        "</a:t>
            </a:r>
            <a:r>
              <a:rPr lang="en-US" dirty="0" err="1">
                <a:solidFill>
                  <a:schemeClr val="accent3">
                    <a:lumMod val="65000"/>
                  </a:schemeClr>
                </a:solidFill>
              </a:rPr>
              <a:t>cov:method</a:t>
            </a:r>
            <a:r>
              <a:rPr lang="en-US" dirty="0">
                <a:solidFill>
                  <a:schemeClr val="accent3">
                    <a:lumMod val="65000"/>
                  </a:schemeClr>
                </a:solidFill>
              </a:rPr>
              <a:t>": "POST"</a:t>
            </a:r>
          </a:p>
          <a:p>
            <a:r>
              <a:rPr lang="en-US" dirty="0">
                <a:solidFill>
                  <a:schemeClr val="accent3">
                    <a:lumMod val="65000"/>
                  </a:schemeClr>
                </a:solidFill>
              </a:rPr>
              <a:t>      }</a:t>
            </a:r>
          </a:p>
          <a:p>
            <a:r>
              <a:rPr lang="en-US" dirty="0">
                <a:solidFill>
                  <a:schemeClr val="accent3">
                    <a:lumMod val="65000"/>
                  </a:schemeClr>
                </a:solidFill>
              </a:rPr>
              <a:t>    ]</a:t>
            </a:r>
          </a:p>
        </p:txBody>
      </p:sp>
      <p:sp>
        <p:nvSpPr>
          <p:cNvPr id="2" name="ReqLabel">
            <a:extLst>
              <a:ext uri="{FF2B5EF4-FFF2-40B4-BE49-F238E27FC236}">
                <a16:creationId xmlns:a16="http://schemas.microsoft.com/office/drawing/2014/main" id="{715DA775-E2E5-3290-3033-6AE02D206FEA}"/>
              </a:ext>
            </a:extLst>
          </p:cNvPr>
          <p:cNvSpPr txBox="1"/>
          <p:nvPr/>
        </p:nvSpPr>
        <p:spPr>
          <a:xfrm>
            <a:off x="1018697" y="4371713"/>
            <a:ext cx="2360560"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1"/>
                </a:solidFill>
                <a:latin typeface="Century Gothic" panose="020B0502020202020204" pitchFamily="34" charset="0"/>
              </a:rPr>
              <a:t>► CoAP REQUEST</a:t>
            </a:r>
          </a:p>
        </p:txBody>
      </p:sp>
      <p:sp>
        <p:nvSpPr>
          <p:cNvPr id="16" name="TextBox 15">
            <a:extLst>
              <a:ext uri="{FF2B5EF4-FFF2-40B4-BE49-F238E27FC236}">
                <a16:creationId xmlns:a16="http://schemas.microsoft.com/office/drawing/2014/main" id="{95F7CA26-DB16-50E0-DEC0-A8AACC843145}"/>
              </a:ext>
            </a:extLst>
          </p:cNvPr>
          <p:cNvSpPr txBox="1"/>
          <p:nvPr/>
        </p:nvSpPr>
        <p:spPr>
          <a:xfrm>
            <a:off x="1018696" y="4773113"/>
            <a:ext cx="5404539" cy="1323439"/>
          </a:xfrm>
          <a:prstGeom prst="rect">
            <a:avLst/>
          </a:prstGeom>
          <a:noFill/>
        </p:spPr>
        <p:txBody>
          <a:bodyPr wrap="square" rtlCol="0">
            <a:spAutoFit/>
          </a:bodyPr>
          <a:lstStyle/>
          <a:p>
            <a:r>
              <a:rPr lang="en-US" sz="1600" dirty="0">
                <a:solidFill>
                  <a:schemeClr val="accent1"/>
                </a:solidFill>
              </a:rPr>
              <a:t>CoAP POST coap://coffee.example.com/actions/brewCoffee</a:t>
            </a:r>
          </a:p>
          <a:p>
            <a:r>
              <a:rPr lang="en-US" sz="1600" dirty="0">
                <a:solidFill>
                  <a:schemeClr val="accent1"/>
                </a:solidFill>
              </a:rPr>
              <a:t>Token: 0x4a2b</a:t>
            </a:r>
          </a:p>
          <a:p>
            <a:r>
              <a:rPr lang="en-US" sz="1600" dirty="0">
                <a:solidFill>
                  <a:schemeClr val="accent3">
                    <a:lumMod val="95000"/>
                  </a:schemeClr>
                </a:solidFill>
              </a:rPr>
              <a:t>Content-Format: 60  (= application/</a:t>
            </a:r>
            <a:r>
              <a:rPr lang="en-US" sz="1600" dirty="0" err="1">
                <a:solidFill>
                  <a:schemeClr val="accent3">
                    <a:lumMod val="95000"/>
                  </a:schemeClr>
                </a:solidFill>
              </a:rPr>
              <a:t>cbor</a:t>
            </a:r>
            <a:r>
              <a:rPr lang="en-US" sz="1600" dirty="0">
                <a:solidFill>
                  <a:schemeClr val="accent3">
                    <a:lumMod val="95000"/>
                  </a:schemeClr>
                </a:solidFill>
              </a:rPr>
              <a:t>)</a:t>
            </a:r>
          </a:p>
          <a:p>
            <a:r>
              <a:rPr lang="en-US" sz="1600" dirty="0">
                <a:solidFill>
                  <a:schemeClr val="accent3">
                    <a:lumMod val="95000"/>
                  </a:schemeClr>
                </a:solidFill>
              </a:rPr>
              <a:t>Payload (CBOR): a1 64 73 69 7a 65 66 6d 65 64 69 75 6d</a:t>
            </a:r>
          </a:p>
          <a:p>
            <a:r>
              <a:rPr lang="en-US" sz="1600" dirty="0">
                <a:solidFill>
                  <a:schemeClr val="accent3">
                    <a:lumMod val="95000"/>
                  </a:schemeClr>
                </a:solidFill>
              </a:rPr>
              <a:t>            decoded: { "size": "medium" }</a:t>
            </a:r>
          </a:p>
        </p:txBody>
      </p:sp>
    </p:spTree>
    <p:extLst>
      <p:ext uri="{BB962C8B-B14F-4D97-AF65-F5344CB8AC3E}">
        <p14:creationId xmlns:p14="http://schemas.microsoft.com/office/powerpoint/2010/main" val="10600085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7E71B-CCF0-C8D0-417B-E5BF8B882588}"/>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92FF97FC-DCC8-B27B-6E6F-CC01CAA9E28F}"/>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69A849D0-D1E8-16EC-EB9E-DBAFB837F7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4E65B64C-AA66-EF63-B00C-40582B869F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5B298EDD-9C29-307F-10AE-B6519F758D4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C5D9F841-9E84-4C8D-6920-3C9AD911C73B}"/>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D24724F0-267E-318E-0D8F-11F3AB1A94A7}"/>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6BCD764E-786F-F45A-0D16-7F2EB4119048}"/>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123E7C97-FC96-6182-950D-F6719409052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335B77FC-8ECC-5B3A-B2C4-102A101506FF}"/>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98CF0D72-FC28-F676-AC5F-F474FFE36F63}"/>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D48FC88B-E76C-EDD3-543F-91A87EADAF2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6ADA499D-2B76-0527-DC77-371762F77E73}"/>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CoAP</a:t>
            </a:r>
            <a:endParaRPr lang="aa-ET" dirty="0">
              <a:solidFill>
                <a:schemeClr val="accent1"/>
              </a:solidFill>
              <a:latin typeface="Century Gothic" panose="020B0502020202020204" pitchFamily="34" charset="0"/>
            </a:endParaRPr>
          </a:p>
        </p:txBody>
      </p:sp>
      <p:sp>
        <p:nvSpPr>
          <p:cNvPr id="3" name="TextBox 2">
            <a:extLst>
              <a:ext uri="{FF2B5EF4-FFF2-40B4-BE49-F238E27FC236}">
                <a16:creationId xmlns:a16="http://schemas.microsoft.com/office/drawing/2014/main" id="{F970BBAF-A5D1-EBBB-A957-FCA93B271B04}"/>
              </a:ext>
            </a:extLst>
          </p:cNvPr>
          <p:cNvSpPr txBox="1"/>
          <p:nvPr/>
        </p:nvSpPr>
        <p:spPr>
          <a:xfrm>
            <a:off x="1105560" y="1832038"/>
            <a:ext cx="7576500" cy="2308324"/>
          </a:xfrm>
          <a:prstGeom prst="rect">
            <a:avLst/>
          </a:prstGeom>
          <a:noFill/>
        </p:spPr>
        <p:txBody>
          <a:bodyPr wrap="square" rtlCol="0">
            <a:spAutoFit/>
          </a:bodyPr>
          <a:lstStyle/>
          <a:p>
            <a:r>
              <a:rPr lang="en-US" dirty="0">
                <a:solidFill>
                  <a:schemeClr val="accent3">
                    <a:lumMod val="65000"/>
                  </a:schemeClr>
                </a:solidFill>
              </a:rPr>
              <a:t>    "forms": [</a:t>
            </a:r>
          </a:p>
          <a:p>
            <a:r>
              <a:rPr lang="en-US" dirty="0">
                <a:solidFill>
                  <a:schemeClr val="accent3">
                    <a:lumMod val="65000"/>
                  </a:schemeClr>
                </a:solidFill>
              </a:rPr>
              <a:t>      {</a:t>
            </a:r>
          </a:p>
          <a:p>
            <a:r>
              <a:rPr lang="en-US" dirty="0">
                <a:solidFill>
                  <a:schemeClr val="accent3">
                    <a:lumMod val="65000"/>
                  </a:schemeClr>
                </a:solidFill>
              </a:rPr>
              <a:t>        "</a:t>
            </a:r>
            <a:r>
              <a:rPr lang="en-US" dirty="0" err="1">
                <a:solidFill>
                  <a:schemeClr val="accent3">
                    <a:lumMod val="65000"/>
                  </a:schemeClr>
                </a:solidFill>
              </a:rPr>
              <a:t>href</a:t>
            </a:r>
            <a:r>
              <a:rPr lang="en-US" dirty="0">
                <a:solidFill>
                  <a:schemeClr val="accent3">
                    <a:lumMod val="65000"/>
                  </a:schemeClr>
                </a:solidFill>
              </a:rPr>
              <a:t>": "</a:t>
            </a:r>
            <a:r>
              <a:rPr lang="en-US" dirty="0" err="1">
                <a:solidFill>
                  <a:schemeClr val="accent3">
                    <a:lumMod val="65000"/>
                  </a:schemeClr>
                </a:solidFill>
              </a:rPr>
              <a:t>coap</a:t>
            </a:r>
            <a:r>
              <a:rPr lang="en-US" dirty="0">
                <a:solidFill>
                  <a:schemeClr val="accent3">
                    <a:lumMod val="65000"/>
                  </a:schemeClr>
                </a:solidFill>
              </a:rPr>
              <a:t>://coffee.example.com/actions/</a:t>
            </a:r>
            <a:r>
              <a:rPr lang="en-US" dirty="0" err="1">
                <a:solidFill>
                  <a:schemeClr val="accent3">
                    <a:lumMod val="65000"/>
                  </a:schemeClr>
                </a:solidFill>
              </a:rPr>
              <a:t>brewCoffee</a:t>
            </a:r>
            <a:r>
              <a:rPr lang="en-US" dirty="0">
                <a:solidFill>
                  <a:schemeClr val="accent3">
                    <a:lumMod val="65000"/>
                  </a:schemeClr>
                </a:solidFill>
              </a:rPr>
              <a:t>",</a:t>
            </a:r>
          </a:p>
          <a:p>
            <a:r>
              <a:rPr lang="en-US" dirty="0">
                <a:solidFill>
                  <a:schemeClr val="accent3">
                    <a:lumMod val="65000"/>
                  </a:schemeClr>
                </a:solidFill>
              </a:rPr>
              <a:t>        "op": "</a:t>
            </a:r>
            <a:r>
              <a:rPr lang="en-US" dirty="0" err="1">
                <a:solidFill>
                  <a:schemeClr val="accent3">
                    <a:lumMod val="65000"/>
                  </a:schemeClr>
                </a:solidFill>
              </a:rPr>
              <a:t>invokeaction</a:t>
            </a:r>
            <a:r>
              <a:rPr lang="en-US" dirty="0">
                <a:solidFill>
                  <a:schemeClr val="accent3">
                    <a:lumMod val="65000"/>
                  </a:schemeClr>
                </a:solidFill>
              </a:rPr>
              <a:t>",</a:t>
            </a:r>
          </a:p>
          <a:p>
            <a:r>
              <a:rPr lang="en-US" dirty="0">
                <a:solidFill>
                  <a:schemeClr val="accent3">
                    <a:lumMod val="65000"/>
                  </a:schemeClr>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a:t>
            </a:r>
            <a:r>
              <a:rPr lang="en-US" dirty="0" err="1">
                <a:solidFill>
                  <a:schemeClr val="accent1"/>
                </a:solidFill>
              </a:rPr>
              <a:t>cbor</a:t>
            </a:r>
            <a:r>
              <a:rPr lang="en-US" dirty="0">
                <a:solidFill>
                  <a:schemeClr val="accent1"/>
                </a:solidFill>
              </a:rPr>
              <a:t>"</a:t>
            </a:r>
            <a:r>
              <a:rPr lang="en-US" dirty="0">
                <a:solidFill>
                  <a:schemeClr val="accent3">
                    <a:lumMod val="65000"/>
                  </a:schemeClr>
                </a:solidFill>
              </a:rPr>
              <a:t>,</a:t>
            </a:r>
          </a:p>
          <a:p>
            <a:r>
              <a:rPr lang="en-US" dirty="0">
                <a:solidFill>
                  <a:schemeClr val="accent3">
                    <a:lumMod val="65000"/>
                  </a:schemeClr>
                </a:solidFill>
              </a:rPr>
              <a:t>        "</a:t>
            </a:r>
            <a:r>
              <a:rPr lang="en-US" dirty="0" err="1">
                <a:solidFill>
                  <a:schemeClr val="accent3">
                    <a:lumMod val="65000"/>
                  </a:schemeClr>
                </a:solidFill>
              </a:rPr>
              <a:t>cov:method</a:t>
            </a:r>
            <a:r>
              <a:rPr lang="en-US" dirty="0">
                <a:solidFill>
                  <a:schemeClr val="accent3">
                    <a:lumMod val="65000"/>
                  </a:schemeClr>
                </a:solidFill>
              </a:rPr>
              <a:t>": "POST"</a:t>
            </a:r>
          </a:p>
          <a:p>
            <a:r>
              <a:rPr lang="en-US" dirty="0">
                <a:solidFill>
                  <a:schemeClr val="accent3">
                    <a:lumMod val="65000"/>
                  </a:schemeClr>
                </a:solidFill>
              </a:rPr>
              <a:t>      }</a:t>
            </a:r>
          </a:p>
          <a:p>
            <a:r>
              <a:rPr lang="en-US" dirty="0">
                <a:solidFill>
                  <a:schemeClr val="accent3">
                    <a:lumMod val="65000"/>
                  </a:schemeClr>
                </a:solidFill>
              </a:rPr>
              <a:t>    ]</a:t>
            </a:r>
          </a:p>
        </p:txBody>
      </p:sp>
      <p:sp>
        <p:nvSpPr>
          <p:cNvPr id="2" name="ReqLabel">
            <a:extLst>
              <a:ext uri="{FF2B5EF4-FFF2-40B4-BE49-F238E27FC236}">
                <a16:creationId xmlns:a16="http://schemas.microsoft.com/office/drawing/2014/main" id="{293C7E83-3C56-FB8C-3C27-AEAFEECB7F15}"/>
              </a:ext>
            </a:extLst>
          </p:cNvPr>
          <p:cNvSpPr txBox="1"/>
          <p:nvPr/>
        </p:nvSpPr>
        <p:spPr>
          <a:xfrm>
            <a:off x="1018697" y="4371713"/>
            <a:ext cx="2360560"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1"/>
                </a:solidFill>
                <a:latin typeface="Century Gothic" panose="020B0502020202020204" pitchFamily="34" charset="0"/>
              </a:rPr>
              <a:t>► CoAP REQUEST</a:t>
            </a:r>
          </a:p>
        </p:txBody>
      </p:sp>
      <p:sp>
        <p:nvSpPr>
          <p:cNvPr id="16" name="TextBox 15">
            <a:extLst>
              <a:ext uri="{FF2B5EF4-FFF2-40B4-BE49-F238E27FC236}">
                <a16:creationId xmlns:a16="http://schemas.microsoft.com/office/drawing/2014/main" id="{50F729D8-08B7-D9EA-4D5C-6AB374E84255}"/>
              </a:ext>
            </a:extLst>
          </p:cNvPr>
          <p:cNvSpPr txBox="1"/>
          <p:nvPr/>
        </p:nvSpPr>
        <p:spPr>
          <a:xfrm>
            <a:off x="1018696" y="4773113"/>
            <a:ext cx="5404539" cy="1323439"/>
          </a:xfrm>
          <a:prstGeom prst="rect">
            <a:avLst/>
          </a:prstGeom>
          <a:noFill/>
        </p:spPr>
        <p:txBody>
          <a:bodyPr wrap="square" rtlCol="0">
            <a:spAutoFit/>
          </a:bodyPr>
          <a:lstStyle/>
          <a:p>
            <a:r>
              <a:rPr lang="en-US" sz="1600" dirty="0">
                <a:solidFill>
                  <a:schemeClr val="accent1"/>
                </a:solidFill>
              </a:rPr>
              <a:t>CoAP POST coap://coffee.example.com/actions/brewCoffee</a:t>
            </a:r>
          </a:p>
          <a:p>
            <a:r>
              <a:rPr lang="en-US" sz="1600" dirty="0">
                <a:solidFill>
                  <a:schemeClr val="accent1"/>
                </a:solidFill>
              </a:rPr>
              <a:t>Token: 0x4a2b</a:t>
            </a:r>
          </a:p>
          <a:p>
            <a:r>
              <a:rPr lang="en-US" sz="1600" dirty="0">
                <a:solidFill>
                  <a:schemeClr val="accent1"/>
                </a:solidFill>
              </a:rPr>
              <a:t>Content-Format: 60  </a:t>
            </a:r>
            <a:r>
              <a:rPr lang="en-US" sz="1600" dirty="0">
                <a:solidFill>
                  <a:schemeClr val="accent3">
                    <a:lumMod val="65000"/>
                  </a:schemeClr>
                </a:solidFill>
              </a:rPr>
              <a:t>(= application/</a:t>
            </a:r>
            <a:r>
              <a:rPr lang="en-US" sz="1600" dirty="0" err="1">
                <a:solidFill>
                  <a:schemeClr val="accent3">
                    <a:lumMod val="65000"/>
                  </a:schemeClr>
                </a:solidFill>
              </a:rPr>
              <a:t>cbor</a:t>
            </a:r>
            <a:r>
              <a:rPr lang="en-US" sz="1600" dirty="0">
                <a:solidFill>
                  <a:schemeClr val="accent3">
                    <a:lumMod val="65000"/>
                  </a:schemeClr>
                </a:solidFill>
              </a:rPr>
              <a:t>)</a:t>
            </a:r>
          </a:p>
          <a:p>
            <a:r>
              <a:rPr lang="en-US" sz="1600" dirty="0">
                <a:solidFill>
                  <a:schemeClr val="accent1"/>
                </a:solidFill>
              </a:rPr>
              <a:t>Payload </a:t>
            </a:r>
            <a:r>
              <a:rPr lang="en-US" sz="1600" dirty="0">
                <a:solidFill>
                  <a:schemeClr val="accent3">
                    <a:lumMod val="65000"/>
                  </a:schemeClr>
                </a:solidFill>
              </a:rPr>
              <a:t>(CBOR)</a:t>
            </a:r>
            <a:r>
              <a:rPr lang="en-US" sz="1600" dirty="0">
                <a:solidFill>
                  <a:schemeClr val="accent1"/>
                </a:solidFill>
              </a:rPr>
              <a:t>: a1 64 73 69 7a 65 66 6d 65 64 69 75 6d</a:t>
            </a:r>
          </a:p>
          <a:p>
            <a:r>
              <a:rPr lang="en-US" sz="1600" dirty="0">
                <a:solidFill>
                  <a:schemeClr val="accent3">
                    <a:lumMod val="65000"/>
                  </a:schemeClr>
                </a:solidFill>
              </a:rPr>
              <a:t>            decoded: { "size": "medium" }</a:t>
            </a:r>
          </a:p>
        </p:txBody>
      </p:sp>
    </p:spTree>
    <p:extLst>
      <p:ext uri="{BB962C8B-B14F-4D97-AF65-F5344CB8AC3E}">
        <p14:creationId xmlns:p14="http://schemas.microsoft.com/office/powerpoint/2010/main" val="22469636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6900">
        <p159:morph option="byObject"/>
      </p:transition>
    </mc:Choice>
    <mc:Fallback xmlns="">
      <p:transition spd="slow" advTm="69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D291F-0839-758A-D53F-690BA4CC4F4F}"/>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A4D9DFCC-D4BB-C520-E736-9DAEB86A33D9}"/>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5F8C23FF-328F-C06A-3169-D3D52C8E75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01C76A78-4C9E-B8E6-1287-F1BD330C91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9420E4EC-FD24-D84B-955E-131AD548ABA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A08080B2-9527-FA09-0FB5-46E9789B6CBF}"/>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3E44B333-90E8-5509-5053-094AE5AEBC37}"/>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09A680DC-33C8-1907-7595-B2426E14B582}"/>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D4AE7F40-3754-9C05-5396-41D3EA3C87D2}"/>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BBF2C999-9846-9B15-8846-19E6A5D2A7C7}"/>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50A8844E-45A4-7961-C764-82C8763F2ECA}"/>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F5EA81DF-7E22-D493-287B-D56D6D9B287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EA9C5583-615C-5BE9-1288-AD6D477E281E}"/>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CoAP</a:t>
            </a:r>
            <a:endParaRPr lang="aa-ET" dirty="0">
              <a:solidFill>
                <a:schemeClr val="accent1"/>
              </a:solidFill>
              <a:latin typeface="Century Gothic" panose="020B0502020202020204" pitchFamily="34" charset="0"/>
            </a:endParaRPr>
          </a:p>
        </p:txBody>
      </p:sp>
      <p:sp>
        <p:nvSpPr>
          <p:cNvPr id="3" name="TextBox 2">
            <a:extLst>
              <a:ext uri="{FF2B5EF4-FFF2-40B4-BE49-F238E27FC236}">
                <a16:creationId xmlns:a16="http://schemas.microsoft.com/office/drawing/2014/main" id="{5D7B29EA-F6DB-ABE9-AF9D-63436D48F13F}"/>
              </a:ext>
            </a:extLst>
          </p:cNvPr>
          <p:cNvSpPr txBox="1"/>
          <p:nvPr/>
        </p:nvSpPr>
        <p:spPr>
          <a:xfrm>
            <a:off x="1105560" y="1832038"/>
            <a:ext cx="7576500" cy="2308324"/>
          </a:xfrm>
          <a:prstGeom prst="rect">
            <a:avLst/>
          </a:prstGeom>
          <a:noFill/>
        </p:spPr>
        <p:txBody>
          <a:bodyPr wrap="square" rtlCol="0">
            <a:spAutoFit/>
          </a:bodyPr>
          <a:lstStyle/>
          <a:p>
            <a:r>
              <a:rPr lang="en-US" dirty="0">
                <a:solidFill>
                  <a:schemeClr val="accent1"/>
                </a:solidFill>
              </a:rPr>
              <a:t>    </a:t>
            </a:r>
            <a:r>
              <a:rPr lang="en-US" dirty="0">
                <a:solidFill>
                  <a:schemeClr val="accent5"/>
                </a:solidFill>
              </a:rPr>
              <a:t>"forms"</a:t>
            </a:r>
            <a:r>
              <a:rPr lang="en-US" dirty="0">
                <a:solidFill>
                  <a:schemeClr val="accent1"/>
                </a:solidFill>
              </a:rPr>
              <a:t>: [</a:t>
            </a:r>
          </a:p>
          <a:p>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a:t>
            </a:r>
            <a:r>
              <a:rPr lang="en-US" dirty="0" err="1">
                <a:solidFill>
                  <a:schemeClr val="accent1"/>
                </a:solidFill>
              </a:rPr>
              <a:t>coap</a:t>
            </a:r>
            <a:r>
              <a:rPr lang="en-US" dirty="0">
                <a:solidFill>
                  <a:schemeClr val="accent1"/>
                </a:solidFill>
              </a:rPr>
              <a:t>://coffee.example.com/actions/</a:t>
            </a:r>
            <a:r>
              <a:rPr lang="en-US" dirty="0" err="1">
                <a:solidFill>
                  <a:schemeClr val="accent1"/>
                </a:solidFill>
              </a:rPr>
              <a:t>brewCoffee</a:t>
            </a:r>
            <a:r>
              <a:rPr lang="en-US" dirty="0">
                <a:solidFill>
                  <a:schemeClr val="accent1"/>
                </a:solidFill>
              </a:rPr>
              <a:t>",</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invokeaction</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a:t>
            </a:r>
            <a:r>
              <a:rPr lang="en-US" dirty="0" err="1">
                <a:solidFill>
                  <a:schemeClr val="accent1"/>
                </a:solidFill>
              </a:rPr>
              <a:t>cbor</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cov:method</a:t>
            </a:r>
            <a:r>
              <a:rPr lang="en-US" dirty="0">
                <a:solidFill>
                  <a:schemeClr val="accent5"/>
                </a:solidFill>
              </a:rPr>
              <a:t>"</a:t>
            </a:r>
            <a:r>
              <a:rPr lang="en-US" dirty="0">
                <a:solidFill>
                  <a:schemeClr val="accent1"/>
                </a:solidFill>
              </a:rPr>
              <a:t>: "POST"</a:t>
            </a:r>
          </a:p>
          <a:p>
            <a:r>
              <a:rPr lang="en-US" dirty="0">
                <a:solidFill>
                  <a:schemeClr val="accent1"/>
                </a:solidFill>
              </a:rPr>
              <a:t>      }</a:t>
            </a:r>
          </a:p>
          <a:p>
            <a:r>
              <a:rPr lang="en-US" dirty="0">
                <a:solidFill>
                  <a:schemeClr val="accent1"/>
                </a:solidFill>
              </a:rPr>
              <a:t>    ]</a:t>
            </a:r>
          </a:p>
        </p:txBody>
      </p:sp>
      <p:sp>
        <p:nvSpPr>
          <p:cNvPr id="2" name="ReqLabel">
            <a:extLst>
              <a:ext uri="{FF2B5EF4-FFF2-40B4-BE49-F238E27FC236}">
                <a16:creationId xmlns:a16="http://schemas.microsoft.com/office/drawing/2014/main" id="{EE17D1F5-3B09-7CA1-3F1E-88567C4543A4}"/>
              </a:ext>
            </a:extLst>
          </p:cNvPr>
          <p:cNvSpPr txBox="1"/>
          <p:nvPr/>
        </p:nvSpPr>
        <p:spPr>
          <a:xfrm>
            <a:off x="1018697" y="4371713"/>
            <a:ext cx="2360560"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1"/>
                </a:solidFill>
                <a:latin typeface="Century Gothic" panose="020B0502020202020204" pitchFamily="34" charset="0"/>
              </a:rPr>
              <a:t>► CoAP REQUEST</a:t>
            </a:r>
          </a:p>
        </p:txBody>
      </p:sp>
      <p:sp>
        <p:nvSpPr>
          <p:cNvPr id="16" name="TextBox 15">
            <a:extLst>
              <a:ext uri="{FF2B5EF4-FFF2-40B4-BE49-F238E27FC236}">
                <a16:creationId xmlns:a16="http://schemas.microsoft.com/office/drawing/2014/main" id="{D4F41E31-4AD5-86A2-056F-A3C73E8FDB60}"/>
              </a:ext>
            </a:extLst>
          </p:cNvPr>
          <p:cNvSpPr txBox="1"/>
          <p:nvPr/>
        </p:nvSpPr>
        <p:spPr>
          <a:xfrm>
            <a:off x="1018696" y="4773113"/>
            <a:ext cx="5404539" cy="1323439"/>
          </a:xfrm>
          <a:prstGeom prst="rect">
            <a:avLst/>
          </a:prstGeom>
          <a:noFill/>
        </p:spPr>
        <p:txBody>
          <a:bodyPr wrap="square" rtlCol="0">
            <a:spAutoFit/>
          </a:bodyPr>
          <a:lstStyle/>
          <a:p>
            <a:r>
              <a:rPr lang="en-US" sz="1600" dirty="0">
                <a:solidFill>
                  <a:schemeClr val="accent1"/>
                </a:solidFill>
              </a:rPr>
              <a:t>CoAP POST coap://coffee.example.com/actions/brewCoffee</a:t>
            </a:r>
          </a:p>
          <a:p>
            <a:r>
              <a:rPr lang="en-US" sz="1600" dirty="0">
                <a:solidFill>
                  <a:schemeClr val="accent1"/>
                </a:solidFill>
              </a:rPr>
              <a:t>Token: 0x4a2b</a:t>
            </a:r>
          </a:p>
          <a:p>
            <a:r>
              <a:rPr lang="en-US" sz="1600" dirty="0">
                <a:solidFill>
                  <a:schemeClr val="accent1"/>
                </a:solidFill>
              </a:rPr>
              <a:t>Content-Format: 60  </a:t>
            </a:r>
            <a:r>
              <a:rPr lang="en-US" sz="1600" dirty="0">
                <a:solidFill>
                  <a:schemeClr val="accent3">
                    <a:lumMod val="65000"/>
                  </a:schemeClr>
                </a:solidFill>
              </a:rPr>
              <a:t>(= application/</a:t>
            </a:r>
            <a:r>
              <a:rPr lang="en-US" sz="1600" dirty="0" err="1">
                <a:solidFill>
                  <a:schemeClr val="accent3">
                    <a:lumMod val="65000"/>
                  </a:schemeClr>
                </a:solidFill>
              </a:rPr>
              <a:t>cbor</a:t>
            </a:r>
            <a:r>
              <a:rPr lang="en-US" sz="1600" dirty="0">
                <a:solidFill>
                  <a:schemeClr val="accent3">
                    <a:lumMod val="65000"/>
                  </a:schemeClr>
                </a:solidFill>
              </a:rPr>
              <a:t>)</a:t>
            </a:r>
          </a:p>
          <a:p>
            <a:r>
              <a:rPr lang="en-US" sz="1600" dirty="0">
                <a:solidFill>
                  <a:schemeClr val="accent1"/>
                </a:solidFill>
              </a:rPr>
              <a:t>Payload </a:t>
            </a:r>
            <a:r>
              <a:rPr lang="en-US" sz="1600" dirty="0">
                <a:solidFill>
                  <a:schemeClr val="accent3">
                    <a:lumMod val="65000"/>
                  </a:schemeClr>
                </a:solidFill>
              </a:rPr>
              <a:t>(CBOR)</a:t>
            </a:r>
            <a:r>
              <a:rPr lang="en-US" sz="1600" dirty="0">
                <a:solidFill>
                  <a:schemeClr val="accent1"/>
                </a:solidFill>
              </a:rPr>
              <a:t>: a1 64 73 69 7a 65 66 6d 65 64 69 75 6d</a:t>
            </a:r>
          </a:p>
          <a:p>
            <a:r>
              <a:rPr lang="en-US" sz="1600" dirty="0">
                <a:solidFill>
                  <a:schemeClr val="accent1"/>
                </a:solidFill>
              </a:rPr>
              <a:t>          </a:t>
            </a:r>
            <a:r>
              <a:rPr lang="en-US" sz="1600" dirty="0">
                <a:solidFill>
                  <a:schemeClr val="accent5"/>
                </a:solidFill>
              </a:rPr>
              <a:t>  </a:t>
            </a:r>
            <a:r>
              <a:rPr lang="en-US" sz="1600" dirty="0">
                <a:solidFill>
                  <a:schemeClr val="accent3">
                    <a:lumMod val="65000"/>
                  </a:schemeClr>
                </a:solidFill>
              </a:rPr>
              <a:t>decoded: { "size": "medium" }</a:t>
            </a:r>
          </a:p>
        </p:txBody>
      </p:sp>
      <p:cxnSp>
        <p:nvCxnSpPr>
          <p:cNvPr id="19" name="Straight Arrow Connector 18">
            <a:extLst>
              <a:ext uri="{FF2B5EF4-FFF2-40B4-BE49-F238E27FC236}">
                <a16:creationId xmlns:a16="http://schemas.microsoft.com/office/drawing/2014/main" id="{DB3B1DEC-2494-7ACC-2026-2D200E0E7DE2}"/>
              </a:ext>
            </a:extLst>
          </p:cNvPr>
          <p:cNvCxnSpPr>
            <a:cxnSpLocks/>
          </p:cNvCxnSpPr>
          <p:nvPr/>
        </p:nvCxnSpPr>
        <p:spPr>
          <a:xfrm flipH="1">
            <a:off x="10043875" y="3538385"/>
            <a:ext cx="5653" cy="6296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DBEFDF5-E877-4CA2-B127-B8A813D9496D}"/>
              </a:ext>
            </a:extLst>
          </p:cNvPr>
          <p:cNvSpPr txBox="1"/>
          <p:nvPr/>
        </p:nvSpPr>
        <p:spPr>
          <a:xfrm>
            <a:off x="10129382" y="3668518"/>
            <a:ext cx="944297" cy="369332"/>
          </a:xfrm>
          <a:prstGeom prst="rect">
            <a:avLst/>
          </a:prstGeom>
          <a:noFill/>
        </p:spPr>
        <p:txBody>
          <a:bodyPr wrap="none" rtlCol="0">
            <a:spAutoFit/>
          </a:bodyPr>
          <a:lstStyle/>
          <a:p>
            <a:r>
              <a:rPr lang="en-US" dirty="0">
                <a:solidFill>
                  <a:schemeClr val="accent1"/>
                </a:solidFill>
              </a:rPr>
              <a:t>Request</a:t>
            </a:r>
            <a:endParaRPr lang="en-DE" dirty="0">
              <a:solidFill>
                <a:schemeClr val="accent1"/>
              </a:solidFill>
            </a:endParaRPr>
          </a:p>
        </p:txBody>
      </p:sp>
    </p:spTree>
    <p:extLst>
      <p:ext uri="{BB962C8B-B14F-4D97-AF65-F5344CB8AC3E}">
        <p14:creationId xmlns:p14="http://schemas.microsoft.com/office/powerpoint/2010/main" val="32558698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500"/>
                                        <p:tgtEl>
                                          <p:spTgt spid="1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23165-348F-FF35-1BCD-2782051DC39A}"/>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688FEFAE-3E35-9ED5-C5BD-53330A12CDEB}"/>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9D655E44-94AB-3B01-6486-D2F296065C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A3F5AA26-7D9C-5FE1-F626-B20C8FA3CA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E5400465-E5D2-73FE-34FF-4E122E1023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0E8FCDDA-A515-A01F-F0A3-B252C44904D1}"/>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612EE9FA-4588-EE99-9C2F-E22ABB5F2D76}"/>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BFA86185-D989-6AA2-A030-649A8F67E91C}"/>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35BD6489-A446-47BD-47C1-1A60978FFC57}"/>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E3DB4E0C-95C8-932B-16D2-E99A1C6F3328}"/>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2B15DF23-746A-720E-786B-63ACDA463A29}"/>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C9868CF5-E164-C25A-CDC4-EDD2B8FBE14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DA515E99-1EFF-A847-1095-9B9F213BCC44}"/>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CoAP</a:t>
            </a:r>
            <a:endParaRPr lang="aa-ET" dirty="0">
              <a:solidFill>
                <a:schemeClr val="accent1"/>
              </a:solidFill>
              <a:latin typeface="Century Gothic" panose="020B0502020202020204" pitchFamily="34" charset="0"/>
            </a:endParaRPr>
          </a:p>
        </p:txBody>
      </p:sp>
      <p:sp>
        <p:nvSpPr>
          <p:cNvPr id="3" name="TextBox 2">
            <a:extLst>
              <a:ext uri="{FF2B5EF4-FFF2-40B4-BE49-F238E27FC236}">
                <a16:creationId xmlns:a16="http://schemas.microsoft.com/office/drawing/2014/main" id="{66F247F0-C43C-6E68-4ACA-01EAADC973CB}"/>
              </a:ext>
            </a:extLst>
          </p:cNvPr>
          <p:cNvSpPr txBox="1"/>
          <p:nvPr/>
        </p:nvSpPr>
        <p:spPr>
          <a:xfrm>
            <a:off x="1105560" y="1832038"/>
            <a:ext cx="7576500" cy="2308324"/>
          </a:xfrm>
          <a:prstGeom prst="rect">
            <a:avLst/>
          </a:prstGeom>
          <a:noFill/>
        </p:spPr>
        <p:txBody>
          <a:bodyPr wrap="square" rtlCol="0">
            <a:spAutoFit/>
          </a:bodyPr>
          <a:lstStyle/>
          <a:p>
            <a:r>
              <a:rPr lang="en-US" dirty="0">
                <a:solidFill>
                  <a:schemeClr val="accent1"/>
                </a:solidFill>
              </a:rPr>
              <a:t>    </a:t>
            </a:r>
            <a:r>
              <a:rPr lang="en-US" dirty="0">
                <a:solidFill>
                  <a:schemeClr val="accent5"/>
                </a:solidFill>
              </a:rPr>
              <a:t>"forms"</a:t>
            </a:r>
            <a:r>
              <a:rPr lang="en-US" dirty="0">
                <a:solidFill>
                  <a:schemeClr val="accent1"/>
                </a:solidFill>
              </a:rPr>
              <a:t>: [</a:t>
            </a:r>
          </a:p>
          <a:p>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a:t>
            </a:r>
            <a:r>
              <a:rPr lang="en-US" dirty="0" err="1">
                <a:solidFill>
                  <a:schemeClr val="accent1"/>
                </a:solidFill>
              </a:rPr>
              <a:t>coap</a:t>
            </a:r>
            <a:r>
              <a:rPr lang="en-US" dirty="0">
                <a:solidFill>
                  <a:schemeClr val="accent1"/>
                </a:solidFill>
              </a:rPr>
              <a:t>://coffee.example.com/actions/</a:t>
            </a:r>
            <a:r>
              <a:rPr lang="en-US" dirty="0" err="1">
                <a:solidFill>
                  <a:schemeClr val="accent1"/>
                </a:solidFill>
              </a:rPr>
              <a:t>brewCoffee</a:t>
            </a:r>
            <a:r>
              <a:rPr lang="en-US" dirty="0">
                <a:solidFill>
                  <a:schemeClr val="accent1"/>
                </a:solidFill>
              </a:rPr>
              <a:t>",</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invokeaction</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a:t>
            </a:r>
            <a:r>
              <a:rPr lang="en-US" dirty="0" err="1">
                <a:solidFill>
                  <a:schemeClr val="accent1"/>
                </a:solidFill>
              </a:rPr>
              <a:t>cbor</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cov:method</a:t>
            </a:r>
            <a:r>
              <a:rPr lang="en-US" dirty="0">
                <a:solidFill>
                  <a:schemeClr val="accent5"/>
                </a:solidFill>
              </a:rPr>
              <a:t>"</a:t>
            </a:r>
            <a:r>
              <a:rPr lang="en-US" dirty="0">
                <a:solidFill>
                  <a:schemeClr val="accent1"/>
                </a:solidFill>
              </a:rPr>
              <a:t>: "POST"</a:t>
            </a:r>
          </a:p>
          <a:p>
            <a:r>
              <a:rPr lang="en-US" dirty="0">
                <a:solidFill>
                  <a:schemeClr val="accent1"/>
                </a:solidFill>
              </a:rPr>
              <a:t>      }</a:t>
            </a:r>
          </a:p>
          <a:p>
            <a:r>
              <a:rPr lang="en-US" dirty="0">
                <a:solidFill>
                  <a:schemeClr val="accent1"/>
                </a:solidFill>
              </a:rPr>
              <a:t>    ]</a:t>
            </a:r>
          </a:p>
        </p:txBody>
      </p:sp>
      <p:sp>
        <p:nvSpPr>
          <p:cNvPr id="2" name="ReqLabel">
            <a:extLst>
              <a:ext uri="{FF2B5EF4-FFF2-40B4-BE49-F238E27FC236}">
                <a16:creationId xmlns:a16="http://schemas.microsoft.com/office/drawing/2014/main" id="{3524C10A-7905-222A-4BC7-A4E0B085476E}"/>
              </a:ext>
            </a:extLst>
          </p:cNvPr>
          <p:cNvSpPr txBox="1"/>
          <p:nvPr/>
        </p:nvSpPr>
        <p:spPr>
          <a:xfrm>
            <a:off x="1018697" y="4371713"/>
            <a:ext cx="2360560"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1"/>
                </a:solidFill>
                <a:latin typeface="Century Gothic" panose="020B0502020202020204" pitchFamily="34" charset="0"/>
              </a:rPr>
              <a:t>► CoAP REQUEST</a:t>
            </a:r>
          </a:p>
        </p:txBody>
      </p:sp>
      <p:sp>
        <p:nvSpPr>
          <p:cNvPr id="16" name="TextBox 15">
            <a:extLst>
              <a:ext uri="{FF2B5EF4-FFF2-40B4-BE49-F238E27FC236}">
                <a16:creationId xmlns:a16="http://schemas.microsoft.com/office/drawing/2014/main" id="{FB215618-286B-A277-7F8A-0D7A0F3B8637}"/>
              </a:ext>
            </a:extLst>
          </p:cNvPr>
          <p:cNvSpPr txBox="1"/>
          <p:nvPr/>
        </p:nvSpPr>
        <p:spPr>
          <a:xfrm>
            <a:off x="1018696" y="4773113"/>
            <a:ext cx="5404539" cy="1323439"/>
          </a:xfrm>
          <a:prstGeom prst="rect">
            <a:avLst/>
          </a:prstGeom>
          <a:noFill/>
        </p:spPr>
        <p:txBody>
          <a:bodyPr wrap="square" rtlCol="0">
            <a:spAutoFit/>
          </a:bodyPr>
          <a:lstStyle/>
          <a:p>
            <a:r>
              <a:rPr lang="en-US" sz="1600" dirty="0">
                <a:solidFill>
                  <a:schemeClr val="accent1"/>
                </a:solidFill>
              </a:rPr>
              <a:t>CoAP POST coap://coffee.example.com/actions/brewCoffee</a:t>
            </a:r>
          </a:p>
          <a:p>
            <a:r>
              <a:rPr lang="en-US" sz="1600" dirty="0">
                <a:solidFill>
                  <a:schemeClr val="accent1"/>
                </a:solidFill>
              </a:rPr>
              <a:t>Token: 0x4a2b</a:t>
            </a:r>
          </a:p>
          <a:p>
            <a:r>
              <a:rPr lang="en-US" sz="1600" dirty="0">
                <a:solidFill>
                  <a:schemeClr val="accent1"/>
                </a:solidFill>
              </a:rPr>
              <a:t>Content-Format: 60  </a:t>
            </a:r>
            <a:r>
              <a:rPr lang="en-US" sz="1600" dirty="0">
                <a:solidFill>
                  <a:schemeClr val="accent3">
                    <a:lumMod val="65000"/>
                  </a:schemeClr>
                </a:solidFill>
              </a:rPr>
              <a:t>(= application/</a:t>
            </a:r>
            <a:r>
              <a:rPr lang="en-US" sz="1600" dirty="0" err="1">
                <a:solidFill>
                  <a:schemeClr val="accent3">
                    <a:lumMod val="65000"/>
                  </a:schemeClr>
                </a:solidFill>
              </a:rPr>
              <a:t>cbor</a:t>
            </a:r>
            <a:r>
              <a:rPr lang="en-US" sz="1600" dirty="0">
                <a:solidFill>
                  <a:schemeClr val="accent3">
                    <a:lumMod val="65000"/>
                  </a:schemeClr>
                </a:solidFill>
              </a:rPr>
              <a:t>)</a:t>
            </a:r>
          </a:p>
          <a:p>
            <a:r>
              <a:rPr lang="en-US" sz="1600" dirty="0">
                <a:solidFill>
                  <a:schemeClr val="accent1"/>
                </a:solidFill>
              </a:rPr>
              <a:t>Payload </a:t>
            </a:r>
            <a:r>
              <a:rPr lang="en-US" sz="1600" dirty="0">
                <a:solidFill>
                  <a:schemeClr val="accent3">
                    <a:lumMod val="65000"/>
                  </a:schemeClr>
                </a:solidFill>
              </a:rPr>
              <a:t>(CBOR)</a:t>
            </a:r>
            <a:r>
              <a:rPr lang="en-US" sz="1600" dirty="0">
                <a:solidFill>
                  <a:schemeClr val="accent1"/>
                </a:solidFill>
              </a:rPr>
              <a:t>: a1 64 73 69 7a 65 66 6d 65 64 69 75 6d</a:t>
            </a:r>
          </a:p>
          <a:p>
            <a:r>
              <a:rPr lang="en-US" sz="1600" dirty="0">
                <a:solidFill>
                  <a:schemeClr val="accent1"/>
                </a:solidFill>
              </a:rPr>
              <a:t>          </a:t>
            </a:r>
            <a:r>
              <a:rPr lang="en-US" sz="1600" dirty="0">
                <a:solidFill>
                  <a:schemeClr val="accent5"/>
                </a:solidFill>
              </a:rPr>
              <a:t>  </a:t>
            </a:r>
            <a:r>
              <a:rPr lang="en-US" sz="1600" dirty="0">
                <a:solidFill>
                  <a:schemeClr val="accent3">
                    <a:lumMod val="65000"/>
                  </a:schemeClr>
                </a:solidFill>
              </a:rPr>
              <a:t>decoded: { "size": "medium" }</a:t>
            </a:r>
          </a:p>
        </p:txBody>
      </p:sp>
      <p:sp>
        <p:nvSpPr>
          <p:cNvPr id="17" name="TextBox 16">
            <a:extLst>
              <a:ext uri="{FF2B5EF4-FFF2-40B4-BE49-F238E27FC236}">
                <a16:creationId xmlns:a16="http://schemas.microsoft.com/office/drawing/2014/main" id="{E1E59F7F-3752-5A74-AE22-BC7EBF20897C}"/>
              </a:ext>
            </a:extLst>
          </p:cNvPr>
          <p:cNvSpPr txBox="1"/>
          <p:nvPr/>
        </p:nvSpPr>
        <p:spPr>
          <a:xfrm>
            <a:off x="6235810" y="4770874"/>
            <a:ext cx="2611010" cy="830997"/>
          </a:xfrm>
          <a:prstGeom prst="rect">
            <a:avLst/>
          </a:prstGeom>
          <a:noFill/>
        </p:spPr>
        <p:txBody>
          <a:bodyPr wrap="square" rtlCol="0">
            <a:spAutoFit/>
          </a:bodyPr>
          <a:lstStyle/>
          <a:p>
            <a:r>
              <a:rPr lang="en-US" sz="1600" dirty="0">
                <a:solidFill>
                  <a:schemeClr val="accent1"/>
                </a:solidFill>
              </a:rPr>
              <a:t>CoAP ACK 2.04 Changed</a:t>
            </a:r>
          </a:p>
          <a:p>
            <a:r>
              <a:rPr lang="en-US" sz="1600" dirty="0">
                <a:solidFill>
                  <a:schemeClr val="accent1"/>
                </a:solidFill>
              </a:rPr>
              <a:t>Token: 0x4a2b </a:t>
            </a:r>
          </a:p>
          <a:p>
            <a:r>
              <a:rPr lang="en-US" sz="1600" dirty="0">
                <a:solidFill>
                  <a:schemeClr val="accent3">
                    <a:lumMod val="65000"/>
                  </a:schemeClr>
                </a:solidFill>
              </a:rPr>
              <a:t>(no payload body)</a:t>
            </a:r>
          </a:p>
        </p:txBody>
      </p:sp>
      <p:sp>
        <p:nvSpPr>
          <p:cNvPr id="18" name="RespLabel">
            <a:extLst>
              <a:ext uri="{FF2B5EF4-FFF2-40B4-BE49-F238E27FC236}">
                <a16:creationId xmlns:a16="http://schemas.microsoft.com/office/drawing/2014/main" id="{17E7F6CD-BD2D-A763-D8F7-6F52CA591F37}"/>
              </a:ext>
            </a:extLst>
          </p:cNvPr>
          <p:cNvSpPr txBox="1"/>
          <p:nvPr/>
        </p:nvSpPr>
        <p:spPr>
          <a:xfrm>
            <a:off x="6235810" y="4371713"/>
            <a:ext cx="2193173"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6"/>
                </a:solidFill>
                <a:latin typeface="Century Gothic" panose="020B0502020202020204" pitchFamily="34" charset="0"/>
              </a:rPr>
              <a:t>◄ RESPONSE</a:t>
            </a:r>
          </a:p>
        </p:txBody>
      </p:sp>
      <p:cxnSp>
        <p:nvCxnSpPr>
          <p:cNvPr id="21" name="Straight Arrow Connector 20">
            <a:extLst>
              <a:ext uri="{FF2B5EF4-FFF2-40B4-BE49-F238E27FC236}">
                <a16:creationId xmlns:a16="http://schemas.microsoft.com/office/drawing/2014/main" id="{FDA326DE-5BCB-DCC6-253A-915D1C022256}"/>
              </a:ext>
            </a:extLst>
          </p:cNvPr>
          <p:cNvCxnSpPr>
            <a:cxnSpLocks/>
          </p:cNvCxnSpPr>
          <p:nvPr/>
        </p:nvCxnSpPr>
        <p:spPr>
          <a:xfrm flipH="1" flipV="1">
            <a:off x="10043875" y="3538385"/>
            <a:ext cx="5653" cy="6296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33167E2-0F91-CD94-D881-D3D5A2015CE5}"/>
              </a:ext>
            </a:extLst>
          </p:cNvPr>
          <p:cNvSpPr txBox="1"/>
          <p:nvPr/>
        </p:nvSpPr>
        <p:spPr>
          <a:xfrm flipH="1">
            <a:off x="10129380" y="3668518"/>
            <a:ext cx="1181713" cy="369332"/>
          </a:xfrm>
          <a:prstGeom prst="rect">
            <a:avLst/>
          </a:prstGeom>
          <a:noFill/>
        </p:spPr>
        <p:txBody>
          <a:bodyPr wrap="square" rtlCol="0">
            <a:spAutoFit/>
          </a:bodyPr>
          <a:lstStyle/>
          <a:p>
            <a:r>
              <a:rPr lang="en-US" dirty="0">
                <a:solidFill>
                  <a:schemeClr val="accent1"/>
                </a:solidFill>
              </a:rPr>
              <a:t>Response</a:t>
            </a:r>
          </a:p>
        </p:txBody>
      </p:sp>
    </p:spTree>
    <p:extLst>
      <p:ext uri="{BB962C8B-B14F-4D97-AF65-F5344CB8AC3E}">
        <p14:creationId xmlns:p14="http://schemas.microsoft.com/office/powerpoint/2010/main" val="8012642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0600">
        <p159:morph option="byObject"/>
      </p:transition>
    </mc:Choice>
    <mc:Fallback xmlns="">
      <p:transition spd="slow" advTm="206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CE4A1BE-A4FB-C072-F2A6-E14A69527E1D}"/>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27F78301-05CF-FF9B-7209-B271BB9550BF}"/>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6F9603A1-1767-2A83-1CD4-C8DEEFD30B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C88DE473-590C-90D2-9F4A-8314352745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0190F0A6-96C8-CA7E-3BD3-778CC1AFCBC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6BAC62F3-296F-06DB-700B-0C38DBC0F043}"/>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BBA4B37E-4D14-4BF0-03E1-9297FC614223}"/>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2C099570-D388-975C-2506-22CDED3A59B8}"/>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B0B838A7-5672-36B0-4424-F3C013ABB04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BAD36499-6060-D5AE-E612-6589DA71EA8F}"/>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181898B4-87B0-C5EC-C5CA-DB9CEE524D62}"/>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79BD8576-E2B3-18E3-0AB8-2CEBCC3B08C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7FA6716F-7FBC-5AD7-6295-621C676B91B3}"/>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CoAP</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6156ECAB-8965-A77A-3B08-7E4548C4A443}"/>
              </a:ext>
            </a:extLst>
          </p:cNvPr>
          <p:cNvSpPr txBox="1"/>
          <p:nvPr/>
        </p:nvSpPr>
        <p:spPr>
          <a:xfrm>
            <a:off x="1108151" y="1444789"/>
            <a:ext cx="7576500" cy="5047536"/>
          </a:xfrm>
          <a:prstGeom prst="rect">
            <a:avLst/>
          </a:prstGeom>
          <a:noFill/>
        </p:spPr>
        <p:txBody>
          <a:bodyPr wrap="square" rtlCol="0">
            <a:spAutoFit/>
          </a:bodyPr>
          <a:lstStyle/>
          <a:p>
            <a:r>
              <a:rPr lang="en-US" sz="1400" dirty="0">
                <a:solidFill>
                  <a:schemeClr val="accent3">
                    <a:lumMod val="75000"/>
                  </a:schemeClr>
                </a:solidFill>
              </a:rPr>
              <a:t>... </a:t>
            </a:r>
          </a:p>
          <a:p>
            <a:r>
              <a:rPr lang="en-US" sz="1400" dirty="0">
                <a:solidFill>
                  <a:schemeClr val="accent3">
                    <a:lumMod val="75000"/>
                  </a:schemeClr>
                </a:solidFill>
              </a:rPr>
              <a:t>"actions": {</a:t>
            </a:r>
          </a:p>
          <a:p>
            <a:r>
              <a:rPr lang="en-US" sz="1400" dirty="0">
                <a:solidFill>
                  <a:schemeClr val="accent3">
                    <a:lumMod val="75000"/>
                  </a:schemeClr>
                </a:solidFill>
              </a:rPr>
              <a:t>  "</a:t>
            </a:r>
            <a:r>
              <a:rPr lang="en-US" sz="1400" dirty="0" err="1">
                <a:solidFill>
                  <a:schemeClr val="accent3">
                    <a:lumMod val="75000"/>
                  </a:schemeClr>
                </a:solidFill>
              </a:rPr>
              <a:t>brewCoffee</a:t>
            </a:r>
            <a:r>
              <a:rPr lang="en-US" sz="1400" dirty="0">
                <a:solidFill>
                  <a:schemeClr val="accent3">
                    <a:lumMod val="75000"/>
                  </a:schemeClr>
                </a:solidFill>
              </a:rPr>
              <a:t>": {</a:t>
            </a:r>
          </a:p>
          <a:p>
            <a:r>
              <a:rPr lang="en-US" sz="1400" dirty="0">
                <a:solidFill>
                  <a:schemeClr val="accent3">
                    <a:lumMod val="75000"/>
                  </a:schemeClr>
                </a:solidFill>
              </a:rPr>
              <a:t>    "title": "Brew Coffee",</a:t>
            </a:r>
          </a:p>
          <a:p>
            <a:r>
              <a:rPr lang="en-US" sz="1400" dirty="0">
                <a:solidFill>
                  <a:schemeClr val="accent3">
                    <a:lumMod val="75000"/>
                  </a:schemeClr>
                </a:solidFill>
              </a:rPr>
              <a:t>    "description": "Starts brewing a cup of coffee",</a:t>
            </a:r>
          </a:p>
          <a:p>
            <a:r>
              <a:rPr lang="en-US" sz="1400" dirty="0">
                <a:solidFill>
                  <a:schemeClr val="accent3">
                    <a:lumMod val="75000"/>
                  </a:schemeClr>
                </a:solidFill>
              </a:rPr>
              <a:t>    "input": {</a:t>
            </a:r>
          </a:p>
          <a:p>
            <a:r>
              <a:rPr lang="en-US" sz="1400" dirty="0">
                <a:solidFill>
                  <a:schemeClr val="accent3">
                    <a:lumMod val="75000"/>
                  </a:schemeClr>
                </a:solidFill>
              </a:rPr>
              <a:t>      "type": "object",</a:t>
            </a:r>
          </a:p>
          <a:p>
            <a:r>
              <a:rPr lang="en-US" sz="1400" dirty="0">
                <a:solidFill>
                  <a:schemeClr val="accent3">
                    <a:lumMod val="75000"/>
                  </a:schemeClr>
                </a:solidFill>
              </a:rPr>
              <a:t>      "properties": {</a:t>
            </a:r>
          </a:p>
          <a:p>
            <a:r>
              <a:rPr lang="en-US" sz="1400" dirty="0">
                <a:solidFill>
                  <a:schemeClr val="accent3">
                    <a:lumMod val="75000"/>
                  </a:schemeClr>
                </a:solidFill>
              </a:rPr>
              <a:t>        "size": {</a:t>
            </a:r>
          </a:p>
          <a:p>
            <a:r>
              <a:rPr lang="en-US" sz="1400" dirty="0">
                <a:solidFill>
                  <a:schemeClr val="accent3">
                    <a:lumMod val="75000"/>
                  </a:schemeClr>
                </a:solidFill>
              </a:rPr>
              <a:t>          "type": "string",</a:t>
            </a:r>
          </a:p>
          <a:p>
            <a:r>
              <a:rPr lang="en-US" sz="1400" dirty="0">
                <a:solidFill>
                  <a:schemeClr val="accent3">
                    <a:lumMod val="75000"/>
                  </a:schemeClr>
                </a:solidFill>
              </a:rPr>
              <a:t>          "</a:t>
            </a:r>
            <a:r>
              <a:rPr lang="en-US" sz="1400" dirty="0" err="1">
                <a:solidFill>
                  <a:schemeClr val="accent3">
                    <a:lumMod val="75000"/>
                  </a:schemeClr>
                </a:solidFill>
              </a:rPr>
              <a:t>enum</a:t>
            </a:r>
            <a:r>
              <a:rPr lang="en-US" sz="1400" dirty="0">
                <a:solidFill>
                  <a:schemeClr val="accent3">
                    <a:lumMod val="75000"/>
                  </a:schemeClr>
                </a:solidFill>
              </a:rPr>
              <a:t>": ["small", "medium", "large"]</a:t>
            </a:r>
          </a:p>
          <a:p>
            <a:r>
              <a:rPr lang="en-US" sz="1400" dirty="0">
                <a:solidFill>
                  <a:schemeClr val="accent3">
                    <a:lumMod val="75000"/>
                  </a:schemeClr>
                </a:solidFill>
              </a:rPr>
              <a:t>        }</a:t>
            </a:r>
          </a:p>
          <a:p>
            <a:r>
              <a:rPr lang="en-US" sz="1400" dirty="0">
                <a:solidFill>
                  <a:schemeClr val="accent3">
                    <a:lumMod val="75000"/>
                  </a:schemeClr>
                </a:solidFill>
              </a:rPr>
              <a:t>      }</a:t>
            </a:r>
          </a:p>
          <a:p>
            <a:r>
              <a:rPr lang="en-US" sz="1400" dirty="0">
                <a:solidFill>
                  <a:schemeClr val="accent3">
                    <a:lumMod val="75000"/>
                  </a:schemeClr>
                </a:solidFill>
              </a:rPr>
              <a:t>    },</a:t>
            </a:r>
          </a:p>
          <a:p>
            <a:r>
              <a:rPr lang="en-US" sz="1400" dirty="0">
                <a:solidFill>
                  <a:schemeClr val="accent3">
                    <a:lumMod val="75000"/>
                  </a:schemeClr>
                </a:solidFill>
              </a:rPr>
              <a:t>    "forms": [</a:t>
            </a:r>
          </a:p>
          <a:p>
            <a:r>
              <a:rPr lang="en-US" sz="1400" dirty="0">
                <a:solidFill>
                  <a:schemeClr val="accent3">
                    <a:lumMod val="75000"/>
                  </a:schemeClr>
                </a:solidFill>
              </a:rPr>
              <a:t>      {</a:t>
            </a:r>
          </a:p>
          <a:p>
            <a:r>
              <a:rPr lang="en-US" sz="1400" dirty="0">
                <a:solidFill>
                  <a:schemeClr val="accent3">
                    <a:lumMod val="75000"/>
                  </a:schemeClr>
                </a:solidFill>
              </a:rPr>
              <a:t>        "</a:t>
            </a:r>
            <a:r>
              <a:rPr lang="en-US" sz="1400" dirty="0" err="1">
                <a:solidFill>
                  <a:schemeClr val="accent3">
                    <a:lumMod val="75000"/>
                  </a:schemeClr>
                </a:solidFill>
              </a:rPr>
              <a:t>href</a:t>
            </a:r>
            <a:r>
              <a:rPr lang="en-US" sz="1400" dirty="0">
                <a:solidFill>
                  <a:schemeClr val="accent3">
                    <a:lumMod val="75000"/>
                  </a:schemeClr>
                </a:solidFill>
              </a:rPr>
              <a:t>": "</a:t>
            </a:r>
            <a:r>
              <a:rPr lang="en-US" sz="1400" dirty="0" err="1">
                <a:solidFill>
                  <a:schemeClr val="accent3">
                    <a:lumMod val="75000"/>
                  </a:schemeClr>
                </a:solidFill>
              </a:rPr>
              <a:t>coap</a:t>
            </a:r>
            <a:r>
              <a:rPr lang="en-US" sz="1400" dirty="0">
                <a:solidFill>
                  <a:schemeClr val="accent3">
                    <a:lumMod val="75000"/>
                  </a:schemeClr>
                </a:solidFill>
              </a:rPr>
              <a:t>://coffee.example.com/actions/</a:t>
            </a:r>
            <a:r>
              <a:rPr lang="en-US" sz="1400" dirty="0" err="1">
                <a:solidFill>
                  <a:schemeClr val="accent3">
                    <a:lumMod val="75000"/>
                  </a:schemeClr>
                </a:solidFill>
              </a:rPr>
              <a:t>brewCoffee</a:t>
            </a:r>
            <a:r>
              <a:rPr lang="en-US" sz="1400" dirty="0">
                <a:solidFill>
                  <a:schemeClr val="accent3">
                    <a:lumMod val="75000"/>
                  </a:schemeClr>
                </a:solidFill>
              </a:rPr>
              <a:t>",</a:t>
            </a:r>
          </a:p>
          <a:p>
            <a:r>
              <a:rPr lang="en-US" sz="1400" dirty="0">
                <a:solidFill>
                  <a:schemeClr val="accent1"/>
                </a:solidFill>
              </a:rPr>
              <a:t>        </a:t>
            </a:r>
            <a:r>
              <a:rPr lang="en-US" sz="1400" dirty="0">
                <a:solidFill>
                  <a:schemeClr val="accent5"/>
                </a:solidFill>
              </a:rPr>
              <a:t>"op"</a:t>
            </a:r>
            <a:r>
              <a:rPr lang="en-US" sz="1400" dirty="0">
                <a:solidFill>
                  <a:schemeClr val="accent1"/>
                </a:solidFill>
              </a:rPr>
              <a:t>: "</a:t>
            </a:r>
            <a:r>
              <a:rPr lang="en-US" sz="1400" dirty="0" err="1">
                <a:solidFill>
                  <a:schemeClr val="accent1"/>
                </a:solidFill>
              </a:rPr>
              <a:t>invokeaction</a:t>
            </a:r>
            <a:r>
              <a:rPr lang="en-US" sz="1400" dirty="0">
                <a:solidFill>
                  <a:schemeClr val="accent1"/>
                </a:solidFill>
              </a:rPr>
              <a:t>",</a:t>
            </a:r>
          </a:p>
          <a:p>
            <a:r>
              <a:rPr lang="en-US" sz="1400" dirty="0">
                <a:solidFill>
                  <a:schemeClr val="accent3">
                    <a:lumMod val="75000"/>
                  </a:schemeClr>
                </a:solidFill>
              </a:rPr>
              <a:t>        "</a:t>
            </a:r>
            <a:r>
              <a:rPr lang="en-US" sz="1400" dirty="0" err="1">
                <a:solidFill>
                  <a:schemeClr val="accent3">
                    <a:lumMod val="75000"/>
                  </a:schemeClr>
                </a:solidFill>
              </a:rPr>
              <a:t>contentType</a:t>
            </a:r>
            <a:r>
              <a:rPr lang="en-US" sz="1400" dirty="0">
                <a:solidFill>
                  <a:schemeClr val="accent3">
                    <a:lumMod val="75000"/>
                  </a:schemeClr>
                </a:solidFill>
              </a:rPr>
              <a:t>": "text/plain",</a:t>
            </a:r>
          </a:p>
          <a:p>
            <a:r>
              <a:rPr lang="en-US" sz="1400" dirty="0">
                <a:solidFill>
                  <a:schemeClr val="accent3">
                    <a:lumMod val="75000"/>
                  </a:schemeClr>
                </a:solidFill>
              </a:rPr>
              <a:t>        "</a:t>
            </a:r>
            <a:r>
              <a:rPr lang="en-US" sz="1400" dirty="0" err="1">
                <a:solidFill>
                  <a:schemeClr val="accent3">
                    <a:lumMod val="75000"/>
                  </a:schemeClr>
                </a:solidFill>
              </a:rPr>
              <a:t>cov:method</a:t>
            </a:r>
            <a:r>
              <a:rPr lang="en-US" sz="1400" dirty="0">
                <a:solidFill>
                  <a:schemeClr val="accent3">
                    <a:lumMod val="75000"/>
                  </a:schemeClr>
                </a:solidFill>
              </a:rPr>
              <a:t>": "POST"</a:t>
            </a:r>
          </a:p>
          <a:p>
            <a:r>
              <a:rPr lang="en-US" sz="1400" dirty="0">
                <a:solidFill>
                  <a:schemeClr val="accent3">
                    <a:lumMod val="75000"/>
                  </a:schemeClr>
                </a:solidFill>
              </a:rPr>
              <a:t>      }</a:t>
            </a:r>
          </a:p>
          <a:p>
            <a:r>
              <a:rPr lang="en-US" sz="1400" dirty="0">
                <a:solidFill>
                  <a:schemeClr val="accent3">
                    <a:lumMod val="75000"/>
                  </a:schemeClr>
                </a:solidFill>
              </a:rPr>
              <a:t>    ]</a:t>
            </a:r>
          </a:p>
          <a:p>
            <a:r>
              <a:rPr lang="en-US" sz="1400" dirty="0">
                <a:solidFill>
                  <a:schemeClr val="accent3">
                    <a:lumMod val="75000"/>
                  </a:schemeClr>
                </a:solidFill>
              </a:rPr>
              <a:t> ...</a:t>
            </a:r>
          </a:p>
        </p:txBody>
      </p:sp>
    </p:spTree>
    <p:extLst>
      <p:ext uri="{BB962C8B-B14F-4D97-AF65-F5344CB8AC3E}">
        <p14:creationId xmlns:p14="http://schemas.microsoft.com/office/powerpoint/2010/main" val="42599744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516C5C5-2557-646B-493A-18012CFAF3A3}"/>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D19878C3-CD1E-BEBC-7DC7-DEE032A16703}"/>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9C1D6430-AEE6-C45B-3FC5-CA70FCF90C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D0EA75B0-19C6-321B-C3FD-9758C059C1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264BBB41-927B-1EEE-3E42-BBC0258998F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74A2A183-A4A0-A55D-449A-DEA9F98D0863}"/>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36B1A0DD-3541-990C-B600-1DCA6E20DA3F}"/>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9A2684F7-5294-1D96-EFE2-EB4F808E627E}"/>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246D0D38-830F-EFD3-D043-089B4B1CE8C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18998FEA-072E-8A2D-600F-DFB210FAEDB6}"/>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F84A4305-370A-5432-00BC-805B1E4FB655}"/>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6229938B-9AE1-9138-692E-1B2528F1C98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5556DEB8-35B5-43E6-C3B6-6C5083CB1504}"/>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CoAP</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2B1C1F41-0A4C-FB00-F268-46A87B195CED}"/>
              </a:ext>
            </a:extLst>
          </p:cNvPr>
          <p:cNvSpPr txBox="1"/>
          <p:nvPr/>
        </p:nvSpPr>
        <p:spPr>
          <a:xfrm>
            <a:off x="1108151" y="1444789"/>
            <a:ext cx="7576500" cy="5047536"/>
          </a:xfrm>
          <a:prstGeom prst="rect">
            <a:avLst/>
          </a:prstGeom>
          <a:noFill/>
        </p:spPr>
        <p:txBody>
          <a:bodyPr wrap="square" rtlCol="0">
            <a:spAutoFit/>
          </a:bodyPr>
          <a:lstStyle/>
          <a:p>
            <a:r>
              <a:rPr lang="en-US" sz="1400" dirty="0">
                <a:solidFill>
                  <a:schemeClr val="accent3">
                    <a:lumMod val="75000"/>
                  </a:schemeClr>
                </a:solidFill>
              </a:rPr>
              <a:t>... </a:t>
            </a:r>
          </a:p>
          <a:p>
            <a:r>
              <a:rPr lang="en-US" sz="1400" dirty="0">
                <a:solidFill>
                  <a:schemeClr val="accent3">
                    <a:lumMod val="75000"/>
                  </a:schemeClr>
                </a:solidFill>
              </a:rPr>
              <a:t>"actions": {</a:t>
            </a:r>
          </a:p>
          <a:p>
            <a:r>
              <a:rPr lang="en-US" sz="1400" dirty="0">
                <a:solidFill>
                  <a:schemeClr val="accent3">
                    <a:lumMod val="75000"/>
                  </a:schemeClr>
                </a:solidFill>
              </a:rPr>
              <a:t>  "</a:t>
            </a:r>
            <a:r>
              <a:rPr lang="en-US" sz="1400" dirty="0" err="1">
                <a:solidFill>
                  <a:schemeClr val="accent3">
                    <a:lumMod val="75000"/>
                  </a:schemeClr>
                </a:solidFill>
              </a:rPr>
              <a:t>brewCoffee</a:t>
            </a:r>
            <a:r>
              <a:rPr lang="en-US" sz="1400" dirty="0">
                <a:solidFill>
                  <a:schemeClr val="accent3">
                    <a:lumMod val="75000"/>
                  </a:schemeClr>
                </a:solidFill>
              </a:rPr>
              <a:t>": {</a:t>
            </a:r>
          </a:p>
          <a:p>
            <a:r>
              <a:rPr lang="en-US" sz="1400" dirty="0">
                <a:solidFill>
                  <a:schemeClr val="accent3">
                    <a:lumMod val="75000"/>
                  </a:schemeClr>
                </a:solidFill>
              </a:rPr>
              <a:t>    "title": "Brew Coffee",</a:t>
            </a:r>
          </a:p>
          <a:p>
            <a:r>
              <a:rPr lang="en-US" sz="1400" dirty="0">
                <a:solidFill>
                  <a:schemeClr val="accent3">
                    <a:lumMod val="75000"/>
                  </a:schemeClr>
                </a:solidFill>
              </a:rPr>
              <a:t>    "description": "Starts brewing a cup of coffee",</a:t>
            </a:r>
          </a:p>
          <a:p>
            <a:r>
              <a:rPr lang="en-US" sz="1400" dirty="0">
                <a:solidFill>
                  <a:schemeClr val="accent3">
                    <a:lumMod val="75000"/>
                  </a:schemeClr>
                </a:solidFill>
              </a:rPr>
              <a:t>    "input": {</a:t>
            </a:r>
          </a:p>
          <a:p>
            <a:r>
              <a:rPr lang="en-US" sz="1400" dirty="0">
                <a:solidFill>
                  <a:schemeClr val="accent3">
                    <a:lumMod val="75000"/>
                  </a:schemeClr>
                </a:solidFill>
              </a:rPr>
              <a:t>      "type": "object",</a:t>
            </a:r>
          </a:p>
          <a:p>
            <a:r>
              <a:rPr lang="en-US" sz="1400" dirty="0">
                <a:solidFill>
                  <a:schemeClr val="accent3">
                    <a:lumMod val="75000"/>
                  </a:schemeClr>
                </a:solidFill>
              </a:rPr>
              <a:t>      "properties": {</a:t>
            </a:r>
          </a:p>
          <a:p>
            <a:r>
              <a:rPr lang="en-US" sz="1400" dirty="0">
                <a:solidFill>
                  <a:schemeClr val="accent3">
                    <a:lumMod val="75000"/>
                  </a:schemeClr>
                </a:solidFill>
              </a:rPr>
              <a:t>        "size": {</a:t>
            </a:r>
          </a:p>
          <a:p>
            <a:r>
              <a:rPr lang="en-US" sz="1400" dirty="0">
                <a:solidFill>
                  <a:schemeClr val="accent3">
                    <a:lumMod val="75000"/>
                  </a:schemeClr>
                </a:solidFill>
              </a:rPr>
              <a:t>          "type": "string",</a:t>
            </a:r>
          </a:p>
          <a:p>
            <a:r>
              <a:rPr lang="en-US" sz="1400" dirty="0">
                <a:solidFill>
                  <a:schemeClr val="accent3">
                    <a:lumMod val="75000"/>
                  </a:schemeClr>
                </a:solidFill>
              </a:rPr>
              <a:t>          "</a:t>
            </a:r>
            <a:r>
              <a:rPr lang="en-US" sz="1400" dirty="0" err="1">
                <a:solidFill>
                  <a:schemeClr val="accent3">
                    <a:lumMod val="75000"/>
                  </a:schemeClr>
                </a:solidFill>
              </a:rPr>
              <a:t>enum</a:t>
            </a:r>
            <a:r>
              <a:rPr lang="en-US" sz="1400" dirty="0">
                <a:solidFill>
                  <a:schemeClr val="accent3">
                    <a:lumMod val="75000"/>
                  </a:schemeClr>
                </a:solidFill>
              </a:rPr>
              <a:t>": ["small", "medium", "large"]</a:t>
            </a:r>
          </a:p>
          <a:p>
            <a:r>
              <a:rPr lang="en-US" sz="1400" dirty="0">
                <a:solidFill>
                  <a:schemeClr val="accent3">
                    <a:lumMod val="75000"/>
                  </a:schemeClr>
                </a:solidFill>
              </a:rPr>
              <a:t>        }</a:t>
            </a:r>
          </a:p>
          <a:p>
            <a:r>
              <a:rPr lang="en-US" sz="1400" dirty="0">
                <a:solidFill>
                  <a:schemeClr val="accent3">
                    <a:lumMod val="75000"/>
                  </a:schemeClr>
                </a:solidFill>
              </a:rPr>
              <a:t>      }</a:t>
            </a:r>
          </a:p>
          <a:p>
            <a:r>
              <a:rPr lang="en-US" sz="1400" dirty="0">
                <a:solidFill>
                  <a:schemeClr val="accent3">
                    <a:lumMod val="75000"/>
                  </a:schemeClr>
                </a:solidFill>
              </a:rPr>
              <a:t>    },</a:t>
            </a:r>
          </a:p>
          <a:p>
            <a:r>
              <a:rPr lang="en-US" sz="1400" dirty="0">
                <a:solidFill>
                  <a:schemeClr val="accent3">
                    <a:lumMod val="75000"/>
                  </a:schemeClr>
                </a:solidFill>
              </a:rPr>
              <a:t>    "forms": [</a:t>
            </a:r>
          </a:p>
          <a:p>
            <a:r>
              <a:rPr lang="en-US" sz="1400" dirty="0">
                <a:solidFill>
                  <a:schemeClr val="accent3">
                    <a:lumMod val="75000"/>
                  </a:schemeClr>
                </a:solidFill>
              </a:rPr>
              <a:t>      {</a:t>
            </a:r>
          </a:p>
          <a:p>
            <a:r>
              <a:rPr lang="en-US" sz="1400" dirty="0">
                <a:solidFill>
                  <a:schemeClr val="accent3">
                    <a:lumMod val="75000"/>
                  </a:schemeClr>
                </a:solidFill>
              </a:rPr>
              <a:t>        </a:t>
            </a:r>
            <a:r>
              <a:rPr lang="en-US" sz="1400" dirty="0">
                <a:solidFill>
                  <a:schemeClr val="accent5"/>
                </a:solidFill>
              </a:rPr>
              <a:t>"</a:t>
            </a:r>
            <a:r>
              <a:rPr lang="en-US" sz="1400" dirty="0" err="1">
                <a:solidFill>
                  <a:schemeClr val="accent5"/>
                </a:solidFill>
              </a:rPr>
              <a:t>href</a:t>
            </a:r>
            <a:r>
              <a:rPr lang="en-US" sz="1400" dirty="0">
                <a:solidFill>
                  <a:schemeClr val="accent5"/>
                </a:solidFill>
              </a:rPr>
              <a:t>"</a:t>
            </a:r>
            <a:r>
              <a:rPr lang="en-US" sz="1400" dirty="0">
                <a:solidFill>
                  <a:schemeClr val="accent1"/>
                </a:solidFill>
              </a:rPr>
              <a:t>: "</a:t>
            </a:r>
            <a:r>
              <a:rPr lang="en-US" sz="1400" dirty="0" err="1">
                <a:solidFill>
                  <a:schemeClr val="accent1"/>
                </a:solidFill>
              </a:rPr>
              <a:t>coap</a:t>
            </a:r>
            <a:r>
              <a:rPr lang="en-US" sz="1400" dirty="0">
                <a:solidFill>
                  <a:schemeClr val="accent1"/>
                </a:solidFill>
              </a:rPr>
              <a:t>://coffee.example.com/actions/</a:t>
            </a:r>
            <a:r>
              <a:rPr lang="en-US" sz="1400" dirty="0" err="1">
                <a:solidFill>
                  <a:schemeClr val="accent1"/>
                </a:solidFill>
              </a:rPr>
              <a:t>brewCoffee</a:t>
            </a:r>
            <a:r>
              <a:rPr lang="en-US" sz="1400" dirty="0">
                <a:solidFill>
                  <a:schemeClr val="accent1"/>
                </a:solidFill>
              </a:rPr>
              <a:t>",</a:t>
            </a:r>
          </a:p>
          <a:p>
            <a:r>
              <a:rPr lang="en-US" sz="1400" dirty="0">
                <a:solidFill>
                  <a:schemeClr val="accent1"/>
                </a:solidFill>
              </a:rPr>
              <a:t>        </a:t>
            </a:r>
            <a:r>
              <a:rPr lang="en-US" sz="1400" dirty="0">
                <a:solidFill>
                  <a:schemeClr val="accent3">
                    <a:lumMod val="75000"/>
                  </a:schemeClr>
                </a:solidFill>
              </a:rPr>
              <a:t>"op": "</a:t>
            </a:r>
            <a:r>
              <a:rPr lang="en-US" sz="1400" dirty="0" err="1">
                <a:solidFill>
                  <a:schemeClr val="accent3">
                    <a:lumMod val="75000"/>
                  </a:schemeClr>
                </a:solidFill>
              </a:rPr>
              <a:t>invokeaction</a:t>
            </a:r>
            <a:r>
              <a:rPr lang="en-US" sz="1400" dirty="0">
                <a:solidFill>
                  <a:schemeClr val="accent3">
                    <a:lumMod val="75000"/>
                  </a:schemeClr>
                </a:solidFill>
              </a:rPr>
              <a:t>",</a:t>
            </a:r>
          </a:p>
          <a:p>
            <a:r>
              <a:rPr lang="en-US" sz="1400" dirty="0">
                <a:solidFill>
                  <a:schemeClr val="accent3">
                    <a:lumMod val="75000"/>
                  </a:schemeClr>
                </a:solidFill>
              </a:rPr>
              <a:t>        "</a:t>
            </a:r>
            <a:r>
              <a:rPr lang="en-US" sz="1400" dirty="0" err="1">
                <a:solidFill>
                  <a:schemeClr val="accent3">
                    <a:lumMod val="75000"/>
                  </a:schemeClr>
                </a:solidFill>
              </a:rPr>
              <a:t>contentType</a:t>
            </a:r>
            <a:r>
              <a:rPr lang="en-US" sz="1400" dirty="0">
                <a:solidFill>
                  <a:schemeClr val="accent3">
                    <a:lumMod val="75000"/>
                  </a:schemeClr>
                </a:solidFill>
              </a:rPr>
              <a:t>": "text/plain",</a:t>
            </a:r>
          </a:p>
          <a:p>
            <a:r>
              <a:rPr lang="en-US" sz="1400" dirty="0">
                <a:solidFill>
                  <a:schemeClr val="accent3">
                    <a:lumMod val="75000"/>
                  </a:schemeClr>
                </a:solidFill>
              </a:rPr>
              <a:t>        "</a:t>
            </a:r>
            <a:r>
              <a:rPr lang="en-US" sz="1400" dirty="0" err="1">
                <a:solidFill>
                  <a:schemeClr val="accent3">
                    <a:lumMod val="75000"/>
                  </a:schemeClr>
                </a:solidFill>
              </a:rPr>
              <a:t>cov:method</a:t>
            </a:r>
            <a:r>
              <a:rPr lang="en-US" sz="1400" dirty="0">
                <a:solidFill>
                  <a:schemeClr val="accent3">
                    <a:lumMod val="75000"/>
                  </a:schemeClr>
                </a:solidFill>
              </a:rPr>
              <a:t>": "POST"</a:t>
            </a:r>
          </a:p>
          <a:p>
            <a:r>
              <a:rPr lang="en-US" sz="1400" dirty="0">
                <a:solidFill>
                  <a:schemeClr val="accent3">
                    <a:lumMod val="75000"/>
                  </a:schemeClr>
                </a:solidFill>
              </a:rPr>
              <a:t>      }</a:t>
            </a:r>
          </a:p>
          <a:p>
            <a:r>
              <a:rPr lang="en-US" sz="1400" dirty="0">
                <a:solidFill>
                  <a:schemeClr val="accent3">
                    <a:lumMod val="75000"/>
                  </a:schemeClr>
                </a:solidFill>
              </a:rPr>
              <a:t>    ]</a:t>
            </a:r>
          </a:p>
          <a:p>
            <a:r>
              <a:rPr lang="en-US" sz="1400" dirty="0">
                <a:solidFill>
                  <a:schemeClr val="accent3">
                    <a:lumMod val="75000"/>
                  </a:schemeClr>
                </a:solidFill>
              </a:rPr>
              <a:t> ...</a:t>
            </a:r>
          </a:p>
        </p:txBody>
      </p:sp>
      <p:cxnSp>
        <p:nvCxnSpPr>
          <p:cNvPr id="2" name="Straight Arrow Connector 1">
            <a:extLst>
              <a:ext uri="{FF2B5EF4-FFF2-40B4-BE49-F238E27FC236}">
                <a16:creationId xmlns:a16="http://schemas.microsoft.com/office/drawing/2014/main" id="{3E190C82-6457-0A30-D051-C3DF4BD102E4}"/>
              </a:ext>
            </a:extLst>
          </p:cNvPr>
          <p:cNvCxnSpPr>
            <a:cxnSpLocks/>
          </p:cNvCxnSpPr>
          <p:nvPr/>
        </p:nvCxnSpPr>
        <p:spPr>
          <a:xfrm flipH="1">
            <a:off x="10043875" y="3538385"/>
            <a:ext cx="5653" cy="6296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25BD0C9-6FCF-2998-A045-650FCDF59BE6}"/>
              </a:ext>
            </a:extLst>
          </p:cNvPr>
          <p:cNvSpPr txBox="1"/>
          <p:nvPr/>
        </p:nvSpPr>
        <p:spPr>
          <a:xfrm>
            <a:off x="10129382" y="3668518"/>
            <a:ext cx="681597" cy="369332"/>
          </a:xfrm>
          <a:prstGeom prst="rect">
            <a:avLst/>
          </a:prstGeom>
          <a:noFill/>
        </p:spPr>
        <p:txBody>
          <a:bodyPr wrap="none" rtlCol="0">
            <a:spAutoFit/>
          </a:bodyPr>
          <a:lstStyle/>
          <a:p>
            <a:r>
              <a:rPr lang="en-US" dirty="0">
                <a:solidFill>
                  <a:schemeClr val="accent1"/>
                </a:solidFill>
              </a:rPr>
              <a:t>CoAP</a:t>
            </a:r>
            <a:endParaRPr lang="en-DE" dirty="0">
              <a:solidFill>
                <a:schemeClr val="accent1"/>
              </a:solidFill>
            </a:endParaRPr>
          </a:p>
        </p:txBody>
      </p:sp>
    </p:spTree>
    <p:extLst>
      <p:ext uri="{BB962C8B-B14F-4D97-AF65-F5344CB8AC3E}">
        <p14:creationId xmlns:p14="http://schemas.microsoft.com/office/powerpoint/2010/main" val="12080863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C144441-DBDC-7B01-AA4B-F84D91207C62}"/>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4D13454A-88D1-DF6C-95EE-E105CF57AB15}"/>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8974C44F-697F-DD8D-DE48-DDA7D34A15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458B0589-8CED-512B-8FED-EBC31D4CD8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99B24DF1-0188-5E06-DD82-9867B9C1684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DCF66332-B967-DB49-6889-F40E7A9B4986}"/>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6DCA75D8-61DF-510B-E72D-732E77A66103}"/>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734BE8A9-9406-7E8F-25C4-5932518DD0C0}"/>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A9F8A282-05FB-1891-40E9-10B72EECFDA1}"/>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B96BC05C-3BF4-4CF2-5C0D-CD1A5AD3A6A8}"/>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9B72FA0F-C876-B4B9-32F9-E84E3CF9CE73}"/>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7A062444-E414-FC54-956E-3F361B6609C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912EF6B2-B973-FB0B-60C4-763107478E33}"/>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CoAP</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83821497-E621-0DAF-5DAD-CCD29EEA73F1}"/>
              </a:ext>
            </a:extLst>
          </p:cNvPr>
          <p:cNvSpPr txBox="1"/>
          <p:nvPr/>
        </p:nvSpPr>
        <p:spPr>
          <a:xfrm>
            <a:off x="1108151" y="1444789"/>
            <a:ext cx="7576500" cy="5047536"/>
          </a:xfrm>
          <a:prstGeom prst="rect">
            <a:avLst/>
          </a:prstGeom>
          <a:noFill/>
        </p:spPr>
        <p:txBody>
          <a:bodyPr wrap="square" rtlCol="0">
            <a:spAutoFit/>
          </a:bodyPr>
          <a:lstStyle/>
          <a:p>
            <a:r>
              <a:rPr lang="en-US" sz="1400" dirty="0">
                <a:solidFill>
                  <a:schemeClr val="accent3">
                    <a:lumMod val="75000"/>
                  </a:schemeClr>
                </a:solidFill>
              </a:rPr>
              <a:t>... </a:t>
            </a:r>
          </a:p>
          <a:p>
            <a:r>
              <a:rPr lang="en-US" sz="1400" dirty="0">
                <a:solidFill>
                  <a:schemeClr val="accent3">
                    <a:lumMod val="75000"/>
                  </a:schemeClr>
                </a:solidFill>
              </a:rPr>
              <a:t>"actions": {</a:t>
            </a:r>
          </a:p>
          <a:p>
            <a:r>
              <a:rPr lang="en-US" sz="1400" dirty="0">
                <a:solidFill>
                  <a:schemeClr val="accent3">
                    <a:lumMod val="75000"/>
                  </a:schemeClr>
                </a:solidFill>
              </a:rPr>
              <a:t>  "</a:t>
            </a:r>
            <a:r>
              <a:rPr lang="en-US" sz="1400" dirty="0" err="1">
                <a:solidFill>
                  <a:schemeClr val="accent3">
                    <a:lumMod val="75000"/>
                  </a:schemeClr>
                </a:solidFill>
              </a:rPr>
              <a:t>brewCoffee</a:t>
            </a:r>
            <a:r>
              <a:rPr lang="en-US" sz="1400" dirty="0">
                <a:solidFill>
                  <a:schemeClr val="accent3">
                    <a:lumMod val="75000"/>
                  </a:schemeClr>
                </a:solidFill>
              </a:rPr>
              <a:t>": {</a:t>
            </a:r>
          </a:p>
          <a:p>
            <a:r>
              <a:rPr lang="en-US" sz="1400" dirty="0">
                <a:solidFill>
                  <a:schemeClr val="accent3">
                    <a:lumMod val="75000"/>
                  </a:schemeClr>
                </a:solidFill>
              </a:rPr>
              <a:t>    "title": "Brew Coffee",</a:t>
            </a:r>
          </a:p>
          <a:p>
            <a:r>
              <a:rPr lang="en-US" sz="1400" dirty="0">
                <a:solidFill>
                  <a:schemeClr val="accent3">
                    <a:lumMod val="75000"/>
                  </a:schemeClr>
                </a:solidFill>
              </a:rPr>
              <a:t>    "description": "Starts brewing a cup of coffee",</a:t>
            </a:r>
          </a:p>
          <a:p>
            <a:r>
              <a:rPr lang="en-US" sz="1400" dirty="0">
                <a:solidFill>
                  <a:schemeClr val="accent3">
                    <a:lumMod val="75000"/>
                  </a:schemeClr>
                </a:solidFill>
              </a:rPr>
              <a:t>    "input": {</a:t>
            </a:r>
          </a:p>
          <a:p>
            <a:r>
              <a:rPr lang="en-US" sz="1400" dirty="0">
                <a:solidFill>
                  <a:schemeClr val="accent3">
                    <a:lumMod val="75000"/>
                  </a:schemeClr>
                </a:solidFill>
              </a:rPr>
              <a:t>      "type": "object",</a:t>
            </a:r>
          </a:p>
          <a:p>
            <a:r>
              <a:rPr lang="en-US" sz="1400" dirty="0">
                <a:solidFill>
                  <a:schemeClr val="accent3">
                    <a:lumMod val="75000"/>
                  </a:schemeClr>
                </a:solidFill>
              </a:rPr>
              <a:t>      "properties": {</a:t>
            </a:r>
          </a:p>
          <a:p>
            <a:r>
              <a:rPr lang="en-US" sz="1400" dirty="0">
                <a:solidFill>
                  <a:schemeClr val="accent3">
                    <a:lumMod val="75000"/>
                  </a:schemeClr>
                </a:solidFill>
              </a:rPr>
              <a:t>        "size": {</a:t>
            </a:r>
          </a:p>
          <a:p>
            <a:r>
              <a:rPr lang="en-US" sz="1400" dirty="0">
                <a:solidFill>
                  <a:schemeClr val="accent3">
                    <a:lumMod val="75000"/>
                  </a:schemeClr>
                </a:solidFill>
              </a:rPr>
              <a:t>          "type": "string",</a:t>
            </a:r>
          </a:p>
          <a:p>
            <a:r>
              <a:rPr lang="en-US" sz="1400" dirty="0">
                <a:solidFill>
                  <a:schemeClr val="accent3">
                    <a:lumMod val="75000"/>
                  </a:schemeClr>
                </a:solidFill>
              </a:rPr>
              <a:t>          "</a:t>
            </a:r>
            <a:r>
              <a:rPr lang="en-US" sz="1400" dirty="0" err="1">
                <a:solidFill>
                  <a:schemeClr val="accent3">
                    <a:lumMod val="75000"/>
                  </a:schemeClr>
                </a:solidFill>
              </a:rPr>
              <a:t>enum</a:t>
            </a:r>
            <a:r>
              <a:rPr lang="en-US" sz="1400" dirty="0">
                <a:solidFill>
                  <a:schemeClr val="accent3">
                    <a:lumMod val="75000"/>
                  </a:schemeClr>
                </a:solidFill>
              </a:rPr>
              <a:t>": ["small", "medium", "large"]</a:t>
            </a:r>
          </a:p>
          <a:p>
            <a:r>
              <a:rPr lang="en-US" sz="1400" dirty="0">
                <a:solidFill>
                  <a:schemeClr val="accent3">
                    <a:lumMod val="75000"/>
                  </a:schemeClr>
                </a:solidFill>
              </a:rPr>
              <a:t>        }</a:t>
            </a:r>
          </a:p>
          <a:p>
            <a:r>
              <a:rPr lang="en-US" sz="1400" dirty="0">
                <a:solidFill>
                  <a:schemeClr val="accent3">
                    <a:lumMod val="75000"/>
                  </a:schemeClr>
                </a:solidFill>
              </a:rPr>
              <a:t>      }</a:t>
            </a:r>
          </a:p>
          <a:p>
            <a:r>
              <a:rPr lang="en-US" sz="1400" dirty="0">
                <a:solidFill>
                  <a:schemeClr val="accent3">
                    <a:lumMod val="75000"/>
                  </a:schemeClr>
                </a:solidFill>
              </a:rPr>
              <a:t>    },</a:t>
            </a:r>
          </a:p>
          <a:p>
            <a:r>
              <a:rPr lang="en-US" sz="1400" dirty="0">
                <a:solidFill>
                  <a:schemeClr val="accent3">
                    <a:lumMod val="75000"/>
                  </a:schemeClr>
                </a:solidFill>
              </a:rPr>
              <a:t>    "forms": [</a:t>
            </a:r>
          </a:p>
          <a:p>
            <a:r>
              <a:rPr lang="en-US" sz="1400" dirty="0">
                <a:solidFill>
                  <a:schemeClr val="accent3">
                    <a:lumMod val="75000"/>
                  </a:schemeClr>
                </a:solidFill>
              </a:rPr>
              <a:t>      {</a:t>
            </a:r>
          </a:p>
          <a:p>
            <a:r>
              <a:rPr lang="en-US" sz="1400" dirty="0">
                <a:solidFill>
                  <a:schemeClr val="accent3">
                    <a:lumMod val="65000"/>
                  </a:schemeClr>
                </a:solidFill>
              </a:rPr>
              <a:t>        </a:t>
            </a:r>
            <a:r>
              <a:rPr lang="en-US" sz="1400" dirty="0">
                <a:solidFill>
                  <a:schemeClr val="accent3">
                    <a:lumMod val="75000"/>
                  </a:schemeClr>
                </a:solidFill>
              </a:rPr>
              <a:t>"</a:t>
            </a:r>
            <a:r>
              <a:rPr lang="en-US" sz="1400" dirty="0" err="1">
                <a:solidFill>
                  <a:schemeClr val="accent3">
                    <a:lumMod val="75000"/>
                  </a:schemeClr>
                </a:solidFill>
              </a:rPr>
              <a:t>href</a:t>
            </a:r>
            <a:r>
              <a:rPr lang="en-US" sz="1400" dirty="0">
                <a:solidFill>
                  <a:schemeClr val="accent3">
                    <a:lumMod val="75000"/>
                  </a:schemeClr>
                </a:solidFill>
              </a:rPr>
              <a:t>": "</a:t>
            </a:r>
            <a:r>
              <a:rPr lang="en-US" sz="1400" dirty="0" err="1">
                <a:solidFill>
                  <a:schemeClr val="accent3">
                    <a:lumMod val="75000"/>
                  </a:schemeClr>
                </a:solidFill>
              </a:rPr>
              <a:t>coap</a:t>
            </a:r>
            <a:r>
              <a:rPr lang="en-US" sz="1400" dirty="0">
                <a:solidFill>
                  <a:schemeClr val="accent3">
                    <a:lumMod val="75000"/>
                  </a:schemeClr>
                </a:solidFill>
              </a:rPr>
              <a:t>://coffee.example.com/actions/</a:t>
            </a:r>
            <a:r>
              <a:rPr lang="en-US" sz="1400" dirty="0" err="1">
                <a:solidFill>
                  <a:schemeClr val="accent3">
                    <a:lumMod val="75000"/>
                  </a:schemeClr>
                </a:solidFill>
              </a:rPr>
              <a:t>brewCoffee</a:t>
            </a:r>
            <a:r>
              <a:rPr lang="en-US" sz="1400" dirty="0">
                <a:solidFill>
                  <a:schemeClr val="accent3">
                    <a:lumMod val="75000"/>
                  </a:schemeClr>
                </a:solidFill>
              </a:rPr>
              <a:t>",</a:t>
            </a:r>
          </a:p>
          <a:p>
            <a:r>
              <a:rPr lang="en-US" sz="1400" dirty="0">
                <a:solidFill>
                  <a:schemeClr val="accent3">
                    <a:lumMod val="65000"/>
                  </a:schemeClr>
                </a:solidFill>
              </a:rPr>
              <a:t>        </a:t>
            </a:r>
            <a:r>
              <a:rPr lang="en-US" sz="1400" dirty="0">
                <a:solidFill>
                  <a:schemeClr val="accent3">
                    <a:lumMod val="75000"/>
                  </a:schemeClr>
                </a:solidFill>
              </a:rPr>
              <a:t>"op": "</a:t>
            </a:r>
            <a:r>
              <a:rPr lang="en-US" sz="1400" dirty="0" err="1">
                <a:solidFill>
                  <a:schemeClr val="accent3">
                    <a:lumMod val="75000"/>
                  </a:schemeClr>
                </a:solidFill>
              </a:rPr>
              <a:t>invokeaction</a:t>
            </a:r>
            <a:r>
              <a:rPr lang="en-US" sz="1400" dirty="0">
                <a:solidFill>
                  <a:schemeClr val="accent3">
                    <a:lumMod val="75000"/>
                  </a:schemeClr>
                </a:solidFill>
              </a:rPr>
              <a:t>",</a:t>
            </a:r>
          </a:p>
          <a:p>
            <a:r>
              <a:rPr lang="en-US" sz="1400" dirty="0">
                <a:solidFill>
                  <a:schemeClr val="accent3">
                    <a:lumMod val="75000"/>
                  </a:schemeClr>
                </a:solidFill>
              </a:rPr>
              <a:t>        "</a:t>
            </a:r>
            <a:r>
              <a:rPr lang="en-US" sz="1400" dirty="0" err="1">
                <a:solidFill>
                  <a:schemeClr val="accent3">
                    <a:lumMod val="75000"/>
                  </a:schemeClr>
                </a:solidFill>
              </a:rPr>
              <a:t>contentType</a:t>
            </a:r>
            <a:r>
              <a:rPr lang="en-US" sz="1400" dirty="0">
                <a:solidFill>
                  <a:schemeClr val="accent3">
                    <a:lumMod val="75000"/>
                  </a:schemeClr>
                </a:solidFill>
              </a:rPr>
              <a:t>": "text/plain",</a:t>
            </a:r>
          </a:p>
          <a:p>
            <a:r>
              <a:rPr lang="en-US" sz="1400" dirty="0">
                <a:solidFill>
                  <a:schemeClr val="accent5"/>
                </a:solidFill>
              </a:rPr>
              <a:t>        "</a:t>
            </a:r>
            <a:r>
              <a:rPr lang="en-US" sz="1400" dirty="0" err="1">
                <a:solidFill>
                  <a:schemeClr val="accent5"/>
                </a:solidFill>
              </a:rPr>
              <a:t>cov:method</a:t>
            </a:r>
            <a:r>
              <a:rPr lang="en-US" sz="1400" dirty="0">
                <a:solidFill>
                  <a:schemeClr val="accent5"/>
                </a:solidFill>
              </a:rPr>
              <a:t>"</a:t>
            </a:r>
            <a:r>
              <a:rPr lang="en-US" sz="1400" dirty="0">
                <a:solidFill>
                  <a:schemeClr val="accent1"/>
                </a:solidFill>
              </a:rPr>
              <a:t>: "POST"</a:t>
            </a:r>
          </a:p>
          <a:p>
            <a:r>
              <a:rPr lang="en-US" sz="1400" dirty="0">
                <a:solidFill>
                  <a:schemeClr val="accent3">
                    <a:lumMod val="75000"/>
                  </a:schemeClr>
                </a:solidFill>
              </a:rPr>
              <a:t>      }</a:t>
            </a:r>
          </a:p>
          <a:p>
            <a:r>
              <a:rPr lang="en-US" sz="1400" dirty="0">
                <a:solidFill>
                  <a:schemeClr val="accent3">
                    <a:lumMod val="75000"/>
                  </a:schemeClr>
                </a:solidFill>
              </a:rPr>
              <a:t>    ]</a:t>
            </a:r>
          </a:p>
          <a:p>
            <a:r>
              <a:rPr lang="en-US" sz="1400" dirty="0">
                <a:solidFill>
                  <a:schemeClr val="accent3">
                    <a:lumMod val="75000"/>
                  </a:schemeClr>
                </a:solidFill>
              </a:rPr>
              <a:t> ...</a:t>
            </a:r>
          </a:p>
        </p:txBody>
      </p:sp>
      <p:cxnSp>
        <p:nvCxnSpPr>
          <p:cNvPr id="2" name="Straight Arrow Connector 1">
            <a:extLst>
              <a:ext uri="{FF2B5EF4-FFF2-40B4-BE49-F238E27FC236}">
                <a16:creationId xmlns:a16="http://schemas.microsoft.com/office/drawing/2014/main" id="{36922BEB-17C8-826C-8452-6BFD5E26A68C}"/>
              </a:ext>
            </a:extLst>
          </p:cNvPr>
          <p:cNvCxnSpPr>
            <a:cxnSpLocks/>
          </p:cNvCxnSpPr>
          <p:nvPr/>
        </p:nvCxnSpPr>
        <p:spPr>
          <a:xfrm flipH="1">
            <a:off x="10043875" y="3538385"/>
            <a:ext cx="5653" cy="6296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C932466-2889-6AD8-97C0-7774E0AF7F59}"/>
              </a:ext>
            </a:extLst>
          </p:cNvPr>
          <p:cNvSpPr txBox="1"/>
          <p:nvPr/>
        </p:nvSpPr>
        <p:spPr>
          <a:xfrm>
            <a:off x="10129382" y="3668518"/>
            <a:ext cx="681597" cy="369332"/>
          </a:xfrm>
          <a:prstGeom prst="rect">
            <a:avLst/>
          </a:prstGeom>
          <a:noFill/>
        </p:spPr>
        <p:txBody>
          <a:bodyPr wrap="none" rtlCol="0">
            <a:spAutoFit/>
          </a:bodyPr>
          <a:lstStyle/>
          <a:p>
            <a:r>
              <a:rPr lang="en-US" dirty="0">
                <a:solidFill>
                  <a:schemeClr val="accent1"/>
                </a:solidFill>
              </a:rPr>
              <a:t>CoAP</a:t>
            </a:r>
            <a:endParaRPr lang="en-DE" dirty="0">
              <a:solidFill>
                <a:schemeClr val="accent1"/>
              </a:solidFill>
            </a:endParaRPr>
          </a:p>
        </p:txBody>
      </p:sp>
      <p:sp>
        <p:nvSpPr>
          <p:cNvPr id="17" name="TextBox 16">
            <a:extLst>
              <a:ext uri="{FF2B5EF4-FFF2-40B4-BE49-F238E27FC236}">
                <a16:creationId xmlns:a16="http://schemas.microsoft.com/office/drawing/2014/main" id="{805E9D10-09B3-4731-5496-D8E3F31470A7}"/>
              </a:ext>
            </a:extLst>
          </p:cNvPr>
          <p:cNvSpPr txBox="1"/>
          <p:nvPr/>
        </p:nvSpPr>
        <p:spPr>
          <a:xfrm>
            <a:off x="10700256" y="3668518"/>
            <a:ext cx="671979" cy="369332"/>
          </a:xfrm>
          <a:prstGeom prst="rect">
            <a:avLst/>
          </a:prstGeom>
          <a:noFill/>
        </p:spPr>
        <p:txBody>
          <a:bodyPr wrap="none" rtlCol="0">
            <a:spAutoFit/>
          </a:bodyPr>
          <a:lstStyle/>
          <a:p>
            <a:r>
              <a:rPr lang="en-US" dirty="0">
                <a:solidFill>
                  <a:schemeClr val="accent1"/>
                </a:solidFill>
              </a:rPr>
              <a:t>POST</a:t>
            </a:r>
            <a:endParaRPr lang="en-DE" dirty="0">
              <a:solidFill>
                <a:schemeClr val="accent1"/>
              </a:solidFill>
            </a:endParaRPr>
          </a:p>
        </p:txBody>
      </p:sp>
    </p:spTree>
    <p:extLst>
      <p:ext uri="{BB962C8B-B14F-4D97-AF65-F5344CB8AC3E}">
        <p14:creationId xmlns:p14="http://schemas.microsoft.com/office/powerpoint/2010/main" val="38083117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96899F8-16C8-7F1B-78A3-0893EFDB7379}"/>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5026D510-F1A7-7080-D366-37F37EA0EEAC}"/>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5DE3D7E7-2250-CFFF-D910-EC5719180A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196A54F7-A5F1-B458-081E-49EFD522F7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DBFF890F-42B7-8447-ED36-54068970BEB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89D21631-D266-A434-102D-6467250075DE}"/>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7A27611A-FB21-A9C6-8BB9-05668F481643}"/>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A67C32CE-42C7-91AE-1566-8C0A30D4D0B0}"/>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EB0FC865-B316-6726-F6D9-965E0D6A18A8}"/>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8B653F7F-E09F-4FD5-A211-F9E2501A5151}"/>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E8EA84BE-2DFF-FFE9-644E-EA16C17EE530}"/>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C980B869-654F-8951-3B68-E13E5F58543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6EAB7D13-60CC-BFCB-BCF4-ECD4D5C40F09}"/>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CoAP</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E5D4E1D8-86CE-FC6E-9B77-ED78912F2678}"/>
              </a:ext>
            </a:extLst>
          </p:cNvPr>
          <p:cNvSpPr txBox="1"/>
          <p:nvPr/>
        </p:nvSpPr>
        <p:spPr>
          <a:xfrm>
            <a:off x="1105884" y="1444789"/>
            <a:ext cx="7576500" cy="5047536"/>
          </a:xfrm>
          <a:prstGeom prst="rect">
            <a:avLst/>
          </a:prstGeom>
          <a:noFill/>
        </p:spPr>
        <p:txBody>
          <a:bodyPr wrap="square" rtlCol="0">
            <a:spAutoFit/>
          </a:bodyPr>
          <a:lstStyle/>
          <a:p>
            <a:r>
              <a:rPr lang="en-US" sz="1400" dirty="0">
                <a:solidFill>
                  <a:schemeClr val="accent3">
                    <a:lumMod val="75000"/>
                  </a:schemeClr>
                </a:solidFill>
              </a:rPr>
              <a:t>... </a:t>
            </a:r>
          </a:p>
          <a:p>
            <a:r>
              <a:rPr lang="en-US" sz="1400" dirty="0">
                <a:solidFill>
                  <a:schemeClr val="accent3">
                    <a:lumMod val="75000"/>
                  </a:schemeClr>
                </a:solidFill>
              </a:rPr>
              <a:t>"actions": {</a:t>
            </a:r>
          </a:p>
          <a:p>
            <a:r>
              <a:rPr lang="en-US" sz="1400" dirty="0">
                <a:solidFill>
                  <a:schemeClr val="accent3">
                    <a:lumMod val="75000"/>
                  </a:schemeClr>
                </a:solidFill>
              </a:rPr>
              <a:t>  "</a:t>
            </a:r>
            <a:r>
              <a:rPr lang="en-US" sz="1400" dirty="0" err="1">
                <a:solidFill>
                  <a:schemeClr val="accent3">
                    <a:lumMod val="75000"/>
                  </a:schemeClr>
                </a:solidFill>
              </a:rPr>
              <a:t>brewCoffee</a:t>
            </a:r>
            <a:r>
              <a:rPr lang="en-US" sz="1400" dirty="0">
                <a:solidFill>
                  <a:schemeClr val="accent3">
                    <a:lumMod val="75000"/>
                  </a:schemeClr>
                </a:solidFill>
              </a:rPr>
              <a:t>": {</a:t>
            </a:r>
          </a:p>
          <a:p>
            <a:r>
              <a:rPr lang="en-US" sz="1400" dirty="0">
                <a:solidFill>
                  <a:schemeClr val="accent3">
                    <a:lumMod val="75000"/>
                  </a:schemeClr>
                </a:solidFill>
              </a:rPr>
              <a:t>    "title": "Brew Coffee",</a:t>
            </a:r>
          </a:p>
          <a:p>
            <a:r>
              <a:rPr lang="en-US" sz="1400" dirty="0">
                <a:solidFill>
                  <a:schemeClr val="accent3">
                    <a:lumMod val="75000"/>
                  </a:schemeClr>
                </a:solidFill>
              </a:rPr>
              <a:t>    "description": "Starts brewing a cup of coffee",</a:t>
            </a:r>
          </a:p>
          <a:p>
            <a:r>
              <a:rPr lang="en-US" sz="1400" dirty="0">
                <a:solidFill>
                  <a:schemeClr val="accent3">
                    <a:lumMod val="75000"/>
                  </a:schemeClr>
                </a:solidFill>
              </a:rPr>
              <a:t>    "input": {</a:t>
            </a:r>
          </a:p>
          <a:p>
            <a:r>
              <a:rPr lang="en-US" sz="1400" dirty="0">
                <a:solidFill>
                  <a:schemeClr val="accent3">
                    <a:lumMod val="75000"/>
                  </a:schemeClr>
                </a:solidFill>
              </a:rPr>
              <a:t>      "type": "object",</a:t>
            </a:r>
          </a:p>
          <a:p>
            <a:r>
              <a:rPr lang="en-US" sz="1400" dirty="0">
                <a:solidFill>
                  <a:schemeClr val="accent3">
                    <a:lumMod val="75000"/>
                  </a:schemeClr>
                </a:solidFill>
              </a:rPr>
              <a:t>      "properties": {</a:t>
            </a:r>
          </a:p>
          <a:p>
            <a:r>
              <a:rPr lang="en-US" sz="1400" dirty="0">
                <a:solidFill>
                  <a:schemeClr val="accent3">
                    <a:lumMod val="75000"/>
                  </a:schemeClr>
                </a:solidFill>
              </a:rPr>
              <a:t>        "size": {</a:t>
            </a:r>
          </a:p>
          <a:p>
            <a:r>
              <a:rPr lang="en-US" sz="1400" dirty="0">
                <a:solidFill>
                  <a:schemeClr val="accent3">
                    <a:lumMod val="75000"/>
                  </a:schemeClr>
                </a:solidFill>
              </a:rPr>
              <a:t>          "type": "string",</a:t>
            </a:r>
          </a:p>
          <a:p>
            <a:r>
              <a:rPr lang="en-US" sz="1400" dirty="0">
                <a:solidFill>
                  <a:schemeClr val="accent3">
                    <a:lumMod val="75000"/>
                  </a:schemeClr>
                </a:solidFill>
              </a:rPr>
              <a:t>          "</a:t>
            </a:r>
            <a:r>
              <a:rPr lang="en-US" sz="1400" dirty="0" err="1">
                <a:solidFill>
                  <a:schemeClr val="accent3">
                    <a:lumMod val="75000"/>
                  </a:schemeClr>
                </a:solidFill>
              </a:rPr>
              <a:t>enum</a:t>
            </a:r>
            <a:r>
              <a:rPr lang="en-US" sz="1400" dirty="0">
                <a:solidFill>
                  <a:schemeClr val="accent3">
                    <a:lumMod val="75000"/>
                  </a:schemeClr>
                </a:solidFill>
              </a:rPr>
              <a:t>": ["small", "medium", "large"]</a:t>
            </a:r>
          </a:p>
          <a:p>
            <a:r>
              <a:rPr lang="en-US" sz="1400" dirty="0">
                <a:solidFill>
                  <a:schemeClr val="accent3">
                    <a:lumMod val="75000"/>
                  </a:schemeClr>
                </a:solidFill>
              </a:rPr>
              <a:t>        }</a:t>
            </a:r>
          </a:p>
          <a:p>
            <a:r>
              <a:rPr lang="en-US" sz="1400" dirty="0">
                <a:solidFill>
                  <a:schemeClr val="accent3">
                    <a:lumMod val="75000"/>
                  </a:schemeClr>
                </a:solidFill>
              </a:rPr>
              <a:t>      }</a:t>
            </a:r>
          </a:p>
          <a:p>
            <a:r>
              <a:rPr lang="en-US" sz="1400" dirty="0">
                <a:solidFill>
                  <a:schemeClr val="accent3">
                    <a:lumMod val="75000"/>
                  </a:schemeClr>
                </a:solidFill>
              </a:rPr>
              <a:t>    },</a:t>
            </a:r>
          </a:p>
          <a:p>
            <a:r>
              <a:rPr lang="en-US" sz="1400" dirty="0">
                <a:solidFill>
                  <a:schemeClr val="accent3">
                    <a:lumMod val="75000"/>
                  </a:schemeClr>
                </a:solidFill>
              </a:rPr>
              <a:t>    "forms": [</a:t>
            </a:r>
          </a:p>
          <a:p>
            <a:r>
              <a:rPr lang="en-US" sz="1400" dirty="0">
                <a:solidFill>
                  <a:schemeClr val="accent3">
                    <a:lumMod val="75000"/>
                  </a:schemeClr>
                </a:solidFill>
              </a:rPr>
              <a:t>      {</a:t>
            </a:r>
          </a:p>
          <a:p>
            <a:r>
              <a:rPr lang="en-US" sz="1400" dirty="0">
                <a:solidFill>
                  <a:schemeClr val="accent3">
                    <a:lumMod val="75000"/>
                  </a:schemeClr>
                </a:solidFill>
              </a:rPr>
              <a:t>        "</a:t>
            </a:r>
            <a:r>
              <a:rPr lang="en-US" sz="1400" dirty="0" err="1">
                <a:solidFill>
                  <a:schemeClr val="accent3">
                    <a:lumMod val="75000"/>
                  </a:schemeClr>
                </a:solidFill>
              </a:rPr>
              <a:t>href</a:t>
            </a:r>
            <a:r>
              <a:rPr lang="en-US" sz="1400" dirty="0">
                <a:solidFill>
                  <a:schemeClr val="accent3">
                    <a:lumMod val="75000"/>
                  </a:schemeClr>
                </a:solidFill>
              </a:rPr>
              <a:t>": "</a:t>
            </a:r>
            <a:r>
              <a:rPr lang="en-US" sz="1400" dirty="0" err="1">
                <a:solidFill>
                  <a:schemeClr val="accent3">
                    <a:lumMod val="75000"/>
                  </a:schemeClr>
                </a:solidFill>
              </a:rPr>
              <a:t>coap</a:t>
            </a:r>
            <a:r>
              <a:rPr lang="en-US" sz="1400" dirty="0">
                <a:solidFill>
                  <a:schemeClr val="accent3">
                    <a:lumMod val="75000"/>
                  </a:schemeClr>
                </a:solidFill>
              </a:rPr>
              <a:t>://coffee.example.com/actions/</a:t>
            </a:r>
            <a:r>
              <a:rPr lang="en-US" sz="1400" dirty="0" err="1">
                <a:solidFill>
                  <a:schemeClr val="accent3">
                    <a:lumMod val="75000"/>
                  </a:schemeClr>
                </a:solidFill>
              </a:rPr>
              <a:t>brewCoffee</a:t>
            </a:r>
            <a:r>
              <a:rPr lang="en-US" sz="1400" dirty="0">
                <a:solidFill>
                  <a:schemeClr val="accent3">
                    <a:lumMod val="75000"/>
                  </a:schemeClr>
                </a:solidFill>
              </a:rPr>
              <a:t>",</a:t>
            </a:r>
          </a:p>
          <a:p>
            <a:r>
              <a:rPr lang="en-US" sz="1400" dirty="0">
                <a:solidFill>
                  <a:schemeClr val="accent3">
                    <a:lumMod val="75000"/>
                  </a:schemeClr>
                </a:solidFill>
              </a:rPr>
              <a:t>        "op": "</a:t>
            </a:r>
            <a:r>
              <a:rPr lang="en-US" sz="1400" dirty="0" err="1">
                <a:solidFill>
                  <a:schemeClr val="accent3">
                    <a:lumMod val="75000"/>
                  </a:schemeClr>
                </a:solidFill>
              </a:rPr>
              <a:t>invokeaction</a:t>
            </a:r>
            <a:r>
              <a:rPr lang="en-US" sz="1400" dirty="0">
                <a:solidFill>
                  <a:schemeClr val="accent3">
                    <a:lumMod val="75000"/>
                  </a:schemeClr>
                </a:solidFill>
              </a:rPr>
              <a:t>",</a:t>
            </a:r>
          </a:p>
          <a:p>
            <a:r>
              <a:rPr lang="en-US" sz="1400" dirty="0">
                <a:solidFill>
                  <a:schemeClr val="accent5"/>
                </a:solidFill>
              </a:rPr>
              <a:t>        "</a:t>
            </a:r>
            <a:r>
              <a:rPr lang="en-US" sz="1400" dirty="0" err="1">
                <a:solidFill>
                  <a:schemeClr val="accent5"/>
                </a:solidFill>
              </a:rPr>
              <a:t>contentType</a:t>
            </a:r>
            <a:r>
              <a:rPr lang="en-US" sz="1400" dirty="0">
                <a:solidFill>
                  <a:schemeClr val="accent5"/>
                </a:solidFill>
              </a:rPr>
              <a:t>"</a:t>
            </a:r>
            <a:r>
              <a:rPr lang="en-US" sz="1400" dirty="0">
                <a:solidFill>
                  <a:schemeClr val="accent1"/>
                </a:solidFill>
              </a:rPr>
              <a:t>: "text/plain",</a:t>
            </a:r>
          </a:p>
          <a:p>
            <a:r>
              <a:rPr lang="en-US" sz="1400" dirty="0">
                <a:solidFill>
                  <a:schemeClr val="accent3">
                    <a:lumMod val="75000"/>
                  </a:schemeClr>
                </a:solidFill>
              </a:rPr>
              <a:t>        "</a:t>
            </a:r>
            <a:r>
              <a:rPr lang="en-US" sz="1400" dirty="0" err="1">
                <a:solidFill>
                  <a:schemeClr val="accent3">
                    <a:lumMod val="75000"/>
                  </a:schemeClr>
                </a:solidFill>
              </a:rPr>
              <a:t>cov:method</a:t>
            </a:r>
            <a:r>
              <a:rPr lang="en-US" sz="1400" dirty="0">
                <a:solidFill>
                  <a:schemeClr val="accent3">
                    <a:lumMod val="75000"/>
                  </a:schemeClr>
                </a:solidFill>
              </a:rPr>
              <a:t>": "POST"</a:t>
            </a:r>
          </a:p>
          <a:p>
            <a:r>
              <a:rPr lang="en-US" sz="1400" dirty="0">
                <a:solidFill>
                  <a:schemeClr val="accent3">
                    <a:lumMod val="75000"/>
                  </a:schemeClr>
                </a:solidFill>
              </a:rPr>
              <a:t>      }</a:t>
            </a:r>
          </a:p>
          <a:p>
            <a:r>
              <a:rPr lang="en-US" sz="1400" dirty="0">
                <a:solidFill>
                  <a:schemeClr val="accent3">
                    <a:lumMod val="75000"/>
                  </a:schemeClr>
                </a:solidFill>
              </a:rPr>
              <a:t>    ]</a:t>
            </a:r>
          </a:p>
          <a:p>
            <a:r>
              <a:rPr lang="en-US" sz="1400" dirty="0">
                <a:solidFill>
                  <a:schemeClr val="accent3">
                    <a:lumMod val="75000"/>
                  </a:schemeClr>
                </a:solidFill>
              </a:rPr>
              <a:t> ...</a:t>
            </a:r>
          </a:p>
        </p:txBody>
      </p:sp>
      <p:cxnSp>
        <p:nvCxnSpPr>
          <p:cNvPr id="2" name="Straight Arrow Connector 1">
            <a:extLst>
              <a:ext uri="{FF2B5EF4-FFF2-40B4-BE49-F238E27FC236}">
                <a16:creationId xmlns:a16="http://schemas.microsoft.com/office/drawing/2014/main" id="{212923FF-2DC8-454F-E1D6-892596BBFC49}"/>
              </a:ext>
            </a:extLst>
          </p:cNvPr>
          <p:cNvCxnSpPr>
            <a:cxnSpLocks/>
          </p:cNvCxnSpPr>
          <p:nvPr/>
        </p:nvCxnSpPr>
        <p:spPr>
          <a:xfrm flipH="1" flipV="1">
            <a:off x="10043875" y="3538385"/>
            <a:ext cx="5653" cy="6296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8504960-A8B7-5A22-5DFF-7E2282E609EF}"/>
              </a:ext>
            </a:extLst>
          </p:cNvPr>
          <p:cNvSpPr txBox="1"/>
          <p:nvPr/>
        </p:nvSpPr>
        <p:spPr>
          <a:xfrm flipH="1">
            <a:off x="10129382" y="3668518"/>
            <a:ext cx="675121" cy="369332"/>
          </a:xfrm>
          <a:prstGeom prst="rect">
            <a:avLst/>
          </a:prstGeom>
          <a:noFill/>
        </p:spPr>
        <p:txBody>
          <a:bodyPr wrap="square" rtlCol="0">
            <a:spAutoFit/>
          </a:bodyPr>
          <a:lstStyle/>
          <a:p>
            <a:r>
              <a:rPr lang="en-US" dirty="0">
                <a:solidFill>
                  <a:schemeClr val="accent1"/>
                </a:solidFill>
              </a:rPr>
              <a:t>Text</a:t>
            </a:r>
          </a:p>
        </p:txBody>
      </p:sp>
    </p:spTree>
    <p:extLst>
      <p:ext uri="{BB962C8B-B14F-4D97-AF65-F5344CB8AC3E}">
        <p14:creationId xmlns:p14="http://schemas.microsoft.com/office/powerpoint/2010/main" val="3491985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6EEEB-3E02-16DF-4696-F7079EBE94CA}"/>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3BED3ADF-1F08-CF4F-C4F8-A5CB9C2590E0}"/>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007B1FCA-C811-E78B-118D-9BC92BE611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578FA348-3CEF-A41F-DDED-A958CBC5FC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C6C4BC23-F0B3-7118-1367-22E7E7BA51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255982D6-62BA-1438-4E89-B764DFB67209}"/>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686F691A-D412-B205-A856-231BCBEB237D}"/>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46B208BA-49B5-7CCB-1C0B-0D80F7A2D76F}"/>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3C3A1774-E15B-E834-DFFA-C87647E580A6}"/>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0F3520A0-55E8-D230-269A-D576756CFE38}"/>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DD1AC366-EB27-F06F-4AD6-9CF9E66BED89}"/>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B5608015-C930-52DF-F548-ACBAB418DAB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90DF32ED-1C85-7227-FBE8-B5921FB11201}"/>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MQTT</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4317EF59-CE6B-AD03-10A0-416A161B43A3}"/>
              </a:ext>
            </a:extLst>
          </p:cNvPr>
          <p:cNvSpPr txBox="1"/>
          <p:nvPr/>
        </p:nvSpPr>
        <p:spPr>
          <a:xfrm>
            <a:off x="1083789" y="1576073"/>
            <a:ext cx="7576500" cy="2031325"/>
          </a:xfrm>
          <a:prstGeom prst="rect">
            <a:avLst/>
          </a:prstGeom>
          <a:noFill/>
        </p:spPr>
        <p:txBody>
          <a:bodyPr wrap="square" rtlCol="0">
            <a:spAutoFit/>
          </a:bodyPr>
          <a:lstStyle/>
          <a:p>
            <a:r>
              <a:rPr lang="en-US" dirty="0">
                <a:solidFill>
                  <a:schemeClr val="accent5"/>
                </a:solidFill>
              </a:rPr>
              <a:t>"events"</a:t>
            </a:r>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lowOnWater</a:t>
            </a:r>
            <a:r>
              <a:rPr lang="en-US" dirty="0">
                <a:solidFill>
                  <a:schemeClr val="accent5"/>
                </a:solidFill>
              </a:rPr>
              <a:t>"</a:t>
            </a:r>
            <a:r>
              <a:rPr lang="en-US" dirty="0">
                <a:solidFill>
                  <a:schemeClr val="accent1"/>
                </a:solidFill>
              </a:rPr>
              <a:t>: {</a:t>
            </a:r>
          </a:p>
          <a:p>
            <a:r>
              <a:rPr lang="en-US" dirty="0">
                <a:solidFill>
                  <a:schemeClr val="accent1"/>
                </a:solidFill>
              </a:rPr>
              <a:t>    </a:t>
            </a:r>
            <a:r>
              <a:rPr lang="en-US" dirty="0">
                <a:solidFill>
                  <a:schemeClr val="accent5"/>
                </a:solidFill>
              </a:rPr>
              <a:t>"title"</a:t>
            </a:r>
            <a:r>
              <a:rPr lang="en-US" dirty="0">
                <a:solidFill>
                  <a:schemeClr val="accent1"/>
                </a:solidFill>
              </a:rPr>
              <a:t>: "Low Water Level",</a:t>
            </a:r>
          </a:p>
          <a:p>
            <a:r>
              <a:rPr lang="en-US" dirty="0">
                <a:solidFill>
                  <a:schemeClr val="accent1"/>
                </a:solidFill>
              </a:rPr>
              <a:t>    </a:t>
            </a:r>
            <a:r>
              <a:rPr lang="en-US" dirty="0">
                <a:solidFill>
                  <a:schemeClr val="accent5"/>
                </a:solidFill>
              </a:rPr>
              <a:t>"data"</a:t>
            </a:r>
            <a:r>
              <a:rPr lang="en-US" dirty="0">
                <a:solidFill>
                  <a:schemeClr val="accent1"/>
                </a:solidFill>
              </a:rPr>
              <a:t>: {</a:t>
            </a:r>
          </a:p>
          <a:p>
            <a:r>
              <a:rPr lang="en-US" dirty="0">
                <a:solidFill>
                  <a:schemeClr val="accent1"/>
                </a:solidFill>
              </a:rPr>
              <a:t>      </a:t>
            </a:r>
            <a:r>
              <a:rPr lang="en-US" dirty="0">
                <a:solidFill>
                  <a:schemeClr val="accent5"/>
                </a:solidFill>
              </a:rPr>
              <a:t>"type"</a:t>
            </a:r>
            <a:r>
              <a:rPr lang="en-US" dirty="0">
                <a:solidFill>
                  <a:schemeClr val="accent1"/>
                </a:solidFill>
              </a:rPr>
              <a:t>: "number",</a:t>
            </a:r>
          </a:p>
          <a:p>
            <a:r>
              <a:rPr lang="en-US" dirty="0">
                <a:solidFill>
                  <a:schemeClr val="accent1"/>
                </a:solidFill>
              </a:rPr>
              <a:t>      </a:t>
            </a:r>
            <a:r>
              <a:rPr lang="en-US" dirty="0">
                <a:solidFill>
                  <a:schemeClr val="accent5"/>
                </a:solidFill>
              </a:rPr>
              <a:t>"description"</a:t>
            </a:r>
            <a:r>
              <a:rPr lang="en-US" dirty="0">
                <a:solidFill>
                  <a:schemeClr val="accent1"/>
                </a:solidFill>
              </a:rPr>
              <a:t>: "Remaining water level in milliliters"</a:t>
            </a:r>
          </a:p>
          <a:p>
            <a:r>
              <a:rPr lang="en-US" dirty="0">
                <a:solidFill>
                  <a:schemeClr val="accent1"/>
                </a:solidFill>
              </a:rPr>
              <a:t>    },</a:t>
            </a:r>
          </a:p>
        </p:txBody>
      </p:sp>
      <p:pic>
        <p:nvPicPr>
          <p:cNvPr id="3" name="Graphic 2" descr="Cloud with solid fill">
            <a:extLst>
              <a:ext uri="{FF2B5EF4-FFF2-40B4-BE49-F238E27FC236}">
                <a16:creationId xmlns:a16="http://schemas.microsoft.com/office/drawing/2014/main" id="{0ADFBACA-8DEB-B01F-ECCF-AE3B8271047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100880" y="3429000"/>
            <a:ext cx="773879" cy="773879"/>
          </a:xfrm>
          <a:prstGeom prst="rect">
            <a:avLst/>
          </a:prstGeom>
        </p:spPr>
      </p:pic>
      <p:sp>
        <p:nvSpPr>
          <p:cNvPr id="18" name="Freeform: Shape 17">
            <a:extLst>
              <a:ext uri="{FF2B5EF4-FFF2-40B4-BE49-F238E27FC236}">
                <a16:creationId xmlns:a16="http://schemas.microsoft.com/office/drawing/2014/main" id="{E6F6DDF6-0A74-2553-6B61-3AB59FC3933B}"/>
              </a:ext>
            </a:extLst>
          </p:cNvPr>
          <p:cNvSpPr/>
          <p:nvPr/>
        </p:nvSpPr>
        <p:spPr>
          <a:xfrm rot="18900000">
            <a:off x="8426142" y="3880427"/>
            <a:ext cx="100553" cy="100553"/>
          </a:xfrm>
          <a:custGeom>
            <a:avLst/>
            <a:gdLst>
              <a:gd name="connsiteX0" fmla="*/ 0 w 353017"/>
              <a:gd name="connsiteY0" fmla="*/ 0 h 353017"/>
              <a:gd name="connsiteX1" fmla="*/ 33 w 353017"/>
              <a:gd name="connsiteY1" fmla="*/ 116251 h 353017"/>
              <a:gd name="connsiteX2" fmla="*/ 166130 w 353017"/>
              <a:gd name="connsiteY2" fmla="*/ 186887 h 353017"/>
              <a:gd name="connsiteX3" fmla="*/ 236763 w 353017"/>
              <a:gd name="connsiteY3" fmla="*/ 352987 h 353017"/>
              <a:gd name="connsiteX4" fmla="*/ 353017 w 353017"/>
              <a:gd name="connsiteY4" fmla="*/ 353017 h 353017"/>
              <a:gd name="connsiteX5" fmla="*/ 0 w 353017"/>
              <a:gd name="connsiteY5" fmla="*/ 0 h 353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3017" h="353017">
                <a:moveTo>
                  <a:pt x="0" y="0"/>
                </a:moveTo>
                <a:lnTo>
                  <a:pt x="33" y="116251"/>
                </a:lnTo>
                <a:cubicBezTo>
                  <a:pt x="62593" y="116747"/>
                  <a:pt x="122376" y="142167"/>
                  <a:pt x="166130" y="186887"/>
                </a:cubicBezTo>
                <a:cubicBezTo>
                  <a:pt x="210372" y="230965"/>
                  <a:pt x="235706" y="290545"/>
                  <a:pt x="236763" y="352987"/>
                </a:cubicBezTo>
                <a:lnTo>
                  <a:pt x="353017" y="353017"/>
                </a:lnTo>
                <a:cubicBezTo>
                  <a:pt x="352129" y="158421"/>
                  <a:pt x="194596" y="888"/>
                  <a:pt x="0" y="0"/>
                </a:cubicBezTo>
                <a:close/>
              </a:path>
            </a:pathLst>
          </a:custGeom>
          <a:solidFill>
            <a:schemeClr val="tx1"/>
          </a:solidFill>
          <a:ln w="29666"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2F6165E3-739D-BF23-AF6C-9BE82A3EFFFD}"/>
              </a:ext>
            </a:extLst>
          </p:cNvPr>
          <p:cNvSpPr/>
          <p:nvPr/>
        </p:nvSpPr>
        <p:spPr>
          <a:xfrm rot="18900000">
            <a:off x="8393017" y="3800549"/>
            <a:ext cx="166803" cy="166803"/>
          </a:xfrm>
          <a:custGeom>
            <a:avLst/>
            <a:gdLst>
              <a:gd name="connsiteX0" fmla="*/ 585594 w 585607"/>
              <a:gd name="connsiteY0" fmla="*/ 585607 h 585607"/>
              <a:gd name="connsiteX1" fmla="*/ 7914 w 585607"/>
              <a:gd name="connsiteY1" fmla="*/ 13 h 585607"/>
              <a:gd name="connsiteX2" fmla="*/ 0 w 585607"/>
              <a:gd name="connsiteY2" fmla="*/ 13 h 585607"/>
              <a:gd name="connsiteX3" fmla="*/ 33 w 585607"/>
              <a:gd name="connsiteY3" fmla="*/ 116274 h 585607"/>
              <a:gd name="connsiteX4" fmla="*/ 469340 w 585607"/>
              <a:gd name="connsiteY4" fmla="*/ 583191 h 585607"/>
              <a:gd name="connsiteX5" fmla="*/ 469340 w 585607"/>
              <a:gd name="connsiteY5" fmla="*/ 585572 h 58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5607" h="585607">
                <a:moveTo>
                  <a:pt x="585594" y="585607"/>
                </a:moveTo>
                <a:cubicBezTo>
                  <a:pt x="587779" y="264378"/>
                  <a:pt x="329143" y="2198"/>
                  <a:pt x="7914" y="13"/>
                </a:cubicBezTo>
                <a:cubicBezTo>
                  <a:pt x="5275" y="-4"/>
                  <a:pt x="2639" y="-4"/>
                  <a:pt x="0" y="13"/>
                </a:cubicBezTo>
                <a:lnTo>
                  <a:pt x="33" y="116274"/>
                </a:lnTo>
                <a:cubicBezTo>
                  <a:pt x="258564" y="115615"/>
                  <a:pt x="468680" y="324659"/>
                  <a:pt x="469340" y="583191"/>
                </a:cubicBezTo>
                <a:cubicBezTo>
                  <a:pt x="469342" y="583983"/>
                  <a:pt x="469342" y="584779"/>
                  <a:pt x="469340" y="585572"/>
                </a:cubicBezTo>
                <a:close/>
              </a:path>
            </a:pathLst>
          </a:custGeom>
          <a:solidFill>
            <a:schemeClr val="tx1"/>
          </a:solidFill>
          <a:ln w="29666"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46AE4CE-DF4C-97C0-2330-CB10BD954B07}"/>
              </a:ext>
            </a:extLst>
          </p:cNvPr>
          <p:cNvSpPr/>
          <p:nvPr/>
        </p:nvSpPr>
        <p:spPr>
          <a:xfrm rot="18900000">
            <a:off x="8359304" y="3719250"/>
            <a:ext cx="234229" cy="234229"/>
          </a:xfrm>
          <a:custGeom>
            <a:avLst/>
            <a:gdLst>
              <a:gd name="connsiteX0" fmla="*/ 0 w 822323"/>
              <a:gd name="connsiteY0" fmla="*/ 0 h 822322"/>
              <a:gd name="connsiteX1" fmla="*/ 33 w 822323"/>
              <a:gd name="connsiteY1" fmla="*/ 116251 h 822322"/>
              <a:gd name="connsiteX2" fmla="*/ 706067 w 822323"/>
              <a:gd name="connsiteY2" fmla="*/ 822293 h 822322"/>
              <a:gd name="connsiteX3" fmla="*/ 822324 w 822323"/>
              <a:gd name="connsiteY3" fmla="*/ 822322 h 822322"/>
              <a:gd name="connsiteX4" fmla="*/ 0 w 822323"/>
              <a:gd name="connsiteY4" fmla="*/ 0 h 822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2323" h="822322">
                <a:moveTo>
                  <a:pt x="0" y="0"/>
                </a:moveTo>
                <a:lnTo>
                  <a:pt x="33" y="116251"/>
                </a:lnTo>
                <a:cubicBezTo>
                  <a:pt x="389226" y="118034"/>
                  <a:pt x="704289" y="433100"/>
                  <a:pt x="706067" y="822293"/>
                </a:cubicBezTo>
                <a:lnTo>
                  <a:pt x="822324" y="822322"/>
                </a:lnTo>
                <a:cubicBezTo>
                  <a:pt x="822090" y="368262"/>
                  <a:pt x="454057" y="233"/>
                  <a:pt x="0" y="0"/>
                </a:cubicBezTo>
                <a:close/>
              </a:path>
            </a:pathLst>
          </a:custGeom>
          <a:solidFill>
            <a:schemeClr val="tx1"/>
          </a:solidFill>
          <a:ln w="29666" cap="flat">
            <a:noFill/>
            <a:prstDash val="solid"/>
            <a:miter/>
          </a:ln>
        </p:spPr>
        <p:txBody>
          <a:bodyPr rtlCol="0" anchor="ctr"/>
          <a:lstStyle/>
          <a:p>
            <a:endParaRPr lang="en-US"/>
          </a:p>
        </p:txBody>
      </p:sp>
      <p:sp>
        <p:nvSpPr>
          <p:cNvPr id="24" name="TextBox 23">
            <a:extLst>
              <a:ext uri="{FF2B5EF4-FFF2-40B4-BE49-F238E27FC236}">
                <a16:creationId xmlns:a16="http://schemas.microsoft.com/office/drawing/2014/main" id="{E6670211-56BA-E4F8-D305-0F1E5A27892D}"/>
              </a:ext>
            </a:extLst>
          </p:cNvPr>
          <p:cNvSpPr txBox="1"/>
          <p:nvPr/>
        </p:nvSpPr>
        <p:spPr>
          <a:xfrm>
            <a:off x="7736227" y="4015812"/>
            <a:ext cx="1480381"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Broker</a:t>
            </a:r>
          </a:p>
        </p:txBody>
      </p:sp>
      <p:sp>
        <p:nvSpPr>
          <p:cNvPr id="2" name="TextBox 1">
            <a:extLst>
              <a:ext uri="{FF2B5EF4-FFF2-40B4-BE49-F238E27FC236}">
                <a16:creationId xmlns:a16="http://schemas.microsoft.com/office/drawing/2014/main" id="{5B8DA3C1-5E11-426A-18F9-E53694E9BA5B}"/>
              </a:ext>
            </a:extLst>
          </p:cNvPr>
          <p:cNvSpPr txBox="1"/>
          <p:nvPr/>
        </p:nvSpPr>
        <p:spPr>
          <a:xfrm>
            <a:off x="1080784" y="3499826"/>
            <a:ext cx="7576500" cy="2585323"/>
          </a:xfrm>
          <a:prstGeom prst="rect">
            <a:avLst/>
          </a:prstGeom>
          <a:noFill/>
        </p:spPr>
        <p:txBody>
          <a:bodyPr wrap="square" rtlCol="0">
            <a:spAutoFit/>
          </a:bodyPr>
          <a:lstStyle/>
          <a:p>
            <a:r>
              <a:rPr lang="en-US" dirty="0">
                <a:solidFill>
                  <a:schemeClr val="accent1"/>
                </a:solidFill>
              </a:rPr>
              <a:t>    </a:t>
            </a:r>
            <a:r>
              <a:rPr lang="en-US" dirty="0">
                <a:solidFill>
                  <a:schemeClr val="accent5"/>
                </a:solidFill>
              </a:rPr>
              <a:t>"forms"</a:t>
            </a:r>
            <a:r>
              <a:rPr lang="en-US" dirty="0">
                <a:solidFill>
                  <a:schemeClr val="accent1"/>
                </a:solidFill>
              </a:rPr>
              <a:t>: [</a:t>
            </a:r>
          </a:p>
          <a:p>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a:t>
            </a:r>
            <a:r>
              <a:rPr lang="en-US" dirty="0" err="1">
                <a:solidFill>
                  <a:schemeClr val="accent1"/>
                </a:solidFill>
              </a:rPr>
              <a:t>mqtt</a:t>
            </a:r>
            <a:r>
              <a:rPr lang="en-US" dirty="0">
                <a:solidFill>
                  <a:schemeClr val="accent1"/>
                </a:solidFill>
              </a:rPr>
              <a:t>://broker.example.com:1883,</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subscribeevent</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mqv:filter</a:t>
            </a:r>
            <a:r>
              <a:rPr lang="en-US" dirty="0">
                <a:solidFill>
                  <a:schemeClr val="accent5"/>
                </a:solidFill>
              </a:rPr>
              <a:t>"</a:t>
            </a:r>
            <a:r>
              <a:rPr lang="en-US" dirty="0">
                <a:solidFill>
                  <a:schemeClr val="accent1"/>
                </a:solidFill>
              </a:rPr>
              <a:t>: "coffee/events/</a:t>
            </a:r>
            <a:r>
              <a:rPr lang="en-US" dirty="0" err="1">
                <a:solidFill>
                  <a:schemeClr val="accent1"/>
                </a:solidFill>
              </a:rPr>
              <a:t>lowOnWater</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mqv:qos</a:t>
            </a:r>
            <a:r>
              <a:rPr lang="en-US" dirty="0">
                <a:solidFill>
                  <a:schemeClr val="accent5"/>
                </a:solidFill>
              </a:rPr>
              <a:t>"</a:t>
            </a:r>
            <a:r>
              <a:rPr lang="en-US" dirty="0">
                <a:solidFill>
                  <a:schemeClr val="accent1"/>
                </a:solidFill>
              </a:rPr>
              <a:t>: "1",</a:t>
            </a:r>
          </a:p>
          <a:p>
            <a:r>
              <a:rPr lang="en-US" dirty="0">
                <a:solidFill>
                  <a:schemeClr val="accent1"/>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"text/plain"</a:t>
            </a:r>
          </a:p>
          <a:p>
            <a:r>
              <a:rPr lang="en-US" dirty="0">
                <a:solidFill>
                  <a:schemeClr val="accent1"/>
                </a:solidFill>
              </a:rPr>
              <a:t>      }</a:t>
            </a:r>
          </a:p>
          <a:p>
            <a:r>
              <a:rPr lang="en-US" dirty="0">
                <a:solidFill>
                  <a:schemeClr val="accent1"/>
                </a:solidFill>
              </a:rPr>
              <a:t>    ]</a:t>
            </a:r>
          </a:p>
        </p:txBody>
      </p:sp>
    </p:spTree>
    <p:extLst>
      <p:ext uri="{BB962C8B-B14F-4D97-AF65-F5344CB8AC3E}">
        <p14:creationId xmlns:p14="http://schemas.microsoft.com/office/powerpoint/2010/main" val="26704003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200">
        <p159:morph option="byObject"/>
      </p:transition>
    </mc:Choice>
    <mc:Fallback xmlns="">
      <p:transition spd="slow" advTm="22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150"/>
                                        <p:tgtEl>
                                          <p:spTgt spid="16">
                                            <p:txEl>
                                              <p:pRg st="0" end="0"/>
                                            </p:txEl>
                                          </p:spTgt>
                                        </p:tgtEl>
                                      </p:cBhvr>
                                    </p:animEffect>
                                  </p:childTnLst>
                                </p:cTn>
                              </p:par>
                            </p:childTnLst>
                          </p:cTn>
                        </p:par>
                        <p:par>
                          <p:cTn id="8" fill="hold">
                            <p:stCondLst>
                              <p:cond delay="150"/>
                            </p:stCondLst>
                            <p:childTnLst>
                              <p:par>
                                <p:cTn id="9" presetID="22" presetClass="entr" presetSubtype="8" fill="hold" grpId="0" nodeType="after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Effect transition="in" filter="wipe(left)">
                                      <p:cBhvr>
                                        <p:cTn id="11" dur="150"/>
                                        <p:tgtEl>
                                          <p:spTgt spid="16">
                                            <p:txEl>
                                              <p:pRg st="1" end="1"/>
                                            </p:txEl>
                                          </p:spTgt>
                                        </p:tgtEl>
                                      </p:cBhvr>
                                    </p:animEffect>
                                  </p:childTnLst>
                                </p:cTn>
                              </p:par>
                            </p:childTnLst>
                          </p:cTn>
                        </p:par>
                        <p:par>
                          <p:cTn id="12" fill="hold">
                            <p:stCondLst>
                              <p:cond delay="300"/>
                            </p:stCondLst>
                            <p:childTnLst>
                              <p:par>
                                <p:cTn id="13" presetID="22" presetClass="entr" presetSubtype="8" fill="hold" grpId="0" nodeType="after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Effect transition="in" filter="wipe(left)">
                                      <p:cBhvr>
                                        <p:cTn id="15" dur="150"/>
                                        <p:tgtEl>
                                          <p:spTgt spid="16">
                                            <p:txEl>
                                              <p:pRg st="2" end="2"/>
                                            </p:txEl>
                                          </p:spTgt>
                                        </p:tgtEl>
                                      </p:cBhvr>
                                    </p:animEffect>
                                  </p:childTnLst>
                                </p:cTn>
                              </p:par>
                            </p:childTnLst>
                          </p:cTn>
                        </p:par>
                        <p:par>
                          <p:cTn id="16" fill="hold">
                            <p:stCondLst>
                              <p:cond delay="450"/>
                            </p:stCondLst>
                            <p:childTnLst>
                              <p:par>
                                <p:cTn id="17" presetID="22" presetClass="entr" presetSubtype="8" fill="hold" grpId="0" nodeType="after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Effect transition="in" filter="wipe(left)">
                                      <p:cBhvr>
                                        <p:cTn id="19" dur="150"/>
                                        <p:tgtEl>
                                          <p:spTgt spid="16">
                                            <p:txEl>
                                              <p:pRg st="3" end="3"/>
                                            </p:txEl>
                                          </p:spTgt>
                                        </p:tgtEl>
                                      </p:cBhvr>
                                    </p:animEffect>
                                  </p:childTnLst>
                                </p:cTn>
                              </p:par>
                            </p:childTnLst>
                          </p:cTn>
                        </p:par>
                        <p:par>
                          <p:cTn id="20" fill="hold">
                            <p:stCondLst>
                              <p:cond delay="600"/>
                            </p:stCondLst>
                            <p:childTnLst>
                              <p:par>
                                <p:cTn id="21" presetID="22" presetClass="entr" presetSubtype="8" fill="hold" grpId="0" nodeType="after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Effect transition="in" filter="wipe(left)">
                                      <p:cBhvr>
                                        <p:cTn id="23" dur="150"/>
                                        <p:tgtEl>
                                          <p:spTgt spid="16">
                                            <p:txEl>
                                              <p:pRg st="4" end="4"/>
                                            </p:txEl>
                                          </p:spTgt>
                                        </p:tgtEl>
                                      </p:cBhvr>
                                    </p:animEffect>
                                  </p:childTnLst>
                                </p:cTn>
                              </p:par>
                            </p:childTnLst>
                          </p:cTn>
                        </p:par>
                        <p:par>
                          <p:cTn id="24" fill="hold">
                            <p:stCondLst>
                              <p:cond delay="750"/>
                            </p:stCondLst>
                            <p:childTnLst>
                              <p:par>
                                <p:cTn id="25" presetID="22" presetClass="entr" presetSubtype="8" fill="hold" grpId="0" nodeType="after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Effect transition="in" filter="wipe(left)">
                                      <p:cBhvr>
                                        <p:cTn id="27" dur="150"/>
                                        <p:tgtEl>
                                          <p:spTgt spid="16">
                                            <p:txEl>
                                              <p:pRg st="5" end="5"/>
                                            </p:txEl>
                                          </p:spTgt>
                                        </p:tgtEl>
                                      </p:cBhvr>
                                    </p:animEffect>
                                  </p:childTnLst>
                                </p:cTn>
                              </p:par>
                            </p:childTnLst>
                          </p:cTn>
                        </p:par>
                        <p:par>
                          <p:cTn id="28" fill="hold">
                            <p:stCondLst>
                              <p:cond delay="900"/>
                            </p:stCondLst>
                            <p:childTnLst>
                              <p:par>
                                <p:cTn id="29" presetID="22" presetClass="entr" presetSubtype="8" fill="hold" grpId="0" nodeType="after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Effect transition="in" filter="wipe(left)">
                                      <p:cBhvr>
                                        <p:cTn id="31" dur="150"/>
                                        <p:tgtEl>
                                          <p:spTgt spid="16">
                                            <p:txEl>
                                              <p:pRg st="6" end="6"/>
                                            </p:txEl>
                                          </p:spTgt>
                                        </p:tgtEl>
                                      </p:cBhvr>
                                    </p:animEffect>
                                  </p:childTnLst>
                                </p:cTn>
                              </p:par>
                            </p:childTnLst>
                          </p:cTn>
                        </p:par>
                        <p:par>
                          <p:cTn id="32" fill="hold">
                            <p:stCondLst>
                              <p:cond delay="1050"/>
                            </p:stCondLst>
                            <p:childTnLst>
                              <p:par>
                                <p:cTn id="33" presetID="22" presetClass="entr" presetSubtype="8" fill="hold" grpId="0" nodeType="afterEffect">
                                  <p:stCondLst>
                                    <p:cond delay="0"/>
                                  </p:stCondLst>
                                  <p:childTnLst>
                                    <p:set>
                                      <p:cBhvr>
                                        <p:cTn id="34" dur="1" fill="hold">
                                          <p:stCondLst>
                                            <p:cond delay="0"/>
                                          </p:stCondLst>
                                        </p:cTn>
                                        <p:tgtEl>
                                          <p:spTgt spid="2">
                                            <p:txEl>
                                              <p:pRg st="0" end="0"/>
                                            </p:txEl>
                                          </p:spTgt>
                                        </p:tgtEl>
                                        <p:attrNameLst>
                                          <p:attrName>style.visibility</p:attrName>
                                        </p:attrNameLst>
                                      </p:cBhvr>
                                      <p:to>
                                        <p:strVal val="visible"/>
                                      </p:to>
                                    </p:set>
                                    <p:animEffect transition="in" filter="wipe(left)">
                                      <p:cBhvr>
                                        <p:cTn id="35" dur="150"/>
                                        <p:tgtEl>
                                          <p:spTgt spid="2">
                                            <p:txEl>
                                              <p:pRg st="0" end="0"/>
                                            </p:txEl>
                                          </p:spTgt>
                                        </p:tgtEl>
                                      </p:cBhvr>
                                    </p:animEffect>
                                  </p:childTnLst>
                                </p:cTn>
                              </p:par>
                            </p:childTnLst>
                          </p:cTn>
                        </p:par>
                        <p:par>
                          <p:cTn id="36" fill="hold">
                            <p:stCondLst>
                              <p:cond delay="1200"/>
                            </p:stCondLst>
                            <p:childTnLst>
                              <p:par>
                                <p:cTn id="37" presetID="22" presetClass="entr" presetSubtype="8" fill="hold" grpId="0" nodeType="afterEffect">
                                  <p:stCondLst>
                                    <p:cond delay="0"/>
                                  </p:stCondLst>
                                  <p:childTnLst>
                                    <p:set>
                                      <p:cBhvr>
                                        <p:cTn id="38" dur="1" fill="hold">
                                          <p:stCondLst>
                                            <p:cond delay="0"/>
                                          </p:stCondLst>
                                        </p:cTn>
                                        <p:tgtEl>
                                          <p:spTgt spid="2">
                                            <p:txEl>
                                              <p:pRg st="1" end="1"/>
                                            </p:txEl>
                                          </p:spTgt>
                                        </p:tgtEl>
                                        <p:attrNameLst>
                                          <p:attrName>style.visibility</p:attrName>
                                        </p:attrNameLst>
                                      </p:cBhvr>
                                      <p:to>
                                        <p:strVal val="visible"/>
                                      </p:to>
                                    </p:set>
                                    <p:animEffect transition="in" filter="wipe(left)">
                                      <p:cBhvr>
                                        <p:cTn id="39" dur="150"/>
                                        <p:tgtEl>
                                          <p:spTgt spid="2">
                                            <p:txEl>
                                              <p:pRg st="1" end="1"/>
                                            </p:txEl>
                                          </p:spTgt>
                                        </p:tgtEl>
                                      </p:cBhvr>
                                    </p:animEffect>
                                  </p:childTnLst>
                                </p:cTn>
                              </p:par>
                            </p:childTnLst>
                          </p:cTn>
                        </p:par>
                        <p:par>
                          <p:cTn id="40" fill="hold">
                            <p:stCondLst>
                              <p:cond delay="1350"/>
                            </p:stCondLst>
                            <p:childTnLst>
                              <p:par>
                                <p:cTn id="41" presetID="22" presetClass="entr" presetSubtype="8" fill="hold" grpId="0" nodeType="afterEffect">
                                  <p:stCondLst>
                                    <p:cond delay="0"/>
                                  </p:stCondLst>
                                  <p:childTnLst>
                                    <p:set>
                                      <p:cBhvr>
                                        <p:cTn id="42" dur="1" fill="hold">
                                          <p:stCondLst>
                                            <p:cond delay="0"/>
                                          </p:stCondLst>
                                        </p:cTn>
                                        <p:tgtEl>
                                          <p:spTgt spid="2">
                                            <p:txEl>
                                              <p:pRg st="2" end="2"/>
                                            </p:txEl>
                                          </p:spTgt>
                                        </p:tgtEl>
                                        <p:attrNameLst>
                                          <p:attrName>style.visibility</p:attrName>
                                        </p:attrNameLst>
                                      </p:cBhvr>
                                      <p:to>
                                        <p:strVal val="visible"/>
                                      </p:to>
                                    </p:set>
                                    <p:animEffect transition="in" filter="wipe(left)">
                                      <p:cBhvr>
                                        <p:cTn id="43" dur="150"/>
                                        <p:tgtEl>
                                          <p:spTgt spid="2">
                                            <p:txEl>
                                              <p:pRg st="2" end="2"/>
                                            </p:txEl>
                                          </p:spTgt>
                                        </p:tgtEl>
                                      </p:cBhvr>
                                    </p:animEffect>
                                  </p:childTnLst>
                                </p:cTn>
                              </p:par>
                            </p:childTnLst>
                          </p:cTn>
                        </p:par>
                        <p:par>
                          <p:cTn id="44" fill="hold">
                            <p:stCondLst>
                              <p:cond delay="1500"/>
                            </p:stCondLst>
                            <p:childTnLst>
                              <p:par>
                                <p:cTn id="45" presetID="22" presetClass="entr" presetSubtype="8" fill="hold" grpId="0" nodeType="afterEffect">
                                  <p:stCondLst>
                                    <p:cond delay="0"/>
                                  </p:stCondLst>
                                  <p:childTnLst>
                                    <p:set>
                                      <p:cBhvr>
                                        <p:cTn id="46" dur="1" fill="hold">
                                          <p:stCondLst>
                                            <p:cond delay="0"/>
                                          </p:stCondLst>
                                        </p:cTn>
                                        <p:tgtEl>
                                          <p:spTgt spid="2">
                                            <p:txEl>
                                              <p:pRg st="3" end="3"/>
                                            </p:txEl>
                                          </p:spTgt>
                                        </p:tgtEl>
                                        <p:attrNameLst>
                                          <p:attrName>style.visibility</p:attrName>
                                        </p:attrNameLst>
                                      </p:cBhvr>
                                      <p:to>
                                        <p:strVal val="visible"/>
                                      </p:to>
                                    </p:set>
                                    <p:animEffect transition="in" filter="wipe(left)">
                                      <p:cBhvr>
                                        <p:cTn id="47" dur="150"/>
                                        <p:tgtEl>
                                          <p:spTgt spid="2">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
                                            <p:txEl>
                                              <p:pRg st="4" end="4"/>
                                            </p:txEl>
                                          </p:spTgt>
                                        </p:tgtEl>
                                        <p:attrNameLst>
                                          <p:attrName>style.visibility</p:attrName>
                                        </p:attrNameLst>
                                      </p:cBhvr>
                                      <p:to>
                                        <p:strVal val="visible"/>
                                      </p:to>
                                    </p:set>
                                    <p:animEffect transition="in" filter="wipe(left)">
                                      <p:cBhvr>
                                        <p:cTn id="52" dur="150"/>
                                        <p:tgtEl>
                                          <p:spTgt spid="2">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
                                            <p:txEl>
                                              <p:pRg st="5" end="5"/>
                                            </p:txEl>
                                          </p:spTgt>
                                        </p:tgtEl>
                                        <p:attrNameLst>
                                          <p:attrName>style.visibility</p:attrName>
                                        </p:attrNameLst>
                                      </p:cBhvr>
                                      <p:to>
                                        <p:strVal val="visible"/>
                                      </p:to>
                                    </p:set>
                                    <p:animEffect transition="in" filter="wipe(left)">
                                      <p:cBhvr>
                                        <p:cTn id="57" dur="150"/>
                                        <p:tgtEl>
                                          <p:spTgt spid="2">
                                            <p:txEl>
                                              <p:pRg st="5" end="5"/>
                                            </p:txEl>
                                          </p:spTgt>
                                        </p:tgtEl>
                                      </p:cBhvr>
                                    </p:animEffect>
                                  </p:childTnLst>
                                </p:cTn>
                              </p:par>
                            </p:childTnLst>
                          </p:cTn>
                        </p:par>
                        <p:par>
                          <p:cTn id="58" fill="hold">
                            <p:stCondLst>
                              <p:cond delay="150"/>
                            </p:stCondLst>
                            <p:childTnLst>
                              <p:par>
                                <p:cTn id="59" presetID="22" presetClass="entr" presetSubtype="8" fill="hold" grpId="0" nodeType="afterEffect">
                                  <p:stCondLst>
                                    <p:cond delay="0"/>
                                  </p:stCondLst>
                                  <p:childTnLst>
                                    <p:set>
                                      <p:cBhvr>
                                        <p:cTn id="60" dur="1" fill="hold">
                                          <p:stCondLst>
                                            <p:cond delay="0"/>
                                          </p:stCondLst>
                                        </p:cTn>
                                        <p:tgtEl>
                                          <p:spTgt spid="2">
                                            <p:txEl>
                                              <p:pRg st="6" end="6"/>
                                            </p:txEl>
                                          </p:spTgt>
                                        </p:tgtEl>
                                        <p:attrNameLst>
                                          <p:attrName>style.visibility</p:attrName>
                                        </p:attrNameLst>
                                      </p:cBhvr>
                                      <p:to>
                                        <p:strVal val="visible"/>
                                      </p:to>
                                    </p:set>
                                    <p:animEffect transition="in" filter="wipe(left)">
                                      <p:cBhvr>
                                        <p:cTn id="61" dur="150"/>
                                        <p:tgtEl>
                                          <p:spTgt spid="2">
                                            <p:txEl>
                                              <p:pRg st="6" end="6"/>
                                            </p:txEl>
                                          </p:spTgt>
                                        </p:tgtEl>
                                      </p:cBhvr>
                                    </p:animEffect>
                                  </p:childTnLst>
                                </p:cTn>
                              </p:par>
                            </p:childTnLst>
                          </p:cTn>
                        </p:par>
                        <p:par>
                          <p:cTn id="62" fill="hold">
                            <p:stCondLst>
                              <p:cond delay="300"/>
                            </p:stCondLst>
                            <p:childTnLst>
                              <p:par>
                                <p:cTn id="63" presetID="22" presetClass="entr" presetSubtype="8" fill="hold" grpId="0" nodeType="afterEffect">
                                  <p:stCondLst>
                                    <p:cond delay="0"/>
                                  </p:stCondLst>
                                  <p:childTnLst>
                                    <p:set>
                                      <p:cBhvr>
                                        <p:cTn id="64" dur="1" fill="hold">
                                          <p:stCondLst>
                                            <p:cond delay="0"/>
                                          </p:stCondLst>
                                        </p:cTn>
                                        <p:tgtEl>
                                          <p:spTgt spid="2">
                                            <p:txEl>
                                              <p:pRg st="7" end="7"/>
                                            </p:txEl>
                                          </p:spTgt>
                                        </p:tgtEl>
                                        <p:attrNameLst>
                                          <p:attrName>style.visibility</p:attrName>
                                        </p:attrNameLst>
                                      </p:cBhvr>
                                      <p:to>
                                        <p:strVal val="visible"/>
                                      </p:to>
                                    </p:set>
                                    <p:animEffect transition="in" filter="wipe(left)">
                                      <p:cBhvr>
                                        <p:cTn id="65" dur="150"/>
                                        <p:tgtEl>
                                          <p:spTgt spid="2">
                                            <p:txEl>
                                              <p:pRg st="7" end="7"/>
                                            </p:txEl>
                                          </p:spTgt>
                                        </p:tgtEl>
                                      </p:cBhvr>
                                    </p:animEffect>
                                  </p:childTnLst>
                                </p:cTn>
                              </p:par>
                            </p:childTnLst>
                          </p:cTn>
                        </p:par>
                        <p:par>
                          <p:cTn id="66" fill="hold">
                            <p:stCondLst>
                              <p:cond delay="450"/>
                            </p:stCondLst>
                            <p:childTnLst>
                              <p:par>
                                <p:cTn id="67" presetID="22" presetClass="entr" presetSubtype="8" fill="hold" grpId="0" nodeType="afterEffect">
                                  <p:stCondLst>
                                    <p:cond delay="0"/>
                                  </p:stCondLst>
                                  <p:childTnLst>
                                    <p:set>
                                      <p:cBhvr>
                                        <p:cTn id="68" dur="1" fill="hold">
                                          <p:stCondLst>
                                            <p:cond delay="0"/>
                                          </p:stCondLst>
                                        </p:cTn>
                                        <p:tgtEl>
                                          <p:spTgt spid="2">
                                            <p:txEl>
                                              <p:pRg st="8" end="8"/>
                                            </p:txEl>
                                          </p:spTgt>
                                        </p:tgtEl>
                                        <p:attrNameLst>
                                          <p:attrName>style.visibility</p:attrName>
                                        </p:attrNameLst>
                                      </p:cBhvr>
                                      <p:to>
                                        <p:strVal val="visible"/>
                                      </p:to>
                                    </p:set>
                                    <p:animEffect transition="in" filter="wipe(left)">
                                      <p:cBhvr>
                                        <p:cTn id="69" dur="15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2"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DC313-CA69-02A3-FF30-D02051F6AEA5}"/>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186A49B6-1540-8F20-9828-DA84AC2E4654}"/>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5AA8E75C-0CF9-7F1A-24C6-4D4113D894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699B5F88-8B22-5944-61C7-75D35CBB24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552B50F3-DBB2-95A0-8E3D-BEE5D1C4151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97DFFD5C-E8E7-0384-FA7F-36DE98B1DC28}"/>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D528281E-FECC-AE8B-A37F-81D8A1123E97}"/>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CAACEE3B-9A9A-5A3E-A16D-5607E983B0DB}"/>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F7A1CFF9-7BFC-9132-816D-F5F8308325F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9484557A-9C97-9B1A-DEAF-F78026A2B7CF}"/>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1984C3E4-54BC-8A44-EB25-417A3166D35B}"/>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50C777B5-FD31-849C-E4EE-1D2FED17E32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9EE960B4-B455-0277-A0C7-BD86FD016079}"/>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MQTT</a:t>
            </a:r>
            <a:endParaRPr lang="aa-ET" dirty="0">
              <a:solidFill>
                <a:schemeClr val="accent1"/>
              </a:solidFill>
              <a:latin typeface="Century Gothic" panose="020B0502020202020204" pitchFamily="34" charset="0"/>
            </a:endParaRPr>
          </a:p>
        </p:txBody>
      </p:sp>
      <p:pic>
        <p:nvPicPr>
          <p:cNvPr id="3" name="Graphic 2" descr="Cloud with solid fill">
            <a:extLst>
              <a:ext uri="{FF2B5EF4-FFF2-40B4-BE49-F238E27FC236}">
                <a16:creationId xmlns:a16="http://schemas.microsoft.com/office/drawing/2014/main" id="{6E13B8A1-39D5-4638-6F56-845BBE3EFCB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100880" y="3429000"/>
            <a:ext cx="773879" cy="773879"/>
          </a:xfrm>
          <a:prstGeom prst="rect">
            <a:avLst/>
          </a:prstGeom>
        </p:spPr>
      </p:pic>
      <p:sp>
        <p:nvSpPr>
          <p:cNvPr id="18" name="Freeform: Shape 17">
            <a:extLst>
              <a:ext uri="{FF2B5EF4-FFF2-40B4-BE49-F238E27FC236}">
                <a16:creationId xmlns:a16="http://schemas.microsoft.com/office/drawing/2014/main" id="{1BCA76B9-F0DE-C680-5B89-048C7F8D904E}"/>
              </a:ext>
            </a:extLst>
          </p:cNvPr>
          <p:cNvSpPr/>
          <p:nvPr/>
        </p:nvSpPr>
        <p:spPr>
          <a:xfrm rot="18900000">
            <a:off x="8426142" y="3880427"/>
            <a:ext cx="100553" cy="100553"/>
          </a:xfrm>
          <a:custGeom>
            <a:avLst/>
            <a:gdLst>
              <a:gd name="connsiteX0" fmla="*/ 0 w 353017"/>
              <a:gd name="connsiteY0" fmla="*/ 0 h 353017"/>
              <a:gd name="connsiteX1" fmla="*/ 33 w 353017"/>
              <a:gd name="connsiteY1" fmla="*/ 116251 h 353017"/>
              <a:gd name="connsiteX2" fmla="*/ 166130 w 353017"/>
              <a:gd name="connsiteY2" fmla="*/ 186887 h 353017"/>
              <a:gd name="connsiteX3" fmla="*/ 236763 w 353017"/>
              <a:gd name="connsiteY3" fmla="*/ 352987 h 353017"/>
              <a:gd name="connsiteX4" fmla="*/ 353017 w 353017"/>
              <a:gd name="connsiteY4" fmla="*/ 353017 h 353017"/>
              <a:gd name="connsiteX5" fmla="*/ 0 w 353017"/>
              <a:gd name="connsiteY5" fmla="*/ 0 h 353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3017" h="353017">
                <a:moveTo>
                  <a:pt x="0" y="0"/>
                </a:moveTo>
                <a:lnTo>
                  <a:pt x="33" y="116251"/>
                </a:lnTo>
                <a:cubicBezTo>
                  <a:pt x="62593" y="116747"/>
                  <a:pt x="122376" y="142167"/>
                  <a:pt x="166130" y="186887"/>
                </a:cubicBezTo>
                <a:cubicBezTo>
                  <a:pt x="210372" y="230965"/>
                  <a:pt x="235706" y="290545"/>
                  <a:pt x="236763" y="352987"/>
                </a:cubicBezTo>
                <a:lnTo>
                  <a:pt x="353017" y="353017"/>
                </a:lnTo>
                <a:cubicBezTo>
                  <a:pt x="352129" y="158421"/>
                  <a:pt x="194596" y="888"/>
                  <a:pt x="0" y="0"/>
                </a:cubicBezTo>
                <a:close/>
              </a:path>
            </a:pathLst>
          </a:custGeom>
          <a:solidFill>
            <a:schemeClr val="tx1"/>
          </a:solidFill>
          <a:ln w="29666"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B2C6BAE2-97FD-2DE6-4CD5-F55FD7E181B0}"/>
              </a:ext>
            </a:extLst>
          </p:cNvPr>
          <p:cNvSpPr/>
          <p:nvPr/>
        </p:nvSpPr>
        <p:spPr>
          <a:xfrm rot="18900000">
            <a:off x="8393017" y="3800549"/>
            <a:ext cx="166803" cy="166803"/>
          </a:xfrm>
          <a:custGeom>
            <a:avLst/>
            <a:gdLst>
              <a:gd name="connsiteX0" fmla="*/ 585594 w 585607"/>
              <a:gd name="connsiteY0" fmla="*/ 585607 h 585607"/>
              <a:gd name="connsiteX1" fmla="*/ 7914 w 585607"/>
              <a:gd name="connsiteY1" fmla="*/ 13 h 585607"/>
              <a:gd name="connsiteX2" fmla="*/ 0 w 585607"/>
              <a:gd name="connsiteY2" fmla="*/ 13 h 585607"/>
              <a:gd name="connsiteX3" fmla="*/ 33 w 585607"/>
              <a:gd name="connsiteY3" fmla="*/ 116274 h 585607"/>
              <a:gd name="connsiteX4" fmla="*/ 469340 w 585607"/>
              <a:gd name="connsiteY4" fmla="*/ 583191 h 585607"/>
              <a:gd name="connsiteX5" fmla="*/ 469340 w 585607"/>
              <a:gd name="connsiteY5" fmla="*/ 585572 h 58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5607" h="585607">
                <a:moveTo>
                  <a:pt x="585594" y="585607"/>
                </a:moveTo>
                <a:cubicBezTo>
                  <a:pt x="587779" y="264378"/>
                  <a:pt x="329143" y="2198"/>
                  <a:pt x="7914" y="13"/>
                </a:cubicBezTo>
                <a:cubicBezTo>
                  <a:pt x="5275" y="-4"/>
                  <a:pt x="2639" y="-4"/>
                  <a:pt x="0" y="13"/>
                </a:cubicBezTo>
                <a:lnTo>
                  <a:pt x="33" y="116274"/>
                </a:lnTo>
                <a:cubicBezTo>
                  <a:pt x="258564" y="115615"/>
                  <a:pt x="468680" y="324659"/>
                  <a:pt x="469340" y="583191"/>
                </a:cubicBezTo>
                <a:cubicBezTo>
                  <a:pt x="469342" y="583983"/>
                  <a:pt x="469342" y="584779"/>
                  <a:pt x="469340" y="585572"/>
                </a:cubicBezTo>
                <a:close/>
              </a:path>
            </a:pathLst>
          </a:custGeom>
          <a:solidFill>
            <a:schemeClr val="tx1"/>
          </a:solidFill>
          <a:ln w="29666"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57062E7-0EBC-1182-7EF9-F4BFF04B6C52}"/>
              </a:ext>
            </a:extLst>
          </p:cNvPr>
          <p:cNvSpPr/>
          <p:nvPr/>
        </p:nvSpPr>
        <p:spPr>
          <a:xfrm rot="18900000">
            <a:off x="8359304" y="3719250"/>
            <a:ext cx="234229" cy="234229"/>
          </a:xfrm>
          <a:custGeom>
            <a:avLst/>
            <a:gdLst>
              <a:gd name="connsiteX0" fmla="*/ 0 w 822323"/>
              <a:gd name="connsiteY0" fmla="*/ 0 h 822322"/>
              <a:gd name="connsiteX1" fmla="*/ 33 w 822323"/>
              <a:gd name="connsiteY1" fmla="*/ 116251 h 822322"/>
              <a:gd name="connsiteX2" fmla="*/ 706067 w 822323"/>
              <a:gd name="connsiteY2" fmla="*/ 822293 h 822322"/>
              <a:gd name="connsiteX3" fmla="*/ 822324 w 822323"/>
              <a:gd name="connsiteY3" fmla="*/ 822322 h 822322"/>
              <a:gd name="connsiteX4" fmla="*/ 0 w 822323"/>
              <a:gd name="connsiteY4" fmla="*/ 0 h 822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2323" h="822322">
                <a:moveTo>
                  <a:pt x="0" y="0"/>
                </a:moveTo>
                <a:lnTo>
                  <a:pt x="33" y="116251"/>
                </a:lnTo>
                <a:cubicBezTo>
                  <a:pt x="389226" y="118034"/>
                  <a:pt x="704289" y="433100"/>
                  <a:pt x="706067" y="822293"/>
                </a:cubicBezTo>
                <a:lnTo>
                  <a:pt x="822324" y="822322"/>
                </a:lnTo>
                <a:cubicBezTo>
                  <a:pt x="822090" y="368262"/>
                  <a:pt x="454057" y="233"/>
                  <a:pt x="0" y="0"/>
                </a:cubicBezTo>
                <a:close/>
              </a:path>
            </a:pathLst>
          </a:custGeom>
          <a:solidFill>
            <a:schemeClr val="tx1"/>
          </a:solidFill>
          <a:ln w="29666" cap="flat">
            <a:noFill/>
            <a:prstDash val="solid"/>
            <a:miter/>
          </a:ln>
        </p:spPr>
        <p:txBody>
          <a:bodyPr rtlCol="0" anchor="ctr"/>
          <a:lstStyle/>
          <a:p>
            <a:endParaRPr lang="en-US"/>
          </a:p>
        </p:txBody>
      </p:sp>
      <p:sp>
        <p:nvSpPr>
          <p:cNvPr id="24" name="TextBox 23">
            <a:extLst>
              <a:ext uri="{FF2B5EF4-FFF2-40B4-BE49-F238E27FC236}">
                <a16:creationId xmlns:a16="http://schemas.microsoft.com/office/drawing/2014/main" id="{ADA8F70C-5C5D-83C2-9692-D2A8B8BCCE57}"/>
              </a:ext>
            </a:extLst>
          </p:cNvPr>
          <p:cNvSpPr txBox="1"/>
          <p:nvPr/>
        </p:nvSpPr>
        <p:spPr>
          <a:xfrm>
            <a:off x="7736227" y="4015812"/>
            <a:ext cx="1480381"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Broker</a:t>
            </a:r>
          </a:p>
        </p:txBody>
      </p:sp>
      <p:sp>
        <p:nvSpPr>
          <p:cNvPr id="2" name="TextBox 1">
            <a:extLst>
              <a:ext uri="{FF2B5EF4-FFF2-40B4-BE49-F238E27FC236}">
                <a16:creationId xmlns:a16="http://schemas.microsoft.com/office/drawing/2014/main" id="{EEBD965F-C57A-8A8C-C6D8-508153713FD1}"/>
              </a:ext>
            </a:extLst>
          </p:cNvPr>
          <p:cNvSpPr txBox="1"/>
          <p:nvPr/>
        </p:nvSpPr>
        <p:spPr>
          <a:xfrm>
            <a:off x="1080784" y="1687045"/>
            <a:ext cx="7576500" cy="2585323"/>
          </a:xfrm>
          <a:prstGeom prst="rect">
            <a:avLst/>
          </a:prstGeom>
          <a:noFill/>
        </p:spPr>
        <p:txBody>
          <a:bodyPr wrap="square" rtlCol="0">
            <a:spAutoFit/>
          </a:bodyPr>
          <a:lstStyle/>
          <a:p>
            <a:r>
              <a:rPr lang="en-US" dirty="0">
                <a:solidFill>
                  <a:schemeClr val="accent1"/>
                </a:solidFill>
              </a:rPr>
              <a:t>    </a:t>
            </a:r>
            <a:r>
              <a:rPr lang="en-US" dirty="0">
                <a:solidFill>
                  <a:schemeClr val="accent5"/>
                </a:solidFill>
              </a:rPr>
              <a:t>"forms"</a:t>
            </a:r>
            <a:r>
              <a:rPr lang="en-US" dirty="0">
                <a:solidFill>
                  <a:schemeClr val="accent1"/>
                </a:solidFill>
              </a:rPr>
              <a:t>: [</a:t>
            </a:r>
          </a:p>
          <a:p>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a:t>
            </a:r>
            <a:r>
              <a:rPr lang="en-US" dirty="0" err="1">
                <a:solidFill>
                  <a:schemeClr val="accent1"/>
                </a:solidFill>
              </a:rPr>
              <a:t>mqtt</a:t>
            </a:r>
            <a:r>
              <a:rPr lang="en-US" dirty="0">
                <a:solidFill>
                  <a:schemeClr val="accent1"/>
                </a:solidFill>
              </a:rPr>
              <a:t>://broker.example.com:1883,</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subscribeevent</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mqv:filter</a:t>
            </a:r>
            <a:r>
              <a:rPr lang="en-US" dirty="0">
                <a:solidFill>
                  <a:schemeClr val="accent5"/>
                </a:solidFill>
              </a:rPr>
              <a:t>"</a:t>
            </a:r>
            <a:r>
              <a:rPr lang="en-US" dirty="0">
                <a:solidFill>
                  <a:schemeClr val="accent1"/>
                </a:solidFill>
              </a:rPr>
              <a:t>: "coffee/events/</a:t>
            </a:r>
            <a:r>
              <a:rPr lang="en-US" dirty="0" err="1">
                <a:solidFill>
                  <a:schemeClr val="accent1"/>
                </a:solidFill>
              </a:rPr>
              <a:t>lowOnWater</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mqv:qos</a:t>
            </a:r>
            <a:r>
              <a:rPr lang="en-US" dirty="0">
                <a:solidFill>
                  <a:schemeClr val="accent5"/>
                </a:solidFill>
              </a:rPr>
              <a:t>"</a:t>
            </a:r>
            <a:r>
              <a:rPr lang="en-US" dirty="0">
                <a:solidFill>
                  <a:schemeClr val="accent1"/>
                </a:solidFill>
              </a:rPr>
              <a:t>: "1",</a:t>
            </a:r>
          </a:p>
          <a:p>
            <a:r>
              <a:rPr lang="en-US" dirty="0">
                <a:solidFill>
                  <a:schemeClr val="accent1"/>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"text/plain"</a:t>
            </a:r>
          </a:p>
          <a:p>
            <a:r>
              <a:rPr lang="en-US" dirty="0">
                <a:solidFill>
                  <a:schemeClr val="accent1"/>
                </a:solidFill>
              </a:rPr>
              <a:t>      }</a:t>
            </a:r>
          </a:p>
          <a:p>
            <a:r>
              <a:rPr lang="en-US" dirty="0">
                <a:solidFill>
                  <a:schemeClr val="accent1"/>
                </a:solidFill>
              </a:rPr>
              <a:t>    ]</a:t>
            </a:r>
          </a:p>
        </p:txBody>
      </p:sp>
      <p:sp>
        <p:nvSpPr>
          <p:cNvPr id="16" name="ReqLabel">
            <a:extLst>
              <a:ext uri="{FF2B5EF4-FFF2-40B4-BE49-F238E27FC236}">
                <a16:creationId xmlns:a16="http://schemas.microsoft.com/office/drawing/2014/main" id="{4B3DB3F3-041F-66D9-88CE-19F172A5ED8E}"/>
              </a:ext>
            </a:extLst>
          </p:cNvPr>
          <p:cNvSpPr txBox="1"/>
          <p:nvPr/>
        </p:nvSpPr>
        <p:spPr>
          <a:xfrm>
            <a:off x="1377262" y="4658710"/>
            <a:ext cx="3143938" cy="40011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2"/>
                </a:solidFill>
                <a:latin typeface="Century Gothic" panose="020B0502020202020204" pitchFamily="34" charset="0"/>
              </a:rPr>
              <a:t>► CONSUMER CONTROL PACKET</a:t>
            </a:r>
          </a:p>
        </p:txBody>
      </p:sp>
    </p:spTree>
    <p:extLst>
      <p:ext uri="{BB962C8B-B14F-4D97-AF65-F5344CB8AC3E}">
        <p14:creationId xmlns:p14="http://schemas.microsoft.com/office/powerpoint/2010/main" val="6502578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BFA01-EBDF-C1EE-5503-5E03B29167EF}"/>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E5130B39-AEF8-648F-B174-004897821425}"/>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35F6B40B-50D1-1B30-CF91-BCD0800DCB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1758ACD1-C74F-72E3-E0DD-50164712E6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1A8A699B-1509-F3B6-2ACC-1C5842BC908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4EEBBD90-6756-76B0-4546-24C2E14BC65E}"/>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C70A6803-7CD9-0A7D-142E-8FE796ADC590}"/>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70B781A8-7281-F58C-9085-DC15F1E58403}"/>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6E5AF693-9E65-BA6C-1A5A-D9F49FC52AD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8F847CF8-DBC8-1C1C-3680-4DF6BD5B1F32}"/>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A946E02A-1537-090A-E88F-0445204FD0E0}"/>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E5FE46A8-4C98-7082-18D0-EAD0EB803CF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B0781F94-7942-F7CA-D7E3-DDAA11CF72C8}"/>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MQTT</a:t>
            </a:r>
            <a:endParaRPr lang="aa-ET" dirty="0">
              <a:solidFill>
                <a:schemeClr val="accent1"/>
              </a:solidFill>
              <a:latin typeface="Century Gothic" panose="020B0502020202020204" pitchFamily="34" charset="0"/>
            </a:endParaRPr>
          </a:p>
        </p:txBody>
      </p:sp>
      <p:pic>
        <p:nvPicPr>
          <p:cNvPr id="3" name="Graphic 2" descr="Cloud with solid fill">
            <a:extLst>
              <a:ext uri="{FF2B5EF4-FFF2-40B4-BE49-F238E27FC236}">
                <a16:creationId xmlns:a16="http://schemas.microsoft.com/office/drawing/2014/main" id="{D311882D-E315-13B5-6EFB-292A7815522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100880" y="3429000"/>
            <a:ext cx="773879" cy="773879"/>
          </a:xfrm>
          <a:prstGeom prst="rect">
            <a:avLst/>
          </a:prstGeom>
        </p:spPr>
      </p:pic>
      <p:sp>
        <p:nvSpPr>
          <p:cNvPr id="18" name="Freeform: Shape 17">
            <a:extLst>
              <a:ext uri="{FF2B5EF4-FFF2-40B4-BE49-F238E27FC236}">
                <a16:creationId xmlns:a16="http://schemas.microsoft.com/office/drawing/2014/main" id="{2A211D97-0231-6A6B-FC0D-A24320288D73}"/>
              </a:ext>
            </a:extLst>
          </p:cNvPr>
          <p:cNvSpPr/>
          <p:nvPr/>
        </p:nvSpPr>
        <p:spPr>
          <a:xfrm rot="18900000">
            <a:off x="8426142" y="3880427"/>
            <a:ext cx="100553" cy="100553"/>
          </a:xfrm>
          <a:custGeom>
            <a:avLst/>
            <a:gdLst>
              <a:gd name="connsiteX0" fmla="*/ 0 w 353017"/>
              <a:gd name="connsiteY0" fmla="*/ 0 h 353017"/>
              <a:gd name="connsiteX1" fmla="*/ 33 w 353017"/>
              <a:gd name="connsiteY1" fmla="*/ 116251 h 353017"/>
              <a:gd name="connsiteX2" fmla="*/ 166130 w 353017"/>
              <a:gd name="connsiteY2" fmla="*/ 186887 h 353017"/>
              <a:gd name="connsiteX3" fmla="*/ 236763 w 353017"/>
              <a:gd name="connsiteY3" fmla="*/ 352987 h 353017"/>
              <a:gd name="connsiteX4" fmla="*/ 353017 w 353017"/>
              <a:gd name="connsiteY4" fmla="*/ 353017 h 353017"/>
              <a:gd name="connsiteX5" fmla="*/ 0 w 353017"/>
              <a:gd name="connsiteY5" fmla="*/ 0 h 353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3017" h="353017">
                <a:moveTo>
                  <a:pt x="0" y="0"/>
                </a:moveTo>
                <a:lnTo>
                  <a:pt x="33" y="116251"/>
                </a:lnTo>
                <a:cubicBezTo>
                  <a:pt x="62593" y="116747"/>
                  <a:pt x="122376" y="142167"/>
                  <a:pt x="166130" y="186887"/>
                </a:cubicBezTo>
                <a:cubicBezTo>
                  <a:pt x="210372" y="230965"/>
                  <a:pt x="235706" y="290545"/>
                  <a:pt x="236763" y="352987"/>
                </a:cubicBezTo>
                <a:lnTo>
                  <a:pt x="353017" y="353017"/>
                </a:lnTo>
                <a:cubicBezTo>
                  <a:pt x="352129" y="158421"/>
                  <a:pt x="194596" y="888"/>
                  <a:pt x="0" y="0"/>
                </a:cubicBezTo>
                <a:close/>
              </a:path>
            </a:pathLst>
          </a:custGeom>
          <a:solidFill>
            <a:schemeClr val="tx1"/>
          </a:solidFill>
          <a:ln w="29666"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16799190-BE09-3689-D3CC-B1D184A29D59}"/>
              </a:ext>
            </a:extLst>
          </p:cNvPr>
          <p:cNvSpPr/>
          <p:nvPr/>
        </p:nvSpPr>
        <p:spPr>
          <a:xfrm rot="18900000">
            <a:off x="8393017" y="3800549"/>
            <a:ext cx="166803" cy="166803"/>
          </a:xfrm>
          <a:custGeom>
            <a:avLst/>
            <a:gdLst>
              <a:gd name="connsiteX0" fmla="*/ 585594 w 585607"/>
              <a:gd name="connsiteY0" fmla="*/ 585607 h 585607"/>
              <a:gd name="connsiteX1" fmla="*/ 7914 w 585607"/>
              <a:gd name="connsiteY1" fmla="*/ 13 h 585607"/>
              <a:gd name="connsiteX2" fmla="*/ 0 w 585607"/>
              <a:gd name="connsiteY2" fmla="*/ 13 h 585607"/>
              <a:gd name="connsiteX3" fmla="*/ 33 w 585607"/>
              <a:gd name="connsiteY3" fmla="*/ 116274 h 585607"/>
              <a:gd name="connsiteX4" fmla="*/ 469340 w 585607"/>
              <a:gd name="connsiteY4" fmla="*/ 583191 h 585607"/>
              <a:gd name="connsiteX5" fmla="*/ 469340 w 585607"/>
              <a:gd name="connsiteY5" fmla="*/ 585572 h 58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5607" h="585607">
                <a:moveTo>
                  <a:pt x="585594" y="585607"/>
                </a:moveTo>
                <a:cubicBezTo>
                  <a:pt x="587779" y="264378"/>
                  <a:pt x="329143" y="2198"/>
                  <a:pt x="7914" y="13"/>
                </a:cubicBezTo>
                <a:cubicBezTo>
                  <a:pt x="5275" y="-4"/>
                  <a:pt x="2639" y="-4"/>
                  <a:pt x="0" y="13"/>
                </a:cubicBezTo>
                <a:lnTo>
                  <a:pt x="33" y="116274"/>
                </a:lnTo>
                <a:cubicBezTo>
                  <a:pt x="258564" y="115615"/>
                  <a:pt x="468680" y="324659"/>
                  <a:pt x="469340" y="583191"/>
                </a:cubicBezTo>
                <a:cubicBezTo>
                  <a:pt x="469342" y="583983"/>
                  <a:pt x="469342" y="584779"/>
                  <a:pt x="469340" y="585572"/>
                </a:cubicBezTo>
                <a:close/>
              </a:path>
            </a:pathLst>
          </a:custGeom>
          <a:solidFill>
            <a:schemeClr val="tx1"/>
          </a:solidFill>
          <a:ln w="29666"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323B905B-96CE-8F69-ABA8-6C0B99452CB3}"/>
              </a:ext>
            </a:extLst>
          </p:cNvPr>
          <p:cNvSpPr/>
          <p:nvPr/>
        </p:nvSpPr>
        <p:spPr>
          <a:xfrm rot="18900000">
            <a:off x="8359304" y="3719250"/>
            <a:ext cx="234229" cy="234229"/>
          </a:xfrm>
          <a:custGeom>
            <a:avLst/>
            <a:gdLst>
              <a:gd name="connsiteX0" fmla="*/ 0 w 822323"/>
              <a:gd name="connsiteY0" fmla="*/ 0 h 822322"/>
              <a:gd name="connsiteX1" fmla="*/ 33 w 822323"/>
              <a:gd name="connsiteY1" fmla="*/ 116251 h 822322"/>
              <a:gd name="connsiteX2" fmla="*/ 706067 w 822323"/>
              <a:gd name="connsiteY2" fmla="*/ 822293 h 822322"/>
              <a:gd name="connsiteX3" fmla="*/ 822324 w 822323"/>
              <a:gd name="connsiteY3" fmla="*/ 822322 h 822322"/>
              <a:gd name="connsiteX4" fmla="*/ 0 w 822323"/>
              <a:gd name="connsiteY4" fmla="*/ 0 h 822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2323" h="822322">
                <a:moveTo>
                  <a:pt x="0" y="0"/>
                </a:moveTo>
                <a:lnTo>
                  <a:pt x="33" y="116251"/>
                </a:lnTo>
                <a:cubicBezTo>
                  <a:pt x="389226" y="118034"/>
                  <a:pt x="704289" y="433100"/>
                  <a:pt x="706067" y="822293"/>
                </a:cubicBezTo>
                <a:lnTo>
                  <a:pt x="822324" y="822322"/>
                </a:lnTo>
                <a:cubicBezTo>
                  <a:pt x="822090" y="368262"/>
                  <a:pt x="454057" y="233"/>
                  <a:pt x="0" y="0"/>
                </a:cubicBezTo>
                <a:close/>
              </a:path>
            </a:pathLst>
          </a:custGeom>
          <a:solidFill>
            <a:schemeClr val="tx1"/>
          </a:solidFill>
          <a:ln w="29666" cap="flat">
            <a:noFill/>
            <a:prstDash val="solid"/>
            <a:miter/>
          </a:ln>
        </p:spPr>
        <p:txBody>
          <a:bodyPr rtlCol="0" anchor="ctr"/>
          <a:lstStyle/>
          <a:p>
            <a:endParaRPr lang="en-US"/>
          </a:p>
        </p:txBody>
      </p:sp>
      <p:sp>
        <p:nvSpPr>
          <p:cNvPr id="24" name="TextBox 23">
            <a:extLst>
              <a:ext uri="{FF2B5EF4-FFF2-40B4-BE49-F238E27FC236}">
                <a16:creationId xmlns:a16="http://schemas.microsoft.com/office/drawing/2014/main" id="{E04D585D-2959-40DB-FA69-ACC5BC1EAE24}"/>
              </a:ext>
            </a:extLst>
          </p:cNvPr>
          <p:cNvSpPr txBox="1"/>
          <p:nvPr/>
        </p:nvSpPr>
        <p:spPr>
          <a:xfrm>
            <a:off x="7736227" y="4015812"/>
            <a:ext cx="1480381"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Broker</a:t>
            </a:r>
          </a:p>
        </p:txBody>
      </p:sp>
      <p:sp>
        <p:nvSpPr>
          <p:cNvPr id="2" name="TextBox 1">
            <a:extLst>
              <a:ext uri="{FF2B5EF4-FFF2-40B4-BE49-F238E27FC236}">
                <a16:creationId xmlns:a16="http://schemas.microsoft.com/office/drawing/2014/main" id="{AE2443DE-A094-E395-0858-3C1B61D6DD42}"/>
              </a:ext>
            </a:extLst>
          </p:cNvPr>
          <p:cNvSpPr txBox="1"/>
          <p:nvPr/>
        </p:nvSpPr>
        <p:spPr>
          <a:xfrm>
            <a:off x="1080784" y="1687045"/>
            <a:ext cx="7576500" cy="2585323"/>
          </a:xfrm>
          <a:prstGeom prst="rect">
            <a:avLst/>
          </a:prstGeom>
          <a:noFill/>
        </p:spPr>
        <p:txBody>
          <a:bodyPr wrap="square" rtlCol="0">
            <a:spAutoFit/>
          </a:bodyPr>
          <a:lstStyle/>
          <a:p>
            <a:r>
              <a:rPr lang="en-US" dirty="0">
                <a:solidFill>
                  <a:schemeClr val="accent3">
                    <a:lumMod val="65000"/>
                  </a:schemeClr>
                </a:solidFill>
              </a:rPr>
              <a:t>    "forms": [</a:t>
            </a:r>
          </a:p>
          <a:p>
            <a:r>
              <a:rPr lang="en-US" dirty="0">
                <a:solidFill>
                  <a:schemeClr val="accent3">
                    <a:lumMod val="65000"/>
                  </a:schemeClr>
                </a:solidFill>
              </a:rPr>
              <a:t>      {</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a:t>
            </a:r>
            <a:r>
              <a:rPr lang="en-US" dirty="0" err="1">
                <a:solidFill>
                  <a:schemeClr val="accent1"/>
                </a:solidFill>
              </a:rPr>
              <a:t>mqtt</a:t>
            </a:r>
            <a:r>
              <a:rPr lang="en-US" dirty="0">
                <a:solidFill>
                  <a:schemeClr val="accent1"/>
                </a:solidFill>
              </a:rPr>
              <a:t>://broker.example.com:1883,</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subscribeevent</a:t>
            </a:r>
            <a:r>
              <a:rPr lang="en-US" dirty="0">
                <a:solidFill>
                  <a:schemeClr val="accent1"/>
                </a:solidFill>
              </a:rPr>
              <a:t>",</a:t>
            </a:r>
          </a:p>
          <a:p>
            <a:r>
              <a:rPr lang="en-US" dirty="0">
                <a:solidFill>
                  <a:schemeClr val="accent3">
                    <a:lumMod val="65000"/>
                  </a:schemeClr>
                </a:solidFill>
              </a:rPr>
              <a:t>        "</a:t>
            </a:r>
            <a:r>
              <a:rPr lang="en-US" dirty="0" err="1">
                <a:solidFill>
                  <a:schemeClr val="accent3">
                    <a:lumMod val="65000"/>
                  </a:schemeClr>
                </a:solidFill>
              </a:rPr>
              <a:t>mqv:filter</a:t>
            </a:r>
            <a:r>
              <a:rPr lang="en-US" dirty="0">
                <a:solidFill>
                  <a:schemeClr val="accent3">
                    <a:lumMod val="65000"/>
                  </a:schemeClr>
                </a:solidFill>
              </a:rPr>
              <a:t>": "coffee/events/</a:t>
            </a:r>
            <a:r>
              <a:rPr lang="en-US" dirty="0" err="1">
                <a:solidFill>
                  <a:schemeClr val="accent3">
                    <a:lumMod val="65000"/>
                  </a:schemeClr>
                </a:solidFill>
              </a:rPr>
              <a:t>lowOnWater</a:t>
            </a:r>
            <a:r>
              <a:rPr lang="en-US" dirty="0">
                <a:solidFill>
                  <a:schemeClr val="accent3">
                    <a:lumMod val="65000"/>
                  </a:schemeClr>
                </a:solidFill>
              </a:rPr>
              <a:t>",</a:t>
            </a:r>
          </a:p>
          <a:p>
            <a:r>
              <a:rPr lang="en-US" dirty="0">
                <a:solidFill>
                  <a:schemeClr val="accent3">
                    <a:lumMod val="65000"/>
                  </a:schemeClr>
                </a:solidFill>
              </a:rPr>
              <a:t>        "</a:t>
            </a:r>
            <a:r>
              <a:rPr lang="en-US" dirty="0" err="1">
                <a:solidFill>
                  <a:schemeClr val="accent3">
                    <a:lumMod val="65000"/>
                  </a:schemeClr>
                </a:solidFill>
              </a:rPr>
              <a:t>mqv:qos</a:t>
            </a:r>
            <a:r>
              <a:rPr lang="en-US" dirty="0">
                <a:solidFill>
                  <a:schemeClr val="accent3">
                    <a:lumMod val="65000"/>
                  </a:schemeClr>
                </a:solidFill>
              </a:rPr>
              <a:t>": "1",</a:t>
            </a:r>
          </a:p>
          <a:p>
            <a:r>
              <a:rPr lang="en-US" dirty="0">
                <a:solidFill>
                  <a:schemeClr val="accent3">
                    <a:lumMod val="65000"/>
                  </a:schemeClr>
                </a:solidFill>
              </a:rPr>
              <a:t>        "</a:t>
            </a:r>
            <a:r>
              <a:rPr lang="en-US" dirty="0" err="1">
                <a:solidFill>
                  <a:schemeClr val="accent3">
                    <a:lumMod val="65000"/>
                  </a:schemeClr>
                </a:solidFill>
              </a:rPr>
              <a:t>contentType</a:t>
            </a:r>
            <a:r>
              <a:rPr lang="en-US" dirty="0">
                <a:solidFill>
                  <a:schemeClr val="accent3">
                    <a:lumMod val="65000"/>
                  </a:schemeClr>
                </a:solidFill>
              </a:rPr>
              <a:t>": "text/plain"</a:t>
            </a:r>
          </a:p>
          <a:p>
            <a:r>
              <a:rPr lang="en-US" dirty="0">
                <a:solidFill>
                  <a:schemeClr val="accent3">
                    <a:lumMod val="65000"/>
                  </a:schemeClr>
                </a:solidFill>
              </a:rPr>
              <a:t>      }</a:t>
            </a:r>
          </a:p>
          <a:p>
            <a:r>
              <a:rPr lang="en-US" dirty="0">
                <a:solidFill>
                  <a:schemeClr val="accent3">
                    <a:lumMod val="65000"/>
                  </a:schemeClr>
                </a:solidFill>
              </a:rPr>
              <a:t>    ]</a:t>
            </a:r>
          </a:p>
        </p:txBody>
      </p:sp>
      <p:sp>
        <p:nvSpPr>
          <p:cNvPr id="16" name="ReqLabel">
            <a:extLst>
              <a:ext uri="{FF2B5EF4-FFF2-40B4-BE49-F238E27FC236}">
                <a16:creationId xmlns:a16="http://schemas.microsoft.com/office/drawing/2014/main" id="{3D850759-4F5D-B6A1-F59A-D2CD62838304}"/>
              </a:ext>
            </a:extLst>
          </p:cNvPr>
          <p:cNvSpPr txBox="1"/>
          <p:nvPr/>
        </p:nvSpPr>
        <p:spPr>
          <a:xfrm>
            <a:off x="1377262" y="4658710"/>
            <a:ext cx="3215058" cy="40011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2"/>
                </a:solidFill>
                <a:latin typeface="Century Gothic" panose="020B0502020202020204" pitchFamily="34" charset="0"/>
              </a:rPr>
              <a:t>► CONSUMER CONTROL PACKET</a:t>
            </a:r>
          </a:p>
        </p:txBody>
      </p:sp>
      <p:sp>
        <p:nvSpPr>
          <p:cNvPr id="17" name="TextBox 16">
            <a:extLst>
              <a:ext uri="{FF2B5EF4-FFF2-40B4-BE49-F238E27FC236}">
                <a16:creationId xmlns:a16="http://schemas.microsoft.com/office/drawing/2014/main" id="{3359560B-A39F-DFF7-E645-0E48F2CB2861}"/>
              </a:ext>
            </a:extLst>
          </p:cNvPr>
          <p:cNvSpPr txBox="1"/>
          <p:nvPr/>
        </p:nvSpPr>
        <p:spPr>
          <a:xfrm>
            <a:off x="1377262" y="5060165"/>
            <a:ext cx="3742392" cy="861774"/>
          </a:xfrm>
          <a:prstGeom prst="rect">
            <a:avLst/>
          </a:prstGeom>
          <a:noFill/>
        </p:spPr>
        <p:txBody>
          <a:bodyPr wrap="square" rtlCol="0">
            <a:spAutoFit/>
          </a:bodyPr>
          <a:lstStyle/>
          <a:p>
            <a:r>
              <a:rPr lang="en-US" sz="1600" dirty="0">
                <a:solidFill>
                  <a:schemeClr val="accent1"/>
                </a:solidFill>
              </a:rPr>
              <a:t>SUBSCRIBE</a:t>
            </a:r>
          </a:p>
          <a:p>
            <a:r>
              <a:rPr lang="en-US" sz="1600" dirty="0"/>
              <a:t>Topic: coffee/events/</a:t>
            </a:r>
            <a:r>
              <a:rPr lang="en-US" sz="1600" dirty="0" err="1"/>
              <a:t>lowOnWater</a:t>
            </a:r>
            <a:endParaRPr lang="en-US" sz="1600" dirty="0"/>
          </a:p>
          <a:p>
            <a:r>
              <a:rPr lang="en-US" sz="1600" dirty="0"/>
              <a:t>QoS: 1</a:t>
            </a:r>
          </a:p>
        </p:txBody>
      </p:sp>
    </p:spTree>
    <p:extLst>
      <p:ext uri="{BB962C8B-B14F-4D97-AF65-F5344CB8AC3E}">
        <p14:creationId xmlns:p14="http://schemas.microsoft.com/office/powerpoint/2010/main" val="2237875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200">
        <p159:morph option="byObject"/>
      </p:transition>
    </mc:Choice>
    <mc:Fallback xmlns="">
      <p:transition spd="slow" advTm="320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E0D2B-9507-B5A4-5E09-F0399D16D2C2}"/>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087FC4F8-0632-80C9-C1B3-8A542C2CAAE7}"/>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99EE4D9D-E791-806A-9E46-DAC8DE1681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44D238A8-765A-D921-1D1E-820C33B4D0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3F2077D9-60D9-421A-3F4B-CC4D4F6E621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0E6598E8-C71E-E50D-B80C-7B1F4E427E1D}"/>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FAB30887-E91D-309D-7571-E98A9EAEB9FE}"/>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4D563FB1-8F18-2921-186F-792F726260C5}"/>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65291931-954D-BCF4-85E6-B34499C609AC}"/>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487A542F-0CB9-0468-3027-B367D522EE9B}"/>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77EB0773-984D-55FD-FD76-91080E3D00CB}"/>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3F8D353D-D0E2-76E1-CC65-04D43095F9A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FC1F113C-8AB1-EBB2-3A86-A89014A338E8}"/>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MQTT</a:t>
            </a:r>
            <a:endParaRPr lang="aa-ET" dirty="0">
              <a:solidFill>
                <a:schemeClr val="accent1"/>
              </a:solidFill>
              <a:latin typeface="Century Gothic" panose="020B0502020202020204" pitchFamily="34" charset="0"/>
            </a:endParaRPr>
          </a:p>
        </p:txBody>
      </p:sp>
      <p:pic>
        <p:nvPicPr>
          <p:cNvPr id="3" name="Graphic 2" descr="Cloud with solid fill">
            <a:extLst>
              <a:ext uri="{FF2B5EF4-FFF2-40B4-BE49-F238E27FC236}">
                <a16:creationId xmlns:a16="http://schemas.microsoft.com/office/drawing/2014/main" id="{12D749E5-5B7A-CC02-BD34-D5C1A9F9517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100880" y="3429000"/>
            <a:ext cx="773879" cy="773879"/>
          </a:xfrm>
          <a:prstGeom prst="rect">
            <a:avLst/>
          </a:prstGeom>
        </p:spPr>
      </p:pic>
      <p:sp>
        <p:nvSpPr>
          <p:cNvPr id="18" name="Freeform: Shape 17">
            <a:extLst>
              <a:ext uri="{FF2B5EF4-FFF2-40B4-BE49-F238E27FC236}">
                <a16:creationId xmlns:a16="http://schemas.microsoft.com/office/drawing/2014/main" id="{AA3DCA79-8967-15A0-52D5-50E34DE0CFB5}"/>
              </a:ext>
            </a:extLst>
          </p:cNvPr>
          <p:cNvSpPr/>
          <p:nvPr/>
        </p:nvSpPr>
        <p:spPr>
          <a:xfrm rot="18900000">
            <a:off x="8426142" y="3880427"/>
            <a:ext cx="100553" cy="100553"/>
          </a:xfrm>
          <a:custGeom>
            <a:avLst/>
            <a:gdLst>
              <a:gd name="connsiteX0" fmla="*/ 0 w 353017"/>
              <a:gd name="connsiteY0" fmla="*/ 0 h 353017"/>
              <a:gd name="connsiteX1" fmla="*/ 33 w 353017"/>
              <a:gd name="connsiteY1" fmla="*/ 116251 h 353017"/>
              <a:gd name="connsiteX2" fmla="*/ 166130 w 353017"/>
              <a:gd name="connsiteY2" fmla="*/ 186887 h 353017"/>
              <a:gd name="connsiteX3" fmla="*/ 236763 w 353017"/>
              <a:gd name="connsiteY3" fmla="*/ 352987 h 353017"/>
              <a:gd name="connsiteX4" fmla="*/ 353017 w 353017"/>
              <a:gd name="connsiteY4" fmla="*/ 353017 h 353017"/>
              <a:gd name="connsiteX5" fmla="*/ 0 w 353017"/>
              <a:gd name="connsiteY5" fmla="*/ 0 h 353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3017" h="353017">
                <a:moveTo>
                  <a:pt x="0" y="0"/>
                </a:moveTo>
                <a:lnTo>
                  <a:pt x="33" y="116251"/>
                </a:lnTo>
                <a:cubicBezTo>
                  <a:pt x="62593" y="116747"/>
                  <a:pt x="122376" y="142167"/>
                  <a:pt x="166130" y="186887"/>
                </a:cubicBezTo>
                <a:cubicBezTo>
                  <a:pt x="210372" y="230965"/>
                  <a:pt x="235706" y="290545"/>
                  <a:pt x="236763" y="352987"/>
                </a:cubicBezTo>
                <a:lnTo>
                  <a:pt x="353017" y="353017"/>
                </a:lnTo>
                <a:cubicBezTo>
                  <a:pt x="352129" y="158421"/>
                  <a:pt x="194596" y="888"/>
                  <a:pt x="0" y="0"/>
                </a:cubicBezTo>
                <a:close/>
              </a:path>
            </a:pathLst>
          </a:custGeom>
          <a:solidFill>
            <a:schemeClr val="tx1"/>
          </a:solidFill>
          <a:ln w="29666"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BD20DD89-B126-CC07-4C4A-BAD56ADE6D44}"/>
              </a:ext>
            </a:extLst>
          </p:cNvPr>
          <p:cNvSpPr/>
          <p:nvPr/>
        </p:nvSpPr>
        <p:spPr>
          <a:xfrm rot="18900000">
            <a:off x="8393017" y="3800549"/>
            <a:ext cx="166803" cy="166803"/>
          </a:xfrm>
          <a:custGeom>
            <a:avLst/>
            <a:gdLst>
              <a:gd name="connsiteX0" fmla="*/ 585594 w 585607"/>
              <a:gd name="connsiteY0" fmla="*/ 585607 h 585607"/>
              <a:gd name="connsiteX1" fmla="*/ 7914 w 585607"/>
              <a:gd name="connsiteY1" fmla="*/ 13 h 585607"/>
              <a:gd name="connsiteX2" fmla="*/ 0 w 585607"/>
              <a:gd name="connsiteY2" fmla="*/ 13 h 585607"/>
              <a:gd name="connsiteX3" fmla="*/ 33 w 585607"/>
              <a:gd name="connsiteY3" fmla="*/ 116274 h 585607"/>
              <a:gd name="connsiteX4" fmla="*/ 469340 w 585607"/>
              <a:gd name="connsiteY4" fmla="*/ 583191 h 585607"/>
              <a:gd name="connsiteX5" fmla="*/ 469340 w 585607"/>
              <a:gd name="connsiteY5" fmla="*/ 585572 h 58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5607" h="585607">
                <a:moveTo>
                  <a:pt x="585594" y="585607"/>
                </a:moveTo>
                <a:cubicBezTo>
                  <a:pt x="587779" y="264378"/>
                  <a:pt x="329143" y="2198"/>
                  <a:pt x="7914" y="13"/>
                </a:cubicBezTo>
                <a:cubicBezTo>
                  <a:pt x="5275" y="-4"/>
                  <a:pt x="2639" y="-4"/>
                  <a:pt x="0" y="13"/>
                </a:cubicBezTo>
                <a:lnTo>
                  <a:pt x="33" y="116274"/>
                </a:lnTo>
                <a:cubicBezTo>
                  <a:pt x="258564" y="115615"/>
                  <a:pt x="468680" y="324659"/>
                  <a:pt x="469340" y="583191"/>
                </a:cubicBezTo>
                <a:cubicBezTo>
                  <a:pt x="469342" y="583983"/>
                  <a:pt x="469342" y="584779"/>
                  <a:pt x="469340" y="585572"/>
                </a:cubicBezTo>
                <a:close/>
              </a:path>
            </a:pathLst>
          </a:custGeom>
          <a:solidFill>
            <a:schemeClr val="tx1"/>
          </a:solidFill>
          <a:ln w="29666"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83C61AF-488E-F191-4E64-C431C68B652C}"/>
              </a:ext>
            </a:extLst>
          </p:cNvPr>
          <p:cNvSpPr/>
          <p:nvPr/>
        </p:nvSpPr>
        <p:spPr>
          <a:xfrm rot="18900000">
            <a:off x="8359304" y="3719250"/>
            <a:ext cx="234229" cy="234229"/>
          </a:xfrm>
          <a:custGeom>
            <a:avLst/>
            <a:gdLst>
              <a:gd name="connsiteX0" fmla="*/ 0 w 822323"/>
              <a:gd name="connsiteY0" fmla="*/ 0 h 822322"/>
              <a:gd name="connsiteX1" fmla="*/ 33 w 822323"/>
              <a:gd name="connsiteY1" fmla="*/ 116251 h 822322"/>
              <a:gd name="connsiteX2" fmla="*/ 706067 w 822323"/>
              <a:gd name="connsiteY2" fmla="*/ 822293 h 822322"/>
              <a:gd name="connsiteX3" fmla="*/ 822324 w 822323"/>
              <a:gd name="connsiteY3" fmla="*/ 822322 h 822322"/>
              <a:gd name="connsiteX4" fmla="*/ 0 w 822323"/>
              <a:gd name="connsiteY4" fmla="*/ 0 h 822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2323" h="822322">
                <a:moveTo>
                  <a:pt x="0" y="0"/>
                </a:moveTo>
                <a:lnTo>
                  <a:pt x="33" y="116251"/>
                </a:lnTo>
                <a:cubicBezTo>
                  <a:pt x="389226" y="118034"/>
                  <a:pt x="704289" y="433100"/>
                  <a:pt x="706067" y="822293"/>
                </a:cubicBezTo>
                <a:lnTo>
                  <a:pt x="822324" y="822322"/>
                </a:lnTo>
                <a:cubicBezTo>
                  <a:pt x="822090" y="368262"/>
                  <a:pt x="454057" y="233"/>
                  <a:pt x="0" y="0"/>
                </a:cubicBezTo>
                <a:close/>
              </a:path>
            </a:pathLst>
          </a:custGeom>
          <a:solidFill>
            <a:schemeClr val="tx1"/>
          </a:solidFill>
          <a:ln w="29666" cap="flat">
            <a:noFill/>
            <a:prstDash val="solid"/>
            <a:miter/>
          </a:ln>
        </p:spPr>
        <p:txBody>
          <a:bodyPr rtlCol="0" anchor="ctr"/>
          <a:lstStyle/>
          <a:p>
            <a:endParaRPr lang="en-US"/>
          </a:p>
        </p:txBody>
      </p:sp>
      <p:sp>
        <p:nvSpPr>
          <p:cNvPr id="24" name="TextBox 23">
            <a:extLst>
              <a:ext uri="{FF2B5EF4-FFF2-40B4-BE49-F238E27FC236}">
                <a16:creationId xmlns:a16="http://schemas.microsoft.com/office/drawing/2014/main" id="{34AD7448-2CE6-E6B3-C0F5-927D46B0BFAE}"/>
              </a:ext>
            </a:extLst>
          </p:cNvPr>
          <p:cNvSpPr txBox="1"/>
          <p:nvPr/>
        </p:nvSpPr>
        <p:spPr>
          <a:xfrm>
            <a:off x="7736227" y="4015812"/>
            <a:ext cx="1480381"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Broker</a:t>
            </a:r>
          </a:p>
        </p:txBody>
      </p:sp>
      <p:sp>
        <p:nvSpPr>
          <p:cNvPr id="2" name="TextBox 1">
            <a:extLst>
              <a:ext uri="{FF2B5EF4-FFF2-40B4-BE49-F238E27FC236}">
                <a16:creationId xmlns:a16="http://schemas.microsoft.com/office/drawing/2014/main" id="{F7F6F270-9FC7-265D-A8C8-4E9F51BB6490}"/>
              </a:ext>
            </a:extLst>
          </p:cNvPr>
          <p:cNvSpPr txBox="1"/>
          <p:nvPr/>
        </p:nvSpPr>
        <p:spPr>
          <a:xfrm>
            <a:off x="1080784" y="1687045"/>
            <a:ext cx="7576500" cy="2585323"/>
          </a:xfrm>
          <a:prstGeom prst="rect">
            <a:avLst/>
          </a:prstGeom>
          <a:noFill/>
        </p:spPr>
        <p:txBody>
          <a:bodyPr wrap="square" rtlCol="0">
            <a:spAutoFit/>
          </a:bodyPr>
          <a:lstStyle/>
          <a:p>
            <a:r>
              <a:rPr lang="en-US" dirty="0">
                <a:solidFill>
                  <a:schemeClr val="accent3">
                    <a:lumMod val="65000"/>
                  </a:schemeClr>
                </a:solidFill>
              </a:rPr>
              <a:t>    "forms": [</a:t>
            </a:r>
          </a:p>
          <a:p>
            <a:r>
              <a:rPr lang="en-US" dirty="0">
                <a:solidFill>
                  <a:schemeClr val="accent3">
                    <a:lumMod val="65000"/>
                  </a:schemeClr>
                </a:solidFill>
              </a:rPr>
              <a:t>      {</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a:t>
            </a:r>
            <a:r>
              <a:rPr lang="en-US" dirty="0" err="1">
                <a:solidFill>
                  <a:schemeClr val="accent1"/>
                </a:solidFill>
              </a:rPr>
              <a:t>mqtt</a:t>
            </a:r>
            <a:r>
              <a:rPr lang="en-US" dirty="0">
                <a:solidFill>
                  <a:schemeClr val="accent1"/>
                </a:solidFill>
              </a:rPr>
              <a:t>://broker.example.com:1883,</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subscribeevent</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mqv:filter</a:t>
            </a:r>
            <a:r>
              <a:rPr lang="en-US" dirty="0">
                <a:solidFill>
                  <a:schemeClr val="accent5"/>
                </a:solidFill>
              </a:rPr>
              <a:t>"</a:t>
            </a:r>
            <a:r>
              <a:rPr lang="en-US" dirty="0">
                <a:solidFill>
                  <a:schemeClr val="accent1"/>
                </a:solidFill>
              </a:rPr>
              <a:t>: "coffee/events/</a:t>
            </a:r>
            <a:r>
              <a:rPr lang="en-US" dirty="0" err="1">
                <a:solidFill>
                  <a:schemeClr val="accent1"/>
                </a:solidFill>
              </a:rPr>
              <a:t>lowOnWater</a:t>
            </a:r>
            <a:r>
              <a:rPr lang="en-US" dirty="0">
                <a:solidFill>
                  <a:schemeClr val="accent1"/>
                </a:solidFill>
              </a:rPr>
              <a:t>",</a:t>
            </a:r>
          </a:p>
          <a:p>
            <a:r>
              <a:rPr lang="en-US" dirty="0">
                <a:solidFill>
                  <a:schemeClr val="accent3">
                    <a:lumMod val="65000"/>
                  </a:schemeClr>
                </a:solidFill>
              </a:rPr>
              <a:t>        </a:t>
            </a:r>
            <a:r>
              <a:rPr lang="en-US" dirty="0">
                <a:solidFill>
                  <a:schemeClr val="accent5"/>
                </a:solidFill>
              </a:rPr>
              <a:t>"</a:t>
            </a:r>
            <a:r>
              <a:rPr lang="en-US" dirty="0" err="1">
                <a:solidFill>
                  <a:schemeClr val="accent5"/>
                </a:solidFill>
              </a:rPr>
              <a:t>mqv:qos</a:t>
            </a:r>
            <a:r>
              <a:rPr lang="en-US" dirty="0">
                <a:solidFill>
                  <a:schemeClr val="accent5"/>
                </a:solidFill>
              </a:rPr>
              <a:t>"</a:t>
            </a:r>
            <a:r>
              <a:rPr lang="en-US" dirty="0">
                <a:solidFill>
                  <a:schemeClr val="accent1"/>
                </a:solidFill>
              </a:rPr>
              <a:t>: "1",</a:t>
            </a:r>
          </a:p>
          <a:p>
            <a:r>
              <a:rPr lang="en-US" dirty="0">
                <a:solidFill>
                  <a:schemeClr val="accent3">
                    <a:lumMod val="65000"/>
                  </a:schemeClr>
                </a:solidFill>
              </a:rPr>
              <a:t>        "</a:t>
            </a:r>
            <a:r>
              <a:rPr lang="en-US" dirty="0" err="1">
                <a:solidFill>
                  <a:schemeClr val="accent3">
                    <a:lumMod val="65000"/>
                  </a:schemeClr>
                </a:solidFill>
              </a:rPr>
              <a:t>contentType</a:t>
            </a:r>
            <a:r>
              <a:rPr lang="en-US" dirty="0">
                <a:solidFill>
                  <a:schemeClr val="accent3">
                    <a:lumMod val="65000"/>
                  </a:schemeClr>
                </a:solidFill>
              </a:rPr>
              <a:t>": "text/plain"</a:t>
            </a:r>
          </a:p>
          <a:p>
            <a:r>
              <a:rPr lang="en-US" dirty="0">
                <a:solidFill>
                  <a:schemeClr val="accent3">
                    <a:lumMod val="65000"/>
                  </a:schemeClr>
                </a:solidFill>
              </a:rPr>
              <a:t>      }</a:t>
            </a:r>
          </a:p>
          <a:p>
            <a:r>
              <a:rPr lang="en-US" dirty="0">
                <a:solidFill>
                  <a:schemeClr val="accent3">
                    <a:lumMod val="65000"/>
                  </a:schemeClr>
                </a:solidFill>
              </a:rPr>
              <a:t>    ]</a:t>
            </a:r>
          </a:p>
        </p:txBody>
      </p:sp>
      <p:sp>
        <p:nvSpPr>
          <p:cNvPr id="16" name="ReqLabel">
            <a:extLst>
              <a:ext uri="{FF2B5EF4-FFF2-40B4-BE49-F238E27FC236}">
                <a16:creationId xmlns:a16="http://schemas.microsoft.com/office/drawing/2014/main" id="{A0A2C54C-8639-0BA2-5661-8785EAA375D3}"/>
              </a:ext>
            </a:extLst>
          </p:cNvPr>
          <p:cNvSpPr txBox="1"/>
          <p:nvPr/>
        </p:nvSpPr>
        <p:spPr>
          <a:xfrm>
            <a:off x="1377262" y="4658710"/>
            <a:ext cx="3215058" cy="40011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2"/>
                </a:solidFill>
                <a:latin typeface="Century Gothic" panose="020B0502020202020204" pitchFamily="34" charset="0"/>
              </a:rPr>
              <a:t>► CONSUMER CONTROL PACKET</a:t>
            </a:r>
          </a:p>
        </p:txBody>
      </p:sp>
      <p:sp>
        <p:nvSpPr>
          <p:cNvPr id="17" name="TextBox 16">
            <a:extLst>
              <a:ext uri="{FF2B5EF4-FFF2-40B4-BE49-F238E27FC236}">
                <a16:creationId xmlns:a16="http://schemas.microsoft.com/office/drawing/2014/main" id="{A64C16FD-B6A6-81AF-2813-4B31D25F4343}"/>
              </a:ext>
            </a:extLst>
          </p:cNvPr>
          <p:cNvSpPr txBox="1"/>
          <p:nvPr/>
        </p:nvSpPr>
        <p:spPr>
          <a:xfrm>
            <a:off x="1377262" y="5060165"/>
            <a:ext cx="3742392" cy="584775"/>
          </a:xfrm>
          <a:prstGeom prst="rect">
            <a:avLst/>
          </a:prstGeom>
          <a:noFill/>
        </p:spPr>
        <p:txBody>
          <a:bodyPr wrap="square" rtlCol="0">
            <a:spAutoFit/>
          </a:bodyPr>
          <a:lstStyle/>
          <a:p>
            <a:r>
              <a:rPr lang="en-US" sz="1600" dirty="0">
                <a:solidFill>
                  <a:schemeClr val="accent1"/>
                </a:solidFill>
              </a:rPr>
              <a:t>SUBSCRIBE</a:t>
            </a:r>
          </a:p>
          <a:p>
            <a:r>
              <a:rPr lang="en-US" sz="1600" dirty="0">
                <a:solidFill>
                  <a:schemeClr val="accent1"/>
                </a:solidFill>
              </a:rPr>
              <a:t>Topic: coffee/events/</a:t>
            </a:r>
            <a:r>
              <a:rPr lang="en-US" sz="1600" dirty="0" err="1">
                <a:solidFill>
                  <a:schemeClr val="accent1"/>
                </a:solidFill>
              </a:rPr>
              <a:t>lowOnWater</a:t>
            </a:r>
            <a:endParaRPr lang="en-US" sz="1600" dirty="0">
              <a:solidFill>
                <a:schemeClr val="accent1"/>
              </a:solidFill>
            </a:endParaRPr>
          </a:p>
        </p:txBody>
      </p:sp>
      <p:cxnSp>
        <p:nvCxnSpPr>
          <p:cNvPr id="25" name="Straight Connector 24">
            <a:extLst>
              <a:ext uri="{FF2B5EF4-FFF2-40B4-BE49-F238E27FC236}">
                <a16:creationId xmlns:a16="http://schemas.microsoft.com/office/drawing/2014/main" id="{F4CDFCE2-85C2-73A8-880F-55EC98141FEF}"/>
              </a:ext>
            </a:extLst>
          </p:cNvPr>
          <p:cNvCxnSpPr>
            <a:cxnSpLocks/>
          </p:cNvCxnSpPr>
          <p:nvPr/>
        </p:nvCxnSpPr>
        <p:spPr>
          <a:xfrm flipH="1">
            <a:off x="8874759" y="3358116"/>
            <a:ext cx="429516" cy="285715"/>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275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7300">
        <p159:morph option="byObject"/>
      </p:transition>
    </mc:Choice>
    <mc:Fallback xmlns="">
      <p:transition spd="slow" advTm="173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8000"/>
                                  </p:stCondLst>
                                  <p:childTnLst>
                                    <p:set>
                                      <p:cBhvr>
                                        <p:cTn id="6" dur="1" fill="hold">
                                          <p:stCondLst>
                                            <p:cond delay="0"/>
                                          </p:stCondLst>
                                        </p:cTn>
                                        <p:tgtEl>
                                          <p:spTgt spid="25"/>
                                        </p:tgtEl>
                                        <p:attrNameLst>
                                          <p:attrName>style.visibility</p:attrName>
                                        </p:attrNameLst>
                                      </p:cBhvr>
                                      <p:to>
                                        <p:strVal val="visible"/>
                                      </p:to>
                                    </p:set>
                                    <p:animEffect transition="in" filter="wipe(right)">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4B846-7490-387C-EC97-131544B00055}"/>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4EB168BE-38B3-ABD5-F2D0-0E150D03C110}"/>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0D060549-80F9-8B2E-C961-F6B366998A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7331F796-22BB-8FFE-700B-5BCC31A52A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3AD85E56-381D-855B-F9BF-A8FB6187C30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222C56E1-2898-5B27-BDC8-198471A4D655}"/>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3DD3112F-7AE8-A5CE-ED8F-93512363AD34}"/>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6E4086E1-7FA6-9C91-2D11-8BF237C328AE}"/>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B3500B96-0A1A-C6BA-15F7-B9DC3E44B1E7}"/>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6FFED4E3-2B6E-2250-103E-95D34F01BE1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D37E64E7-A2D7-65D8-FF0A-5330A61A0A7A}"/>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F39128E6-365D-E35B-8D40-BDC45B83702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251B1664-C328-A2BA-3979-0E3BFD01832E}"/>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MQTT</a:t>
            </a:r>
            <a:endParaRPr lang="aa-ET" dirty="0">
              <a:solidFill>
                <a:schemeClr val="accent1"/>
              </a:solidFill>
              <a:latin typeface="Century Gothic" panose="020B0502020202020204" pitchFamily="34" charset="0"/>
            </a:endParaRPr>
          </a:p>
        </p:txBody>
      </p:sp>
      <p:pic>
        <p:nvPicPr>
          <p:cNvPr id="3" name="Graphic 2" descr="Cloud with solid fill">
            <a:extLst>
              <a:ext uri="{FF2B5EF4-FFF2-40B4-BE49-F238E27FC236}">
                <a16:creationId xmlns:a16="http://schemas.microsoft.com/office/drawing/2014/main" id="{E8D0A4D5-A57B-7D49-1E2B-0FA5BA43DFA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100880" y="3429000"/>
            <a:ext cx="773879" cy="773879"/>
          </a:xfrm>
          <a:prstGeom prst="rect">
            <a:avLst/>
          </a:prstGeom>
        </p:spPr>
      </p:pic>
      <p:sp>
        <p:nvSpPr>
          <p:cNvPr id="18" name="Freeform: Shape 17">
            <a:extLst>
              <a:ext uri="{FF2B5EF4-FFF2-40B4-BE49-F238E27FC236}">
                <a16:creationId xmlns:a16="http://schemas.microsoft.com/office/drawing/2014/main" id="{B0E7D849-34AF-1449-C685-F4BCD4012221}"/>
              </a:ext>
            </a:extLst>
          </p:cNvPr>
          <p:cNvSpPr/>
          <p:nvPr/>
        </p:nvSpPr>
        <p:spPr>
          <a:xfrm rot="18900000">
            <a:off x="8426142" y="3880427"/>
            <a:ext cx="100553" cy="100553"/>
          </a:xfrm>
          <a:custGeom>
            <a:avLst/>
            <a:gdLst>
              <a:gd name="connsiteX0" fmla="*/ 0 w 353017"/>
              <a:gd name="connsiteY0" fmla="*/ 0 h 353017"/>
              <a:gd name="connsiteX1" fmla="*/ 33 w 353017"/>
              <a:gd name="connsiteY1" fmla="*/ 116251 h 353017"/>
              <a:gd name="connsiteX2" fmla="*/ 166130 w 353017"/>
              <a:gd name="connsiteY2" fmla="*/ 186887 h 353017"/>
              <a:gd name="connsiteX3" fmla="*/ 236763 w 353017"/>
              <a:gd name="connsiteY3" fmla="*/ 352987 h 353017"/>
              <a:gd name="connsiteX4" fmla="*/ 353017 w 353017"/>
              <a:gd name="connsiteY4" fmla="*/ 353017 h 353017"/>
              <a:gd name="connsiteX5" fmla="*/ 0 w 353017"/>
              <a:gd name="connsiteY5" fmla="*/ 0 h 353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3017" h="353017">
                <a:moveTo>
                  <a:pt x="0" y="0"/>
                </a:moveTo>
                <a:lnTo>
                  <a:pt x="33" y="116251"/>
                </a:lnTo>
                <a:cubicBezTo>
                  <a:pt x="62593" y="116747"/>
                  <a:pt x="122376" y="142167"/>
                  <a:pt x="166130" y="186887"/>
                </a:cubicBezTo>
                <a:cubicBezTo>
                  <a:pt x="210372" y="230965"/>
                  <a:pt x="235706" y="290545"/>
                  <a:pt x="236763" y="352987"/>
                </a:cubicBezTo>
                <a:lnTo>
                  <a:pt x="353017" y="353017"/>
                </a:lnTo>
                <a:cubicBezTo>
                  <a:pt x="352129" y="158421"/>
                  <a:pt x="194596" y="888"/>
                  <a:pt x="0" y="0"/>
                </a:cubicBezTo>
                <a:close/>
              </a:path>
            </a:pathLst>
          </a:custGeom>
          <a:solidFill>
            <a:schemeClr val="tx1"/>
          </a:solidFill>
          <a:ln w="29666"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2E3D9DDE-692C-EA13-075A-9C4DC62F4B19}"/>
              </a:ext>
            </a:extLst>
          </p:cNvPr>
          <p:cNvSpPr/>
          <p:nvPr/>
        </p:nvSpPr>
        <p:spPr>
          <a:xfrm rot="18900000">
            <a:off x="8393017" y="3800549"/>
            <a:ext cx="166803" cy="166803"/>
          </a:xfrm>
          <a:custGeom>
            <a:avLst/>
            <a:gdLst>
              <a:gd name="connsiteX0" fmla="*/ 585594 w 585607"/>
              <a:gd name="connsiteY0" fmla="*/ 585607 h 585607"/>
              <a:gd name="connsiteX1" fmla="*/ 7914 w 585607"/>
              <a:gd name="connsiteY1" fmla="*/ 13 h 585607"/>
              <a:gd name="connsiteX2" fmla="*/ 0 w 585607"/>
              <a:gd name="connsiteY2" fmla="*/ 13 h 585607"/>
              <a:gd name="connsiteX3" fmla="*/ 33 w 585607"/>
              <a:gd name="connsiteY3" fmla="*/ 116274 h 585607"/>
              <a:gd name="connsiteX4" fmla="*/ 469340 w 585607"/>
              <a:gd name="connsiteY4" fmla="*/ 583191 h 585607"/>
              <a:gd name="connsiteX5" fmla="*/ 469340 w 585607"/>
              <a:gd name="connsiteY5" fmla="*/ 585572 h 58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5607" h="585607">
                <a:moveTo>
                  <a:pt x="585594" y="585607"/>
                </a:moveTo>
                <a:cubicBezTo>
                  <a:pt x="587779" y="264378"/>
                  <a:pt x="329143" y="2198"/>
                  <a:pt x="7914" y="13"/>
                </a:cubicBezTo>
                <a:cubicBezTo>
                  <a:pt x="5275" y="-4"/>
                  <a:pt x="2639" y="-4"/>
                  <a:pt x="0" y="13"/>
                </a:cubicBezTo>
                <a:lnTo>
                  <a:pt x="33" y="116274"/>
                </a:lnTo>
                <a:cubicBezTo>
                  <a:pt x="258564" y="115615"/>
                  <a:pt x="468680" y="324659"/>
                  <a:pt x="469340" y="583191"/>
                </a:cubicBezTo>
                <a:cubicBezTo>
                  <a:pt x="469342" y="583983"/>
                  <a:pt x="469342" y="584779"/>
                  <a:pt x="469340" y="585572"/>
                </a:cubicBezTo>
                <a:close/>
              </a:path>
            </a:pathLst>
          </a:custGeom>
          <a:solidFill>
            <a:schemeClr val="tx1"/>
          </a:solidFill>
          <a:ln w="29666"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18838BD-7780-9508-6547-98D832D84CD8}"/>
              </a:ext>
            </a:extLst>
          </p:cNvPr>
          <p:cNvSpPr/>
          <p:nvPr/>
        </p:nvSpPr>
        <p:spPr>
          <a:xfrm rot="18900000">
            <a:off x="8359304" y="3719250"/>
            <a:ext cx="234229" cy="234229"/>
          </a:xfrm>
          <a:custGeom>
            <a:avLst/>
            <a:gdLst>
              <a:gd name="connsiteX0" fmla="*/ 0 w 822323"/>
              <a:gd name="connsiteY0" fmla="*/ 0 h 822322"/>
              <a:gd name="connsiteX1" fmla="*/ 33 w 822323"/>
              <a:gd name="connsiteY1" fmla="*/ 116251 h 822322"/>
              <a:gd name="connsiteX2" fmla="*/ 706067 w 822323"/>
              <a:gd name="connsiteY2" fmla="*/ 822293 h 822322"/>
              <a:gd name="connsiteX3" fmla="*/ 822324 w 822323"/>
              <a:gd name="connsiteY3" fmla="*/ 822322 h 822322"/>
              <a:gd name="connsiteX4" fmla="*/ 0 w 822323"/>
              <a:gd name="connsiteY4" fmla="*/ 0 h 822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2323" h="822322">
                <a:moveTo>
                  <a:pt x="0" y="0"/>
                </a:moveTo>
                <a:lnTo>
                  <a:pt x="33" y="116251"/>
                </a:lnTo>
                <a:cubicBezTo>
                  <a:pt x="389226" y="118034"/>
                  <a:pt x="704289" y="433100"/>
                  <a:pt x="706067" y="822293"/>
                </a:cubicBezTo>
                <a:lnTo>
                  <a:pt x="822324" y="822322"/>
                </a:lnTo>
                <a:cubicBezTo>
                  <a:pt x="822090" y="368262"/>
                  <a:pt x="454057" y="233"/>
                  <a:pt x="0" y="0"/>
                </a:cubicBezTo>
                <a:close/>
              </a:path>
            </a:pathLst>
          </a:custGeom>
          <a:solidFill>
            <a:schemeClr val="tx1"/>
          </a:solidFill>
          <a:ln w="29666" cap="flat">
            <a:noFill/>
            <a:prstDash val="solid"/>
            <a:miter/>
          </a:ln>
        </p:spPr>
        <p:txBody>
          <a:bodyPr rtlCol="0" anchor="ctr"/>
          <a:lstStyle/>
          <a:p>
            <a:endParaRPr lang="en-US"/>
          </a:p>
        </p:txBody>
      </p:sp>
      <p:sp>
        <p:nvSpPr>
          <p:cNvPr id="24" name="TextBox 23">
            <a:extLst>
              <a:ext uri="{FF2B5EF4-FFF2-40B4-BE49-F238E27FC236}">
                <a16:creationId xmlns:a16="http://schemas.microsoft.com/office/drawing/2014/main" id="{24230DEF-F92F-6A99-B190-C683050AE739}"/>
              </a:ext>
            </a:extLst>
          </p:cNvPr>
          <p:cNvSpPr txBox="1"/>
          <p:nvPr/>
        </p:nvSpPr>
        <p:spPr>
          <a:xfrm>
            <a:off x="7736227" y="4015812"/>
            <a:ext cx="1480381"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Broker</a:t>
            </a:r>
          </a:p>
        </p:txBody>
      </p:sp>
      <p:sp>
        <p:nvSpPr>
          <p:cNvPr id="2" name="TextBox 1">
            <a:extLst>
              <a:ext uri="{FF2B5EF4-FFF2-40B4-BE49-F238E27FC236}">
                <a16:creationId xmlns:a16="http://schemas.microsoft.com/office/drawing/2014/main" id="{B9957E43-98C2-22EF-3761-BCC3FF0EFDF3}"/>
              </a:ext>
            </a:extLst>
          </p:cNvPr>
          <p:cNvSpPr txBox="1"/>
          <p:nvPr/>
        </p:nvSpPr>
        <p:spPr>
          <a:xfrm>
            <a:off x="1080784" y="1687045"/>
            <a:ext cx="7576500" cy="2585323"/>
          </a:xfrm>
          <a:prstGeom prst="rect">
            <a:avLst/>
          </a:prstGeom>
          <a:noFill/>
        </p:spPr>
        <p:txBody>
          <a:bodyPr wrap="square" rtlCol="0">
            <a:spAutoFit/>
          </a:bodyPr>
          <a:lstStyle/>
          <a:p>
            <a:r>
              <a:rPr lang="en-US" dirty="0">
                <a:solidFill>
                  <a:schemeClr val="accent5"/>
                </a:solidFill>
              </a:rPr>
              <a:t>    "forms": </a:t>
            </a:r>
            <a:r>
              <a:rPr lang="en-US" dirty="0">
                <a:solidFill>
                  <a:schemeClr val="accent1"/>
                </a:solidFill>
              </a:rPr>
              <a:t>[</a:t>
            </a:r>
          </a:p>
          <a:p>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a:t>
            </a:r>
            <a:r>
              <a:rPr lang="en-US" dirty="0" err="1">
                <a:solidFill>
                  <a:schemeClr val="accent1"/>
                </a:solidFill>
              </a:rPr>
              <a:t>mqtt</a:t>
            </a:r>
            <a:r>
              <a:rPr lang="en-US" dirty="0">
                <a:solidFill>
                  <a:schemeClr val="accent1"/>
                </a:solidFill>
              </a:rPr>
              <a:t>://broker.example.com:1883,</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subscribeevent</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mqv:filter</a:t>
            </a:r>
            <a:r>
              <a:rPr lang="en-US" dirty="0">
                <a:solidFill>
                  <a:schemeClr val="accent5"/>
                </a:solidFill>
              </a:rPr>
              <a:t>"</a:t>
            </a:r>
            <a:r>
              <a:rPr lang="en-US" dirty="0">
                <a:solidFill>
                  <a:schemeClr val="accent1"/>
                </a:solidFill>
              </a:rPr>
              <a:t>: "coffee/events/</a:t>
            </a:r>
            <a:r>
              <a:rPr lang="en-US" dirty="0" err="1">
                <a:solidFill>
                  <a:schemeClr val="accent1"/>
                </a:solidFill>
              </a:rPr>
              <a:t>lowOnWater</a:t>
            </a:r>
            <a:r>
              <a:rPr lang="en-US" dirty="0">
                <a:solidFill>
                  <a:schemeClr val="accent1"/>
                </a:solidFill>
              </a:rPr>
              <a:t>",</a:t>
            </a:r>
          </a:p>
          <a:p>
            <a:r>
              <a:rPr lang="en-US" dirty="0">
                <a:solidFill>
                  <a:schemeClr val="accent3">
                    <a:lumMod val="65000"/>
                  </a:schemeClr>
                </a:solidFill>
              </a:rPr>
              <a:t>        </a:t>
            </a:r>
            <a:r>
              <a:rPr lang="en-US" dirty="0">
                <a:solidFill>
                  <a:schemeClr val="accent5"/>
                </a:solidFill>
              </a:rPr>
              <a:t>"</a:t>
            </a:r>
            <a:r>
              <a:rPr lang="en-US" dirty="0" err="1">
                <a:solidFill>
                  <a:schemeClr val="accent5"/>
                </a:solidFill>
              </a:rPr>
              <a:t>mqv:qos</a:t>
            </a:r>
            <a:r>
              <a:rPr lang="en-US" dirty="0">
                <a:solidFill>
                  <a:schemeClr val="accent5"/>
                </a:solidFill>
              </a:rPr>
              <a:t>"</a:t>
            </a:r>
            <a:r>
              <a:rPr lang="en-US" dirty="0">
                <a:solidFill>
                  <a:schemeClr val="accent1"/>
                </a:solidFill>
              </a:rPr>
              <a:t>: "1",</a:t>
            </a:r>
          </a:p>
          <a:p>
            <a:r>
              <a:rPr lang="en-US" dirty="0">
                <a:solidFill>
                  <a:schemeClr val="accent3">
                    <a:lumMod val="65000"/>
                  </a:schemeClr>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"text/plain"</a:t>
            </a:r>
          </a:p>
          <a:p>
            <a:r>
              <a:rPr lang="en-US" dirty="0">
                <a:solidFill>
                  <a:schemeClr val="accent1"/>
                </a:solidFill>
              </a:rPr>
              <a:t>      }</a:t>
            </a:r>
          </a:p>
          <a:p>
            <a:r>
              <a:rPr lang="en-US" dirty="0">
                <a:solidFill>
                  <a:schemeClr val="accent1"/>
                </a:solidFill>
              </a:rPr>
              <a:t>    ]</a:t>
            </a:r>
          </a:p>
        </p:txBody>
      </p:sp>
      <p:sp>
        <p:nvSpPr>
          <p:cNvPr id="16" name="ReqLabel">
            <a:extLst>
              <a:ext uri="{FF2B5EF4-FFF2-40B4-BE49-F238E27FC236}">
                <a16:creationId xmlns:a16="http://schemas.microsoft.com/office/drawing/2014/main" id="{05FED172-DEC7-0237-961E-7E4D73EAF9D6}"/>
              </a:ext>
            </a:extLst>
          </p:cNvPr>
          <p:cNvSpPr txBox="1"/>
          <p:nvPr/>
        </p:nvSpPr>
        <p:spPr>
          <a:xfrm>
            <a:off x="1377262" y="4658710"/>
            <a:ext cx="3000288" cy="40011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2"/>
                </a:solidFill>
                <a:latin typeface="Century Gothic" panose="020B0502020202020204" pitchFamily="34" charset="0"/>
              </a:rPr>
              <a:t>► CONSUMER CONTROL PACKET</a:t>
            </a:r>
          </a:p>
        </p:txBody>
      </p:sp>
      <p:sp>
        <p:nvSpPr>
          <p:cNvPr id="17" name="TextBox 16">
            <a:extLst>
              <a:ext uri="{FF2B5EF4-FFF2-40B4-BE49-F238E27FC236}">
                <a16:creationId xmlns:a16="http://schemas.microsoft.com/office/drawing/2014/main" id="{9362138C-33F9-BD66-B173-7F87668097FA}"/>
              </a:ext>
            </a:extLst>
          </p:cNvPr>
          <p:cNvSpPr txBox="1"/>
          <p:nvPr/>
        </p:nvSpPr>
        <p:spPr>
          <a:xfrm>
            <a:off x="1377262" y="5060165"/>
            <a:ext cx="3742392" cy="584775"/>
          </a:xfrm>
          <a:prstGeom prst="rect">
            <a:avLst/>
          </a:prstGeom>
          <a:noFill/>
        </p:spPr>
        <p:txBody>
          <a:bodyPr wrap="square" rtlCol="0">
            <a:spAutoFit/>
          </a:bodyPr>
          <a:lstStyle/>
          <a:p>
            <a:r>
              <a:rPr lang="en-US" sz="1600" dirty="0">
                <a:solidFill>
                  <a:schemeClr val="accent1"/>
                </a:solidFill>
              </a:rPr>
              <a:t>SUBSCRIBE</a:t>
            </a:r>
          </a:p>
          <a:p>
            <a:r>
              <a:rPr lang="en-US" sz="1600" dirty="0">
                <a:solidFill>
                  <a:schemeClr val="accent1"/>
                </a:solidFill>
              </a:rPr>
              <a:t>Topic: coffee/events/</a:t>
            </a:r>
            <a:r>
              <a:rPr lang="en-US" sz="1600" dirty="0" err="1">
                <a:solidFill>
                  <a:schemeClr val="accent1"/>
                </a:solidFill>
              </a:rPr>
              <a:t>lowOnWater</a:t>
            </a:r>
            <a:endParaRPr lang="en-US" sz="1600" dirty="0">
              <a:solidFill>
                <a:schemeClr val="accent1"/>
              </a:solidFill>
            </a:endParaRPr>
          </a:p>
        </p:txBody>
      </p:sp>
      <p:sp>
        <p:nvSpPr>
          <p:cNvPr id="21" name="TextBox 20">
            <a:extLst>
              <a:ext uri="{FF2B5EF4-FFF2-40B4-BE49-F238E27FC236}">
                <a16:creationId xmlns:a16="http://schemas.microsoft.com/office/drawing/2014/main" id="{40BDD1DE-84EF-ABBC-73F5-B7D0773F7391}"/>
              </a:ext>
            </a:extLst>
          </p:cNvPr>
          <p:cNvSpPr txBox="1"/>
          <p:nvPr/>
        </p:nvSpPr>
        <p:spPr>
          <a:xfrm>
            <a:off x="5547232" y="5058765"/>
            <a:ext cx="3000289" cy="1077218"/>
          </a:xfrm>
          <a:prstGeom prst="rect">
            <a:avLst/>
          </a:prstGeom>
          <a:noFill/>
        </p:spPr>
        <p:txBody>
          <a:bodyPr wrap="square" rtlCol="0">
            <a:spAutoFit/>
          </a:bodyPr>
          <a:lstStyle/>
          <a:p>
            <a:r>
              <a:rPr lang="en-US" sz="1600" dirty="0">
                <a:solidFill>
                  <a:schemeClr val="accent1"/>
                </a:solidFill>
              </a:rPr>
              <a:t>PUBLISH</a:t>
            </a:r>
          </a:p>
          <a:p>
            <a:r>
              <a:rPr lang="en-US" sz="1600" dirty="0">
                <a:solidFill>
                  <a:schemeClr val="accent1"/>
                </a:solidFill>
              </a:rPr>
              <a:t>Topic: coffee/events/</a:t>
            </a:r>
            <a:r>
              <a:rPr lang="en-US" sz="1600" dirty="0" err="1">
                <a:solidFill>
                  <a:schemeClr val="accent1"/>
                </a:solidFill>
              </a:rPr>
              <a:t>lowOnWater</a:t>
            </a:r>
            <a:endParaRPr lang="en-US" sz="1600" dirty="0">
              <a:solidFill>
                <a:schemeClr val="accent1"/>
              </a:solidFill>
            </a:endParaRPr>
          </a:p>
          <a:p>
            <a:r>
              <a:rPr lang="en-US" sz="1600" dirty="0">
                <a:solidFill>
                  <a:schemeClr val="accent1"/>
                </a:solidFill>
              </a:rPr>
              <a:t>QoS: 1</a:t>
            </a:r>
          </a:p>
          <a:p>
            <a:r>
              <a:rPr lang="en-US" sz="1600" dirty="0">
                <a:solidFill>
                  <a:schemeClr val="accent1"/>
                </a:solidFill>
              </a:rPr>
              <a:t>Payload: 50</a:t>
            </a:r>
            <a:endParaRPr lang="en-US" sz="1600" dirty="0">
              <a:solidFill>
                <a:schemeClr val="accent6"/>
              </a:solidFill>
            </a:endParaRPr>
          </a:p>
        </p:txBody>
      </p:sp>
      <p:sp>
        <p:nvSpPr>
          <p:cNvPr id="22" name="RespLabel">
            <a:extLst>
              <a:ext uri="{FF2B5EF4-FFF2-40B4-BE49-F238E27FC236}">
                <a16:creationId xmlns:a16="http://schemas.microsoft.com/office/drawing/2014/main" id="{9324059D-13FB-3863-E602-9C5C4006B480}"/>
              </a:ext>
            </a:extLst>
          </p:cNvPr>
          <p:cNvSpPr txBox="1"/>
          <p:nvPr/>
        </p:nvSpPr>
        <p:spPr>
          <a:xfrm>
            <a:off x="5547232" y="4659549"/>
            <a:ext cx="2656322" cy="40011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6"/>
                </a:solidFill>
                <a:latin typeface="Century Gothic" panose="020B0502020202020204" pitchFamily="34" charset="0"/>
              </a:rPr>
              <a:t>◄ THING CONTROL PACKET</a:t>
            </a:r>
          </a:p>
        </p:txBody>
      </p:sp>
      <p:cxnSp>
        <p:nvCxnSpPr>
          <p:cNvPr id="23" name="Straight Connector 22">
            <a:extLst>
              <a:ext uri="{FF2B5EF4-FFF2-40B4-BE49-F238E27FC236}">
                <a16:creationId xmlns:a16="http://schemas.microsoft.com/office/drawing/2014/main" id="{70F2B304-0FE3-D18D-7D4A-AE863CB1D6BB}"/>
              </a:ext>
            </a:extLst>
          </p:cNvPr>
          <p:cNvCxnSpPr>
            <a:cxnSpLocks/>
          </p:cNvCxnSpPr>
          <p:nvPr/>
        </p:nvCxnSpPr>
        <p:spPr>
          <a:xfrm flipH="1">
            <a:off x="8874759" y="3358116"/>
            <a:ext cx="429516" cy="28571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B2DB0F0-1A75-AAD9-6835-B4D7A704E01D}"/>
              </a:ext>
            </a:extLst>
          </p:cNvPr>
          <p:cNvCxnSpPr>
            <a:cxnSpLocks/>
          </p:cNvCxnSpPr>
          <p:nvPr/>
        </p:nvCxnSpPr>
        <p:spPr>
          <a:xfrm flipH="1" flipV="1">
            <a:off x="8873512" y="4272543"/>
            <a:ext cx="429516" cy="285715"/>
          </a:xfrm>
          <a:prstGeom prst="line">
            <a:avLst/>
          </a:prstGeom>
          <a:ln w="28575" cap="flat">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19F7053C-4B12-5B43-5F0B-82EE2D64F950}"/>
              </a:ext>
            </a:extLst>
          </p:cNvPr>
          <p:cNvSpPr txBox="1"/>
          <p:nvPr/>
        </p:nvSpPr>
        <p:spPr>
          <a:xfrm flipH="1">
            <a:off x="9024940" y="4145307"/>
            <a:ext cx="1024587" cy="276999"/>
          </a:xfrm>
          <a:prstGeom prst="rect">
            <a:avLst/>
          </a:prstGeom>
          <a:noFill/>
        </p:spPr>
        <p:txBody>
          <a:bodyPr wrap="square" rtlCol="0">
            <a:spAutoFit/>
          </a:bodyPr>
          <a:lstStyle/>
          <a:p>
            <a:r>
              <a:rPr lang="en-US" sz="1200" dirty="0">
                <a:solidFill>
                  <a:schemeClr val="accent1"/>
                </a:solidFill>
              </a:rPr>
              <a:t>Response</a:t>
            </a:r>
          </a:p>
        </p:txBody>
      </p:sp>
      <p:sp>
        <p:nvSpPr>
          <p:cNvPr id="27" name="TextBox 26">
            <a:extLst>
              <a:ext uri="{FF2B5EF4-FFF2-40B4-BE49-F238E27FC236}">
                <a16:creationId xmlns:a16="http://schemas.microsoft.com/office/drawing/2014/main" id="{68CEC5EF-976F-A3EC-0888-4886193A2ED5}"/>
              </a:ext>
            </a:extLst>
          </p:cNvPr>
          <p:cNvSpPr txBox="1"/>
          <p:nvPr/>
        </p:nvSpPr>
        <p:spPr>
          <a:xfrm flipH="1">
            <a:off x="8414773" y="3202834"/>
            <a:ext cx="826872" cy="276999"/>
          </a:xfrm>
          <a:prstGeom prst="rect">
            <a:avLst/>
          </a:prstGeom>
          <a:noFill/>
        </p:spPr>
        <p:txBody>
          <a:bodyPr wrap="square" rtlCol="0">
            <a:spAutoFit/>
          </a:bodyPr>
          <a:lstStyle/>
          <a:p>
            <a:r>
              <a:rPr lang="en-US" sz="1200" dirty="0">
                <a:solidFill>
                  <a:schemeClr val="accent1"/>
                </a:solidFill>
              </a:rPr>
              <a:t>Response</a:t>
            </a:r>
          </a:p>
        </p:txBody>
      </p:sp>
      <p:sp>
        <p:nvSpPr>
          <p:cNvPr id="39" name="Isosceles Triangle 38">
            <a:extLst>
              <a:ext uri="{FF2B5EF4-FFF2-40B4-BE49-F238E27FC236}">
                <a16:creationId xmlns:a16="http://schemas.microsoft.com/office/drawing/2014/main" id="{E3BD525F-A5EE-D4E2-29EF-BEF289AD1DBE}"/>
              </a:ext>
            </a:extLst>
          </p:cNvPr>
          <p:cNvSpPr/>
          <p:nvPr/>
        </p:nvSpPr>
        <p:spPr>
          <a:xfrm rot="3282232">
            <a:off x="9274657" y="3303840"/>
            <a:ext cx="70568" cy="104741"/>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37552745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00">
        <p159:morph option="byObject"/>
      </p:transition>
    </mc:Choice>
    <mc:Fallback xmlns="">
      <p:transition spd="slow" advTm="1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4000"/>
                                  </p:stCondLst>
                                  <p:childTnLst>
                                    <p:set>
                                      <p:cBhvr>
                                        <p:cTn id="6" dur="1" fill="hold">
                                          <p:stCondLst>
                                            <p:cond delay="0"/>
                                          </p:stCondLst>
                                        </p:cTn>
                                        <p:tgtEl>
                                          <p:spTgt spid="25"/>
                                        </p:tgtEl>
                                        <p:attrNameLst>
                                          <p:attrName>style.visibility</p:attrName>
                                        </p:attrNameLst>
                                      </p:cBhvr>
                                      <p:to>
                                        <p:strVal val="visible"/>
                                      </p:to>
                                    </p:set>
                                    <p:animEffect transition="in" filter="wipe(right)">
                                      <p:cBhvr>
                                        <p:cTn id="7" dur="500"/>
                                        <p:tgtEl>
                                          <p:spTgt spid="25"/>
                                        </p:tgtEl>
                                      </p:cBhvr>
                                    </p:animEffect>
                                  </p:childTnLst>
                                </p:cTn>
                              </p:par>
                              <p:par>
                                <p:cTn id="8" presetID="22" presetClass="entr" presetSubtype="4" fill="hold" grpId="0" nodeType="withEffect">
                                  <p:stCondLst>
                                    <p:cond delay="4000"/>
                                  </p:stCondLst>
                                  <p:childTnLst>
                                    <p:set>
                                      <p:cBhvr>
                                        <p:cTn id="9" dur="1" fill="hold">
                                          <p:stCondLst>
                                            <p:cond delay="0"/>
                                          </p:stCondLst>
                                        </p:cTn>
                                        <p:tgtEl>
                                          <p:spTgt spid="26"/>
                                        </p:tgtEl>
                                        <p:attrNameLst>
                                          <p:attrName>style.visibility</p:attrName>
                                        </p:attrNameLst>
                                      </p:cBhvr>
                                      <p:to>
                                        <p:strVal val="visible"/>
                                      </p:to>
                                    </p:set>
                                    <p:animEffect transition="in" filter="wipe(down)">
                                      <p:cBhvr>
                                        <p:cTn id="10" dur="500"/>
                                        <p:tgtEl>
                                          <p:spTgt spid="26"/>
                                        </p:tgtEl>
                                      </p:cBhvr>
                                    </p:animEffect>
                                  </p:childTnLst>
                                </p:cTn>
                              </p:par>
                            </p:childTnLst>
                          </p:cTn>
                        </p:par>
                        <p:par>
                          <p:cTn id="11" fill="hold">
                            <p:stCondLst>
                              <p:cond delay="4500"/>
                            </p:stCondLst>
                            <p:childTnLst>
                              <p:par>
                                <p:cTn id="12" presetID="22" presetClass="exit" presetSubtype="2" fill="hold" nodeType="afterEffect">
                                  <p:stCondLst>
                                    <p:cond delay="0"/>
                                  </p:stCondLst>
                                  <p:childTnLst>
                                    <p:animEffect transition="out" filter="wipe(right)">
                                      <p:cBhvr>
                                        <p:cTn id="13" dur="500"/>
                                        <p:tgtEl>
                                          <p:spTgt spid="25"/>
                                        </p:tgtEl>
                                      </p:cBhvr>
                                    </p:animEffect>
                                    <p:set>
                                      <p:cBhvr>
                                        <p:cTn id="14" dur="1" fill="hold">
                                          <p:stCondLst>
                                            <p:cond delay="499"/>
                                          </p:stCondLst>
                                        </p:cTn>
                                        <p:tgtEl>
                                          <p:spTgt spid="25"/>
                                        </p:tgtEl>
                                        <p:attrNameLst>
                                          <p:attrName>style.visibility</p:attrName>
                                        </p:attrNameLst>
                                      </p:cBhvr>
                                      <p:to>
                                        <p:strVal val="hidden"/>
                                      </p:to>
                                    </p:set>
                                  </p:childTnLst>
                                </p:cTn>
                              </p:par>
                              <p:par>
                                <p:cTn id="15" presetID="10" presetClass="exit" presetSubtype="0" fill="hold" grpId="1" nodeType="withEffect">
                                  <p:stCondLst>
                                    <p:cond delay="0"/>
                                  </p:stCondLst>
                                  <p:childTnLst>
                                    <p:animEffect transition="out" filter="fade">
                                      <p:cBhvr>
                                        <p:cTn id="16" dur="500"/>
                                        <p:tgtEl>
                                          <p:spTgt spid="26"/>
                                        </p:tgtEl>
                                      </p:cBhvr>
                                    </p:animEffect>
                                    <p:set>
                                      <p:cBhvr>
                                        <p:cTn id="17" dur="1" fill="hold">
                                          <p:stCondLst>
                                            <p:cond delay="499"/>
                                          </p:stCondLst>
                                        </p:cTn>
                                        <p:tgtEl>
                                          <p:spTgt spid="26"/>
                                        </p:tgtEl>
                                        <p:attrNameLst>
                                          <p:attrName>style.visibility</p:attrName>
                                        </p:attrNameLst>
                                      </p:cBhvr>
                                      <p:to>
                                        <p:strVal val="hidden"/>
                                      </p:to>
                                    </p:set>
                                  </p:childTnLst>
                                </p:cTn>
                              </p:par>
                            </p:childTnLst>
                          </p:cTn>
                        </p:par>
                        <p:par>
                          <p:cTn id="18" fill="hold">
                            <p:stCondLst>
                              <p:cond delay="5000"/>
                            </p:stCondLst>
                            <p:childTnLst>
                              <p:par>
                                <p:cTn id="19" presetID="22" presetClass="entr" presetSubtype="8" fill="hold" grpId="1" nodeType="afterEffect">
                                  <p:stCondLst>
                                    <p:cond delay="3000"/>
                                  </p:stCondLst>
                                  <p:childTnLst>
                                    <p:set>
                                      <p:cBhvr>
                                        <p:cTn id="20" dur="1" fill="hold">
                                          <p:stCondLst>
                                            <p:cond delay="0"/>
                                          </p:stCondLst>
                                        </p:cTn>
                                        <p:tgtEl>
                                          <p:spTgt spid="27"/>
                                        </p:tgtEl>
                                        <p:attrNameLst>
                                          <p:attrName>style.visibility</p:attrName>
                                        </p:attrNameLst>
                                      </p:cBhvr>
                                      <p:to>
                                        <p:strVal val="visible"/>
                                      </p:to>
                                    </p:set>
                                    <p:animEffect transition="in" filter="wipe(left)">
                                      <p:cBhvr>
                                        <p:cTn id="21" dur="500"/>
                                        <p:tgtEl>
                                          <p:spTgt spid="27"/>
                                        </p:tgtEl>
                                      </p:cBhvr>
                                    </p:animEffect>
                                  </p:childTnLst>
                                </p:cTn>
                              </p:par>
                              <p:par>
                                <p:cTn id="22" presetID="10" presetClass="entr" presetSubtype="0" fill="hold" grpId="0" nodeType="withEffect">
                                  <p:stCondLst>
                                    <p:cond delay="3000"/>
                                  </p:stCondLst>
                                  <p:childTnLst>
                                    <p:set>
                                      <p:cBhvr>
                                        <p:cTn id="23" dur="1" fill="hold">
                                          <p:stCondLst>
                                            <p:cond delay="0"/>
                                          </p:stCondLst>
                                        </p:cTn>
                                        <p:tgtEl>
                                          <p:spTgt spid="39"/>
                                        </p:tgtEl>
                                        <p:attrNameLst>
                                          <p:attrName>style.visibility</p:attrName>
                                        </p:attrNameLst>
                                      </p:cBhvr>
                                      <p:to>
                                        <p:strVal val="visible"/>
                                      </p:to>
                                    </p:set>
                                    <p:animEffect transition="in" filter="fade">
                                      <p:cBhvr>
                                        <p:cTn id="24" dur="500"/>
                                        <p:tgtEl>
                                          <p:spTgt spid="39"/>
                                        </p:tgtEl>
                                      </p:cBhvr>
                                    </p:animEffect>
                                  </p:childTnLst>
                                </p:cTn>
                              </p:par>
                              <p:par>
                                <p:cTn id="25" presetID="26" presetClass="emph" presetSubtype="0" fill="hold" nodeType="withEffect">
                                  <p:stCondLst>
                                    <p:cond delay="3000"/>
                                  </p:stCondLst>
                                  <p:childTnLst>
                                    <p:animEffect transition="out" filter="fade">
                                      <p:cBhvr>
                                        <p:cTn id="26" dur="1000" tmFilter="0, 0; .2, .5; .8, .5; 1, 0"/>
                                        <p:tgtEl>
                                          <p:spTgt spid="23"/>
                                        </p:tgtEl>
                                      </p:cBhvr>
                                    </p:animEffect>
                                    <p:animScale>
                                      <p:cBhvr>
                                        <p:cTn id="27" dur="500" autoRev="1" fill="hold"/>
                                        <p:tgtEl>
                                          <p:spTgt spid="23"/>
                                        </p:tgtEl>
                                      </p:cBhvr>
                                      <p:by x="105000" y="105000"/>
                                    </p:animScale>
                                  </p:childTnLst>
                                </p:cTn>
                              </p:par>
                            </p:childTnLst>
                          </p:cTn>
                        </p:par>
                        <p:par>
                          <p:cTn id="28" fill="hold">
                            <p:stCondLst>
                              <p:cond delay="9000"/>
                            </p:stCondLst>
                            <p:childTnLst>
                              <p:par>
                                <p:cTn id="29" presetID="26" presetClass="emph" presetSubtype="0" fill="hold" nodeType="afterEffect">
                                  <p:stCondLst>
                                    <p:cond delay="0"/>
                                  </p:stCondLst>
                                  <p:childTnLst>
                                    <p:animEffect transition="out" filter="fade">
                                      <p:cBhvr>
                                        <p:cTn id="30" dur="1000" tmFilter="0, 0; .2, .5; .8, .5; 1, 0"/>
                                        <p:tgtEl>
                                          <p:spTgt spid="23"/>
                                        </p:tgtEl>
                                      </p:cBhvr>
                                    </p:animEffect>
                                    <p:animScale>
                                      <p:cBhvr>
                                        <p:cTn id="31" dur="500" autoRev="1" fill="hold"/>
                                        <p:tgtEl>
                                          <p:spTgt spid="23"/>
                                        </p:tgtEl>
                                      </p:cBhvr>
                                      <p:by x="105000" y="105000"/>
                                    </p:animScale>
                                  </p:childTnLst>
                                </p:cTn>
                              </p:par>
                            </p:childTnLst>
                          </p:cTn>
                        </p:par>
                        <p:par>
                          <p:cTn id="32" fill="hold">
                            <p:stCondLst>
                              <p:cond delay="10000"/>
                            </p:stCondLst>
                            <p:childTnLst>
                              <p:par>
                                <p:cTn id="33" presetID="10" presetClass="exit" presetSubtype="0" fill="hold" grpId="0" nodeType="afterEffect">
                                  <p:stCondLst>
                                    <p:cond delay="0"/>
                                  </p:stCondLst>
                                  <p:childTnLst>
                                    <p:animEffect transition="out" filter="fade">
                                      <p:cBhvr>
                                        <p:cTn id="34" dur="500"/>
                                        <p:tgtEl>
                                          <p:spTgt spid="27"/>
                                        </p:tgtEl>
                                      </p:cBhvr>
                                    </p:animEffect>
                                    <p:set>
                                      <p:cBhvr>
                                        <p:cTn id="35" dur="1" fill="hold">
                                          <p:stCondLst>
                                            <p:cond delay="499"/>
                                          </p:stCondLst>
                                        </p:cTn>
                                        <p:tgtEl>
                                          <p:spTgt spid="27"/>
                                        </p:tgtEl>
                                        <p:attrNameLst>
                                          <p:attrName>style.visibility</p:attrName>
                                        </p:attrNameLst>
                                      </p:cBhvr>
                                      <p:to>
                                        <p:strVal val="hidden"/>
                                      </p:to>
                                    </p:set>
                                  </p:childTnLst>
                                </p:cTn>
                              </p:par>
                              <p:par>
                                <p:cTn id="36" presetID="10" presetClass="exit" presetSubtype="0" fill="hold" grpId="1" nodeType="withEffect">
                                  <p:stCondLst>
                                    <p:cond delay="0"/>
                                  </p:stCondLst>
                                  <p:childTnLst>
                                    <p:animEffect transition="out" filter="fade">
                                      <p:cBhvr>
                                        <p:cTn id="37" dur="500"/>
                                        <p:tgtEl>
                                          <p:spTgt spid="39"/>
                                        </p:tgtEl>
                                      </p:cBhvr>
                                    </p:animEffect>
                                    <p:set>
                                      <p:cBhvr>
                                        <p:cTn id="38" dur="1" fill="hold">
                                          <p:stCondLst>
                                            <p:cond delay="499"/>
                                          </p:stCondLst>
                                        </p:cTn>
                                        <p:tgtEl>
                                          <p:spTgt spid="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6" grpId="1"/>
      <p:bldP spid="27" grpId="0"/>
      <p:bldP spid="27" grpId="1"/>
      <p:bldP spid="39" grpId="0" animBg="1"/>
      <p:bldP spid="39"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2CB96-86ED-9EA4-447E-56EB4BD7A2B3}"/>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B7C7A6D-3073-41BB-1928-7E0329198275}"/>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DEBE7F91-C132-85A2-DBD8-0B0FB70371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2544B78D-9F64-8DA2-3903-4AFA0F3FA3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3256ACA2-8377-B0BC-4BF9-DF63BC0E0BF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E3F33733-3B4E-C05A-2F50-F412834B79FA}"/>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19D07384-C501-C024-5866-8A102F53A6CD}"/>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C5144633-41DA-2930-7B96-804EC77FAF34}"/>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075A9F03-F82C-889B-E897-F6BCBB16991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17F90090-04C0-60A2-AA12-2D2CEA251865}"/>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0D298914-0AE9-0857-97CD-E58F31DBB19E}"/>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2B11BEA4-1262-AE30-B81A-8092A52B5CA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DECD6537-5A87-A5B3-6E4D-5ED7D9E26908}"/>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MQTT</a:t>
            </a:r>
            <a:endParaRPr lang="aa-ET" dirty="0">
              <a:solidFill>
                <a:schemeClr val="accent1"/>
              </a:solidFill>
              <a:latin typeface="Century Gothic" panose="020B0502020202020204" pitchFamily="34" charset="0"/>
            </a:endParaRPr>
          </a:p>
        </p:txBody>
      </p:sp>
      <p:pic>
        <p:nvPicPr>
          <p:cNvPr id="3" name="Graphic 2" descr="Cloud with solid fill">
            <a:extLst>
              <a:ext uri="{FF2B5EF4-FFF2-40B4-BE49-F238E27FC236}">
                <a16:creationId xmlns:a16="http://schemas.microsoft.com/office/drawing/2014/main" id="{520A4DE2-EB44-72E7-26B1-E0F480C0EA3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100880" y="3429000"/>
            <a:ext cx="773879" cy="773879"/>
          </a:xfrm>
          <a:prstGeom prst="rect">
            <a:avLst/>
          </a:prstGeom>
        </p:spPr>
      </p:pic>
      <p:sp>
        <p:nvSpPr>
          <p:cNvPr id="18" name="Freeform: Shape 17">
            <a:extLst>
              <a:ext uri="{FF2B5EF4-FFF2-40B4-BE49-F238E27FC236}">
                <a16:creationId xmlns:a16="http://schemas.microsoft.com/office/drawing/2014/main" id="{1B196A5F-9CFB-1FCB-27D2-C2C36FEC8503}"/>
              </a:ext>
            </a:extLst>
          </p:cNvPr>
          <p:cNvSpPr/>
          <p:nvPr/>
        </p:nvSpPr>
        <p:spPr>
          <a:xfrm rot="18900000">
            <a:off x="8426142" y="3880427"/>
            <a:ext cx="100553" cy="100553"/>
          </a:xfrm>
          <a:custGeom>
            <a:avLst/>
            <a:gdLst>
              <a:gd name="connsiteX0" fmla="*/ 0 w 353017"/>
              <a:gd name="connsiteY0" fmla="*/ 0 h 353017"/>
              <a:gd name="connsiteX1" fmla="*/ 33 w 353017"/>
              <a:gd name="connsiteY1" fmla="*/ 116251 h 353017"/>
              <a:gd name="connsiteX2" fmla="*/ 166130 w 353017"/>
              <a:gd name="connsiteY2" fmla="*/ 186887 h 353017"/>
              <a:gd name="connsiteX3" fmla="*/ 236763 w 353017"/>
              <a:gd name="connsiteY3" fmla="*/ 352987 h 353017"/>
              <a:gd name="connsiteX4" fmla="*/ 353017 w 353017"/>
              <a:gd name="connsiteY4" fmla="*/ 353017 h 353017"/>
              <a:gd name="connsiteX5" fmla="*/ 0 w 353017"/>
              <a:gd name="connsiteY5" fmla="*/ 0 h 353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3017" h="353017">
                <a:moveTo>
                  <a:pt x="0" y="0"/>
                </a:moveTo>
                <a:lnTo>
                  <a:pt x="33" y="116251"/>
                </a:lnTo>
                <a:cubicBezTo>
                  <a:pt x="62593" y="116747"/>
                  <a:pt x="122376" y="142167"/>
                  <a:pt x="166130" y="186887"/>
                </a:cubicBezTo>
                <a:cubicBezTo>
                  <a:pt x="210372" y="230965"/>
                  <a:pt x="235706" y="290545"/>
                  <a:pt x="236763" y="352987"/>
                </a:cubicBezTo>
                <a:lnTo>
                  <a:pt x="353017" y="353017"/>
                </a:lnTo>
                <a:cubicBezTo>
                  <a:pt x="352129" y="158421"/>
                  <a:pt x="194596" y="888"/>
                  <a:pt x="0" y="0"/>
                </a:cubicBezTo>
                <a:close/>
              </a:path>
            </a:pathLst>
          </a:custGeom>
          <a:solidFill>
            <a:schemeClr val="tx1"/>
          </a:solidFill>
          <a:ln w="29666"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91194333-E1F4-5B23-9772-1012009EED06}"/>
              </a:ext>
            </a:extLst>
          </p:cNvPr>
          <p:cNvSpPr/>
          <p:nvPr/>
        </p:nvSpPr>
        <p:spPr>
          <a:xfrm rot="18900000">
            <a:off x="8393017" y="3800549"/>
            <a:ext cx="166803" cy="166803"/>
          </a:xfrm>
          <a:custGeom>
            <a:avLst/>
            <a:gdLst>
              <a:gd name="connsiteX0" fmla="*/ 585594 w 585607"/>
              <a:gd name="connsiteY0" fmla="*/ 585607 h 585607"/>
              <a:gd name="connsiteX1" fmla="*/ 7914 w 585607"/>
              <a:gd name="connsiteY1" fmla="*/ 13 h 585607"/>
              <a:gd name="connsiteX2" fmla="*/ 0 w 585607"/>
              <a:gd name="connsiteY2" fmla="*/ 13 h 585607"/>
              <a:gd name="connsiteX3" fmla="*/ 33 w 585607"/>
              <a:gd name="connsiteY3" fmla="*/ 116274 h 585607"/>
              <a:gd name="connsiteX4" fmla="*/ 469340 w 585607"/>
              <a:gd name="connsiteY4" fmla="*/ 583191 h 585607"/>
              <a:gd name="connsiteX5" fmla="*/ 469340 w 585607"/>
              <a:gd name="connsiteY5" fmla="*/ 585572 h 58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5607" h="585607">
                <a:moveTo>
                  <a:pt x="585594" y="585607"/>
                </a:moveTo>
                <a:cubicBezTo>
                  <a:pt x="587779" y="264378"/>
                  <a:pt x="329143" y="2198"/>
                  <a:pt x="7914" y="13"/>
                </a:cubicBezTo>
                <a:cubicBezTo>
                  <a:pt x="5275" y="-4"/>
                  <a:pt x="2639" y="-4"/>
                  <a:pt x="0" y="13"/>
                </a:cubicBezTo>
                <a:lnTo>
                  <a:pt x="33" y="116274"/>
                </a:lnTo>
                <a:cubicBezTo>
                  <a:pt x="258564" y="115615"/>
                  <a:pt x="468680" y="324659"/>
                  <a:pt x="469340" y="583191"/>
                </a:cubicBezTo>
                <a:cubicBezTo>
                  <a:pt x="469342" y="583983"/>
                  <a:pt x="469342" y="584779"/>
                  <a:pt x="469340" y="585572"/>
                </a:cubicBezTo>
                <a:close/>
              </a:path>
            </a:pathLst>
          </a:custGeom>
          <a:solidFill>
            <a:schemeClr val="tx1"/>
          </a:solidFill>
          <a:ln w="29666"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9B556FB-EB15-2595-2FC2-1C02337DEBA6}"/>
              </a:ext>
            </a:extLst>
          </p:cNvPr>
          <p:cNvSpPr/>
          <p:nvPr/>
        </p:nvSpPr>
        <p:spPr>
          <a:xfrm rot="18900000">
            <a:off x="8359304" y="3719250"/>
            <a:ext cx="234229" cy="234229"/>
          </a:xfrm>
          <a:custGeom>
            <a:avLst/>
            <a:gdLst>
              <a:gd name="connsiteX0" fmla="*/ 0 w 822323"/>
              <a:gd name="connsiteY0" fmla="*/ 0 h 822322"/>
              <a:gd name="connsiteX1" fmla="*/ 33 w 822323"/>
              <a:gd name="connsiteY1" fmla="*/ 116251 h 822322"/>
              <a:gd name="connsiteX2" fmla="*/ 706067 w 822323"/>
              <a:gd name="connsiteY2" fmla="*/ 822293 h 822322"/>
              <a:gd name="connsiteX3" fmla="*/ 822324 w 822323"/>
              <a:gd name="connsiteY3" fmla="*/ 822322 h 822322"/>
              <a:gd name="connsiteX4" fmla="*/ 0 w 822323"/>
              <a:gd name="connsiteY4" fmla="*/ 0 h 822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2323" h="822322">
                <a:moveTo>
                  <a:pt x="0" y="0"/>
                </a:moveTo>
                <a:lnTo>
                  <a:pt x="33" y="116251"/>
                </a:lnTo>
                <a:cubicBezTo>
                  <a:pt x="389226" y="118034"/>
                  <a:pt x="704289" y="433100"/>
                  <a:pt x="706067" y="822293"/>
                </a:cubicBezTo>
                <a:lnTo>
                  <a:pt x="822324" y="822322"/>
                </a:lnTo>
                <a:cubicBezTo>
                  <a:pt x="822090" y="368262"/>
                  <a:pt x="454057" y="233"/>
                  <a:pt x="0" y="0"/>
                </a:cubicBezTo>
                <a:close/>
              </a:path>
            </a:pathLst>
          </a:custGeom>
          <a:solidFill>
            <a:schemeClr val="tx1"/>
          </a:solidFill>
          <a:ln w="29666" cap="flat">
            <a:noFill/>
            <a:prstDash val="solid"/>
            <a:miter/>
          </a:ln>
        </p:spPr>
        <p:txBody>
          <a:bodyPr rtlCol="0" anchor="ctr"/>
          <a:lstStyle/>
          <a:p>
            <a:endParaRPr lang="en-US"/>
          </a:p>
        </p:txBody>
      </p:sp>
      <p:sp>
        <p:nvSpPr>
          <p:cNvPr id="24" name="TextBox 23">
            <a:extLst>
              <a:ext uri="{FF2B5EF4-FFF2-40B4-BE49-F238E27FC236}">
                <a16:creationId xmlns:a16="http://schemas.microsoft.com/office/drawing/2014/main" id="{1D68B423-0379-270A-FD4C-8C99FE13E6BD}"/>
              </a:ext>
            </a:extLst>
          </p:cNvPr>
          <p:cNvSpPr txBox="1"/>
          <p:nvPr/>
        </p:nvSpPr>
        <p:spPr>
          <a:xfrm>
            <a:off x="7736227" y="4015812"/>
            <a:ext cx="1480381"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Broker</a:t>
            </a:r>
          </a:p>
        </p:txBody>
      </p:sp>
      <p:sp>
        <p:nvSpPr>
          <p:cNvPr id="2" name="TextBox 1">
            <a:extLst>
              <a:ext uri="{FF2B5EF4-FFF2-40B4-BE49-F238E27FC236}">
                <a16:creationId xmlns:a16="http://schemas.microsoft.com/office/drawing/2014/main" id="{225F58B8-F353-DFD4-F791-8DDA98DB7EB5}"/>
              </a:ext>
            </a:extLst>
          </p:cNvPr>
          <p:cNvSpPr txBox="1"/>
          <p:nvPr/>
        </p:nvSpPr>
        <p:spPr>
          <a:xfrm>
            <a:off x="1080784" y="1687045"/>
            <a:ext cx="7576500" cy="2585323"/>
          </a:xfrm>
          <a:prstGeom prst="rect">
            <a:avLst/>
          </a:prstGeom>
          <a:noFill/>
        </p:spPr>
        <p:txBody>
          <a:bodyPr wrap="square" rtlCol="0">
            <a:spAutoFit/>
          </a:bodyPr>
          <a:lstStyle/>
          <a:p>
            <a:r>
              <a:rPr lang="en-US" dirty="0">
                <a:solidFill>
                  <a:schemeClr val="accent5"/>
                </a:solidFill>
              </a:rPr>
              <a:t>    "forms": </a:t>
            </a:r>
            <a:r>
              <a:rPr lang="en-US" dirty="0">
                <a:solidFill>
                  <a:schemeClr val="accent1"/>
                </a:solidFill>
              </a:rPr>
              <a:t>[</a:t>
            </a:r>
          </a:p>
          <a:p>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a:t>
            </a:r>
            <a:r>
              <a:rPr lang="en-US" dirty="0" err="1">
                <a:solidFill>
                  <a:schemeClr val="accent1"/>
                </a:solidFill>
              </a:rPr>
              <a:t>mqtt</a:t>
            </a:r>
            <a:r>
              <a:rPr lang="en-US" dirty="0">
                <a:solidFill>
                  <a:schemeClr val="accent1"/>
                </a:solidFill>
              </a:rPr>
              <a:t>://broker.example.com:1883,</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subscribeevent</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mqv:filter</a:t>
            </a:r>
            <a:r>
              <a:rPr lang="en-US" dirty="0">
                <a:solidFill>
                  <a:schemeClr val="accent5"/>
                </a:solidFill>
              </a:rPr>
              <a:t>"</a:t>
            </a:r>
            <a:r>
              <a:rPr lang="en-US" dirty="0">
                <a:solidFill>
                  <a:schemeClr val="accent1"/>
                </a:solidFill>
              </a:rPr>
              <a:t>: "coffee/events/</a:t>
            </a:r>
            <a:r>
              <a:rPr lang="en-US" dirty="0" err="1">
                <a:solidFill>
                  <a:schemeClr val="accent1"/>
                </a:solidFill>
              </a:rPr>
              <a:t>lowOnWater</a:t>
            </a:r>
            <a:r>
              <a:rPr lang="en-US" dirty="0">
                <a:solidFill>
                  <a:schemeClr val="accent1"/>
                </a:solidFill>
              </a:rPr>
              <a:t>",</a:t>
            </a:r>
          </a:p>
          <a:p>
            <a:r>
              <a:rPr lang="en-US" dirty="0">
                <a:solidFill>
                  <a:schemeClr val="accent3">
                    <a:lumMod val="65000"/>
                  </a:schemeClr>
                </a:solidFill>
              </a:rPr>
              <a:t>        </a:t>
            </a:r>
            <a:r>
              <a:rPr lang="en-US" dirty="0">
                <a:solidFill>
                  <a:schemeClr val="accent5"/>
                </a:solidFill>
              </a:rPr>
              <a:t>"</a:t>
            </a:r>
            <a:r>
              <a:rPr lang="en-US" dirty="0" err="1">
                <a:solidFill>
                  <a:schemeClr val="accent5"/>
                </a:solidFill>
              </a:rPr>
              <a:t>mqv:qos</a:t>
            </a:r>
            <a:r>
              <a:rPr lang="en-US" dirty="0">
                <a:solidFill>
                  <a:schemeClr val="accent5"/>
                </a:solidFill>
              </a:rPr>
              <a:t>"</a:t>
            </a:r>
            <a:r>
              <a:rPr lang="en-US" dirty="0">
                <a:solidFill>
                  <a:schemeClr val="accent1"/>
                </a:solidFill>
              </a:rPr>
              <a:t>: "1",</a:t>
            </a:r>
          </a:p>
          <a:p>
            <a:r>
              <a:rPr lang="en-US" dirty="0">
                <a:solidFill>
                  <a:schemeClr val="accent3">
                    <a:lumMod val="65000"/>
                  </a:schemeClr>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"text/plain"</a:t>
            </a:r>
          </a:p>
          <a:p>
            <a:r>
              <a:rPr lang="en-US" dirty="0">
                <a:solidFill>
                  <a:schemeClr val="accent1"/>
                </a:solidFill>
              </a:rPr>
              <a:t>      }</a:t>
            </a:r>
          </a:p>
          <a:p>
            <a:r>
              <a:rPr lang="en-US" dirty="0">
                <a:solidFill>
                  <a:schemeClr val="accent1"/>
                </a:solidFill>
              </a:rPr>
              <a:t>    ]</a:t>
            </a:r>
          </a:p>
        </p:txBody>
      </p:sp>
      <p:sp>
        <p:nvSpPr>
          <p:cNvPr id="16" name="ReqLabel">
            <a:extLst>
              <a:ext uri="{FF2B5EF4-FFF2-40B4-BE49-F238E27FC236}">
                <a16:creationId xmlns:a16="http://schemas.microsoft.com/office/drawing/2014/main" id="{D494BE9E-7258-9936-7B44-868A2DF81B19}"/>
              </a:ext>
            </a:extLst>
          </p:cNvPr>
          <p:cNvSpPr txBox="1"/>
          <p:nvPr/>
        </p:nvSpPr>
        <p:spPr>
          <a:xfrm>
            <a:off x="1377261" y="4658710"/>
            <a:ext cx="3000289" cy="40011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2"/>
                </a:solidFill>
                <a:latin typeface="Century Gothic" panose="020B0502020202020204" pitchFamily="34" charset="0"/>
              </a:rPr>
              <a:t>► CONSUMER CONTROL PACKET</a:t>
            </a:r>
          </a:p>
        </p:txBody>
      </p:sp>
      <p:sp>
        <p:nvSpPr>
          <p:cNvPr id="17" name="TextBox 16">
            <a:extLst>
              <a:ext uri="{FF2B5EF4-FFF2-40B4-BE49-F238E27FC236}">
                <a16:creationId xmlns:a16="http://schemas.microsoft.com/office/drawing/2014/main" id="{4356C453-7F28-BBAA-043E-691175614528}"/>
              </a:ext>
            </a:extLst>
          </p:cNvPr>
          <p:cNvSpPr txBox="1"/>
          <p:nvPr/>
        </p:nvSpPr>
        <p:spPr>
          <a:xfrm>
            <a:off x="1377262" y="5060165"/>
            <a:ext cx="3742392" cy="584775"/>
          </a:xfrm>
          <a:prstGeom prst="rect">
            <a:avLst/>
          </a:prstGeom>
          <a:noFill/>
        </p:spPr>
        <p:txBody>
          <a:bodyPr wrap="square" rtlCol="0">
            <a:spAutoFit/>
          </a:bodyPr>
          <a:lstStyle/>
          <a:p>
            <a:r>
              <a:rPr lang="en-US" sz="1600" dirty="0">
                <a:solidFill>
                  <a:schemeClr val="accent1"/>
                </a:solidFill>
              </a:rPr>
              <a:t>SUBSCRIBE</a:t>
            </a:r>
          </a:p>
          <a:p>
            <a:r>
              <a:rPr lang="en-US" sz="1600" dirty="0">
                <a:solidFill>
                  <a:schemeClr val="accent1"/>
                </a:solidFill>
              </a:rPr>
              <a:t>Topic: coffee/events/</a:t>
            </a:r>
            <a:r>
              <a:rPr lang="en-US" sz="1600" dirty="0" err="1">
                <a:solidFill>
                  <a:schemeClr val="accent1"/>
                </a:solidFill>
              </a:rPr>
              <a:t>lowOnWater</a:t>
            </a:r>
            <a:endParaRPr lang="en-US" sz="1600" dirty="0">
              <a:solidFill>
                <a:schemeClr val="accent1"/>
              </a:solidFill>
            </a:endParaRPr>
          </a:p>
        </p:txBody>
      </p:sp>
      <p:sp>
        <p:nvSpPr>
          <p:cNvPr id="21" name="TextBox 20">
            <a:extLst>
              <a:ext uri="{FF2B5EF4-FFF2-40B4-BE49-F238E27FC236}">
                <a16:creationId xmlns:a16="http://schemas.microsoft.com/office/drawing/2014/main" id="{AE61B58C-8C5D-00D4-F797-D4332B45DA4C}"/>
              </a:ext>
            </a:extLst>
          </p:cNvPr>
          <p:cNvSpPr txBox="1"/>
          <p:nvPr/>
        </p:nvSpPr>
        <p:spPr>
          <a:xfrm>
            <a:off x="5547232" y="5058765"/>
            <a:ext cx="3000289" cy="1077218"/>
          </a:xfrm>
          <a:prstGeom prst="rect">
            <a:avLst/>
          </a:prstGeom>
          <a:noFill/>
        </p:spPr>
        <p:txBody>
          <a:bodyPr wrap="square" rtlCol="0">
            <a:spAutoFit/>
          </a:bodyPr>
          <a:lstStyle/>
          <a:p>
            <a:r>
              <a:rPr lang="en-US" sz="1600" dirty="0">
                <a:solidFill>
                  <a:schemeClr val="accent1"/>
                </a:solidFill>
              </a:rPr>
              <a:t>PUBLISH</a:t>
            </a:r>
          </a:p>
          <a:p>
            <a:r>
              <a:rPr lang="en-US" sz="1600" dirty="0">
                <a:solidFill>
                  <a:schemeClr val="accent1"/>
                </a:solidFill>
              </a:rPr>
              <a:t>Topic: coffee/events/</a:t>
            </a:r>
            <a:r>
              <a:rPr lang="en-US" sz="1600" dirty="0" err="1">
                <a:solidFill>
                  <a:schemeClr val="accent1"/>
                </a:solidFill>
              </a:rPr>
              <a:t>lowOnWater</a:t>
            </a:r>
            <a:endParaRPr lang="en-US" sz="1600" dirty="0">
              <a:solidFill>
                <a:schemeClr val="accent1"/>
              </a:solidFill>
            </a:endParaRPr>
          </a:p>
          <a:p>
            <a:r>
              <a:rPr lang="en-US" sz="1600" dirty="0">
                <a:solidFill>
                  <a:schemeClr val="accent1"/>
                </a:solidFill>
              </a:rPr>
              <a:t>QoS: 1</a:t>
            </a:r>
          </a:p>
          <a:p>
            <a:r>
              <a:rPr lang="en-US" sz="1600" dirty="0">
                <a:solidFill>
                  <a:schemeClr val="accent1"/>
                </a:solidFill>
              </a:rPr>
              <a:t>Payload: </a:t>
            </a:r>
            <a:r>
              <a:rPr lang="en-US" sz="1600" dirty="0">
                <a:solidFill>
                  <a:schemeClr val="accent6"/>
                </a:solidFill>
              </a:rPr>
              <a:t>50</a:t>
            </a:r>
          </a:p>
        </p:txBody>
      </p:sp>
      <p:sp>
        <p:nvSpPr>
          <p:cNvPr id="22" name="RespLabel">
            <a:extLst>
              <a:ext uri="{FF2B5EF4-FFF2-40B4-BE49-F238E27FC236}">
                <a16:creationId xmlns:a16="http://schemas.microsoft.com/office/drawing/2014/main" id="{4D2D60FB-41AB-8748-82F7-C87681807897}"/>
              </a:ext>
            </a:extLst>
          </p:cNvPr>
          <p:cNvSpPr txBox="1"/>
          <p:nvPr/>
        </p:nvSpPr>
        <p:spPr>
          <a:xfrm>
            <a:off x="5547232" y="4659549"/>
            <a:ext cx="2811238" cy="40011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6"/>
                </a:solidFill>
                <a:latin typeface="Century Gothic" panose="020B0502020202020204" pitchFamily="34" charset="0"/>
              </a:rPr>
              <a:t>◄ THING CONTROL PACKET</a:t>
            </a:r>
          </a:p>
        </p:txBody>
      </p:sp>
      <p:cxnSp>
        <p:nvCxnSpPr>
          <p:cNvPr id="23" name="Straight Connector 22">
            <a:extLst>
              <a:ext uri="{FF2B5EF4-FFF2-40B4-BE49-F238E27FC236}">
                <a16:creationId xmlns:a16="http://schemas.microsoft.com/office/drawing/2014/main" id="{3C20927A-4954-8564-4DE6-8762BF81AADE}"/>
              </a:ext>
            </a:extLst>
          </p:cNvPr>
          <p:cNvCxnSpPr>
            <a:cxnSpLocks/>
          </p:cNvCxnSpPr>
          <p:nvPr/>
        </p:nvCxnSpPr>
        <p:spPr>
          <a:xfrm flipH="1">
            <a:off x="8874759" y="3358116"/>
            <a:ext cx="429516" cy="285715"/>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42049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600">
        <p159:morph option="byObject"/>
      </p:transition>
    </mc:Choice>
    <mc:Fallback xmlns="">
      <p:transition spd="slow" advTm="30600">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62B7B90-90DF-E2CA-CCAA-604438AB6530}"/>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518E7086-EA53-7D01-4DF3-AAD3EEF76F99}"/>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6325378F-83B3-E031-C2A3-E31E279FC0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4E8BF5F2-A2B1-07D0-D883-46EDC1E28F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AFC9A381-8876-0668-C402-9F873AFFBC9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755EF961-5919-018A-F4FD-5C90D08757BD}"/>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E006CFAF-6934-33A5-8425-887A4BEA902F}"/>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CD8A321D-2054-091B-1BC0-172D8030EF76}"/>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4B9DB1CA-A59B-3E7F-0470-646C23A3EC02}"/>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2050456F-DEC3-43EA-7805-AB46F0CE1ADA}"/>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31F24BA6-2335-4070-D05C-7ED65DA6E2AD}"/>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D8473686-4E6B-3B1E-B2F9-612F3573660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92217CE3-8129-2E18-0074-262BB660D26D}"/>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MQTT</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9700D5BC-A7F9-4B50-128B-DC98EC5BB819}"/>
              </a:ext>
            </a:extLst>
          </p:cNvPr>
          <p:cNvSpPr txBox="1"/>
          <p:nvPr/>
        </p:nvSpPr>
        <p:spPr>
          <a:xfrm>
            <a:off x="1083789" y="1576073"/>
            <a:ext cx="7576500" cy="4524315"/>
          </a:xfrm>
          <a:prstGeom prst="rect">
            <a:avLst/>
          </a:prstGeom>
          <a:noFill/>
        </p:spPr>
        <p:txBody>
          <a:bodyPr wrap="square" rtlCol="0">
            <a:spAutoFit/>
          </a:bodyPr>
          <a:lstStyle/>
          <a:p>
            <a:r>
              <a:rPr lang="en-US" dirty="0">
                <a:solidFill>
                  <a:schemeClr val="accent3">
                    <a:lumMod val="75000"/>
                  </a:schemeClr>
                </a:solidFill>
              </a:rPr>
              <a:t>... </a:t>
            </a:r>
          </a:p>
          <a:p>
            <a:r>
              <a:rPr lang="en-US" dirty="0">
                <a:solidFill>
                  <a:schemeClr val="accent3">
                    <a:lumMod val="75000"/>
                  </a:schemeClr>
                </a:solidFill>
              </a:rPr>
              <a:t>"events": {</a:t>
            </a:r>
          </a:p>
          <a:p>
            <a:r>
              <a:rPr lang="en-US" dirty="0">
                <a:solidFill>
                  <a:schemeClr val="accent3">
                    <a:lumMod val="75000"/>
                  </a:schemeClr>
                </a:solidFill>
              </a:rPr>
              <a:t>  "</a:t>
            </a:r>
            <a:r>
              <a:rPr lang="en-US" dirty="0" err="1">
                <a:solidFill>
                  <a:schemeClr val="accent3">
                    <a:lumMod val="75000"/>
                  </a:schemeClr>
                </a:solidFill>
              </a:rPr>
              <a:t>lowOnWater</a:t>
            </a:r>
            <a:r>
              <a:rPr lang="en-US" dirty="0">
                <a:solidFill>
                  <a:schemeClr val="accent3">
                    <a:lumMod val="75000"/>
                  </a:schemeClr>
                </a:solidFill>
              </a:rPr>
              <a:t>": {</a:t>
            </a:r>
          </a:p>
          <a:p>
            <a:r>
              <a:rPr lang="en-US" dirty="0">
                <a:solidFill>
                  <a:schemeClr val="accent3">
                    <a:lumMod val="75000"/>
                  </a:schemeClr>
                </a:solidFill>
              </a:rPr>
              <a:t>    "title": "Low Water Level",</a:t>
            </a:r>
          </a:p>
          <a:p>
            <a:r>
              <a:rPr lang="en-US" dirty="0">
                <a:solidFill>
                  <a:schemeClr val="accent3">
                    <a:lumMod val="75000"/>
                  </a:schemeClr>
                </a:solidFill>
              </a:rPr>
              <a:t>    "data": {</a:t>
            </a:r>
          </a:p>
          <a:p>
            <a:r>
              <a:rPr lang="en-US" dirty="0">
                <a:solidFill>
                  <a:schemeClr val="accent3">
                    <a:lumMod val="75000"/>
                  </a:schemeClr>
                </a:solidFill>
              </a:rPr>
              <a:t>      "type": "number",</a:t>
            </a:r>
          </a:p>
          <a:p>
            <a:r>
              <a:rPr lang="en-US" dirty="0">
                <a:solidFill>
                  <a:schemeClr val="accent3">
                    <a:lumMod val="75000"/>
                  </a:schemeClr>
                </a:solidFill>
              </a:rPr>
              <a:t>      "description": "Remaining water level in milliliters"</a:t>
            </a:r>
          </a:p>
          <a:p>
            <a:r>
              <a:rPr lang="en-US" dirty="0">
                <a:solidFill>
                  <a:schemeClr val="accent3">
                    <a:lumMod val="75000"/>
                  </a:schemeClr>
                </a:solidFill>
              </a:rPr>
              <a:t>    },</a:t>
            </a:r>
          </a:p>
          <a:p>
            <a:r>
              <a:rPr lang="en-US" dirty="0">
                <a:solidFill>
                  <a:schemeClr val="accent3">
                    <a:lumMod val="75000"/>
                  </a:schemeClr>
                </a:solidFill>
              </a:rPr>
              <a:t>    "forms": [</a:t>
            </a:r>
          </a:p>
          <a:p>
            <a:r>
              <a:rPr lang="en-US" dirty="0">
                <a:solidFill>
                  <a:schemeClr val="accent3">
                    <a:lumMod val="75000"/>
                  </a:schemeClr>
                </a:solidFill>
              </a:rPr>
              <a:t>      {</a:t>
            </a:r>
          </a:p>
          <a:p>
            <a:r>
              <a:rPr lang="en-US" dirty="0">
                <a:solidFill>
                  <a:schemeClr val="accent3">
                    <a:lumMod val="75000"/>
                  </a:schemeClr>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a:t>
            </a:r>
            <a:r>
              <a:rPr lang="en-US" dirty="0" err="1">
                <a:solidFill>
                  <a:schemeClr val="accent1"/>
                </a:solidFill>
              </a:rPr>
              <a:t>mqtt</a:t>
            </a:r>
            <a:r>
              <a:rPr lang="en-US" dirty="0">
                <a:solidFill>
                  <a:schemeClr val="accent1"/>
                </a:solidFill>
              </a:rPr>
              <a:t>://broker.example.com/coffee/events/</a:t>
            </a:r>
            <a:r>
              <a:rPr lang="en-US" dirty="0" err="1">
                <a:solidFill>
                  <a:schemeClr val="accent1"/>
                </a:solidFill>
              </a:rPr>
              <a:t>lowOnWater</a:t>
            </a:r>
            <a:r>
              <a:rPr lang="en-US" dirty="0">
                <a:solidFill>
                  <a:schemeClr val="accent1"/>
                </a:solidFill>
              </a:rPr>
              <a:t>",</a:t>
            </a:r>
          </a:p>
          <a:p>
            <a:r>
              <a:rPr lang="en-US" dirty="0">
                <a:solidFill>
                  <a:schemeClr val="accent3">
                    <a:lumMod val="75000"/>
                  </a:schemeClr>
                </a:solidFill>
              </a:rPr>
              <a:t>        "op": "</a:t>
            </a:r>
            <a:r>
              <a:rPr lang="en-US" dirty="0" err="1">
                <a:solidFill>
                  <a:schemeClr val="accent3">
                    <a:lumMod val="75000"/>
                  </a:schemeClr>
                </a:solidFill>
              </a:rPr>
              <a:t>subscribeevent</a:t>
            </a:r>
            <a:r>
              <a:rPr lang="en-US" dirty="0">
                <a:solidFill>
                  <a:schemeClr val="accent3">
                    <a:lumMod val="75000"/>
                  </a:schemeClr>
                </a:solidFill>
              </a:rPr>
              <a:t>",</a:t>
            </a:r>
          </a:p>
          <a:p>
            <a:r>
              <a:rPr lang="en-US" dirty="0">
                <a:solidFill>
                  <a:schemeClr val="accent3">
                    <a:lumMod val="75000"/>
                  </a:schemeClr>
                </a:solidFill>
              </a:rPr>
              <a:t>        "</a:t>
            </a:r>
            <a:r>
              <a:rPr lang="en-US" dirty="0" err="1">
                <a:solidFill>
                  <a:schemeClr val="accent3">
                    <a:lumMod val="75000"/>
                  </a:schemeClr>
                </a:solidFill>
              </a:rPr>
              <a:t>contentType</a:t>
            </a:r>
            <a:r>
              <a:rPr lang="en-US" dirty="0">
                <a:solidFill>
                  <a:schemeClr val="accent3">
                    <a:lumMod val="75000"/>
                  </a:schemeClr>
                </a:solidFill>
              </a:rPr>
              <a:t>": "application/</a:t>
            </a:r>
            <a:r>
              <a:rPr lang="en-US" dirty="0" err="1">
                <a:solidFill>
                  <a:schemeClr val="accent3">
                    <a:lumMod val="75000"/>
                  </a:schemeClr>
                </a:solidFill>
              </a:rPr>
              <a:t>json</a:t>
            </a:r>
            <a:r>
              <a:rPr lang="en-US" dirty="0">
                <a:solidFill>
                  <a:schemeClr val="accent3">
                    <a:lumMod val="75000"/>
                  </a:schemeClr>
                </a:solidFill>
              </a:rPr>
              <a:t>"</a:t>
            </a:r>
          </a:p>
          <a:p>
            <a:r>
              <a:rPr lang="en-US" dirty="0">
                <a:solidFill>
                  <a:schemeClr val="accent3">
                    <a:lumMod val="75000"/>
                  </a:schemeClr>
                </a:solidFill>
              </a:rPr>
              <a:t>      }</a:t>
            </a:r>
          </a:p>
          <a:p>
            <a:r>
              <a:rPr lang="en-US" dirty="0">
                <a:solidFill>
                  <a:schemeClr val="accent3">
                    <a:lumMod val="75000"/>
                  </a:schemeClr>
                </a:solidFill>
              </a:rPr>
              <a:t>    ]</a:t>
            </a:r>
          </a:p>
          <a:p>
            <a:r>
              <a:rPr lang="en-US" dirty="0">
                <a:solidFill>
                  <a:schemeClr val="accent3">
                    <a:lumMod val="75000"/>
                  </a:schemeClr>
                </a:solidFill>
              </a:rPr>
              <a:t> ...</a:t>
            </a:r>
          </a:p>
        </p:txBody>
      </p:sp>
      <p:pic>
        <p:nvPicPr>
          <p:cNvPr id="3" name="Graphic 2" descr="Cloud with solid fill">
            <a:extLst>
              <a:ext uri="{FF2B5EF4-FFF2-40B4-BE49-F238E27FC236}">
                <a16:creationId xmlns:a16="http://schemas.microsoft.com/office/drawing/2014/main" id="{C07ACA05-EA15-3429-54DC-47AC425749B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100880" y="3429000"/>
            <a:ext cx="773879" cy="773879"/>
          </a:xfrm>
          <a:prstGeom prst="rect">
            <a:avLst/>
          </a:prstGeom>
        </p:spPr>
      </p:pic>
      <p:sp>
        <p:nvSpPr>
          <p:cNvPr id="18" name="Freeform: Shape 17">
            <a:extLst>
              <a:ext uri="{FF2B5EF4-FFF2-40B4-BE49-F238E27FC236}">
                <a16:creationId xmlns:a16="http://schemas.microsoft.com/office/drawing/2014/main" id="{C6D6CC60-1275-E05B-F326-47F794A954A3}"/>
              </a:ext>
            </a:extLst>
          </p:cNvPr>
          <p:cNvSpPr/>
          <p:nvPr/>
        </p:nvSpPr>
        <p:spPr>
          <a:xfrm rot="18900000">
            <a:off x="8426142" y="3880427"/>
            <a:ext cx="100553" cy="100553"/>
          </a:xfrm>
          <a:custGeom>
            <a:avLst/>
            <a:gdLst>
              <a:gd name="connsiteX0" fmla="*/ 0 w 353017"/>
              <a:gd name="connsiteY0" fmla="*/ 0 h 353017"/>
              <a:gd name="connsiteX1" fmla="*/ 33 w 353017"/>
              <a:gd name="connsiteY1" fmla="*/ 116251 h 353017"/>
              <a:gd name="connsiteX2" fmla="*/ 166130 w 353017"/>
              <a:gd name="connsiteY2" fmla="*/ 186887 h 353017"/>
              <a:gd name="connsiteX3" fmla="*/ 236763 w 353017"/>
              <a:gd name="connsiteY3" fmla="*/ 352987 h 353017"/>
              <a:gd name="connsiteX4" fmla="*/ 353017 w 353017"/>
              <a:gd name="connsiteY4" fmla="*/ 353017 h 353017"/>
              <a:gd name="connsiteX5" fmla="*/ 0 w 353017"/>
              <a:gd name="connsiteY5" fmla="*/ 0 h 353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3017" h="353017">
                <a:moveTo>
                  <a:pt x="0" y="0"/>
                </a:moveTo>
                <a:lnTo>
                  <a:pt x="33" y="116251"/>
                </a:lnTo>
                <a:cubicBezTo>
                  <a:pt x="62593" y="116747"/>
                  <a:pt x="122376" y="142167"/>
                  <a:pt x="166130" y="186887"/>
                </a:cubicBezTo>
                <a:cubicBezTo>
                  <a:pt x="210372" y="230965"/>
                  <a:pt x="235706" y="290545"/>
                  <a:pt x="236763" y="352987"/>
                </a:cubicBezTo>
                <a:lnTo>
                  <a:pt x="353017" y="353017"/>
                </a:lnTo>
                <a:cubicBezTo>
                  <a:pt x="352129" y="158421"/>
                  <a:pt x="194596" y="888"/>
                  <a:pt x="0" y="0"/>
                </a:cubicBezTo>
                <a:close/>
              </a:path>
            </a:pathLst>
          </a:custGeom>
          <a:solidFill>
            <a:schemeClr val="tx1"/>
          </a:solidFill>
          <a:ln w="29666"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57349E4B-3EE6-709F-1271-F08C78471C17}"/>
              </a:ext>
            </a:extLst>
          </p:cNvPr>
          <p:cNvSpPr/>
          <p:nvPr/>
        </p:nvSpPr>
        <p:spPr>
          <a:xfrm rot="18900000">
            <a:off x="8393017" y="3800549"/>
            <a:ext cx="166803" cy="166803"/>
          </a:xfrm>
          <a:custGeom>
            <a:avLst/>
            <a:gdLst>
              <a:gd name="connsiteX0" fmla="*/ 585594 w 585607"/>
              <a:gd name="connsiteY0" fmla="*/ 585607 h 585607"/>
              <a:gd name="connsiteX1" fmla="*/ 7914 w 585607"/>
              <a:gd name="connsiteY1" fmla="*/ 13 h 585607"/>
              <a:gd name="connsiteX2" fmla="*/ 0 w 585607"/>
              <a:gd name="connsiteY2" fmla="*/ 13 h 585607"/>
              <a:gd name="connsiteX3" fmla="*/ 33 w 585607"/>
              <a:gd name="connsiteY3" fmla="*/ 116274 h 585607"/>
              <a:gd name="connsiteX4" fmla="*/ 469340 w 585607"/>
              <a:gd name="connsiteY4" fmla="*/ 583191 h 585607"/>
              <a:gd name="connsiteX5" fmla="*/ 469340 w 585607"/>
              <a:gd name="connsiteY5" fmla="*/ 585572 h 58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5607" h="585607">
                <a:moveTo>
                  <a:pt x="585594" y="585607"/>
                </a:moveTo>
                <a:cubicBezTo>
                  <a:pt x="587779" y="264378"/>
                  <a:pt x="329143" y="2198"/>
                  <a:pt x="7914" y="13"/>
                </a:cubicBezTo>
                <a:cubicBezTo>
                  <a:pt x="5275" y="-4"/>
                  <a:pt x="2639" y="-4"/>
                  <a:pt x="0" y="13"/>
                </a:cubicBezTo>
                <a:lnTo>
                  <a:pt x="33" y="116274"/>
                </a:lnTo>
                <a:cubicBezTo>
                  <a:pt x="258564" y="115615"/>
                  <a:pt x="468680" y="324659"/>
                  <a:pt x="469340" y="583191"/>
                </a:cubicBezTo>
                <a:cubicBezTo>
                  <a:pt x="469342" y="583983"/>
                  <a:pt x="469342" y="584779"/>
                  <a:pt x="469340" y="585572"/>
                </a:cubicBezTo>
                <a:close/>
              </a:path>
            </a:pathLst>
          </a:custGeom>
          <a:solidFill>
            <a:schemeClr val="tx1"/>
          </a:solidFill>
          <a:ln w="29666"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8C11C56D-C193-49DD-99C0-817923AD8C0E}"/>
              </a:ext>
            </a:extLst>
          </p:cNvPr>
          <p:cNvSpPr/>
          <p:nvPr/>
        </p:nvSpPr>
        <p:spPr>
          <a:xfrm rot="18900000">
            <a:off x="8359304" y="3719250"/>
            <a:ext cx="234229" cy="234229"/>
          </a:xfrm>
          <a:custGeom>
            <a:avLst/>
            <a:gdLst>
              <a:gd name="connsiteX0" fmla="*/ 0 w 822323"/>
              <a:gd name="connsiteY0" fmla="*/ 0 h 822322"/>
              <a:gd name="connsiteX1" fmla="*/ 33 w 822323"/>
              <a:gd name="connsiteY1" fmla="*/ 116251 h 822322"/>
              <a:gd name="connsiteX2" fmla="*/ 706067 w 822323"/>
              <a:gd name="connsiteY2" fmla="*/ 822293 h 822322"/>
              <a:gd name="connsiteX3" fmla="*/ 822324 w 822323"/>
              <a:gd name="connsiteY3" fmla="*/ 822322 h 822322"/>
              <a:gd name="connsiteX4" fmla="*/ 0 w 822323"/>
              <a:gd name="connsiteY4" fmla="*/ 0 h 822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2323" h="822322">
                <a:moveTo>
                  <a:pt x="0" y="0"/>
                </a:moveTo>
                <a:lnTo>
                  <a:pt x="33" y="116251"/>
                </a:lnTo>
                <a:cubicBezTo>
                  <a:pt x="389226" y="118034"/>
                  <a:pt x="704289" y="433100"/>
                  <a:pt x="706067" y="822293"/>
                </a:cubicBezTo>
                <a:lnTo>
                  <a:pt x="822324" y="822322"/>
                </a:lnTo>
                <a:cubicBezTo>
                  <a:pt x="822090" y="368262"/>
                  <a:pt x="454057" y="233"/>
                  <a:pt x="0" y="0"/>
                </a:cubicBezTo>
                <a:close/>
              </a:path>
            </a:pathLst>
          </a:custGeom>
          <a:solidFill>
            <a:schemeClr val="tx1"/>
          </a:solidFill>
          <a:ln w="29666" cap="flat">
            <a:noFill/>
            <a:prstDash val="solid"/>
            <a:miter/>
          </a:ln>
        </p:spPr>
        <p:txBody>
          <a:bodyPr rtlCol="0" anchor="ctr"/>
          <a:lstStyle/>
          <a:p>
            <a:endParaRPr lang="en-US"/>
          </a:p>
        </p:txBody>
      </p:sp>
      <p:sp>
        <p:nvSpPr>
          <p:cNvPr id="24" name="TextBox 23">
            <a:extLst>
              <a:ext uri="{FF2B5EF4-FFF2-40B4-BE49-F238E27FC236}">
                <a16:creationId xmlns:a16="http://schemas.microsoft.com/office/drawing/2014/main" id="{5FD5FA40-AD79-F04C-6A27-7011EE2F4B78}"/>
              </a:ext>
            </a:extLst>
          </p:cNvPr>
          <p:cNvSpPr txBox="1"/>
          <p:nvPr/>
        </p:nvSpPr>
        <p:spPr>
          <a:xfrm>
            <a:off x="7736227" y="4015812"/>
            <a:ext cx="1480381"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Broker</a:t>
            </a:r>
          </a:p>
        </p:txBody>
      </p:sp>
      <p:cxnSp>
        <p:nvCxnSpPr>
          <p:cNvPr id="17" name="Straight Connector 16">
            <a:extLst>
              <a:ext uri="{FF2B5EF4-FFF2-40B4-BE49-F238E27FC236}">
                <a16:creationId xmlns:a16="http://schemas.microsoft.com/office/drawing/2014/main" id="{6FC1243D-3670-AF85-92E7-3863F90B0C50}"/>
              </a:ext>
            </a:extLst>
          </p:cNvPr>
          <p:cNvCxnSpPr>
            <a:cxnSpLocks/>
          </p:cNvCxnSpPr>
          <p:nvPr/>
        </p:nvCxnSpPr>
        <p:spPr>
          <a:xfrm flipH="1">
            <a:off x="8874759" y="3358116"/>
            <a:ext cx="429516" cy="285715"/>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41501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righ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470E313-9CFC-A684-D659-975D70458C7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9FF3644-84F0-4659-54E2-A5880ECD29A8}"/>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876CDD78-D282-B68C-3208-02359CAF9B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4F8349F9-C6AC-718F-A9B1-F81699C4CB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49F5E749-7E96-12AB-CB79-D144E2FC54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28D67AA2-39A9-588B-5268-38614D982878}"/>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3ED59431-5C2F-3995-6CE4-9386ED0CA667}"/>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63C6A709-2A9B-CD9A-CBF0-B2DF183D4DFE}"/>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86A44F08-80EF-139C-7EDC-2E1AC78EA648}"/>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7B3C2189-3129-D924-E4F7-3AFB8B630011}"/>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52F39900-F699-AD76-013E-E1534A215D6E}"/>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875FA903-34F7-D1CA-BCAE-F61D0FA8185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AF3FAAAA-B7A2-4EBD-243D-A5EE5390D740}"/>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MQTT</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8BEF0308-DA11-17B8-1776-6B3CBF211874}"/>
              </a:ext>
            </a:extLst>
          </p:cNvPr>
          <p:cNvSpPr txBox="1"/>
          <p:nvPr/>
        </p:nvSpPr>
        <p:spPr>
          <a:xfrm>
            <a:off x="1083789" y="1576073"/>
            <a:ext cx="7576500" cy="4524315"/>
          </a:xfrm>
          <a:prstGeom prst="rect">
            <a:avLst/>
          </a:prstGeom>
          <a:noFill/>
        </p:spPr>
        <p:txBody>
          <a:bodyPr wrap="square" rtlCol="0">
            <a:spAutoFit/>
          </a:bodyPr>
          <a:lstStyle/>
          <a:p>
            <a:r>
              <a:rPr lang="en-US" dirty="0">
                <a:solidFill>
                  <a:schemeClr val="accent3">
                    <a:lumMod val="75000"/>
                  </a:schemeClr>
                </a:solidFill>
              </a:rPr>
              <a:t>... </a:t>
            </a:r>
          </a:p>
          <a:p>
            <a:r>
              <a:rPr lang="en-US" dirty="0">
                <a:solidFill>
                  <a:schemeClr val="accent3">
                    <a:lumMod val="75000"/>
                  </a:schemeClr>
                </a:solidFill>
              </a:rPr>
              <a:t>"events": {</a:t>
            </a:r>
          </a:p>
          <a:p>
            <a:r>
              <a:rPr lang="en-US" dirty="0">
                <a:solidFill>
                  <a:schemeClr val="accent3">
                    <a:lumMod val="75000"/>
                  </a:schemeClr>
                </a:solidFill>
              </a:rPr>
              <a:t>  "</a:t>
            </a:r>
            <a:r>
              <a:rPr lang="en-US" dirty="0" err="1">
                <a:solidFill>
                  <a:schemeClr val="accent3">
                    <a:lumMod val="75000"/>
                  </a:schemeClr>
                </a:solidFill>
              </a:rPr>
              <a:t>lowOnWater</a:t>
            </a:r>
            <a:r>
              <a:rPr lang="en-US" dirty="0">
                <a:solidFill>
                  <a:schemeClr val="accent3">
                    <a:lumMod val="75000"/>
                  </a:schemeClr>
                </a:solidFill>
              </a:rPr>
              <a:t>": {</a:t>
            </a:r>
          </a:p>
          <a:p>
            <a:r>
              <a:rPr lang="en-US" dirty="0">
                <a:solidFill>
                  <a:schemeClr val="accent3">
                    <a:lumMod val="75000"/>
                  </a:schemeClr>
                </a:solidFill>
              </a:rPr>
              <a:t>    "title": "Low Water Level",</a:t>
            </a:r>
          </a:p>
          <a:p>
            <a:r>
              <a:rPr lang="en-US" dirty="0">
                <a:solidFill>
                  <a:schemeClr val="accent3">
                    <a:lumMod val="75000"/>
                  </a:schemeClr>
                </a:solidFill>
              </a:rPr>
              <a:t>    "data": {</a:t>
            </a:r>
          </a:p>
          <a:p>
            <a:r>
              <a:rPr lang="en-US" dirty="0">
                <a:solidFill>
                  <a:schemeClr val="accent3">
                    <a:lumMod val="75000"/>
                  </a:schemeClr>
                </a:solidFill>
              </a:rPr>
              <a:t>      "type": "number",</a:t>
            </a:r>
          </a:p>
          <a:p>
            <a:r>
              <a:rPr lang="en-US" dirty="0">
                <a:solidFill>
                  <a:schemeClr val="accent3">
                    <a:lumMod val="75000"/>
                  </a:schemeClr>
                </a:solidFill>
              </a:rPr>
              <a:t>      "description": "Remaining water level in milliliters"</a:t>
            </a:r>
          </a:p>
          <a:p>
            <a:r>
              <a:rPr lang="en-US" dirty="0">
                <a:solidFill>
                  <a:schemeClr val="accent3">
                    <a:lumMod val="75000"/>
                  </a:schemeClr>
                </a:solidFill>
              </a:rPr>
              <a:t>    },</a:t>
            </a:r>
          </a:p>
          <a:p>
            <a:r>
              <a:rPr lang="en-US" dirty="0">
                <a:solidFill>
                  <a:schemeClr val="accent3">
                    <a:lumMod val="75000"/>
                  </a:schemeClr>
                </a:solidFill>
              </a:rPr>
              <a:t>    "forms": [</a:t>
            </a:r>
          </a:p>
          <a:p>
            <a:r>
              <a:rPr lang="en-US" dirty="0">
                <a:solidFill>
                  <a:schemeClr val="accent3">
                    <a:lumMod val="75000"/>
                  </a:schemeClr>
                </a:solidFill>
              </a:rPr>
              <a:t>      {</a:t>
            </a:r>
          </a:p>
          <a:p>
            <a:r>
              <a:rPr lang="en-US" dirty="0">
                <a:solidFill>
                  <a:schemeClr val="accent3">
                    <a:lumMod val="75000"/>
                  </a:schemeClr>
                </a:solidFill>
              </a:rPr>
              <a:t>        "</a:t>
            </a:r>
            <a:r>
              <a:rPr lang="en-US" dirty="0" err="1">
                <a:solidFill>
                  <a:schemeClr val="accent3">
                    <a:lumMod val="75000"/>
                  </a:schemeClr>
                </a:solidFill>
              </a:rPr>
              <a:t>href</a:t>
            </a:r>
            <a:r>
              <a:rPr lang="en-US" dirty="0">
                <a:solidFill>
                  <a:schemeClr val="accent3">
                    <a:lumMod val="75000"/>
                  </a:schemeClr>
                </a:solidFill>
              </a:rPr>
              <a:t>": "</a:t>
            </a:r>
            <a:r>
              <a:rPr lang="en-US" dirty="0" err="1">
                <a:solidFill>
                  <a:schemeClr val="accent3">
                    <a:lumMod val="75000"/>
                  </a:schemeClr>
                </a:solidFill>
              </a:rPr>
              <a:t>mqtt</a:t>
            </a:r>
            <a:r>
              <a:rPr lang="en-US" dirty="0">
                <a:solidFill>
                  <a:schemeClr val="accent3">
                    <a:lumMod val="75000"/>
                  </a:schemeClr>
                </a:solidFill>
              </a:rPr>
              <a:t>://broker.example.com/coffee/events/</a:t>
            </a:r>
            <a:r>
              <a:rPr lang="en-US" dirty="0" err="1">
                <a:solidFill>
                  <a:schemeClr val="accent3">
                    <a:lumMod val="75000"/>
                  </a:schemeClr>
                </a:solidFill>
              </a:rPr>
              <a:t>lowOnWater</a:t>
            </a:r>
            <a:r>
              <a:rPr lang="en-US" dirty="0">
                <a:solidFill>
                  <a:schemeClr val="accent3">
                    <a:lumMod val="75000"/>
                  </a:schemeClr>
                </a:solidFill>
              </a:rPr>
              <a:t>",</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subscribeevent</a:t>
            </a:r>
            <a:r>
              <a:rPr lang="en-US" dirty="0">
                <a:solidFill>
                  <a:schemeClr val="accent1"/>
                </a:solidFill>
              </a:rPr>
              <a:t>",</a:t>
            </a:r>
          </a:p>
          <a:p>
            <a:r>
              <a:rPr lang="en-US" dirty="0">
                <a:solidFill>
                  <a:schemeClr val="accent3">
                    <a:lumMod val="75000"/>
                  </a:schemeClr>
                </a:solidFill>
              </a:rPr>
              <a:t>        "</a:t>
            </a:r>
            <a:r>
              <a:rPr lang="en-US" dirty="0" err="1">
                <a:solidFill>
                  <a:schemeClr val="accent3">
                    <a:lumMod val="75000"/>
                  </a:schemeClr>
                </a:solidFill>
              </a:rPr>
              <a:t>contentType</a:t>
            </a:r>
            <a:r>
              <a:rPr lang="en-US" dirty="0">
                <a:solidFill>
                  <a:schemeClr val="accent3">
                    <a:lumMod val="75000"/>
                  </a:schemeClr>
                </a:solidFill>
              </a:rPr>
              <a:t>": "application/</a:t>
            </a:r>
            <a:r>
              <a:rPr lang="en-US" dirty="0" err="1">
                <a:solidFill>
                  <a:schemeClr val="accent3">
                    <a:lumMod val="75000"/>
                  </a:schemeClr>
                </a:solidFill>
              </a:rPr>
              <a:t>json</a:t>
            </a:r>
            <a:r>
              <a:rPr lang="en-US" dirty="0">
                <a:solidFill>
                  <a:schemeClr val="accent3">
                    <a:lumMod val="75000"/>
                  </a:schemeClr>
                </a:solidFill>
              </a:rPr>
              <a:t>"</a:t>
            </a:r>
          </a:p>
          <a:p>
            <a:r>
              <a:rPr lang="en-US" dirty="0">
                <a:solidFill>
                  <a:schemeClr val="accent3">
                    <a:lumMod val="75000"/>
                  </a:schemeClr>
                </a:solidFill>
              </a:rPr>
              <a:t>      }</a:t>
            </a:r>
          </a:p>
          <a:p>
            <a:r>
              <a:rPr lang="en-US" dirty="0">
                <a:solidFill>
                  <a:schemeClr val="accent3">
                    <a:lumMod val="75000"/>
                  </a:schemeClr>
                </a:solidFill>
              </a:rPr>
              <a:t>    ]</a:t>
            </a:r>
          </a:p>
          <a:p>
            <a:r>
              <a:rPr lang="en-US" dirty="0">
                <a:solidFill>
                  <a:schemeClr val="accent3">
                    <a:lumMod val="75000"/>
                  </a:schemeClr>
                </a:solidFill>
              </a:rPr>
              <a:t> ...</a:t>
            </a:r>
          </a:p>
        </p:txBody>
      </p:sp>
      <p:pic>
        <p:nvPicPr>
          <p:cNvPr id="3" name="Graphic 2" descr="Cloud with solid fill">
            <a:extLst>
              <a:ext uri="{FF2B5EF4-FFF2-40B4-BE49-F238E27FC236}">
                <a16:creationId xmlns:a16="http://schemas.microsoft.com/office/drawing/2014/main" id="{3269C9C9-03F4-B298-5F39-055CCF32652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100880" y="3429000"/>
            <a:ext cx="773879" cy="773879"/>
          </a:xfrm>
          <a:prstGeom prst="rect">
            <a:avLst/>
          </a:prstGeom>
        </p:spPr>
      </p:pic>
      <p:sp>
        <p:nvSpPr>
          <p:cNvPr id="18" name="Freeform: Shape 17">
            <a:extLst>
              <a:ext uri="{FF2B5EF4-FFF2-40B4-BE49-F238E27FC236}">
                <a16:creationId xmlns:a16="http://schemas.microsoft.com/office/drawing/2014/main" id="{75C30D4C-4859-E77D-33D0-C897012E1FB0}"/>
              </a:ext>
            </a:extLst>
          </p:cNvPr>
          <p:cNvSpPr/>
          <p:nvPr/>
        </p:nvSpPr>
        <p:spPr>
          <a:xfrm rot="18900000">
            <a:off x="8426142" y="3880427"/>
            <a:ext cx="100553" cy="100553"/>
          </a:xfrm>
          <a:custGeom>
            <a:avLst/>
            <a:gdLst>
              <a:gd name="connsiteX0" fmla="*/ 0 w 353017"/>
              <a:gd name="connsiteY0" fmla="*/ 0 h 353017"/>
              <a:gd name="connsiteX1" fmla="*/ 33 w 353017"/>
              <a:gd name="connsiteY1" fmla="*/ 116251 h 353017"/>
              <a:gd name="connsiteX2" fmla="*/ 166130 w 353017"/>
              <a:gd name="connsiteY2" fmla="*/ 186887 h 353017"/>
              <a:gd name="connsiteX3" fmla="*/ 236763 w 353017"/>
              <a:gd name="connsiteY3" fmla="*/ 352987 h 353017"/>
              <a:gd name="connsiteX4" fmla="*/ 353017 w 353017"/>
              <a:gd name="connsiteY4" fmla="*/ 353017 h 353017"/>
              <a:gd name="connsiteX5" fmla="*/ 0 w 353017"/>
              <a:gd name="connsiteY5" fmla="*/ 0 h 353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3017" h="353017">
                <a:moveTo>
                  <a:pt x="0" y="0"/>
                </a:moveTo>
                <a:lnTo>
                  <a:pt x="33" y="116251"/>
                </a:lnTo>
                <a:cubicBezTo>
                  <a:pt x="62593" y="116747"/>
                  <a:pt x="122376" y="142167"/>
                  <a:pt x="166130" y="186887"/>
                </a:cubicBezTo>
                <a:cubicBezTo>
                  <a:pt x="210372" y="230965"/>
                  <a:pt x="235706" y="290545"/>
                  <a:pt x="236763" y="352987"/>
                </a:cubicBezTo>
                <a:lnTo>
                  <a:pt x="353017" y="353017"/>
                </a:lnTo>
                <a:cubicBezTo>
                  <a:pt x="352129" y="158421"/>
                  <a:pt x="194596" y="888"/>
                  <a:pt x="0" y="0"/>
                </a:cubicBezTo>
                <a:close/>
              </a:path>
            </a:pathLst>
          </a:custGeom>
          <a:solidFill>
            <a:schemeClr val="tx1"/>
          </a:solidFill>
          <a:ln w="29666"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934C40B6-3A79-39EC-1864-5DF1431294E0}"/>
              </a:ext>
            </a:extLst>
          </p:cNvPr>
          <p:cNvSpPr/>
          <p:nvPr/>
        </p:nvSpPr>
        <p:spPr>
          <a:xfrm rot="18900000">
            <a:off x="8393017" y="3800549"/>
            <a:ext cx="166803" cy="166803"/>
          </a:xfrm>
          <a:custGeom>
            <a:avLst/>
            <a:gdLst>
              <a:gd name="connsiteX0" fmla="*/ 585594 w 585607"/>
              <a:gd name="connsiteY0" fmla="*/ 585607 h 585607"/>
              <a:gd name="connsiteX1" fmla="*/ 7914 w 585607"/>
              <a:gd name="connsiteY1" fmla="*/ 13 h 585607"/>
              <a:gd name="connsiteX2" fmla="*/ 0 w 585607"/>
              <a:gd name="connsiteY2" fmla="*/ 13 h 585607"/>
              <a:gd name="connsiteX3" fmla="*/ 33 w 585607"/>
              <a:gd name="connsiteY3" fmla="*/ 116274 h 585607"/>
              <a:gd name="connsiteX4" fmla="*/ 469340 w 585607"/>
              <a:gd name="connsiteY4" fmla="*/ 583191 h 585607"/>
              <a:gd name="connsiteX5" fmla="*/ 469340 w 585607"/>
              <a:gd name="connsiteY5" fmla="*/ 585572 h 58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5607" h="585607">
                <a:moveTo>
                  <a:pt x="585594" y="585607"/>
                </a:moveTo>
                <a:cubicBezTo>
                  <a:pt x="587779" y="264378"/>
                  <a:pt x="329143" y="2198"/>
                  <a:pt x="7914" y="13"/>
                </a:cubicBezTo>
                <a:cubicBezTo>
                  <a:pt x="5275" y="-4"/>
                  <a:pt x="2639" y="-4"/>
                  <a:pt x="0" y="13"/>
                </a:cubicBezTo>
                <a:lnTo>
                  <a:pt x="33" y="116274"/>
                </a:lnTo>
                <a:cubicBezTo>
                  <a:pt x="258564" y="115615"/>
                  <a:pt x="468680" y="324659"/>
                  <a:pt x="469340" y="583191"/>
                </a:cubicBezTo>
                <a:cubicBezTo>
                  <a:pt x="469342" y="583983"/>
                  <a:pt x="469342" y="584779"/>
                  <a:pt x="469340" y="585572"/>
                </a:cubicBezTo>
                <a:close/>
              </a:path>
            </a:pathLst>
          </a:custGeom>
          <a:solidFill>
            <a:schemeClr val="tx1"/>
          </a:solidFill>
          <a:ln w="29666"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6FAE181-6051-EFAD-1580-93254E196D17}"/>
              </a:ext>
            </a:extLst>
          </p:cNvPr>
          <p:cNvSpPr/>
          <p:nvPr/>
        </p:nvSpPr>
        <p:spPr>
          <a:xfrm rot="18900000">
            <a:off x="8359304" y="3719250"/>
            <a:ext cx="234229" cy="234229"/>
          </a:xfrm>
          <a:custGeom>
            <a:avLst/>
            <a:gdLst>
              <a:gd name="connsiteX0" fmla="*/ 0 w 822323"/>
              <a:gd name="connsiteY0" fmla="*/ 0 h 822322"/>
              <a:gd name="connsiteX1" fmla="*/ 33 w 822323"/>
              <a:gd name="connsiteY1" fmla="*/ 116251 h 822322"/>
              <a:gd name="connsiteX2" fmla="*/ 706067 w 822323"/>
              <a:gd name="connsiteY2" fmla="*/ 822293 h 822322"/>
              <a:gd name="connsiteX3" fmla="*/ 822324 w 822323"/>
              <a:gd name="connsiteY3" fmla="*/ 822322 h 822322"/>
              <a:gd name="connsiteX4" fmla="*/ 0 w 822323"/>
              <a:gd name="connsiteY4" fmla="*/ 0 h 822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2323" h="822322">
                <a:moveTo>
                  <a:pt x="0" y="0"/>
                </a:moveTo>
                <a:lnTo>
                  <a:pt x="33" y="116251"/>
                </a:lnTo>
                <a:cubicBezTo>
                  <a:pt x="389226" y="118034"/>
                  <a:pt x="704289" y="433100"/>
                  <a:pt x="706067" y="822293"/>
                </a:cubicBezTo>
                <a:lnTo>
                  <a:pt x="822324" y="822322"/>
                </a:lnTo>
                <a:cubicBezTo>
                  <a:pt x="822090" y="368262"/>
                  <a:pt x="454057" y="233"/>
                  <a:pt x="0" y="0"/>
                </a:cubicBezTo>
                <a:close/>
              </a:path>
            </a:pathLst>
          </a:custGeom>
          <a:solidFill>
            <a:schemeClr val="tx1"/>
          </a:solidFill>
          <a:ln w="29666" cap="flat">
            <a:noFill/>
            <a:prstDash val="solid"/>
            <a:miter/>
          </a:ln>
        </p:spPr>
        <p:txBody>
          <a:bodyPr rtlCol="0" anchor="ctr"/>
          <a:lstStyle/>
          <a:p>
            <a:endParaRPr lang="en-US"/>
          </a:p>
        </p:txBody>
      </p:sp>
      <p:sp>
        <p:nvSpPr>
          <p:cNvPr id="24" name="TextBox 23">
            <a:extLst>
              <a:ext uri="{FF2B5EF4-FFF2-40B4-BE49-F238E27FC236}">
                <a16:creationId xmlns:a16="http://schemas.microsoft.com/office/drawing/2014/main" id="{3AA7E2B6-EB7B-EA11-5876-971DFE683403}"/>
              </a:ext>
            </a:extLst>
          </p:cNvPr>
          <p:cNvSpPr txBox="1"/>
          <p:nvPr/>
        </p:nvSpPr>
        <p:spPr>
          <a:xfrm>
            <a:off x="7736227" y="4015812"/>
            <a:ext cx="1480381"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Broker</a:t>
            </a:r>
          </a:p>
        </p:txBody>
      </p:sp>
      <p:cxnSp>
        <p:nvCxnSpPr>
          <p:cNvPr id="17" name="Straight Connector 16">
            <a:extLst>
              <a:ext uri="{FF2B5EF4-FFF2-40B4-BE49-F238E27FC236}">
                <a16:creationId xmlns:a16="http://schemas.microsoft.com/office/drawing/2014/main" id="{685F8497-8565-5F71-C436-33F47884D5A9}"/>
              </a:ext>
            </a:extLst>
          </p:cNvPr>
          <p:cNvCxnSpPr>
            <a:cxnSpLocks/>
          </p:cNvCxnSpPr>
          <p:nvPr/>
        </p:nvCxnSpPr>
        <p:spPr>
          <a:xfrm flipH="1">
            <a:off x="8874759" y="3358116"/>
            <a:ext cx="429516" cy="285715"/>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4690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F2BD4AA-4B3A-58DB-125A-C0ACD00A7055}"/>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44719076-40C6-D7CC-BB83-C6DB98B6ED9C}"/>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AE284E1B-EA0A-6133-4F75-1CBAF8FEC8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6FFB640F-2672-1860-A472-59A74A18F7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C77CE31F-8BCD-B63C-6E37-254A7B06305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B0A86703-11DA-04F7-5658-A83F6748DB90}"/>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grpSp>
        <p:nvGrpSpPr>
          <p:cNvPr id="9" name="Group 8">
            <a:extLst>
              <a:ext uri="{FF2B5EF4-FFF2-40B4-BE49-F238E27FC236}">
                <a16:creationId xmlns:a16="http://schemas.microsoft.com/office/drawing/2014/main" id="{A1ACAB8F-6FBF-DCEC-9844-25D04637CF2F}"/>
              </a:ext>
            </a:extLst>
          </p:cNvPr>
          <p:cNvGrpSpPr/>
          <p:nvPr/>
        </p:nvGrpSpPr>
        <p:grpSpPr>
          <a:xfrm>
            <a:off x="9312219" y="4272543"/>
            <a:ext cx="1572751" cy="1827845"/>
            <a:chOff x="8634714" y="642551"/>
            <a:chExt cx="2577778" cy="2995884"/>
          </a:xfrm>
        </p:grpSpPr>
        <p:sp>
          <p:nvSpPr>
            <p:cNvPr id="10" name="TextBox 9">
              <a:extLst>
                <a:ext uri="{FF2B5EF4-FFF2-40B4-BE49-F238E27FC236}">
                  <a16:creationId xmlns:a16="http://schemas.microsoft.com/office/drawing/2014/main" id="{C2362422-2378-8992-CAEB-1C6A2B62EA65}"/>
                </a:ext>
              </a:extLst>
            </p:cNvPr>
            <p:cNvSpPr txBox="1"/>
            <p:nvPr/>
          </p:nvSpPr>
          <p:spPr>
            <a:xfrm>
              <a:off x="8786111" y="3013463"/>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D683A8B0-1BDC-727B-A050-801584E4EE4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880948" y="642551"/>
              <a:ext cx="1178665" cy="1178665"/>
            </a:xfrm>
            <a:prstGeom prst="rect">
              <a:avLst/>
            </a:prstGeom>
          </p:spPr>
        </p:pic>
        <p:pic>
          <p:nvPicPr>
            <p:cNvPr id="12" name="Graphic 11" descr="Laptop with solid fill">
              <a:extLst>
                <a:ext uri="{FF2B5EF4-FFF2-40B4-BE49-F238E27FC236}">
                  <a16:creationId xmlns:a16="http://schemas.microsoft.com/office/drawing/2014/main" id="{C725EC59-64E1-849E-246B-5ED57C843B68}"/>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725406" y="656757"/>
              <a:ext cx="1365168" cy="1365167"/>
            </a:xfrm>
            <a:prstGeom prst="rect">
              <a:avLst/>
            </a:prstGeom>
          </p:spPr>
        </p:pic>
        <p:pic>
          <p:nvPicPr>
            <p:cNvPr id="13" name="Graphic 12" descr="Server with solid fill">
              <a:extLst>
                <a:ext uri="{FF2B5EF4-FFF2-40B4-BE49-F238E27FC236}">
                  <a16:creationId xmlns:a16="http://schemas.microsoft.com/office/drawing/2014/main" id="{18145798-3450-28CF-C0AD-76328C2FE527}"/>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634714" y="1748063"/>
              <a:ext cx="1364588" cy="1364588"/>
            </a:xfrm>
            <a:prstGeom prst="rect">
              <a:avLst/>
            </a:prstGeom>
          </p:spPr>
        </p:pic>
        <p:pic>
          <p:nvPicPr>
            <p:cNvPr id="14" name="Graphic 13" descr="Processor with solid fill">
              <a:extLst>
                <a:ext uri="{FF2B5EF4-FFF2-40B4-BE49-F238E27FC236}">
                  <a16:creationId xmlns:a16="http://schemas.microsoft.com/office/drawing/2014/main" id="{FCBFF5AF-74C5-CF83-0008-60AFB5AF983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43182" y="1803258"/>
              <a:ext cx="1254198" cy="1254198"/>
            </a:xfrm>
            <a:prstGeom prst="rect">
              <a:avLst/>
            </a:prstGeom>
          </p:spPr>
        </p:pic>
      </p:grpSp>
      <p:sp>
        <p:nvSpPr>
          <p:cNvPr id="15" name="Title 1">
            <a:extLst>
              <a:ext uri="{FF2B5EF4-FFF2-40B4-BE49-F238E27FC236}">
                <a16:creationId xmlns:a16="http://schemas.microsoft.com/office/drawing/2014/main" id="{DE321B15-A5F2-D483-B77D-6A08A45838A5}"/>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MQTT</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13365BE8-1C35-54CB-BBBB-50713D4C39E4}"/>
              </a:ext>
            </a:extLst>
          </p:cNvPr>
          <p:cNvSpPr txBox="1"/>
          <p:nvPr/>
        </p:nvSpPr>
        <p:spPr>
          <a:xfrm>
            <a:off x="1083789" y="1576073"/>
            <a:ext cx="7576500" cy="4524315"/>
          </a:xfrm>
          <a:prstGeom prst="rect">
            <a:avLst/>
          </a:prstGeom>
          <a:noFill/>
        </p:spPr>
        <p:txBody>
          <a:bodyPr wrap="square" rtlCol="0">
            <a:spAutoFit/>
          </a:bodyPr>
          <a:lstStyle/>
          <a:p>
            <a:r>
              <a:rPr lang="en-US" dirty="0">
                <a:solidFill>
                  <a:schemeClr val="accent3">
                    <a:lumMod val="75000"/>
                  </a:schemeClr>
                </a:solidFill>
              </a:rPr>
              <a:t>... </a:t>
            </a:r>
          </a:p>
          <a:p>
            <a:r>
              <a:rPr lang="en-US" dirty="0">
                <a:solidFill>
                  <a:schemeClr val="accent3">
                    <a:lumMod val="75000"/>
                  </a:schemeClr>
                </a:solidFill>
              </a:rPr>
              <a:t>"events": {</a:t>
            </a:r>
          </a:p>
          <a:p>
            <a:r>
              <a:rPr lang="en-US" dirty="0">
                <a:solidFill>
                  <a:schemeClr val="accent3">
                    <a:lumMod val="75000"/>
                  </a:schemeClr>
                </a:solidFill>
              </a:rPr>
              <a:t>  "</a:t>
            </a:r>
            <a:r>
              <a:rPr lang="en-US" dirty="0" err="1">
                <a:solidFill>
                  <a:schemeClr val="accent3">
                    <a:lumMod val="75000"/>
                  </a:schemeClr>
                </a:solidFill>
              </a:rPr>
              <a:t>lowOnWater</a:t>
            </a:r>
            <a:r>
              <a:rPr lang="en-US" dirty="0">
                <a:solidFill>
                  <a:schemeClr val="accent3">
                    <a:lumMod val="75000"/>
                  </a:schemeClr>
                </a:solidFill>
              </a:rPr>
              <a:t>": {</a:t>
            </a:r>
          </a:p>
          <a:p>
            <a:r>
              <a:rPr lang="en-US" dirty="0">
                <a:solidFill>
                  <a:schemeClr val="accent3">
                    <a:lumMod val="75000"/>
                  </a:schemeClr>
                </a:solidFill>
              </a:rPr>
              <a:t>    "title": "Low Water Level",</a:t>
            </a:r>
          </a:p>
          <a:p>
            <a:r>
              <a:rPr lang="en-US" dirty="0">
                <a:solidFill>
                  <a:schemeClr val="accent3">
                    <a:lumMod val="75000"/>
                  </a:schemeClr>
                </a:solidFill>
              </a:rPr>
              <a:t>    "data": {</a:t>
            </a:r>
          </a:p>
          <a:p>
            <a:r>
              <a:rPr lang="en-US" dirty="0">
                <a:solidFill>
                  <a:schemeClr val="accent3">
                    <a:lumMod val="75000"/>
                  </a:schemeClr>
                </a:solidFill>
              </a:rPr>
              <a:t>      "type": "number",</a:t>
            </a:r>
          </a:p>
          <a:p>
            <a:r>
              <a:rPr lang="en-US" dirty="0">
                <a:solidFill>
                  <a:schemeClr val="accent3">
                    <a:lumMod val="75000"/>
                  </a:schemeClr>
                </a:solidFill>
              </a:rPr>
              <a:t>      "description": "Remaining water level in milliliters"</a:t>
            </a:r>
          </a:p>
          <a:p>
            <a:r>
              <a:rPr lang="en-US" dirty="0">
                <a:solidFill>
                  <a:schemeClr val="accent3">
                    <a:lumMod val="75000"/>
                  </a:schemeClr>
                </a:solidFill>
              </a:rPr>
              <a:t>    },</a:t>
            </a:r>
          </a:p>
          <a:p>
            <a:r>
              <a:rPr lang="en-US" dirty="0">
                <a:solidFill>
                  <a:schemeClr val="accent3">
                    <a:lumMod val="75000"/>
                  </a:schemeClr>
                </a:solidFill>
              </a:rPr>
              <a:t>    "forms": [</a:t>
            </a:r>
          </a:p>
          <a:p>
            <a:r>
              <a:rPr lang="en-US" dirty="0">
                <a:solidFill>
                  <a:schemeClr val="accent3">
                    <a:lumMod val="75000"/>
                  </a:schemeClr>
                </a:solidFill>
              </a:rPr>
              <a:t>      {</a:t>
            </a:r>
          </a:p>
          <a:p>
            <a:r>
              <a:rPr lang="en-US" dirty="0">
                <a:solidFill>
                  <a:schemeClr val="accent3">
                    <a:lumMod val="75000"/>
                  </a:schemeClr>
                </a:solidFill>
              </a:rPr>
              <a:t>        "</a:t>
            </a:r>
            <a:r>
              <a:rPr lang="en-US" dirty="0" err="1">
                <a:solidFill>
                  <a:schemeClr val="accent3">
                    <a:lumMod val="75000"/>
                  </a:schemeClr>
                </a:solidFill>
              </a:rPr>
              <a:t>href</a:t>
            </a:r>
            <a:r>
              <a:rPr lang="en-US" dirty="0">
                <a:solidFill>
                  <a:schemeClr val="accent3">
                    <a:lumMod val="75000"/>
                  </a:schemeClr>
                </a:solidFill>
              </a:rPr>
              <a:t>": "</a:t>
            </a:r>
            <a:r>
              <a:rPr lang="en-US" dirty="0" err="1">
                <a:solidFill>
                  <a:schemeClr val="accent3">
                    <a:lumMod val="75000"/>
                  </a:schemeClr>
                </a:solidFill>
              </a:rPr>
              <a:t>mqtt</a:t>
            </a:r>
            <a:r>
              <a:rPr lang="en-US" dirty="0">
                <a:solidFill>
                  <a:schemeClr val="accent3">
                    <a:lumMod val="75000"/>
                  </a:schemeClr>
                </a:solidFill>
              </a:rPr>
              <a:t>://broker.example.com/coffee/events/</a:t>
            </a:r>
            <a:r>
              <a:rPr lang="en-US" dirty="0" err="1">
                <a:solidFill>
                  <a:schemeClr val="accent3">
                    <a:lumMod val="75000"/>
                  </a:schemeClr>
                </a:solidFill>
              </a:rPr>
              <a:t>lowOnWater</a:t>
            </a:r>
            <a:r>
              <a:rPr lang="en-US" dirty="0">
                <a:solidFill>
                  <a:schemeClr val="accent3">
                    <a:lumMod val="75000"/>
                  </a:schemeClr>
                </a:solidFill>
              </a:rPr>
              <a:t>",</a:t>
            </a:r>
          </a:p>
          <a:p>
            <a:r>
              <a:rPr lang="en-US" dirty="0">
                <a:solidFill>
                  <a:schemeClr val="accent3">
                    <a:lumMod val="75000"/>
                  </a:schemeClr>
                </a:solidFill>
              </a:rPr>
              <a:t>        "op": "</a:t>
            </a:r>
            <a:r>
              <a:rPr lang="en-US" dirty="0" err="1">
                <a:solidFill>
                  <a:schemeClr val="accent3">
                    <a:lumMod val="75000"/>
                  </a:schemeClr>
                </a:solidFill>
              </a:rPr>
              <a:t>subscribeevent</a:t>
            </a:r>
            <a:r>
              <a:rPr lang="en-US" dirty="0">
                <a:solidFill>
                  <a:schemeClr val="accent3">
                    <a:lumMod val="75000"/>
                  </a:schemeClr>
                </a:solidFill>
              </a:rPr>
              <a:t>",</a:t>
            </a:r>
          </a:p>
          <a:p>
            <a:r>
              <a:rPr lang="en-US" dirty="0">
                <a:solidFill>
                  <a:schemeClr val="accent3">
                    <a:lumMod val="75000"/>
                  </a:schemeClr>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a:t>
            </a:r>
            <a:r>
              <a:rPr lang="en-US" dirty="0" err="1">
                <a:solidFill>
                  <a:schemeClr val="accent1"/>
                </a:solidFill>
              </a:rPr>
              <a:t>json</a:t>
            </a:r>
            <a:r>
              <a:rPr lang="en-US" dirty="0">
                <a:solidFill>
                  <a:schemeClr val="accent1"/>
                </a:solidFill>
              </a:rPr>
              <a:t>"</a:t>
            </a:r>
          </a:p>
          <a:p>
            <a:r>
              <a:rPr lang="en-US" dirty="0">
                <a:solidFill>
                  <a:schemeClr val="accent3">
                    <a:lumMod val="75000"/>
                  </a:schemeClr>
                </a:solidFill>
              </a:rPr>
              <a:t>      }</a:t>
            </a:r>
          </a:p>
          <a:p>
            <a:r>
              <a:rPr lang="en-US" dirty="0">
                <a:solidFill>
                  <a:schemeClr val="accent3">
                    <a:lumMod val="75000"/>
                  </a:schemeClr>
                </a:solidFill>
              </a:rPr>
              <a:t>    ]</a:t>
            </a:r>
          </a:p>
          <a:p>
            <a:r>
              <a:rPr lang="en-US" dirty="0">
                <a:solidFill>
                  <a:schemeClr val="accent3">
                    <a:lumMod val="75000"/>
                  </a:schemeClr>
                </a:solidFill>
              </a:rPr>
              <a:t> ...</a:t>
            </a:r>
          </a:p>
        </p:txBody>
      </p:sp>
      <p:pic>
        <p:nvPicPr>
          <p:cNvPr id="3" name="Graphic 2" descr="Cloud with solid fill">
            <a:extLst>
              <a:ext uri="{FF2B5EF4-FFF2-40B4-BE49-F238E27FC236}">
                <a16:creationId xmlns:a16="http://schemas.microsoft.com/office/drawing/2014/main" id="{54C4265E-00B4-6D01-7772-9813DC22B05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100880" y="3429000"/>
            <a:ext cx="773879" cy="773879"/>
          </a:xfrm>
          <a:prstGeom prst="rect">
            <a:avLst/>
          </a:prstGeom>
        </p:spPr>
      </p:pic>
      <p:sp>
        <p:nvSpPr>
          <p:cNvPr id="18" name="Freeform: Shape 17">
            <a:extLst>
              <a:ext uri="{FF2B5EF4-FFF2-40B4-BE49-F238E27FC236}">
                <a16:creationId xmlns:a16="http://schemas.microsoft.com/office/drawing/2014/main" id="{64F1E62A-5972-F89A-EB0A-2216FF5E72E3}"/>
              </a:ext>
            </a:extLst>
          </p:cNvPr>
          <p:cNvSpPr/>
          <p:nvPr/>
        </p:nvSpPr>
        <p:spPr>
          <a:xfrm rot="18900000">
            <a:off x="8426142" y="3880427"/>
            <a:ext cx="100553" cy="100553"/>
          </a:xfrm>
          <a:custGeom>
            <a:avLst/>
            <a:gdLst>
              <a:gd name="connsiteX0" fmla="*/ 0 w 353017"/>
              <a:gd name="connsiteY0" fmla="*/ 0 h 353017"/>
              <a:gd name="connsiteX1" fmla="*/ 33 w 353017"/>
              <a:gd name="connsiteY1" fmla="*/ 116251 h 353017"/>
              <a:gd name="connsiteX2" fmla="*/ 166130 w 353017"/>
              <a:gd name="connsiteY2" fmla="*/ 186887 h 353017"/>
              <a:gd name="connsiteX3" fmla="*/ 236763 w 353017"/>
              <a:gd name="connsiteY3" fmla="*/ 352987 h 353017"/>
              <a:gd name="connsiteX4" fmla="*/ 353017 w 353017"/>
              <a:gd name="connsiteY4" fmla="*/ 353017 h 353017"/>
              <a:gd name="connsiteX5" fmla="*/ 0 w 353017"/>
              <a:gd name="connsiteY5" fmla="*/ 0 h 353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3017" h="353017">
                <a:moveTo>
                  <a:pt x="0" y="0"/>
                </a:moveTo>
                <a:lnTo>
                  <a:pt x="33" y="116251"/>
                </a:lnTo>
                <a:cubicBezTo>
                  <a:pt x="62593" y="116747"/>
                  <a:pt x="122376" y="142167"/>
                  <a:pt x="166130" y="186887"/>
                </a:cubicBezTo>
                <a:cubicBezTo>
                  <a:pt x="210372" y="230965"/>
                  <a:pt x="235706" y="290545"/>
                  <a:pt x="236763" y="352987"/>
                </a:cubicBezTo>
                <a:lnTo>
                  <a:pt x="353017" y="353017"/>
                </a:lnTo>
                <a:cubicBezTo>
                  <a:pt x="352129" y="158421"/>
                  <a:pt x="194596" y="888"/>
                  <a:pt x="0" y="0"/>
                </a:cubicBezTo>
                <a:close/>
              </a:path>
            </a:pathLst>
          </a:custGeom>
          <a:solidFill>
            <a:schemeClr val="tx1"/>
          </a:solidFill>
          <a:ln w="29666"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49F9682B-DF04-76E8-3080-A83DBAE99A36}"/>
              </a:ext>
            </a:extLst>
          </p:cNvPr>
          <p:cNvSpPr/>
          <p:nvPr/>
        </p:nvSpPr>
        <p:spPr>
          <a:xfrm rot="18900000">
            <a:off x="8393017" y="3800549"/>
            <a:ext cx="166803" cy="166803"/>
          </a:xfrm>
          <a:custGeom>
            <a:avLst/>
            <a:gdLst>
              <a:gd name="connsiteX0" fmla="*/ 585594 w 585607"/>
              <a:gd name="connsiteY0" fmla="*/ 585607 h 585607"/>
              <a:gd name="connsiteX1" fmla="*/ 7914 w 585607"/>
              <a:gd name="connsiteY1" fmla="*/ 13 h 585607"/>
              <a:gd name="connsiteX2" fmla="*/ 0 w 585607"/>
              <a:gd name="connsiteY2" fmla="*/ 13 h 585607"/>
              <a:gd name="connsiteX3" fmla="*/ 33 w 585607"/>
              <a:gd name="connsiteY3" fmla="*/ 116274 h 585607"/>
              <a:gd name="connsiteX4" fmla="*/ 469340 w 585607"/>
              <a:gd name="connsiteY4" fmla="*/ 583191 h 585607"/>
              <a:gd name="connsiteX5" fmla="*/ 469340 w 585607"/>
              <a:gd name="connsiteY5" fmla="*/ 585572 h 58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5607" h="585607">
                <a:moveTo>
                  <a:pt x="585594" y="585607"/>
                </a:moveTo>
                <a:cubicBezTo>
                  <a:pt x="587779" y="264378"/>
                  <a:pt x="329143" y="2198"/>
                  <a:pt x="7914" y="13"/>
                </a:cubicBezTo>
                <a:cubicBezTo>
                  <a:pt x="5275" y="-4"/>
                  <a:pt x="2639" y="-4"/>
                  <a:pt x="0" y="13"/>
                </a:cubicBezTo>
                <a:lnTo>
                  <a:pt x="33" y="116274"/>
                </a:lnTo>
                <a:cubicBezTo>
                  <a:pt x="258564" y="115615"/>
                  <a:pt x="468680" y="324659"/>
                  <a:pt x="469340" y="583191"/>
                </a:cubicBezTo>
                <a:cubicBezTo>
                  <a:pt x="469342" y="583983"/>
                  <a:pt x="469342" y="584779"/>
                  <a:pt x="469340" y="585572"/>
                </a:cubicBezTo>
                <a:close/>
              </a:path>
            </a:pathLst>
          </a:custGeom>
          <a:solidFill>
            <a:schemeClr val="tx1"/>
          </a:solidFill>
          <a:ln w="29666"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2620C2F-13AD-9BEF-48F7-96A9085B65C5}"/>
              </a:ext>
            </a:extLst>
          </p:cNvPr>
          <p:cNvSpPr/>
          <p:nvPr/>
        </p:nvSpPr>
        <p:spPr>
          <a:xfrm rot="18900000">
            <a:off x="8359304" y="3719250"/>
            <a:ext cx="234229" cy="234229"/>
          </a:xfrm>
          <a:custGeom>
            <a:avLst/>
            <a:gdLst>
              <a:gd name="connsiteX0" fmla="*/ 0 w 822323"/>
              <a:gd name="connsiteY0" fmla="*/ 0 h 822322"/>
              <a:gd name="connsiteX1" fmla="*/ 33 w 822323"/>
              <a:gd name="connsiteY1" fmla="*/ 116251 h 822322"/>
              <a:gd name="connsiteX2" fmla="*/ 706067 w 822323"/>
              <a:gd name="connsiteY2" fmla="*/ 822293 h 822322"/>
              <a:gd name="connsiteX3" fmla="*/ 822324 w 822323"/>
              <a:gd name="connsiteY3" fmla="*/ 822322 h 822322"/>
              <a:gd name="connsiteX4" fmla="*/ 0 w 822323"/>
              <a:gd name="connsiteY4" fmla="*/ 0 h 822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2323" h="822322">
                <a:moveTo>
                  <a:pt x="0" y="0"/>
                </a:moveTo>
                <a:lnTo>
                  <a:pt x="33" y="116251"/>
                </a:lnTo>
                <a:cubicBezTo>
                  <a:pt x="389226" y="118034"/>
                  <a:pt x="704289" y="433100"/>
                  <a:pt x="706067" y="822293"/>
                </a:cubicBezTo>
                <a:lnTo>
                  <a:pt x="822324" y="822322"/>
                </a:lnTo>
                <a:cubicBezTo>
                  <a:pt x="822090" y="368262"/>
                  <a:pt x="454057" y="233"/>
                  <a:pt x="0" y="0"/>
                </a:cubicBezTo>
                <a:close/>
              </a:path>
            </a:pathLst>
          </a:custGeom>
          <a:solidFill>
            <a:schemeClr val="tx1"/>
          </a:solidFill>
          <a:ln w="29666" cap="flat">
            <a:noFill/>
            <a:prstDash val="solid"/>
            <a:miter/>
          </a:ln>
        </p:spPr>
        <p:txBody>
          <a:bodyPr rtlCol="0" anchor="ctr"/>
          <a:lstStyle/>
          <a:p>
            <a:endParaRPr lang="en-US"/>
          </a:p>
        </p:txBody>
      </p:sp>
      <p:sp>
        <p:nvSpPr>
          <p:cNvPr id="24" name="TextBox 23">
            <a:extLst>
              <a:ext uri="{FF2B5EF4-FFF2-40B4-BE49-F238E27FC236}">
                <a16:creationId xmlns:a16="http://schemas.microsoft.com/office/drawing/2014/main" id="{B4CC9B28-85C2-F9C6-4583-766D10D3F8AA}"/>
              </a:ext>
            </a:extLst>
          </p:cNvPr>
          <p:cNvSpPr txBox="1"/>
          <p:nvPr/>
        </p:nvSpPr>
        <p:spPr>
          <a:xfrm>
            <a:off x="7736227" y="4015812"/>
            <a:ext cx="1480381"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Broker</a:t>
            </a:r>
          </a:p>
        </p:txBody>
      </p:sp>
      <p:cxnSp>
        <p:nvCxnSpPr>
          <p:cNvPr id="17" name="Straight Connector 16">
            <a:extLst>
              <a:ext uri="{FF2B5EF4-FFF2-40B4-BE49-F238E27FC236}">
                <a16:creationId xmlns:a16="http://schemas.microsoft.com/office/drawing/2014/main" id="{02A130DA-D1EE-F7D2-F67F-B22DB566E1D5}"/>
              </a:ext>
            </a:extLst>
          </p:cNvPr>
          <p:cNvCxnSpPr>
            <a:cxnSpLocks/>
          </p:cNvCxnSpPr>
          <p:nvPr/>
        </p:nvCxnSpPr>
        <p:spPr>
          <a:xfrm flipH="1">
            <a:off x="8874759" y="3358116"/>
            <a:ext cx="429516" cy="28571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CDB84D2-E4AC-7394-DD13-FB1A1DCBE985}"/>
              </a:ext>
            </a:extLst>
          </p:cNvPr>
          <p:cNvCxnSpPr>
            <a:cxnSpLocks/>
          </p:cNvCxnSpPr>
          <p:nvPr/>
        </p:nvCxnSpPr>
        <p:spPr>
          <a:xfrm flipH="1" flipV="1">
            <a:off x="8873512" y="4272543"/>
            <a:ext cx="429516" cy="285715"/>
          </a:xfrm>
          <a:prstGeom prst="line">
            <a:avLst/>
          </a:prstGeom>
          <a:ln w="28575" cap="flat">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20DD74F-2151-B3C7-3A9B-4EF2634C732B}"/>
              </a:ext>
            </a:extLst>
          </p:cNvPr>
          <p:cNvSpPr txBox="1"/>
          <p:nvPr/>
        </p:nvSpPr>
        <p:spPr>
          <a:xfrm flipH="1">
            <a:off x="9024942" y="4145307"/>
            <a:ext cx="675121" cy="276999"/>
          </a:xfrm>
          <a:prstGeom prst="rect">
            <a:avLst/>
          </a:prstGeom>
          <a:noFill/>
        </p:spPr>
        <p:txBody>
          <a:bodyPr wrap="square" rtlCol="0">
            <a:spAutoFit/>
          </a:bodyPr>
          <a:lstStyle/>
          <a:p>
            <a:r>
              <a:rPr lang="en-US" sz="1200" dirty="0">
                <a:solidFill>
                  <a:schemeClr val="accent1"/>
                </a:solidFill>
              </a:rPr>
              <a:t>JSON</a:t>
            </a:r>
          </a:p>
        </p:txBody>
      </p:sp>
      <p:sp>
        <p:nvSpPr>
          <p:cNvPr id="29" name="TextBox 28">
            <a:extLst>
              <a:ext uri="{FF2B5EF4-FFF2-40B4-BE49-F238E27FC236}">
                <a16:creationId xmlns:a16="http://schemas.microsoft.com/office/drawing/2014/main" id="{01268339-DAA1-9F4E-CBFF-531575D4C7FC}"/>
              </a:ext>
            </a:extLst>
          </p:cNvPr>
          <p:cNvSpPr txBox="1"/>
          <p:nvPr/>
        </p:nvSpPr>
        <p:spPr>
          <a:xfrm flipH="1">
            <a:off x="8694878" y="3202834"/>
            <a:ext cx="675121" cy="276999"/>
          </a:xfrm>
          <a:prstGeom prst="rect">
            <a:avLst/>
          </a:prstGeom>
          <a:noFill/>
        </p:spPr>
        <p:txBody>
          <a:bodyPr wrap="square" rtlCol="0">
            <a:spAutoFit/>
          </a:bodyPr>
          <a:lstStyle/>
          <a:p>
            <a:r>
              <a:rPr lang="en-US" sz="1200" dirty="0">
                <a:solidFill>
                  <a:schemeClr val="accent1"/>
                </a:solidFill>
              </a:rPr>
              <a:t>JSON</a:t>
            </a:r>
          </a:p>
        </p:txBody>
      </p:sp>
    </p:spTree>
    <p:extLst>
      <p:ext uri="{BB962C8B-B14F-4D97-AF65-F5344CB8AC3E}">
        <p14:creationId xmlns:p14="http://schemas.microsoft.com/office/powerpoint/2010/main" val="3912485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right)">
                                      <p:cBhvr>
                                        <p:cTn id="7" dur="500"/>
                                        <p:tgtEl>
                                          <p:spTgt spid="2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down)">
                                      <p:cBhvr>
                                        <p:cTn id="10" dur="500"/>
                                        <p:tgtEl>
                                          <p:spTgt spid="23"/>
                                        </p:tgtEl>
                                      </p:cBhvr>
                                    </p:animEffect>
                                  </p:childTnLst>
                                </p:cTn>
                              </p:par>
                            </p:childTnLst>
                          </p:cTn>
                        </p:par>
                        <p:par>
                          <p:cTn id="11" fill="hold">
                            <p:stCondLst>
                              <p:cond delay="500"/>
                            </p:stCondLst>
                            <p:childTnLst>
                              <p:par>
                                <p:cTn id="12" presetID="22" presetClass="exit" presetSubtype="2" fill="hold" nodeType="afterEffect">
                                  <p:stCondLst>
                                    <p:cond delay="0"/>
                                  </p:stCondLst>
                                  <p:childTnLst>
                                    <p:animEffect transition="out" filter="wipe(right)">
                                      <p:cBhvr>
                                        <p:cTn id="13" dur="500"/>
                                        <p:tgtEl>
                                          <p:spTgt spid="22"/>
                                        </p:tgtEl>
                                      </p:cBhvr>
                                    </p:animEffect>
                                    <p:set>
                                      <p:cBhvr>
                                        <p:cTn id="14" dur="1" fill="hold">
                                          <p:stCondLst>
                                            <p:cond delay="499"/>
                                          </p:stCondLst>
                                        </p:cTn>
                                        <p:tgtEl>
                                          <p:spTgt spid="22"/>
                                        </p:tgtEl>
                                        <p:attrNameLst>
                                          <p:attrName>style.visibility</p:attrName>
                                        </p:attrNameLst>
                                      </p:cBhvr>
                                      <p:to>
                                        <p:strVal val="hidden"/>
                                      </p:to>
                                    </p:set>
                                  </p:childTnLst>
                                </p:cTn>
                              </p:par>
                              <p:par>
                                <p:cTn id="15" presetID="10" presetClass="exit" presetSubtype="0" fill="hold" grpId="1" nodeType="withEffect">
                                  <p:stCondLst>
                                    <p:cond delay="0"/>
                                  </p:stCondLst>
                                  <p:childTnLst>
                                    <p:animEffect transition="out" filter="fade">
                                      <p:cBhvr>
                                        <p:cTn id="16" dur="500"/>
                                        <p:tgtEl>
                                          <p:spTgt spid="23"/>
                                        </p:tgtEl>
                                      </p:cBhvr>
                                    </p:animEffect>
                                    <p:set>
                                      <p:cBhvr>
                                        <p:cTn id="17" dur="1" fill="hold">
                                          <p:stCondLst>
                                            <p:cond delay="499"/>
                                          </p:stCondLst>
                                        </p:cTn>
                                        <p:tgtEl>
                                          <p:spTgt spid="23"/>
                                        </p:tgtEl>
                                        <p:attrNameLst>
                                          <p:attrName>style.visibility</p:attrName>
                                        </p:attrNameLst>
                                      </p:cBhvr>
                                      <p:to>
                                        <p:strVal val="hidden"/>
                                      </p:to>
                                    </p:set>
                                  </p:childTnLst>
                                </p:cTn>
                              </p:par>
                            </p:childTnLst>
                          </p:cTn>
                        </p:par>
                        <p:par>
                          <p:cTn id="18" fill="hold">
                            <p:stCondLst>
                              <p:cond delay="1000"/>
                            </p:stCondLst>
                            <p:childTnLst>
                              <p:par>
                                <p:cTn id="19" presetID="22" presetClass="entr" presetSubtype="8" fill="hold" grpId="1" nodeType="after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wipe(left)">
                                      <p:cBhvr>
                                        <p:cTn id="21" dur="500"/>
                                        <p:tgtEl>
                                          <p:spTgt spid="29"/>
                                        </p:tgtEl>
                                      </p:cBhvr>
                                    </p:animEffect>
                                  </p:childTnLst>
                                </p:cTn>
                              </p:par>
                              <p:par>
                                <p:cTn id="22" presetID="26" presetClass="emph" presetSubtype="0" fill="hold" nodeType="withEffect">
                                  <p:stCondLst>
                                    <p:cond delay="0"/>
                                  </p:stCondLst>
                                  <p:childTnLst>
                                    <p:animEffect transition="out" filter="fade">
                                      <p:cBhvr>
                                        <p:cTn id="23" dur="1000" tmFilter="0, 0; .2, .5; .8, .5; 1, 0"/>
                                        <p:tgtEl>
                                          <p:spTgt spid="17"/>
                                        </p:tgtEl>
                                      </p:cBhvr>
                                    </p:animEffect>
                                    <p:animScale>
                                      <p:cBhvr>
                                        <p:cTn id="24" dur="500" autoRev="1" fill="hold"/>
                                        <p:tgtEl>
                                          <p:spTgt spid="17"/>
                                        </p:tgtEl>
                                      </p:cBhvr>
                                      <p:by x="105000" y="105000"/>
                                    </p:animScale>
                                  </p:childTnLst>
                                </p:cTn>
                              </p:par>
                            </p:childTnLst>
                          </p:cTn>
                        </p:par>
                        <p:par>
                          <p:cTn id="25" fill="hold">
                            <p:stCondLst>
                              <p:cond delay="2000"/>
                            </p:stCondLst>
                            <p:childTnLst>
                              <p:par>
                                <p:cTn id="26" presetID="26" presetClass="emph" presetSubtype="0" fill="hold" nodeType="afterEffect">
                                  <p:stCondLst>
                                    <p:cond delay="0"/>
                                  </p:stCondLst>
                                  <p:childTnLst>
                                    <p:animEffect transition="out" filter="fade">
                                      <p:cBhvr>
                                        <p:cTn id="27" dur="1000" tmFilter="0, 0; .2, .5; .8, .5; 1, 0"/>
                                        <p:tgtEl>
                                          <p:spTgt spid="17"/>
                                        </p:tgtEl>
                                      </p:cBhvr>
                                    </p:animEffect>
                                    <p:animScale>
                                      <p:cBhvr>
                                        <p:cTn id="28" dur="500" autoRev="1" fill="hold"/>
                                        <p:tgtEl>
                                          <p:spTgt spid="17"/>
                                        </p:tgtEl>
                                      </p:cBhvr>
                                      <p:by x="105000" y="105000"/>
                                    </p:animScale>
                                  </p:childTnLst>
                                </p:cTn>
                              </p:par>
                            </p:childTnLst>
                          </p:cTn>
                        </p:par>
                        <p:par>
                          <p:cTn id="29" fill="hold">
                            <p:stCondLst>
                              <p:cond delay="3000"/>
                            </p:stCondLst>
                            <p:childTnLst>
                              <p:par>
                                <p:cTn id="30" presetID="10" presetClass="exit" presetSubtype="0" fill="hold" grpId="0" nodeType="afterEffect">
                                  <p:stCondLst>
                                    <p:cond delay="0"/>
                                  </p:stCondLst>
                                  <p:childTnLst>
                                    <p:animEffect transition="out" filter="fade">
                                      <p:cBhvr>
                                        <p:cTn id="31" dur="500"/>
                                        <p:tgtEl>
                                          <p:spTgt spid="29"/>
                                        </p:tgtEl>
                                      </p:cBhvr>
                                    </p:animEffect>
                                    <p:set>
                                      <p:cBhvr>
                                        <p:cTn id="32"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3" grpId="1"/>
      <p:bldP spid="29" grpId="0"/>
      <p:bldP spid="29" grpId="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37C88-193E-E953-2837-E937CA1F57E9}"/>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50206689-D3FB-8848-B6A1-B567B86631F8}"/>
              </a:ext>
            </a:extLst>
          </p:cNvPr>
          <p:cNvSpPr txBox="1">
            <a:spLocks/>
          </p:cNvSpPr>
          <p:nvPr/>
        </p:nvSpPr>
        <p:spPr>
          <a:xfrm>
            <a:off x="2198977" y="12800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pic>
        <p:nvPicPr>
          <p:cNvPr id="3" name="Graphic 2" descr="Factory with solid fill">
            <a:extLst>
              <a:ext uri="{FF2B5EF4-FFF2-40B4-BE49-F238E27FC236}">
                <a16:creationId xmlns:a16="http://schemas.microsoft.com/office/drawing/2014/main" id="{0500508C-1721-30EC-4364-11AACE04A3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7551" y="2339731"/>
            <a:ext cx="3036898" cy="3036898"/>
          </a:xfrm>
          <a:prstGeom prst="rect">
            <a:avLst/>
          </a:prstGeom>
        </p:spPr>
      </p:pic>
    </p:spTree>
    <p:extLst>
      <p:ext uri="{BB962C8B-B14F-4D97-AF65-F5344CB8AC3E}">
        <p14:creationId xmlns:p14="http://schemas.microsoft.com/office/powerpoint/2010/main" val="2717792084"/>
      </p:ext>
    </p:extLst>
  </p:cSld>
  <p:clrMapOvr>
    <a:masterClrMapping/>
  </p:clrMapOvr>
  <mc:AlternateContent xmlns:mc="http://schemas.openxmlformats.org/markup-compatibility/2006" xmlns:p14="http://schemas.microsoft.com/office/powerpoint/2010/main">
    <mc:Choice Requires="p14">
      <p:transition spd="slow" p14:dur="2000" advTm="9100">
        <p:fade/>
      </p:transition>
    </mc:Choice>
    <mc:Fallback xmlns="">
      <p:transition spd="slow" advTm="9100">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32A92-C075-A885-FF5E-1427BE5544C8}"/>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98A32A29-734A-D827-7FCD-A1B7B120F063}"/>
              </a:ext>
            </a:extLst>
          </p:cNvPr>
          <p:cNvGrpSpPr/>
          <p:nvPr/>
        </p:nvGrpSpPr>
        <p:grpSpPr>
          <a:xfrm>
            <a:off x="3573841" y="4158571"/>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63DACF8E-7871-980C-A91C-90F6D8601F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9576F528-45CB-274F-2E98-080F798603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DCC69CDD-5E38-9994-9396-23CBD3DC2E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3C88C76A-2CAB-C8CE-913A-CC30F9003B01}"/>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CAD2DCA4-95CD-EDF5-EB9C-3E7F03974CC9}"/>
              </a:ext>
            </a:extLst>
          </p:cNvPr>
          <p:cNvSpPr txBox="1"/>
          <p:nvPr/>
        </p:nvSpPr>
        <p:spPr>
          <a:xfrm>
            <a:off x="7137778" y="5579537"/>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D6C711F6-34F0-B19D-FE90-D0B659BB96F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7805759" y="4132999"/>
            <a:ext cx="719126" cy="719126"/>
          </a:xfrm>
          <a:prstGeom prst="rect">
            <a:avLst/>
          </a:prstGeom>
        </p:spPr>
      </p:pic>
      <p:pic>
        <p:nvPicPr>
          <p:cNvPr id="12" name="Graphic 11" descr="Laptop with solid fill">
            <a:extLst>
              <a:ext uri="{FF2B5EF4-FFF2-40B4-BE49-F238E27FC236}">
                <a16:creationId xmlns:a16="http://schemas.microsoft.com/office/drawing/2014/main" id="{6D5EFD04-0FFE-3E37-915F-F6FFBC38A6AA}"/>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7100741" y="4141666"/>
            <a:ext cx="832915" cy="832914"/>
          </a:xfrm>
          <a:prstGeom prst="rect">
            <a:avLst/>
          </a:prstGeom>
        </p:spPr>
      </p:pic>
      <p:pic>
        <p:nvPicPr>
          <p:cNvPr id="13" name="Graphic 12" descr="Server with solid fill">
            <a:extLst>
              <a:ext uri="{FF2B5EF4-FFF2-40B4-BE49-F238E27FC236}">
                <a16:creationId xmlns:a16="http://schemas.microsoft.com/office/drawing/2014/main" id="{324DA4F2-6F46-708F-BAF3-C112B9905EB6}"/>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7045408" y="4807493"/>
            <a:ext cx="832561" cy="832561"/>
          </a:xfrm>
          <a:prstGeom prst="rect">
            <a:avLst/>
          </a:prstGeom>
        </p:spPr>
      </p:pic>
      <p:pic>
        <p:nvPicPr>
          <p:cNvPr id="14" name="Graphic 13" descr="Processor with solid fill">
            <a:extLst>
              <a:ext uri="{FF2B5EF4-FFF2-40B4-BE49-F238E27FC236}">
                <a16:creationId xmlns:a16="http://schemas.microsoft.com/office/drawing/2014/main" id="{2420E7DE-C7DF-126D-50FE-AC124813797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782717" y="4841168"/>
            <a:ext cx="765210" cy="765210"/>
          </a:xfrm>
          <a:prstGeom prst="rect">
            <a:avLst/>
          </a:prstGeom>
        </p:spPr>
      </p:pic>
      <p:sp>
        <p:nvSpPr>
          <p:cNvPr id="15" name="Title 1">
            <a:extLst>
              <a:ext uri="{FF2B5EF4-FFF2-40B4-BE49-F238E27FC236}">
                <a16:creationId xmlns:a16="http://schemas.microsoft.com/office/drawing/2014/main" id="{16C8033B-DB63-6B85-91F9-F9A213206B1F}"/>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pic>
        <p:nvPicPr>
          <p:cNvPr id="3" name="Graphic 2" descr="Factory with solid fill">
            <a:extLst>
              <a:ext uri="{FF2B5EF4-FFF2-40B4-BE49-F238E27FC236}">
                <a16:creationId xmlns:a16="http://schemas.microsoft.com/office/drawing/2014/main" id="{100C900C-ABE2-5F24-C79A-47522046E33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243036" y="1567944"/>
            <a:ext cx="1793903" cy="1793903"/>
          </a:xfrm>
          <a:prstGeom prst="rect">
            <a:avLst/>
          </a:prstGeom>
        </p:spPr>
      </p:pic>
      <p:sp>
        <p:nvSpPr>
          <p:cNvPr id="19" name="TextBox 18">
            <a:extLst>
              <a:ext uri="{FF2B5EF4-FFF2-40B4-BE49-F238E27FC236}">
                <a16:creationId xmlns:a16="http://schemas.microsoft.com/office/drawing/2014/main" id="{76B9D3F5-F58B-BE42-5AF0-0CC73B4D4993}"/>
              </a:ext>
            </a:extLst>
          </p:cNvPr>
          <p:cNvSpPr txBox="1"/>
          <p:nvPr/>
        </p:nvSpPr>
        <p:spPr>
          <a:xfrm>
            <a:off x="4998946" y="3238079"/>
            <a:ext cx="228208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Existing Modbus Systems</a:t>
            </a:r>
          </a:p>
        </p:txBody>
      </p:sp>
    </p:spTree>
    <p:extLst>
      <p:ext uri="{BB962C8B-B14F-4D97-AF65-F5344CB8AC3E}">
        <p14:creationId xmlns:p14="http://schemas.microsoft.com/office/powerpoint/2010/main" val="14995927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5300">
        <p159:morph option="byObject"/>
      </p:transition>
    </mc:Choice>
    <mc:Fallback xmlns="">
      <p:transition spd="slow" advTm="5300">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C4CDF-B72A-2626-29F4-3CF8A44442B4}"/>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5B6D6E30-932D-3081-3292-D47FD8480F35}"/>
              </a:ext>
            </a:extLst>
          </p:cNvPr>
          <p:cNvGrpSpPr/>
          <p:nvPr/>
        </p:nvGrpSpPr>
        <p:grpSpPr>
          <a:xfrm>
            <a:off x="3573841" y="4158571"/>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8835AC20-9518-67EB-8146-41397EDFAF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6E4E1C9C-37EB-5645-DD35-DF68D73A00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57E32C11-C24A-D0DC-6B4A-0C4AB499A07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694C88BE-481E-7D36-28A6-E1D02D7DEB27}"/>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32AADE40-7194-A8E7-ACC8-9FA6717D0A27}"/>
              </a:ext>
            </a:extLst>
          </p:cNvPr>
          <p:cNvSpPr txBox="1"/>
          <p:nvPr/>
        </p:nvSpPr>
        <p:spPr>
          <a:xfrm>
            <a:off x="7137778" y="5579537"/>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8E39B1E8-719C-D339-0E89-4ABBF1BC1828}"/>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7805759" y="4132999"/>
            <a:ext cx="719126" cy="719126"/>
          </a:xfrm>
          <a:prstGeom prst="rect">
            <a:avLst/>
          </a:prstGeom>
        </p:spPr>
      </p:pic>
      <p:pic>
        <p:nvPicPr>
          <p:cNvPr id="12" name="Graphic 11" descr="Laptop with solid fill">
            <a:extLst>
              <a:ext uri="{FF2B5EF4-FFF2-40B4-BE49-F238E27FC236}">
                <a16:creationId xmlns:a16="http://schemas.microsoft.com/office/drawing/2014/main" id="{7F8A7451-B955-218A-5B60-C2BF4971FF19}"/>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7100741" y="4141666"/>
            <a:ext cx="832915" cy="832914"/>
          </a:xfrm>
          <a:prstGeom prst="rect">
            <a:avLst/>
          </a:prstGeom>
        </p:spPr>
      </p:pic>
      <p:pic>
        <p:nvPicPr>
          <p:cNvPr id="13" name="Graphic 12" descr="Server with solid fill">
            <a:extLst>
              <a:ext uri="{FF2B5EF4-FFF2-40B4-BE49-F238E27FC236}">
                <a16:creationId xmlns:a16="http://schemas.microsoft.com/office/drawing/2014/main" id="{240E6DE3-8DD2-2EB7-197F-10D1417B4F72}"/>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7045408" y="4807493"/>
            <a:ext cx="832561" cy="832561"/>
          </a:xfrm>
          <a:prstGeom prst="rect">
            <a:avLst/>
          </a:prstGeom>
        </p:spPr>
      </p:pic>
      <p:pic>
        <p:nvPicPr>
          <p:cNvPr id="14" name="Graphic 13" descr="Processor with solid fill">
            <a:extLst>
              <a:ext uri="{FF2B5EF4-FFF2-40B4-BE49-F238E27FC236}">
                <a16:creationId xmlns:a16="http://schemas.microsoft.com/office/drawing/2014/main" id="{74E85792-94E1-C4A7-4CF1-4FA00142640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782717" y="4841168"/>
            <a:ext cx="765210" cy="765210"/>
          </a:xfrm>
          <a:prstGeom prst="rect">
            <a:avLst/>
          </a:prstGeom>
        </p:spPr>
      </p:pic>
      <p:sp>
        <p:nvSpPr>
          <p:cNvPr id="15" name="Title 1">
            <a:extLst>
              <a:ext uri="{FF2B5EF4-FFF2-40B4-BE49-F238E27FC236}">
                <a16:creationId xmlns:a16="http://schemas.microsoft.com/office/drawing/2014/main" id="{E69AC1D6-7C06-0D73-B921-99CC959B422D}"/>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pic>
        <p:nvPicPr>
          <p:cNvPr id="3" name="Graphic 2" descr="Factory with solid fill">
            <a:extLst>
              <a:ext uri="{FF2B5EF4-FFF2-40B4-BE49-F238E27FC236}">
                <a16:creationId xmlns:a16="http://schemas.microsoft.com/office/drawing/2014/main" id="{57FC9178-31F5-4A86-B8F4-E32D4C006E2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243036" y="1567944"/>
            <a:ext cx="1793903" cy="1793903"/>
          </a:xfrm>
          <a:prstGeom prst="rect">
            <a:avLst/>
          </a:prstGeom>
        </p:spPr>
      </p:pic>
      <p:sp>
        <p:nvSpPr>
          <p:cNvPr id="19" name="TextBox 18">
            <a:extLst>
              <a:ext uri="{FF2B5EF4-FFF2-40B4-BE49-F238E27FC236}">
                <a16:creationId xmlns:a16="http://schemas.microsoft.com/office/drawing/2014/main" id="{D2BF6587-231B-E7A4-11AC-3C410120261E}"/>
              </a:ext>
            </a:extLst>
          </p:cNvPr>
          <p:cNvSpPr txBox="1"/>
          <p:nvPr/>
        </p:nvSpPr>
        <p:spPr>
          <a:xfrm>
            <a:off x="4998946" y="3238079"/>
            <a:ext cx="228208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Existing Modbus Systems</a:t>
            </a:r>
          </a:p>
        </p:txBody>
      </p:sp>
      <p:grpSp>
        <p:nvGrpSpPr>
          <p:cNvPr id="21" name="Group 20">
            <a:extLst>
              <a:ext uri="{FF2B5EF4-FFF2-40B4-BE49-F238E27FC236}">
                <a16:creationId xmlns:a16="http://schemas.microsoft.com/office/drawing/2014/main" id="{EC3C8CC0-7914-A538-4C29-1043E1803C3B}"/>
              </a:ext>
            </a:extLst>
          </p:cNvPr>
          <p:cNvGrpSpPr/>
          <p:nvPr/>
        </p:nvGrpSpPr>
        <p:grpSpPr>
          <a:xfrm>
            <a:off x="6709534" y="1656807"/>
            <a:ext cx="598033" cy="598033"/>
            <a:chOff x="9792033" y="3821823"/>
            <a:chExt cx="962125" cy="962125"/>
          </a:xfrm>
        </p:grpSpPr>
        <p:sp>
          <p:nvSpPr>
            <p:cNvPr id="22" name="Rectangle 21">
              <a:extLst>
                <a:ext uri="{FF2B5EF4-FFF2-40B4-BE49-F238E27FC236}">
                  <a16:creationId xmlns:a16="http://schemas.microsoft.com/office/drawing/2014/main" id="{43355985-3AEC-F099-E4D4-67785E32A98F}"/>
                </a:ext>
              </a:extLst>
            </p:cNvPr>
            <p:cNvSpPr/>
            <p:nvPr/>
          </p:nvSpPr>
          <p:spPr>
            <a:xfrm>
              <a:off x="10000536" y="3906156"/>
              <a:ext cx="647757" cy="737303"/>
            </a:xfrm>
            <a:prstGeom prst="rect">
              <a:avLst/>
            </a:prstGeom>
            <a:solidFill>
              <a:schemeClr val="accent3">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23" name="Group 22">
              <a:extLst>
                <a:ext uri="{FF2B5EF4-FFF2-40B4-BE49-F238E27FC236}">
                  <a16:creationId xmlns:a16="http://schemas.microsoft.com/office/drawing/2014/main" id="{024BB08E-BEA3-FB45-59F6-71AAEECF1B8E}"/>
                </a:ext>
              </a:extLst>
            </p:cNvPr>
            <p:cNvGrpSpPr/>
            <p:nvPr/>
          </p:nvGrpSpPr>
          <p:grpSpPr>
            <a:xfrm>
              <a:off x="9792033" y="3821823"/>
              <a:ext cx="962125" cy="962125"/>
              <a:chOff x="4300668" y="-1299739"/>
              <a:chExt cx="2827861" cy="2827862"/>
            </a:xfrm>
          </p:grpSpPr>
          <p:pic>
            <p:nvPicPr>
              <p:cNvPr id="24" name="Graphic 23" descr="Paper outline">
                <a:extLst>
                  <a:ext uri="{FF2B5EF4-FFF2-40B4-BE49-F238E27FC236}">
                    <a16:creationId xmlns:a16="http://schemas.microsoft.com/office/drawing/2014/main" id="{DCD38EAD-2C7C-2351-5C60-8F4642D6CCA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300668" y="-1299739"/>
                <a:ext cx="2827861" cy="2827862"/>
              </a:xfrm>
              <a:prstGeom prst="rect">
                <a:avLst/>
              </a:prstGeom>
            </p:spPr>
          </p:pic>
          <p:pic>
            <p:nvPicPr>
              <p:cNvPr id="25" name="Picture 24" descr="Logo&#10;&#10;Description automatically generated">
                <a:extLst>
                  <a:ext uri="{FF2B5EF4-FFF2-40B4-BE49-F238E27FC236}">
                    <a16:creationId xmlns:a16="http://schemas.microsoft.com/office/drawing/2014/main" id="{8EDFA72E-BF77-4D99-529B-2D8F7FBF22C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948340" y="-951731"/>
                <a:ext cx="921590" cy="555788"/>
              </a:xfrm>
              <a:prstGeom prst="rect">
                <a:avLst/>
              </a:prstGeom>
            </p:spPr>
          </p:pic>
        </p:grpSp>
      </p:grpSp>
    </p:spTree>
    <p:extLst>
      <p:ext uri="{BB962C8B-B14F-4D97-AF65-F5344CB8AC3E}">
        <p14:creationId xmlns:p14="http://schemas.microsoft.com/office/powerpoint/2010/main" val="22841263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7300">
        <p159:morph option="byObject"/>
      </p:transition>
    </mc:Choice>
    <mc:Fallback xmlns="">
      <p:transition spd="slow" advTm="7300">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C79D2-AC86-677E-0AFF-2C575D041904}"/>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892E616-6FA0-2233-860F-3772E1BF0F70}"/>
              </a:ext>
            </a:extLst>
          </p:cNvPr>
          <p:cNvGrpSpPr/>
          <p:nvPr/>
        </p:nvGrpSpPr>
        <p:grpSpPr>
          <a:xfrm>
            <a:off x="3573841" y="4158571"/>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DB338DBD-20B1-F7AC-2812-AFBC052A8B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DA4B914B-F4CA-BA00-4B7E-63AFA75168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98D9F697-9CDB-A4CB-4E7E-D88A87E8DDA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1153912C-7A51-A434-A19D-48B5067322FD}"/>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B8B0F8DC-6451-928C-BA4E-D66895509C0E}"/>
              </a:ext>
            </a:extLst>
          </p:cNvPr>
          <p:cNvSpPr txBox="1"/>
          <p:nvPr/>
        </p:nvSpPr>
        <p:spPr>
          <a:xfrm>
            <a:off x="7137778" y="5579537"/>
            <a:ext cx="1480381"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10A2971F-E848-43E6-67AE-AE7C777544C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7805759" y="4132999"/>
            <a:ext cx="719126" cy="719126"/>
          </a:xfrm>
          <a:prstGeom prst="rect">
            <a:avLst/>
          </a:prstGeom>
        </p:spPr>
      </p:pic>
      <p:pic>
        <p:nvPicPr>
          <p:cNvPr id="12" name="Graphic 11" descr="Laptop with solid fill">
            <a:extLst>
              <a:ext uri="{FF2B5EF4-FFF2-40B4-BE49-F238E27FC236}">
                <a16:creationId xmlns:a16="http://schemas.microsoft.com/office/drawing/2014/main" id="{455674EC-45B9-F672-EC93-AE7F811E0A14}"/>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7100741" y="4141666"/>
            <a:ext cx="832915" cy="832914"/>
          </a:xfrm>
          <a:prstGeom prst="rect">
            <a:avLst/>
          </a:prstGeom>
        </p:spPr>
      </p:pic>
      <p:pic>
        <p:nvPicPr>
          <p:cNvPr id="14" name="Graphic 13" descr="Processor with solid fill">
            <a:extLst>
              <a:ext uri="{FF2B5EF4-FFF2-40B4-BE49-F238E27FC236}">
                <a16:creationId xmlns:a16="http://schemas.microsoft.com/office/drawing/2014/main" id="{E633251F-8A25-D78E-A407-DE668475018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82717" y="4841168"/>
            <a:ext cx="765210" cy="765210"/>
          </a:xfrm>
          <a:prstGeom prst="rect">
            <a:avLst/>
          </a:prstGeom>
        </p:spPr>
      </p:pic>
      <p:sp>
        <p:nvSpPr>
          <p:cNvPr id="15" name="Title 1">
            <a:extLst>
              <a:ext uri="{FF2B5EF4-FFF2-40B4-BE49-F238E27FC236}">
                <a16:creationId xmlns:a16="http://schemas.microsoft.com/office/drawing/2014/main" id="{31A0B295-19ED-2540-EAC5-845E81B1107C}"/>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pic>
        <p:nvPicPr>
          <p:cNvPr id="3" name="Graphic 2" descr="Factory with solid fill">
            <a:extLst>
              <a:ext uri="{FF2B5EF4-FFF2-40B4-BE49-F238E27FC236}">
                <a16:creationId xmlns:a16="http://schemas.microsoft.com/office/drawing/2014/main" id="{A2AA99C4-AE5A-297C-D129-AC8B8469056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057543" y="4807315"/>
            <a:ext cx="832915" cy="832915"/>
          </a:xfrm>
          <a:prstGeom prst="rect">
            <a:avLst/>
          </a:prstGeom>
        </p:spPr>
      </p:pic>
      <p:sp>
        <p:nvSpPr>
          <p:cNvPr id="9" name="Content Placeholder 2">
            <a:extLst>
              <a:ext uri="{FF2B5EF4-FFF2-40B4-BE49-F238E27FC236}">
                <a16:creationId xmlns:a16="http://schemas.microsoft.com/office/drawing/2014/main" id="{2D6BB3E4-AD03-2C3C-A829-AD53C6B26D0D}"/>
              </a:ext>
            </a:extLst>
          </p:cNvPr>
          <p:cNvSpPr txBox="1">
            <a:spLocks/>
          </p:cNvSpPr>
          <p:nvPr/>
        </p:nvSpPr>
        <p:spPr>
          <a:xfrm>
            <a:off x="1938425" y="2611883"/>
            <a:ext cx="8315149" cy="3410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70000"/>
              </a:lnSpc>
              <a:buNone/>
            </a:pPr>
            <a:r>
              <a:rPr lang="en-US" dirty="0" err="1">
                <a:solidFill>
                  <a:schemeClr val="accent1"/>
                </a:solidFill>
                <a:latin typeface="Consolas" panose="020B0609020204030204" pitchFamily="49" charset="0"/>
                <a:cs typeface="Consolas" panose="020B0609020204030204" pitchFamily="49" charset="0"/>
              </a:rPr>
              <a:t>WoT</a:t>
            </a:r>
            <a:r>
              <a:rPr lang="en-US" dirty="0">
                <a:solidFill>
                  <a:schemeClr val="accent1"/>
                </a:solidFill>
                <a:latin typeface="Consolas" panose="020B0609020204030204" pitchFamily="49" charset="0"/>
                <a:cs typeface="Consolas" panose="020B0609020204030204" pitchFamily="49" charset="0"/>
              </a:rPr>
              <a:t> allows </a:t>
            </a:r>
            <a:r>
              <a:rPr lang="en-US" dirty="0">
                <a:solidFill>
                  <a:schemeClr val="accent5"/>
                </a:solidFill>
                <a:latin typeface="Consolas" panose="020B0609020204030204" pitchFamily="49" charset="0"/>
                <a:cs typeface="Consolas" panose="020B0609020204030204" pitchFamily="49" charset="0"/>
              </a:rPr>
              <a:t>seamless integration </a:t>
            </a:r>
            <a:r>
              <a:rPr lang="en-US" dirty="0">
                <a:solidFill>
                  <a:schemeClr val="accent1"/>
                </a:solidFill>
                <a:latin typeface="Consolas" panose="020B0609020204030204" pitchFamily="49" charset="0"/>
                <a:cs typeface="Consolas" panose="020B0609020204030204" pitchFamily="49" charset="0"/>
              </a:rPr>
              <a:t>of legacy industrial equipment into modern systems.</a:t>
            </a:r>
          </a:p>
        </p:txBody>
      </p:sp>
    </p:spTree>
    <p:extLst>
      <p:ext uri="{BB962C8B-B14F-4D97-AF65-F5344CB8AC3E}">
        <p14:creationId xmlns:p14="http://schemas.microsoft.com/office/powerpoint/2010/main" val="38236214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5800">
        <p159:morph option="byObject"/>
      </p:transition>
    </mc:Choice>
    <mc:Fallback xmlns="">
      <p:transition spd="slow" advTm="5800">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04F66-E163-69A2-9E54-E2475CFB3130}"/>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4676DBC2-5148-B0C4-5A0E-60B3EFD4FB2E}"/>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4DBD434F-E1BE-FA2B-595B-BC98EA4D80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DE02D999-70E3-8E6C-16D7-C7DC3D6080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B2D6C131-4A52-5BF5-D08D-C2114BD40D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2A703393-3C7E-01FA-B0E7-AB3E9287D26C}"/>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9796020B-CEF4-3B76-3A7D-307F0F29DEEE}"/>
              </a:ext>
            </a:extLst>
          </p:cNvPr>
          <p:cNvSpPr txBox="1"/>
          <p:nvPr/>
        </p:nvSpPr>
        <p:spPr>
          <a:xfrm>
            <a:off x="9404589" y="5719081"/>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A7F28324-EBC9-0D92-1C62-5C0CB279D00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72570" y="4272543"/>
            <a:ext cx="719126" cy="719126"/>
          </a:xfrm>
          <a:prstGeom prst="rect">
            <a:avLst/>
          </a:prstGeom>
        </p:spPr>
      </p:pic>
      <p:pic>
        <p:nvPicPr>
          <p:cNvPr id="12" name="Graphic 11" descr="Laptop with solid fill">
            <a:extLst>
              <a:ext uri="{FF2B5EF4-FFF2-40B4-BE49-F238E27FC236}">
                <a16:creationId xmlns:a16="http://schemas.microsoft.com/office/drawing/2014/main" id="{19B97532-A176-6F80-C259-98E0FB4DE9AB}"/>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367552" y="4281210"/>
            <a:ext cx="832915" cy="832914"/>
          </a:xfrm>
          <a:prstGeom prst="rect">
            <a:avLst/>
          </a:prstGeom>
        </p:spPr>
      </p:pic>
      <p:pic>
        <p:nvPicPr>
          <p:cNvPr id="14" name="Graphic 13" descr="Processor with solid fill">
            <a:extLst>
              <a:ext uri="{FF2B5EF4-FFF2-40B4-BE49-F238E27FC236}">
                <a16:creationId xmlns:a16="http://schemas.microsoft.com/office/drawing/2014/main" id="{7C56D1F7-03E1-BB73-C810-EDF3A1FD555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9528" y="4980712"/>
            <a:ext cx="765210" cy="765210"/>
          </a:xfrm>
          <a:prstGeom prst="rect">
            <a:avLst/>
          </a:prstGeom>
        </p:spPr>
      </p:pic>
      <p:sp>
        <p:nvSpPr>
          <p:cNvPr id="15" name="Title 1">
            <a:extLst>
              <a:ext uri="{FF2B5EF4-FFF2-40B4-BE49-F238E27FC236}">
                <a16:creationId xmlns:a16="http://schemas.microsoft.com/office/drawing/2014/main" id="{AFA648BE-2BA8-2112-3D09-99DDFC9520B1}"/>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46E62BBE-E0E1-F802-5A58-06CD1844CF72}"/>
              </a:ext>
            </a:extLst>
          </p:cNvPr>
          <p:cNvSpPr txBox="1"/>
          <p:nvPr/>
        </p:nvSpPr>
        <p:spPr>
          <a:xfrm>
            <a:off x="1083789" y="1583661"/>
            <a:ext cx="7576500" cy="1754326"/>
          </a:xfrm>
          <a:prstGeom prst="rect">
            <a:avLst/>
          </a:prstGeom>
          <a:noFill/>
        </p:spPr>
        <p:txBody>
          <a:bodyPr wrap="square" rtlCol="0">
            <a:spAutoFit/>
          </a:bodyPr>
          <a:lstStyle/>
          <a:p>
            <a:r>
              <a:rPr lang="en-US" dirty="0">
                <a:solidFill>
                  <a:schemeClr val="accent1"/>
                </a:solidFill>
              </a:rPr>
              <a:t> </a:t>
            </a:r>
            <a:r>
              <a:rPr lang="en-US" dirty="0">
                <a:solidFill>
                  <a:schemeClr val="accent5"/>
                </a:solidFill>
              </a:rPr>
              <a:t>"base"</a:t>
            </a:r>
            <a:r>
              <a:rPr lang="en-US" dirty="0">
                <a:solidFill>
                  <a:schemeClr val="accent1"/>
                </a:solidFill>
              </a:rPr>
              <a:t>: "</a:t>
            </a:r>
            <a:r>
              <a:rPr lang="en-US" dirty="0" err="1">
                <a:solidFill>
                  <a:schemeClr val="accent1"/>
                </a:solidFill>
              </a:rPr>
              <a:t>modbus+tcp</a:t>
            </a:r>
            <a:r>
              <a:rPr lang="en-US" dirty="0">
                <a:solidFill>
                  <a:schemeClr val="accent1"/>
                </a:solidFill>
              </a:rPr>
              <a:t>://192.0.2.1:502/1/",</a:t>
            </a:r>
          </a:p>
          <a:p>
            <a:r>
              <a:rPr lang="en-US" dirty="0">
                <a:solidFill>
                  <a:schemeClr val="accent1"/>
                </a:solidFill>
              </a:rPr>
              <a:t>  </a:t>
            </a:r>
            <a:r>
              <a:rPr lang="en-US" dirty="0">
                <a:solidFill>
                  <a:schemeClr val="accent5"/>
                </a:solidFill>
              </a:rPr>
              <a:t>"properties"</a:t>
            </a:r>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waterLevel</a:t>
            </a:r>
            <a:r>
              <a:rPr lang="en-US" dirty="0">
                <a:solidFill>
                  <a:schemeClr val="accent5"/>
                </a:solidFill>
              </a:rPr>
              <a:t>"</a:t>
            </a:r>
            <a:r>
              <a:rPr lang="en-US" dirty="0">
                <a:solidFill>
                  <a:schemeClr val="accent1"/>
                </a:solidFill>
              </a:rPr>
              <a:t>: {</a:t>
            </a:r>
          </a:p>
          <a:p>
            <a:r>
              <a:rPr lang="en-US" dirty="0">
                <a:solidFill>
                  <a:schemeClr val="accent1"/>
                </a:solidFill>
              </a:rPr>
              <a:t>      </a:t>
            </a:r>
            <a:r>
              <a:rPr lang="en-US" dirty="0">
                <a:solidFill>
                  <a:schemeClr val="accent5"/>
                </a:solidFill>
              </a:rPr>
              <a:t>"title"</a:t>
            </a:r>
            <a:r>
              <a:rPr lang="en-US" dirty="0">
                <a:solidFill>
                  <a:schemeClr val="accent1"/>
                </a:solidFill>
              </a:rPr>
              <a:t>: "Water Level",</a:t>
            </a:r>
          </a:p>
          <a:p>
            <a:r>
              <a:rPr lang="en-US" dirty="0">
                <a:solidFill>
                  <a:schemeClr val="accent1"/>
                </a:solidFill>
              </a:rPr>
              <a:t>      </a:t>
            </a:r>
            <a:r>
              <a:rPr lang="en-US" dirty="0">
                <a:solidFill>
                  <a:schemeClr val="accent5"/>
                </a:solidFill>
              </a:rPr>
              <a:t>"type"</a:t>
            </a:r>
            <a:r>
              <a:rPr lang="en-US" dirty="0">
                <a:solidFill>
                  <a:schemeClr val="accent1"/>
                </a:solidFill>
              </a:rPr>
              <a:t>: "integer",</a:t>
            </a:r>
          </a:p>
          <a:p>
            <a:r>
              <a:rPr lang="en-US" dirty="0">
                <a:solidFill>
                  <a:schemeClr val="accent1"/>
                </a:solidFill>
              </a:rPr>
              <a:t>      </a:t>
            </a:r>
            <a:r>
              <a:rPr lang="en-US" dirty="0">
                <a:solidFill>
                  <a:schemeClr val="accent5"/>
                </a:solidFill>
              </a:rPr>
              <a:t>"description"</a:t>
            </a:r>
            <a:r>
              <a:rPr lang="en-US" dirty="0">
                <a:solidFill>
                  <a:schemeClr val="accent1"/>
                </a:solidFill>
              </a:rPr>
              <a:t>: "Current water level in milliliters",</a:t>
            </a:r>
          </a:p>
        </p:txBody>
      </p:sp>
      <p:pic>
        <p:nvPicPr>
          <p:cNvPr id="3" name="Graphic 2" descr="Factory with solid fill">
            <a:extLst>
              <a:ext uri="{FF2B5EF4-FFF2-40B4-BE49-F238E27FC236}">
                <a16:creationId xmlns:a16="http://schemas.microsoft.com/office/drawing/2014/main" id="{8A8C9452-432D-92D3-ABA3-1E60DE007C7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2333" y="4946859"/>
            <a:ext cx="832915" cy="832915"/>
          </a:xfrm>
          <a:prstGeom prst="rect">
            <a:avLst/>
          </a:prstGeom>
        </p:spPr>
      </p:pic>
      <p:sp>
        <p:nvSpPr>
          <p:cNvPr id="13" name="TextBox 12">
            <a:extLst>
              <a:ext uri="{FF2B5EF4-FFF2-40B4-BE49-F238E27FC236}">
                <a16:creationId xmlns:a16="http://schemas.microsoft.com/office/drawing/2014/main" id="{4A2F8ED3-D0DE-1420-C699-16E6117E2A80}"/>
              </a:ext>
            </a:extLst>
          </p:cNvPr>
          <p:cNvSpPr txBox="1"/>
          <p:nvPr/>
        </p:nvSpPr>
        <p:spPr>
          <a:xfrm>
            <a:off x="1080665" y="3229116"/>
            <a:ext cx="7576500" cy="2308324"/>
          </a:xfrm>
          <a:prstGeom prst="rect">
            <a:avLst/>
          </a:prstGeom>
          <a:noFill/>
        </p:spPr>
        <p:txBody>
          <a:bodyPr wrap="square" rtlCol="0">
            <a:spAutoFit/>
          </a:bodyPr>
          <a:lstStyle/>
          <a:p>
            <a:r>
              <a:rPr lang="en-US" dirty="0">
                <a:solidFill>
                  <a:schemeClr val="accent1"/>
                </a:solidFill>
              </a:rPr>
              <a:t>      </a:t>
            </a:r>
            <a:r>
              <a:rPr lang="en-US" dirty="0">
                <a:solidFill>
                  <a:schemeClr val="accent5"/>
                </a:solidFill>
              </a:rPr>
              <a:t>"forms"</a:t>
            </a:r>
            <a:r>
              <a:rPr lang="en-US" dirty="0">
                <a:solidFill>
                  <a:schemeClr val="accent1"/>
                </a:solidFill>
              </a:rPr>
              <a:t>: [</a:t>
            </a:r>
          </a:p>
          <a:p>
            <a:r>
              <a:rPr lang="en-US" dirty="0">
                <a:solidFill>
                  <a:schemeClr val="accent1"/>
                </a:solidFill>
              </a:rPr>
              <a:t>        {</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readproperty</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"40003",</a:t>
            </a:r>
          </a:p>
          <a:p>
            <a:r>
              <a:rPr lang="en-US" dirty="0">
                <a:solidFill>
                  <a:schemeClr val="accent1"/>
                </a:solidFill>
              </a:rPr>
              <a:t>          </a:t>
            </a:r>
            <a:r>
              <a:rPr lang="en-US" dirty="0">
                <a:solidFill>
                  <a:schemeClr val="accent5"/>
                </a:solidFill>
              </a:rPr>
              <a:t>"</a:t>
            </a:r>
            <a:r>
              <a:rPr lang="en-US" dirty="0" err="1">
                <a:solidFill>
                  <a:schemeClr val="accent5"/>
                </a:solidFill>
              </a:rPr>
              <a:t>modv:function</a:t>
            </a:r>
            <a:r>
              <a:rPr lang="en-US" dirty="0">
                <a:solidFill>
                  <a:schemeClr val="accent5"/>
                </a:solidFill>
              </a:rPr>
              <a:t>"</a:t>
            </a:r>
            <a:r>
              <a:rPr lang="en-US" dirty="0">
                <a:solidFill>
                  <a:schemeClr val="accent1"/>
                </a:solidFill>
              </a:rPr>
              <a:t>: "readHoldingRegisters",</a:t>
            </a:r>
          </a:p>
          <a:p>
            <a:r>
              <a:rPr lang="en-US" dirty="0">
                <a:solidFill>
                  <a:schemeClr val="accent1"/>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"application/octet-stream"</a:t>
            </a:r>
          </a:p>
          <a:p>
            <a:r>
              <a:rPr lang="en-US" dirty="0">
                <a:solidFill>
                  <a:schemeClr val="accent1"/>
                </a:solidFill>
              </a:rPr>
              <a:t>        }</a:t>
            </a:r>
          </a:p>
          <a:p>
            <a:r>
              <a:rPr lang="en-US" dirty="0">
                <a:solidFill>
                  <a:schemeClr val="accent1"/>
                </a:solidFill>
              </a:rPr>
              <a:t>      ]</a:t>
            </a:r>
          </a:p>
        </p:txBody>
      </p:sp>
    </p:spTree>
    <p:extLst>
      <p:ext uri="{BB962C8B-B14F-4D97-AF65-F5344CB8AC3E}">
        <p14:creationId xmlns:p14="http://schemas.microsoft.com/office/powerpoint/2010/main" val="30221476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300">
        <p159:morph option="byObject"/>
      </p:transition>
    </mc:Choice>
    <mc:Fallback xmlns="">
      <p:transition spd="slow" advTm="33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150"/>
                                        <p:tgtEl>
                                          <p:spTgt spid="16">
                                            <p:txEl>
                                              <p:pRg st="0" end="0"/>
                                            </p:txEl>
                                          </p:spTgt>
                                        </p:tgtEl>
                                      </p:cBhvr>
                                    </p:animEffect>
                                  </p:childTnLst>
                                </p:cTn>
                              </p:par>
                            </p:childTnLst>
                          </p:cTn>
                        </p:par>
                        <p:par>
                          <p:cTn id="8" fill="hold">
                            <p:stCondLst>
                              <p:cond delay="150"/>
                            </p:stCondLst>
                            <p:childTnLst>
                              <p:par>
                                <p:cTn id="9" presetID="22" presetClass="entr" presetSubtype="8" fill="hold" grpId="0" nodeType="after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Effect transition="in" filter="wipe(left)">
                                      <p:cBhvr>
                                        <p:cTn id="11" dur="150"/>
                                        <p:tgtEl>
                                          <p:spTgt spid="16">
                                            <p:txEl>
                                              <p:pRg st="1" end="1"/>
                                            </p:txEl>
                                          </p:spTgt>
                                        </p:tgtEl>
                                      </p:cBhvr>
                                    </p:animEffect>
                                  </p:childTnLst>
                                </p:cTn>
                              </p:par>
                            </p:childTnLst>
                          </p:cTn>
                        </p:par>
                        <p:par>
                          <p:cTn id="12" fill="hold">
                            <p:stCondLst>
                              <p:cond delay="300"/>
                            </p:stCondLst>
                            <p:childTnLst>
                              <p:par>
                                <p:cTn id="13" presetID="22" presetClass="entr" presetSubtype="8" fill="hold" grpId="0" nodeType="after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Effect transition="in" filter="wipe(left)">
                                      <p:cBhvr>
                                        <p:cTn id="15" dur="150"/>
                                        <p:tgtEl>
                                          <p:spTgt spid="16">
                                            <p:txEl>
                                              <p:pRg st="2" end="2"/>
                                            </p:txEl>
                                          </p:spTgt>
                                        </p:tgtEl>
                                      </p:cBhvr>
                                    </p:animEffect>
                                  </p:childTnLst>
                                </p:cTn>
                              </p:par>
                            </p:childTnLst>
                          </p:cTn>
                        </p:par>
                        <p:par>
                          <p:cTn id="16" fill="hold">
                            <p:stCondLst>
                              <p:cond delay="450"/>
                            </p:stCondLst>
                            <p:childTnLst>
                              <p:par>
                                <p:cTn id="17" presetID="22" presetClass="entr" presetSubtype="8" fill="hold" grpId="0" nodeType="after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Effect transition="in" filter="wipe(left)">
                                      <p:cBhvr>
                                        <p:cTn id="19" dur="150"/>
                                        <p:tgtEl>
                                          <p:spTgt spid="16">
                                            <p:txEl>
                                              <p:pRg st="3" end="3"/>
                                            </p:txEl>
                                          </p:spTgt>
                                        </p:tgtEl>
                                      </p:cBhvr>
                                    </p:animEffect>
                                  </p:childTnLst>
                                </p:cTn>
                              </p:par>
                            </p:childTnLst>
                          </p:cTn>
                        </p:par>
                        <p:par>
                          <p:cTn id="20" fill="hold">
                            <p:stCondLst>
                              <p:cond delay="600"/>
                            </p:stCondLst>
                            <p:childTnLst>
                              <p:par>
                                <p:cTn id="21" presetID="22" presetClass="entr" presetSubtype="8" fill="hold" grpId="0" nodeType="after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Effect transition="in" filter="wipe(left)">
                                      <p:cBhvr>
                                        <p:cTn id="23" dur="150"/>
                                        <p:tgtEl>
                                          <p:spTgt spid="16">
                                            <p:txEl>
                                              <p:pRg st="4" end="4"/>
                                            </p:txEl>
                                          </p:spTgt>
                                        </p:tgtEl>
                                      </p:cBhvr>
                                    </p:animEffect>
                                  </p:childTnLst>
                                </p:cTn>
                              </p:par>
                            </p:childTnLst>
                          </p:cTn>
                        </p:par>
                        <p:par>
                          <p:cTn id="24" fill="hold">
                            <p:stCondLst>
                              <p:cond delay="750"/>
                            </p:stCondLst>
                            <p:childTnLst>
                              <p:par>
                                <p:cTn id="25" presetID="22" presetClass="entr" presetSubtype="8" fill="hold" grpId="0" nodeType="after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Effect transition="in" filter="wipe(left)">
                                      <p:cBhvr>
                                        <p:cTn id="27" dur="150"/>
                                        <p:tgtEl>
                                          <p:spTgt spid="16">
                                            <p:txEl>
                                              <p:pRg st="5" end="5"/>
                                            </p:txEl>
                                          </p:spTgt>
                                        </p:tgtEl>
                                      </p:cBhvr>
                                    </p:animEffect>
                                  </p:childTnLst>
                                </p:cTn>
                              </p:par>
                            </p:childTnLst>
                          </p:cTn>
                        </p:par>
                        <p:par>
                          <p:cTn id="28" fill="hold">
                            <p:stCondLst>
                              <p:cond delay="900"/>
                            </p:stCondLst>
                            <p:childTnLst>
                              <p:par>
                                <p:cTn id="29" presetID="22" presetClass="entr" presetSubtype="8" fill="hold" grpId="0" nodeType="after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animEffect transition="in" filter="wipe(left)">
                                      <p:cBhvr>
                                        <p:cTn id="31" dur="150"/>
                                        <p:tgtEl>
                                          <p:spTgt spid="13">
                                            <p:txEl>
                                              <p:pRg st="0" end="0"/>
                                            </p:txEl>
                                          </p:spTgt>
                                        </p:tgtEl>
                                      </p:cBhvr>
                                    </p:animEffect>
                                  </p:childTnLst>
                                </p:cTn>
                              </p:par>
                            </p:childTnLst>
                          </p:cTn>
                        </p:par>
                        <p:par>
                          <p:cTn id="32" fill="hold">
                            <p:stCondLst>
                              <p:cond delay="1050"/>
                            </p:stCondLst>
                            <p:childTnLst>
                              <p:par>
                                <p:cTn id="33" presetID="22" presetClass="entr" presetSubtype="8" fill="hold" grpId="0" nodeType="afterEffect">
                                  <p:stCondLst>
                                    <p:cond delay="0"/>
                                  </p:stCondLst>
                                  <p:childTnLst>
                                    <p:set>
                                      <p:cBhvr>
                                        <p:cTn id="34" dur="1" fill="hold">
                                          <p:stCondLst>
                                            <p:cond delay="0"/>
                                          </p:stCondLst>
                                        </p:cTn>
                                        <p:tgtEl>
                                          <p:spTgt spid="13">
                                            <p:txEl>
                                              <p:pRg st="1" end="1"/>
                                            </p:txEl>
                                          </p:spTgt>
                                        </p:tgtEl>
                                        <p:attrNameLst>
                                          <p:attrName>style.visibility</p:attrName>
                                        </p:attrNameLst>
                                      </p:cBhvr>
                                      <p:to>
                                        <p:strVal val="visible"/>
                                      </p:to>
                                    </p:set>
                                    <p:animEffect transition="in" filter="wipe(left)">
                                      <p:cBhvr>
                                        <p:cTn id="35" dur="150"/>
                                        <p:tgtEl>
                                          <p:spTgt spid="13">
                                            <p:txEl>
                                              <p:pRg st="1" end="1"/>
                                            </p:txEl>
                                          </p:spTgt>
                                        </p:tgtEl>
                                      </p:cBhvr>
                                    </p:animEffect>
                                  </p:childTnLst>
                                </p:cTn>
                              </p:par>
                            </p:childTnLst>
                          </p:cTn>
                        </p:par>
                        <p:par>
                          <p:cTn id="36" fill="hold">
                            <p:stCondLst>
                              <p:cond delay="1200"/>
                            </p:stCondLst>
                            <p:childTnLst>
                              <p:par>
                                <p:cTn id="37" presetID="22" presetClass="entr" presetSubtype="8" fill="hold" grpId="0" nodeType="afterEffect">
                                  <p:stCondLst>
                                    <p:cond delay="0"/>
                                  </p:stCondLst>
                                  <p:childTnLst>
                                    <p:set>
                                      <p:cBhvr>
                                        <p:cTn id="38" dur="1" fill="hold">
                                          <p:stCondLst>
                                            <p:cond delay="0"/>
                                          </p:stCondLst>
                                        </p:cTn>
                                        <p:tgtEl>
                                          <p:spTgt spid="13">
                                            <p:txEl>
                                              <p:pRg st="2" end="2"/>
                                            </p:txEl>
                                          </p:spTgt>
                                        </p:tgtEl>
                                        <p:attrNameLst>
                                          <p:attrName>style.visibility</p:attrName>
                                        </p:attrNameLst>
                                      </p:cBhvr>
                                      <p:to>
                                        <p:strVal val="visible"/>
                                      </p:to>
                                    </p:set>
                                    <p:animEffect transition="in" filter="wipe(left)">
                                      <p:cBhvr>
                                        <p:cTn id="39" dur="150"/>
                                        <p:tgtEl>
                                          <p:spTgt spid="13">
                                            <p:txEl>
                                              <p:pRg st="2" end="2"/>
                                            </p:txEl>
                                          </p:spTgt>
                                        </p:tgtEl>
                                      </p:cBhvr>
                                    </p:animEffect>
                                  </p:childTnLst>
                                </p:cTn>
                              </p:par>
                            </p:childTnLst>
                          </p:cTn>
                        </p:par>
                        <p:par>
                          <p:cTn id="40" fill="hold">
                            <p:stCondLst>
                              <p:cond delay="1350"/>
                            </p:stCondLst>
                            <p:childTnLst>
                              <p:par>
                                <p:cTn id="41" presetID="22" presetClass="entr" presetSubtype="8" fill="hold" grpId="0" nodeType="afterEffect">
                                  <p:stCondLst>
                                    <p:cond delay="0"/>
                                  </p:stCondLst>
                                  <p:childTnLst>
                                    <p:set>
                                      <p:cBhvr>
                                        <p:cTn id="42" dur="1" fill="hold">
                                          <p:stCondLst>
                                            <p:cond delay="0"/>
                                          </p:stCondLst>
                                        </p:cTn>
                                        <p:tgtEl>
                                          <p:spTgt spid="13">
                                            <p:txEl>
                                              <p:pRg st="3" end="3"/>
                                            </p:txEl>
                                          </p:spTgt>
                                        </p:tgtEl>
                                        <p:attrNameLst>
                                          <p:attrName>style.visibility</p:attrName>
                                        </p:attrNameLst>
                                      </p:cBhvr>
                                      <p:to>
                                        <p:strVal val="visible"/>
                                      </p:to>
                                    </p:set>
                                    <p:animEffect transition="in" filter="wipe(left)">
                                      <p:cBhvr>
                                        <p:cTn id="43" dur="150"/>
                                        <p:tgtEl>
                                          <p:spTgt spid="13">
                                            <p:txEl>
                                              <p:pRg st="3" end="3"/>
                                            </p:txEl>
                                          </p:spTgt>
                                        </p:tgtEl>
                                      </p:cBhvr>
                                    </p:animEffect>
                                  </p:childTnLst>
                                </p:cTn>
                              </p:par>
                            </p:childTnLst>
                          </p:cTn>
                        </p:par>
                        <p:par>
                          <p:cTn id="44" fill="hold">
                            <p:stCondLst>
                              <p:cond delay="1500"/>
                            </p:stCondLst>
                            <p:childTnLst>
                              <p:par>
                                <p:cTn id="45" presetID="22" presetClass="entr" presetSubtype="8" fill="hold" grpId="0" nodeType="afterEffect">
                                  <p:stCondLst>
                                    <p:cond delay="0"/>
                                  </p:stCondLst>
                                  <p:childTnLst>
                                    <p:set>
                                      <p:cBhvr>
                                        <p:cTn id="46" dur="1" fill="hold">
                                          <p:stCondLst>
                                            <p:cond delay="0"/>
                                          </p:stCondLst>
                                        </p:cTn>
                                        <p:tgtEl>
                                          <p:spTgt spid="13">
                                            <p:txEl>
                                              <p:pRg st="4" end="4"/>
                                            </p:txEl>
                                          </p:spTgt>
                                        </p:tgtEl>
                                        <p:attrNameLst>
                                          <p:attrName>style.visibility</p:attrName>
                                        </p:attrNameLst>
                                      </p:cBhvr>
                                      <p:to>
                                        <p:strVal val="visible"/>
                                      </p:to>
                                    </p:set>
                                    <p:animEffect transition="in" filter="wipe(left)">
                                      <p:cBhvr>
                                        <p:cTn id="47" dur="150"/>
                                        <p:tgtEl>
                                          <p:spTgt spid="13">
                                            <p:txEl>
                                              <p:pRg st="4" end="4"/>
                                            </p:txEl>
                                          </p:spTgt>
                                        </p:tgtEl>
                                      </p:cBhvr>
                                    </p:animEffect>
                                  </p:childTnLst>
                                </p:cTn>
                              </p:par>
                            </p:childTnLst>
                          </p:cTn>
                        </p:par>
                        <p:par>
                          <p:cTn id="48" fill="hold">
                            <p:stCondLst>
                              <p:cond delay="1650"/>
                            </p:stCondLst>
                            <p:childTnLst>
                              <p:par>
                                <p:cTn id="49" presetID="22" presetClass="entr" presetSubtype="8" fill="hold" grpId="0" nodeType="afterEffect">
                                  <p:stCondLst>
                                    <p:cond delay="0"/>
                                  </p:stCondLst>
                                  <p:childTnLst>
                                    <p:set>
                                      <p:cBhvr>
                                        <p:cTn id="50" dur="1" fill="hold">
                                          <p:stCondLst>
                                            <p:cond delay="0"/>
                                          </p:stCondLst>
                                        </p:cTn>
                                        <p:tgtEl>
                                          <p:spTgt spid="13">
                                            <p:txEl>
                                              <p:pRg st="5" end="5"/>
                                            </p:txEl>
                                          </p:spTgt>
                                        </p:tgtEl>
                                        <p:attrNameLst>
                                          <p:attrName>style.visibility</p:attrName>
                                        </p:attrNameLst>
                                      </p:cBhvr>
                                      <p:to>
                                        <p:strVal val="visible"/>
                                      </p:to>
                                    </p:set>
                                    <p:animEffect transition="in" filter="wipe(left)">
                                      <p:cBhvr>
                                        <p:cTn id="51" dur="150"/>
                                        <p:tgtEl>
                                          <p:spTgt spid="13">
                                            <p:txEl>
                                              <p:pRg st="5" end="5"/>
                                            </p:txEl>
                                          </p:spTgt>
                                        </p:tgtEl>
                                      </p:cBhvr>
                                    </p:animEffect>
                                  </p:childTnLst>
                                </p:cTn>
                              </p:par>
                            </p:childTnLst>
                          </p:cTn>
                        </p:par>
                        <p:par>
                          <p:cTn id="52" fill="hold">
                            <p:stCondLst>
                              <p:cond delay="1800"/>
                            </p:stCondLst>
                            <p:childTnLst>
                              <p:par>
                                <p:cTn id="53" presetID="22" presetClass="entr" presetSubtype="8" fill="hold" grpId="0" nodeType="afterEffect">
                                  <p:stCondLst>
                                    <p:cond delay="0"/>
                                  </p:stCondLst>
                                  <p:childTnLst>
                                    <p:set>
                                      <p:cBhvr>
                                        <p:cTn id="54" dur="1" fill="hold">
                                          <p:stCondLst>
                                            <p:cond delay="0"/>
                                          </p:stCondLst>
                                        </p:cTn>
                                        <p:tgtEl>
                                          <p:spTgt spid="13">
                                            <p:txEl>
                                              <p:pRg st="6" end="6"/>
                                            </p:txEl>
                                          </p:spTgt>
                                        </p:tgtEl>
                                        <p:attrNameLst>
                                          <p:attrName>style.visibility</p:attrName>
                                        </p:attrNameLst>
                                      </p:cBhvr>
                                      <p:to>
                                        <p:strVal val="visible"/>
                                      </p:to>
                                    </p:set>
                                    <p:animEffect transition="in" filter="wipe(left)">
                                      <p:cBhvr>
                                        <p:cTn id="55" dur="150"/>
                                        <p:tgtEl>
                                          <p:spTgt spid="13">
                                            <p:txEl>
                                              <p:pRg st="6" end="6"/>
                                            </p:txEl>
                                          </p:spTgt>
                                        </p:tgtEl>
                                      </p:cBhvr>
                                    </p:animEffect>
                                  </p:childTnLst>
                                </p:cTn>
                              </p:par>
                            </p:childTnLst>
                          </p:cTn>
                        </p:par>
                        <p:par>
                          <p:cTn id="56" fill="hold">
                            <p:stCondLst>
                              <p:cond delay="1950"/>
                            </p:stCondLst>
                            <p:childTnLst>
                              <p:par>
                                <p:cTn id="57" presetID="22" presetClass="entr" presetSubtype="8" fill="hold" grpId="0" nodeType="afterEffect">
                                  <p:stCondLst>
                                    <p:cond delay="0"/>
                                  </p:stCondLst>
                                  <p:childTnLst>
                                    <p:set>
                                      <p:cBhvr>
                                        <p:cTn id="58" dur="1" fill="hold">
                                          <p:stCondLst>
                                            <p:cond delay="0"/>
                                          </p:stCondLst>
                                        </p:cTn>
                                        <p:tgtEl>
                                          <p:spTgt spid="13">
                                            <p:txEl>
                                              <p:pRg st="7" end="7"/>
                                            </p:txEl>
                                          </p:spTgt>
                                        </p:tgtEl>
                                        <p:attrNameLst>
                                          <p:attrName>style.visibility</p:attrName>
                                        </p:attrNameLst>
                                      </p:cBhvr>
                                      <p:to>
                                        <p:strVal val="visible"/>
                                      </p:to>
                                    </p:set>
                                    <p:animEffect transition="in" filter="wipe(left)">
                                      <p:cBhvr>
                                        <p:cTn id="59" dur="150"/>
                                        <p:tgtEl>
                                          <p:spTgt spid="1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1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EF38D-8078-81C3-F12D-60A6F5A62F85}"/>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010378CF-7C2B-2725-280D-68FC116307E1}"/>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32B224D8-1F7E-E9B5-C71B-3C45453E55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66AAEBF2-7E80-D161-B811-DD541CB5C0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A02DB13A-9A40-36FA-F8E4-00557C2FCE1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125C3839-02DD-399A-5D6B-CDF295551120}"/>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8F738B84-FDFA-1790-4440-FBF57155BBC7}"/>
              </a:ext>
            </a:extLst>
          </p:cNvPr>
          <p:cNvSpPr txBox="1"/>
          <p:nvPr/>
        </p:nvSpPr>
        <p:spPr>
          <a:xfrm>
            <a:off x="9404589" y="5719081"/>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7A36B00F-2718-4346-1228-92203B744E57}"/>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72570" y="4272543"/>
            <a:ext cx="719126" cy="719126"/>
          </a:xfrm>
          <a:prstGeom prst="rect">
            <a:avLst/>
          </a:prstGeom>
        </p:spPr>
      </p:pic>
      <p:pic>
        <p:nvPicPr>
          <p:cNvPr id="12" name="Graphic 11" descr="Laptop with solid fill">
            <a:extLst>
              <a:ext uri="{FF2B5EF4-FFF2-40B4-BE49-F238E27FC236}">
                <a16:creationId xmlns:a16="http://schemas.microsoft.com/office/drawing/2014/main" id="{1BF9FD67-9F02-399E-37ED-F50D1EFA7EDC}"/>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367552" y="4281210"/>
            <a:ext cx="832915" cy="832914"/>
          </a:xfrm>
          <a:prstGeom prst="rect">
            <a:avLst/>
          </a:prstGeom>
        </p:spPr>
      </p:pic>
      <p:pic>
        <p:nvPicPr>
          <p:cNvPr id="14" name="Graphic 13" descr="Processor with solid fill">
            <a:extLst>
              <a:ext uri="{FF2B5EF4-FFF2-40B4-BE49-F238E27FC236}">
                <a16:creationId xmlns:a16="http://schemas.microsoft.com/office/drawing/2014/main" id="{BE675E24-76F3-D0C0-D2C1-36E44CF9DC2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9528" y="4980712"/>
            <a:ext cx="765210" cy="765210"/>
          </a:xfrm>
          <a:prstGeom prst="rect">
            <a:avLst/>
          </a:prstGeom>
        </p:spPr>
      </p:pic>
      <p:sp>
        <p:nvSpPr>
          <p:cNvPr id="15" name="Title 1">
            <a:extLst>
              <a:ext uri="{FF2B5EF4-FFF2-40B4-BE49-F238E27FC236}">
                <a16:creationId xmlns:a16="http://schemas.microsoft.com/office/drawing/2014/main" id="{834649A1-3198-9B28-F169-42BC95E9F96C}"/>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15603618-5BDE-7552-86F1-C287D04E6858}"/>
              </a:ext>
            </a:extLst>
          </p:cNvPr>
          <p:cNvSpPr txBox="1"/>
          <p:nvPr/>
        </p:nvSpPr>
        <p:spPr>
          <a:xfrm>
            <a:off x="1083789" y="1583661"/>
            <a:ext cx="7576500" cy="1754326"/>
          </a:xfrm>
          <a:prstGeom prst="rect">
            <a:avLst/>
          </a:prstGeom>
          <a:noFill/>
        </p:spPr>
        <p:txBody>
          <a:bodyPr wrap="square" rtlCol="0">
            <a:spAutoFit/>
          </a:bodyPr>
          <a:lstStyle/>
          <a:p>
            <a:r>
              <a:rPr lang="en-US" dirty="0">
                <a:solidFill>
                  <a:schemeClr val="accent3">
                    <a:lumMod val="65000"/>
                  </a:schemeClr>
                </a:solidFill>
              </a:rPr>
              <a:t> "base": "</a:t>
            </a:r>
            <a:r>
              <a:rPr lang="en-US" dirty="0" err="1">
                <a:solidFill>
                  <a:schemeClr val="accent3">
                    <a:lumMod val="65000"/>
                  </a:schemeClr>
                </a:solidFill>
              </a:rPr>
              <a:t>modbus+tcp</a:t>
            </a:r>
            <a:r>
              <a:rPr lang="en-US" dirty="0">
                <a:solidFill>
                  <a:schemeClr val="accent3">
                    <a:lumMod val="65000"/>
                  </a:schemeClr>
                </a:solidFill>
              </a:rPr>
              <a:t>://192.0.2.1:502/1/",</a:t>
            </a:r>
          </a:p>
          <a:p>
            <a:r>
              <a:rPr lang="en-US" dirty="0">
                <a:solidFill>
                  <a:schemeClr val="accent3">
                    <a:lumMod val="65000"/>
                  </a:schemeClr>
                </a:solidFill>
              </a:rPr>
              <a:t>  "properties": {</a:t>
            </a:r>
          </a:p>
          <a:p>
            <a:r>
              <a:rPr lang="en-US" dirty="0">
                <a:solidFill>
                  <a:schemeClr val="accent3">
                    <a:lumMod val="65000"/>
                  </a:schemeClr>
                </a:solidFill>
              </a:rPr>
              <a:t>    "</a:t>
            </a:r>
            <a:r>
              <a:rPr lang="en-US" dirty="0" err="1">
                <a:solidFill>
                  <a:schemeClr val="accent3">
                    <a:lumMod val="65000"/>
                  </a:schemeClr>
                </a:solidFill>
              </a:rPr>
              <a:t>waterLevel</a:t>
            </a:r>
            <a:r>
              <a:rPr lang="en-US" dirty="0">
                <a:solidFill>
                  <a:schemeClr val="accent3">
                    <a:lumMod val="65000"/>
                  </a:schemeClr>
                </a:solidFill>
              </a:rPr>
              <a:t>": {</a:t>
            </a:r>
          </a:p>
          <a:p>
            <a:r>
              <a:rPr lang="en-US" dirty="0">
                <a:solidFill>
                  <a:schemeClr val="accent3">
                    <a:lumMod val="65000"/>
                  </a:schemeClr>
                </a:solidFill>
              </a:rPr>
              <a:t>      "title": "Water Level",</a:t>
            </a:r>
          </a:p>
          <a:p>
            <a:r>
              <a:rPr lang="en-US" dirty="0">
                <a:solidFill>
                  <a:schemeClr val="accent3">
                    <a:lumMod val="65000"/>
                  </a:schemeClr>
                </a:solidFill>
              </a:rPr>
              <a:t>      "type": "integer",</a:t>
            </a:r>
          </a:p>
          <a:p>
            <a:r>
              <a:rPr lang="en-US" dirty="0">
                <a:solidFill>
                  <a:schemeClr val="accent3">
                    <a:lumMod val="65000"/>
                  </a:schemeClr>
                </a:solidFill>
              </a:rPr>
              <a:t>      "description": "Current water level in milliliters",</a:t>
            </a:r>
          </a:p>
        </p:txBody>
      </p:sp>
      <p:pic>
        <p:nvPicPr>
          <p:cNvPr id="3" name="Graphic 2" descr="Factory with solid fill">
            <a:extLst>
              <a:ext uri="{FF2B5EF4-FFF2-40B4-BE49-F238E27FC236}">
                <a16:creationId xmlns:a16="http://schemas.microsoft.com/office/drawing/2014/main" id="{332888A0-6A69-8659-D6AC-14C204C333A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2333" y="4946859"/>
            <a:ext cx="832915" cy="832915"/>
          </a:xfrm>
          <a:prstGeom prst="rect">
            <a:avLst/>
          </a:prstGeom>
        </p:spPr>
      </p:pic>
      <p:sp>
        <p:nvSpPr>
          <p:cNvPr id="13" name="TextBox 12">
            <a:extLst>
              <a:ext uri="{FF2B5EF4-FFF2-40B4-BE49-F238E27FC236}">
                <a16:creationId xmlns:a16="http://schemas.microsoft.com/office/drawing/2014/main" id="{CFB4DE01-40BF-8A8A-640B-FAAD7F3B552A}"/>
              </a:ext>
            </a:extLst>
          </p:cNvPr>
          <p:cNvSpPr txBox="1"/>
          <p:nvPr/>
        </p:nvSpPr>
        <p:spPr>
          <a:xfrm>
            <a:off x="1080665" y="3229116"/>
            <a:ext cx="7576500" cy="2308324"/>
          </a:xfrm>
          <a:prstGeom prst="rect">
            <a:avLst/>
          </a:prstGeom>
          <a:noFill/>
        </p:spPr>
        <p:txBody>
          <a:bodyPr wrap="square" rtlCol="0">
            <a:spAutoFit/>
          </a:bodyPr>
          <a:lstStyle/>
          <a:p>
            <a:r>
              <a:rPr lang="en-US" dirty="0">
                <a:solidFill>
                  <a:schemeClr val="accent3">
                    <a:lumMod val="65000"/>
                  </a:schemeClr>
                </a:solidFill>
              </a:rPr>
              <a:t>      "forms": [</a:t>
            </a:r>
          </a:p>
          <a:p>
            <a:r>
              <a:rPr lang="en-US" dirty="0">
                <a:solidFill>
                  <a:schemeClr val="accent3">
                    <a:lumMod val="65000"/>
                  </a:schemeClr>
                </a:solidFill>
              </a:rPr>
              <a:t>        {</a:t>
            </a:r>
          </a:p>
          <a:p>
            <a:r>
              <a:rPr lang="en-US" dirty="0">
                <a:solidFill>
                  <a:schemeClr val="accent3">
                    <a:lumMod val="65000"/>
                  </a:schemeClr>
                </a:solidFill>
              </a:rPr>
              <a:t>          "op": "</a:t>
            </a:r>
            <a:r>
              <a:rPr lang="en-US" dirty="0" err="1">
                <a:solidFill>
                  <a:schemeClr val="accent3">
                    <a:lumMod val="65000"/>
                  </a:schemeClr>
                </a:solidFill>
              </a:rPr>
              <a:t>readproperty</a:t>
            </a:r>
            <a:r>
              <a:rPr lang="en-US" dirty="0">
                <a:solidFill>
                  <a:schemeClr val="accent3">
                    <a:lumMod val="65000"/>
                  </a:schemeClr>
                </a:solidFill>
              </a:rPr>
              <a:t>",</a:t>
            </a:r>
          </a:p>
          <a:p>
            <a:r>
              <a:rPr lang="en-US" dirty="0">
                <a:solidFill>
                  <a:schemeClr val="accent3">
                    <a:lumMod val="65000"/>
                  </a:schemeClr>
                </a:solidFill>
              </a:rPr>
              <a:t>          "</a:t>
            </a:r>
            <a:r>
              <a:rPr lang="en-US" dirty="0" err="1">
                <a:solidFill>
                  <a:schemeClr val="accent3">
                    <a:lumMod val="65000"/>
                  </a:schemeClr>
                </a:solidFill>
              </a:rPr>
              <a:t>href</a:t>
            </a:r>
            <a:r>
              <a:rPr lang="en-US" dirty="0">
                <a:solidFill>
                  <a:schemeClr val="accent3">
                    <a:lumMod val="65000"/>
                  </a:schemeClr>
                </a:solidFill>
              </a:rPr>
              <a:t>": "40003",</a:t>
            </a:r>
          </a:p>
          <a:p>
            <a:r>
              <a:rPr lang="en-US" dirty="0">
                <a:solidFill>
                  <a:schemeClr val="accent3">
                    <a:lumMod val="65000"/>
                  </a:schemeClr>
                </a:solidFill>
              </a:rPr>
              <a:t>          "</a:t>
            </a:r>
            <a:r>
              <a:rPr lang="en-US" dirty="0" err="1">
                <a:solidFill>
                  <a:schemeClr val="accent3">
                    <a:lumMod val="65000"/>
                  </a:schemeClr>
                </a:solidFill>
              </a:rPr>
              <a:t>modv:function</a:t>
            </a:r>
            <a:r>
              <a:rPr lang="en-US" dirty="0">
                <a:solidFill>
                  <a:schemeClr val="accent3">
                    <a:lumMod val="65000"/>
                  </a:schemeClr>
                </a:solidFill>
              </a:rPr>
              <a:t>": "readHoldingRegisters",</a:t>
            </a:r>
          </a:p>
          <a:p>
            <a:r>
              <a:rPr lang="en-US" dirty="0">
                <a:solidFill>
                  <a:schemeClr val="accent3">
                    <a:lumMod val="65000"/>
                  </a:schemeClr>
                </a:solidFill>
              </a:rPr>
              <a:t>          "</a:t>
            </a:r>
            <a:r>
              <a:rPr lang="en-US" dirty="0" err="1">
                <a:solidFill>
                  <a:schemeClr val="accent3">
                    <a:lumMod val="65000"/>
                  </a:schemeClr>
                </a:solidFill>
              </a:rPr>
              <a:t>contentType</a:t>
            </a:r>
            <a:r>
              <a:rPr lang="en-US" dirty="0">
                <a:solidFill>
                  <a:schemeClr val="accent3">
                    <a:lumMod val="65000"/>
                  </a:schemeClr>
                </a:solidFill>
              </a:rPr>
              <a:t>": "application/octet-stream"</a:t>
            </a:r>
          </a:p>
          <a:p>
            <a:r>
              <a:rPr lang="en-US" dirty="0">
                <a:solidFill>
                  <a:schemeClr val="accent3">
                    <a:lumMod val="65000"/>
                  </a:schemeClr>
                </a:solidFill>
              </a:rPr>
              <a:t>        }</a:t>
            </a:r>
          </a:p>
          <a:p>
            <a:r>
              <a:rPr lang="en-US" dirty="0">
                <a:solidFill>
                  <a:schemeClr val="accent3">
                    <a:lumMod val="65000"/>
                  </a:schemeClr>
                </a:solidFill>
              </a:rPr>
              <a:t>      ]</a:t>
            </a:r>
          </a:p>
        </p:txBody>
      </p:sp>
    </p:spTree>
    <p:extLst>
      <p:ext uri="{BB962C8B-B14F-4D97-AF65-F5344CB8AC3E}">
        <p14:creationId xmlns:p14="http://schemas.microsoft.com/office/powerpoint/2010/main" val="36591053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CFE7D-7E8C-ECAE-EE40-234A48F12C50}"/>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EE63830-3F57-781A-21C6-5F2C1669BD5C}"/>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86EAB9E1-EB2D-0091-D372-A891EA33E7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2C28DA65-840A-9ECB-4E3B-A8923A1576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5F60BCDC-2533-F168-2E03-D7418691FBD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178063A3-FA34-5D9B-8B81-F78667F7CAD5}"/>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7047B16C-62C4-4815-BC80-37BFB3DCC55D}"/>
              </a:ext>
            </a:extLst>
          </p:cNvPr>
          <p:cNvSpPr txBox="1"/>
          <p:nvPr/>
        </p:nvSpPr>
        <p:spPr>
          <a:xfrm>
            <a:off x="9404589" y="5719081"/>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9E9DA922-AA38-AAFA-E77F-6FBC4F71E9A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72570" y="4272543"/>
            <a:ext cx="719126" cy="719126"/>
          </a:xfrm>
          <a:prstGeom prst="rect">
            <a:avLst/>
          </a:prstGeom>
        </p:spPr>
      </p:pic>
      <p:pic>
        <p:nvPicPr>
          <p:cNvPr id="12" name="Graphic 11" descr="Laptop with solid fill">
            <a:extLst>
              <a:ext uri="{FF2B5EF4-FFF2-40B4-BE49-F238E27FC236}">
                <a16:creationId xmlns:a16="http://schemas.microsoft.com/office/drawing/2014/main" id="{49FCD7A2-51E8-8D58-D90E-DC0C409AE73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367552" y="4281210"/>
            <a:ext cx="832915" cy="832914"/>
          </a:xfrm>
          <a:prstGeom prst="rect">
            <a:avLst/>
          </a:prstGeom>
        </p:spPr>
      </p:pic>
      <p:pic>
        <p:nvPicPr>
          <p:cNvPr id="14" name="Graphic 13" descr="Processor with solid fill">
            <a:extLst>
              <a:ext uri="{FF2B5EF4-FFF2-40B4-BE49-F238E27FC236}">
                <a16:creationId xmlns:a16="http://schemas.microsoft.com/office/drawing/2014/main" id="{CDDDECF2-14C6-AEDA-E222-206135B169E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9528" y="4980712"/>
            <a:ext cx="765210" cy="765210"/>
          </a:xfrm>
          <a:prstGeom prst="rect">
            <a:avLst/>
          </a:prstGeom>
        </p:spPr>
      </p:pic>
      <p:sp>
        <p:nvSpPr>
          <p:cNvPr id="15" name="Title 1">
            <a:extLst>
              <a:ext uri="{FF2B5EF4-FFF2-40B4-BE49-F238E27FC236}">
                <a16:creationId xmlns:a16="http://schemas.microsoft.com/office/drawing/2014/main" id="{2B62D900-347E-3F92-7AA3-9630AFBE3570}"/>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5C385122-0051-E8E0-6E83-94E3AEE79A95}"/>
              </a:ext>
            </a:extLst>
          </p:cNvPr>
          <p:cNvSpPr txBox="1"/>
          <p:nvPr/>
        </p:nvSpPr>
        <p:spPr>
          <a:xfrm>
            <a:off x="1083789" y="1583661"/>
            <a:ext cx="7576500" cy="1754326"/>
          </a:xfrm>
          <a:prstGeom prst="rect">
            <a:avLst/>
          </a:prstGeom>
          <a:noFill/>
        </p:spPr>
        <p:txBody>
          <a:bodyPr wrap="square" rtlCol="0">
            <a:spAutoFit/>
          </a:bodyPr>
          <a:lstStyle/>
          <a:p>
            <a:r>
              <a:rPr lang="en-US" dirty="0">
                <a:solidFill>
                  <a:schemeClr val="accent3">
                    <a:lumMod val="65000"/>
                  </a:schemeClr>
                </a:solidFill>
              </a:rPr>
              <a:t> </a:t>
            </a:r>
            <a:r>
              <a:rPr lang="en-US" dirty="0">
                <a:solidFill>
                  <a:schemeClr val="accent5"/>
                </a:solidFill>
              </a:rPr>
              <a:t>"base"</a:t>
            </a:r>
            <a:r>
              <a:rPr lang="en-US" dirty="0">
                <a:solidFill>
                  <a:schemeClr val="accent1"/>
                </a:solidFill>
              </a:rPr>
              <a:t>: "</a:t>
            </a:r>
            <a:r>
              <a:rPr lang="en-US" dirty="0" err="1">
                <a:solidFill>
                  <a:schemeClr val="accent1"/>
                </a:solidFill>
              </a:rPr>
              <a:t>modbus+tcp</a:t>
            </a:r>
            <a:r>
              <a:rPr lang="en-US" dirty="0">
                <a:solidFill>
                  <a:schemeClr val="accent1"/>
                </a:solidFill>
              </a:rPr>
              <a:t>://192.0.2.1:502/1/"</a:t>
            </a:r>
            <a:r>
              <a:rPr lang="en-US" dirty="0">
                <a:solidFill>
                  <a:schemeClr val="accent3">
                    <a:lumMod val="75000"/>
                  </a:schemeClr>
                </a:solidFill>
              </a:rPr>
              <a:t>,</a:t>
            </a:r>
          </a:p>
          <a:p>
            <a:r>
              <a:rPr lang="en-US" dirty="0">
                <a:solidFill>
                  <a:schemeClr val="accent3">
                    <a:lumMod val="65000"/>
                  </a:schemeClr>
                </a:solidFill>
              </a:rPr>
              <a:t>  "properties": {</a:t>
            </a:r>
          </a:p>
          <a:p>
            <a:r>
              <a:rPr lang="en-US" dirty="0">
                <a:solidFill>
                  <a:schemeClr val="accent3">
                    <a:lumMod val="65000"/>
                  </a:schemeClr>
                </a:solidFill>
              </a:rPr>
              <a:t>    "</a:t>
            </a:r>
            <a:r>
              <a:rPr lang="en-US" dirty="0" err="1">
                <a:solidFill>
                  <a:schemeClr val="accent3">
                    <a:lumMod val="65000"/>
                  </a:schemeClr>
                </a:solidFill>
              </a:rPr>
              <a:t>waterLevel</a:t>
            </a:r>
            <a:r>
              <a:rPr lang="en-US" dirty="0">
                <a:solidFill>
                  <a:schemeClr val="accent3">
                    <a:lumMod val="65000"/>
                  </a:schemeClr>
                </a:solidFill>
              </a:rPr>
              <a:t>": {</a:t>
            </a:r>
          </a:p>
          <a:p>
            <a:r>
              <a:rPr lang="en-US" dirty="0">
                <a:solidFill>
                  <a:schemeClr val="accent3">
                    <a:lumMod val="65000"/>
                  </a:schemeClr>
                </a:solidFill>
              </a:rPr>
              <a:t>      "title": "Water Level",</a:t>
            </a:r>
          </a:p>
          <a:p>
            <a:r>
              <a:rPr lang="en-US" dirty="0">
                <a:solidFill>
                  <a:schemeClr val="accent3">
                    <a:lumMod val="65000"/>
                  </a:schemeClr>
                </a:solidFill>
              </a:rPr>
              <a:t>      "type": "integer",</a:t>
            </a:r>
          </a:p>
          <a:p>
            <a:r>
              <a:rPr lang="en-US" dirty="0">
                <a:solidFill>
                  <a:schemeClr val="accent3">
                    <a:lumMod val="65000"/>
                  </a:schemeClr>
                </a:solidFill>
              </a:rPr>
              <a:t>      "description": "Current water level in milliliters",</a:t>
            </a:r>
          </a:p>
        </p:txBody>
      </p:sp>
      <p:pic>
        <p:nvPicPr>
          <p:cNvPr id="3" name="Graphic 2" descr="Factory with solid fill">
            <a:extLst>
              <a:ext uri="{FF2B5EF4-FFF2-40B4-BE49-F238E27FC236}">
                <a16:creationId xmlns:a16="http://schemas.microsoft.com/office/drawing/2014/main" id="{4B22161C-8E6A-711F-DC68-93F10B49533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2333" y="4946859"/>
            <a:ext cx="832915" cy="832915"/>
          </a:xfrm>
          <a:prstGeom prst="rect">
            <a:avLst/>
          </a:prstGeom>
        </p:spPr>
      </p:pic>
      <p:sp>
        <p:nvSpPr>
          <p:cNvPr id="13" name="TextBox 12">
            <a:extLst>
              <a:ext uri="{FF2B5EF4-FFF2-40B4-BE49-F238E27FC236}">
                <a16:creationId xmlns:a16="http://schemas.microsoft.com/office/drawing/2014/main" id="{2185288A-8EEC-0A5E-34CE-FE2CC9C2D640}"/>
              </a:ext>
            </a:extLst>
          </p:cNvPr>
          <p:cNvSpPr txBox="1"/>
          <p:nvPr/>
        </p:nvSpPr>
        <p:spPr>
          <a:xfrm>
            <a:off x="1080665" y="3229116"/>
            <a:ext cx="7576500" cy="2308324"/>
          </a:xfrm>
          <a:prstGeom prst="rect">
            <a:avLst/>
          </a:prstGeom>
          <a:noFill/>
        </p:spPr>
        <p:txBody>
          <a:bodyPr wrap="square" rtlCol="0">
            <a:spAutoFit/>
          </a:bodyPr>
          <a:lstStyle/>
          <a:p>
            <a:r>
              <a:rPr lang="en-US" dirty="0">
                <a:solidFill>
                  <a:schemeClr val="accent3">
                    <a:lumMod val="65000"/>
                  </a:schemeClr>
                </a:solidFill>
              </a:rPr>
              <a:t>      "forms": [</a:t>
            </a:r>
          </a:p>
          <a:p>
            <a:r>
              <a:rPr lang="en-US" dirty="0">
                <a:solidFill>
                  <a:schemeClr val="accent3">
                    <a:lumMod val="65000"/>
                  </a:schemeClr>
                </a:solidFill>
              </a:rPr>
              <a:t>        {</a:t>
            </a:r>
          </a:p>
          <a:p>
            <a:r>
              <a:rPr lang="en-US" dirty="0">
                <a:solidFill>
                  <a:schemeClr val="accent3">
                    <a:lumMod val="65000"/>
                  </a:schemeClr>
                </a:solidFill>
              </a:rPr>
              <a:t>          "op": "</a:t>
            </a:r>
            <a:r>
              <a:rPr lang="en-US" dirty="0" err="1">
                <a:solidFill>
                  <a:schemeClr val="accent3">
                    <a:lumMod val="65000"/>
                  </a:schemeClr>
                </a:solidFill>
              </a:rPr>
              <a:t>readproperty</a:t>
            </a:r>
            <a:r>
              <a:rPr lang="en-US" dirty="0">
                <a:solidFill>
                  <a:schemeClr val="accent3">
                    <a:lumMod val="65000"/>
                  </a:schemeClr>
                </a:solidFill>
              </a:rPr>
              <a:t>",</a:t>
            </a:r>
          </a:p>
          <a:p>
            <a:r>
              <a:rPr lang="en-US" dirty="0">
                <a:solidFill>
                  <a:schemeClr val="accent3">
                    <a:lumMod val="65000"/>
                  </a:schemeClr>
                </a:solidFill>
              </a:rPr>
              <a:t>          "</a:t>
            </a:r>
            <a:r>
              <a:rPr lang="en-US" dirty="0" err="1">
                <a:solidFill>
                  <a:schemeClr val="accent3">
                    <a:lumMod val="65000"/>
                  </a:schemeClr>
                </a:solidFill>
              </a:rPr>
              <a:t>href</a:t>
            </a:r>
            <a:r>
              <a:rPr lang="en-US" dirty="0">
                <a:solidFill>
                  <a:schemeClr val="accent3">
                    <a:lumMod val="65000"/>
                  </a:schemeClr>
                </a:solidFill>
              </a:rPr>
              <a:t>": "40003",</a:t>
            </a:r>
          </a:p>
          <a:p>
            <a:r>
              <a:rPr lang="en-US" dirty="0">
                <a:solidFill>
                  <a:schemeClr val="accent3">
                    <a:lumMod val="65000"/>
                  </a:schemeClr>
                </a:solidFill>
              </a:rPr>
              <a:t>          "</a:t>
            </a:r>
            <a:r>
              <a:rPr lang="en-US" dirty="0" err="1">
                <a:solidFill>
                  <a:schemeClr val="accent3">
                    <a:lumMod val="65000"/>
                  </a:schemeClr>
                </a:solidFill>
              </a:rPr>
              <a:t>modv:function</a:t>
            </a:r>
            <a:r>
              <a:rPr lang="en-US" dirty="0">
                <a:solidFill>
                  <a:schemeClr val="accent3">
                    <a:lumMod val="65000"/>
                  </a:schemeClr>
                </a:solidFill>
              </a:rPr>
              <a:t>": "readHoldingRegisters",</a:t>
            </a:r>
          </a:p>
          <a:p>
            <a:r>
              <a:rPr lang="en-US" dirty="0">
                <a:solidFill>
                  <a:schemeClr val="accent3">
                    <a:lumMod val="65000"/>
                  </a:schemeClr>
                </a:solidFill>
              </a:rPr>
              <a:t>          "</a:t>
            </a:r>
            <a:r>
              <a:rPr lang="en-US" dirty="0" err="1">
                <a:solidFill>
                  <a:schemeClr val="accent3">
                    <a:lumMod val="65000"/>
                  </a:schemeClr>
                </a:solidFill>
              </a:rPr>
              <a:t>contentType</a:t>
            </a:r>
            <a:r>
              <a:rPr lang="en-US" dirty="0">
                <a:solidFill>
                  <a:schemeClr val="accent3">
                    <a:lumMod val="65000"/>
                  </a:schemeClr>
                </a:solidFill>
              </a:rPr>
              <a:t>": "application/octet-stream"</a:t>
            </a:r>
          </a:p>
          <a:p>
            <a:r>
              <a:rPr lang="en-US" dirty="0">
                <a:solidFill>
                  <a:schemeClr val="accent3">
                    <a:lumMod val="65000"/>
                  </a:schemeClr>
                </a:solidFill>
              </a:rPr>
              <a:t>        }</a:t>
            </a:r>
          </a:p>
          <a:p>
            <a:r>
              <a:rPr lang="en-US" dirty="0">
                <a:solidFill>
                  <a:schemeClr val="accent3">
                    <a:lumMod val="65000"/>
                  </a:schemeClr>
                </a:solidFill>
              </a:rPr>
              <a:t>      ]</a:t>
            </a:r>
          </a:p>
        </p:txBody>
      </p:sp>
    </p:spTree>
    <p:extLst>
      <p:ext uri="{BB962C8B-B14F-4D97-AF65-F5344CB8AC3E}">
        <p14:creationId xmlns:p14="http://schemas.microsoft.com/office/powerpoint/2010/main" val="2799751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5900">
        <p159:morph option="byObject"/>
      </p:transition>
    </mc:Choice>
    <mc:Fallback xmlns="">
      <p:transition spd="slow" advTm="5900">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3CEAC-5F5C-5D82-4283-E2215206CC97}"/>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027A4488-4A4B-9DD3-EB02-780140B64BE4}"/>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E634B5BA-E4F2-1355-1FC8-28AB1C8E10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842E56B8-4AFB-31AC-28D9-5326F5EE10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3146ECAA-0191-2976-A2E5-BE5DAED3143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D4E2181C-BB73-7095-678F-17200AD53C5C}"/>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0E0A39DB-B239-0677-1B94-EC3624550B59}"/>
              </a:ext>
            </a:extLst>
          </p:cNvPr>
          <p:cNvSpPr txBox="1"/>
          <p:nvPr/>
        </p:nvSpPr>
        <p:spPr>
          <a:xfrm>
            <a:off x="9404589" y="5719081"/>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74522359-4957-1915-BE98-65C35AF7631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72570" y="4272543"/>
            <a:ext cx="719126" cy="719126"/>
          </a:xfrm>
          <a:prstGeom prst="rect">
            <a:avLst/>
          </a:prstGeom>
        </p:spPr>
      </p:pic>
      <p:pic>
        <p:nvPicPr>
          <p:cNvPr id="12" name="Graphic 11" descr="Laptop with solid fill">
            <a:extLst>
              <a:ext uri="{FF2B5EF4-FFF2-40B4-BE49-F238E27FC236}">
                <a16:creationId xmlns:a16="http://schemas.microsoft.com/office/drawing/2014/main" id="{666902C7-235A-DC66-BB7C-7B2DA1BF67E6}"/>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367552" y="4281210"/>
            <a:ext cx="832915" cy="832914"/>
          </a:xfrm>
          <a:prstGeom prst="rect">
            <a:avLst/>
          </a:prstGeom>
        </p:spPr>
      </p:pic>
      <p:pic>
        <p:nvPicPr>
          <p:cNvPr id="14" name="Graphic 13" descr="Processor with solid fill">
            <a:extLst>
              <a:ext uri="{FF2B5EF4-FFF2-40B4-BE49-F238E27FC236}">
                <a16:creationId xmlns:a16="http://schemas.microsoft.com/office/drawing/2014/main" id="{2C76E1C2-9402-1A77-C0D9-FD62C0DD5DB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9528" y="4980712"/>
            <a:ext cx="765210" cy="765210"/>
          </a:xfrm>
          <a:prstGeom prst="rect">
            <a:avLst/>
          </a:prstGeom>
        </p:spPr>
      </p:pic>
      <p:sp>
        <p:nvSpPr>
          <p:cNvPr id="15" name="Title 1">
            <a:extLst>
              <a:ext uri="{FF2B5EF4-FFF2-40B4-BE49-F238E27FC236}">
                <a16:creationId xmlns:a16="http://schemas.microsoft.com/office/drawing/2014/main" id="{1005E390-3EA3-BB14-F691-86636B86A554}"/>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A4FFE323-F266-F036-DC1E-49A538EDF4AC}"/>
              </a:ext>
            </a:extLst>
          </p:cNvPr>
          <p:cNvSpPr txBox="1"/>
          <p:nvPr/>
        </p:nvSpPr>
        <p:spPr>
          <a:xfrm>
            <a:off x="1083789" y="1583661"/>
            <a:ext cx="7576500" cy="1754326"/>
          </a:xfrm>
          <a:prstGeom prst="rect">
            <a:avLst/>
          </a:prstGeom>
          <a:noFill/>
        </p:spPr>
        <p:txBody>
          <a:bodyPr wrap="square" rtlCol="0">
            <a:spAutoFit/>
          </a:bodyPr>
          <a:lstStyle/>
          <a:p>
            <a:r>
              <a:rPr lang="en-US" dirty="0">
                <a:solidFill>
                  <a:schemeClr val="accent3">
                    <a:lumMod val="65000"/>
                  </a:schemeClr>
                </a:solidFill>
              </a:rPr>
              <a:t> </a:t>
            </a:r>
            <a:r>
              <a:rPr lang="en-US" dirty="0">
                <a:solidFill>
                  <a:schemeClr val="accent5"/>
                </a:solidFill>
              </a:rPr>
              <a:t>"base"</a:t>
            </a:r>
            <a:r>
              <a:rPr lang="en-US" dirty="0">
                <a:solidFill>
                  <a:schemeClr val="accent1"/>
                </a:solidFill>
              </a:rPr>
              <a:t>: "</a:t>
            </a:r>
            <a:r>
              <a:rPr lang="en-US" dirty="0" err="1">
                <a:solidFill>
                  <a:schemeClr val="accent1"/>
                </a:solidFill>
              </a:rPr>
              <a:t>modbus+tcp</a:t>
            </a:r>
            <a:r>
              <a:rPr lang="en-US" dirty="0">
                <a:solidFill>
                  <a:schemeClr val="accent1"/>
                </a:solidFill>
              </a:rPr>
              <a:t>://192.0.2.1:502/1/"</a:t>
            </a:r>
            <a:r>
              <a:rPr lang="en-US" dirty="0">
                <a:solidFill>
                  <a:schemeClr val="accent3">
                    <a:lumMod val="75000"/>
                  </a:schemeClr>
                </a:solidFill>
              </a:rPr>
              <a:t>,</a:t>
            </a:r>
          </a:p>
          <a:p>
            <a:r>
              <a:rPr lang="en-US" dirty="0">
                <a:solidFill>
                  <a:schemeClr val="accent3">
                    <a:lumMod val="65000"/>
                  </a:schemeClr>
                </a:solidFill>
              </a:rPr>
              <a:t>  "properties": {</a:t>
            </a:r>
          </a:p>
          <a:p>
            <a:r>
              <a:rPr lang="en-US" dirty="0">
                <a:solidFill>
                  <a:schemeClr val="accent3">
                    <a:lumMod val="65000"/>
                  </a:schemeClr>
                </a:solidFill>
              </a:rPr>
              <a:t>    "</a:t>
            </a:r>
            <a:r>
              <a:rPr lang="en-US" dirty="0" err="1">
                <a:solidFill>
                  <a:schemeClr val="accent3">
                    <a:lumMod val="65000"/>
                  </a:schemeClr>
                </a:solidFill>
              </a:rPr>
              <a:t>waterLevel</a:t>
            </a:r>
            <a:r>
              <a:rPr lang="en-US" dirty="0">
                <a:solidFill>
                  <a:schemeClr val="accent3">
                    <a:lumMod val="65000"/>
                  </a:schemeClr>
                </a:solidFill>
              </a:rPr>
              <a:t>": {</a:t>
            </a:r>
          </a:p>
          <a:p>
            <a:r>
              <a:rPr lang="en-US" dirty="0">
                <a:solidFill>
                  <a:schemeClr val="accent3">
                    <a:lumMod val="65000"/>
                  </a:schemeClr>
                </a:solidFill>
              </a:rPr>
              <a:t>      "title": "Water Level",</a:t>
            </a:r>
          </a:p>
          <a:p>
            <a:r>
              <a:rPr lang="en-US" dirty="0">
                <a:solidFill>
                  <a:schemeClr val="accent3">
                    <a:lumMod val="65000"/>
                  </a:schemeClr>
                </a:solidFill>
              </a:rPr>
              <a:t>      "type": "integer",</a:t>
            </a:r>
          </a:p>
          <a:p>
            <a:r>
              <a:rPr lang="en-US" dirty="0">
                <a:solidFill>
                  <a:schemeClr val="accent3">
                    <a:lumMod val="65000"/>
                  </a:schemeClr>
                </a:solidFill>
              </a:rPr>
              <a:t>      "description": "Current water level in milliliters",</a:t>
            </a:r>
          </a:p>
        </p:txBody>
      </p:sp>
      <p:pic>
        <p:nvPicPr>
          <p:cNvPr id="3" name="Graphic 2" descr="Factory with solid fill">
            <a:extLst>
              <a:ext uri="{FF2B5EF4-FFF2-40B4-BE49-F238E27FC236}">
                <a16:creationId xmlns:a16="http://schemas.microsoft.com/office/drawing/2014/main" id="{FD1598E1-8922-2067-573C-CBD8276268C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2333" y="4946859"/>
            <a:ext cx="832915" cy="832915"/>
          </a:xfrm>
          <a:prstGeom prst="rect">
            <a:avLst/>
          </a:prstGeom>
        </p:spPr>
      </p:pic>
      <p:sp>
        <p:nvSpPr>
          <p:cNvPr id="13" name="TextBox 12">
            <a:extLst>
              <a:ext uri="{FF2B5EF4-FFF2-40B4-BE49-F238E27FC236}">
                <a16:creationId xmlns:a16="http://schemas.microsoft.com/office/drawing/2014/main" id="{CDE34D3E-BC37-6545-98CF-408E01E2E20B}"/>
              </a:ext>
            </a:extLst>
          </p:cNvPr>
          <p:cNvSpPr txBox="1"/>
          <p:nvPr/>
        </p:nvSpPr>
        <p:spPr>
          <a:xfrm>
            <a:off x="1080665" y="3229116"/>
            <a:ext cx="7576500" cy="2308324"/>
          </a:xfrm>
          <a:prstGeom prst="rect">
            <a:avLst/>
          </a:prstGeom>
          <a:noFill/>
        </p:spPr>
        <p:txBody>
          <a:bodyPr wrap="square" rtlCol="0">
            <a:spAutoFit/>
          </a:bodyPr>
          <a:lstStyle/>
          <a:p>
            <a:r>
              <a:rPr lang="en-US" dirty="0">
                <a:solidFill>
                  <a:schemeClr val="accent3">
                    <a:lumMod val="65000"/>
                  </a:schemeClr>
                </a:solidFill>
              </a:rPr>
              <a:t>      "forms": [</a:t>
            </a:r>
          </a:p>
          <a:p>
            <a:r>
              <a:rPr lang="en-US" dirty="0">
                <a:solidFill>
                  <a:schemeClr val="accent3">
                    <a:lumMod val="65000"/>
                  </a:schemeClr>
                </a:solidFill>
              </a:rPr>
              <a:t>        {</a:t>
            </a:r>
          </a:p>
          <a:p>
            <a:r>
              <a:rPr lang="en-US" dirty="0">
                <a:solidFill>
                  <a:schemeClr val="accent3">
                    <a:lumMod val="65000"/>
                  </a:schemeClr>
                </a:solidFill>
              </a:rPr>
              <a:t>          "op": "</a:t>
            </a:r>
            <a:r>
              <a:rPr lang="en-US" dirty="0" err="1">
                <a:solidFill>
                  <a:schemeClr val="accent3">
                    <a:lumMod val="65000"/>
                  </a:schemeClr>
                </a:solidFill>
              </a:rPr>
              <a:t>readproperty</a:t>
            </a:r>
            <a:r>
              <a:rPr lang="en-US" dirty="0">
                <a:solidFill>
                  <a:schemeClr val="accent3">
                    <a:lumMod val="65000"/>
                  </a:schemeClr>
                </a:solidFill>
              </a:rPr>
              <a:t>",</a:t>
            </a:r>
          </a:p>
          <a:p>
            <a:r>
              <a:rPr lang="en-US" dirty="0">
                <a:solidFill>
                  <a:schemeClr val="accent3">
                    <a:lumMod val="65000"/>
                  </a:schemeClr>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"40003"</a:t>
            </a:r>
            <a:r>
              <a:rPr lang="en-US" dirty="0">
                <a:solidFill>
                  <a:schemeClr val="accent3">
                    <a:lumMod val="65000"/>
                  </a:schemeClr>
                </a:solidFill>
              </a:rPr>
              <a:t>,</a:t>
            </a:r>
          </a:p>
          <a:p>
            <a:r>
              <a:rPr lang="en-US" dirty="0">
                <a:solidFill>
                  <a:schemeClr val="accent3">
                    <a:lumMod val="65000"/>
                  </a:schemeClr>
                </a:solidFill>
              </a:rPr>
              <a:t>          "</a:t>
            </a:r>
            <a:r>
              <a:rPr lang="en-US" dirty="0" err="1">
                <a:solidFill>
                  <a:schemeClr val="accent3">
                    <a:lumMod val="65000"/>
                  </a:schemeClr>
                </a:solidFill>
              </a:rPr>
              <a:t>modv:function</a:t>
            </a:r>
            <a:r>
              <a:rPr lang="en-US" dirty="0">
                <a:solidFill>
                  <a:schemeClr val="accent3">
                    <a:lumMod val="65000"/>
                  </a:schemeClr>
                </a:solidFill>
              </a:rPr>
              <a:t>": "readHoldingRegisters",</a:t>
            </a:r>
          </a:p>
          <a:p>
            <a:r>
              <a:rPr lang="en-US" dirty="0">
                <a:solidFill>
                  <a:schemeClr val="accent3">
                    <a:lumMod val="65000"/>
                  </a:schemeClr>
                </a:solidFill>
              </a:rPr>
              <a:t>          "</a:t>
            </a:r>
            <a:r>
              <a:rPr lang="en-US" dirty="0" err="1">
                <a:solidFill>
                  <a:schemeClr val="accent3">
                    <a:lumMod val="65000"/>
                  </a:schemeClr>
                </a:solidFill>
              </a:rPr>
              <a:t>contentType</a:t>
            </a:r>
            <a:r>
              <a:rPr lang="en-US" dirty="0">
                <a:solidFill>
                  <a:schemeClr val="accent3">
                    <a:lumMod val="65000"/>
                  </a:schemeClr>
                </a:solidFill>
              </a:rPr>
              <a:t>": "application/octet-stream"</a:t>
            </a:r>
          </a:p>
          <a:p>
            <a:r>
              <a:rPr lang="en-US" dirty="0">
                <a:solidFill>
                  <a:schemeClr val="accent3">
                    <a:lumMod val="65000"/>
                  </a:schemeClr>
                </a:solidFill>
              </a:rPr>
              <a:t>        }</a:t>
            </a:r>
          </a:p>
          <a:p>
            <a:r>
              <a:rPr lang="en-US" dirty="0">
                <a:solidFill>
                  <a:schemeClr val="accent3">
                    <a:lumMod val="65000"/>
                  </a:schemeClr>
                </a:solidFill>
              </a:rPr>
              <a:t>      ]</a:t>
            </a:r>
          </a:p>
        </p:txBody>
      </p:sp>
    </p:spTree>
    <p:extLst>
      <p:ext uri="{BB962C8B-B14F-4D97-AF65-F5344CB8AC3E}">
        <p14:creationId xmlns:p14="http://schemas.microsoft.com/office/powerpoint/2010/main" val="2796919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800">
        <p159:morph option="byObject"/>
      </p:transition>
    </mc:Choice>
    <mc:Fallback xmlns="">
      <p:transition spd="slow" advTm="2800">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96398-71DA-2131-9048-E855A7CA1F1E}"/>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A49DCCC-F2F2-025C-036C-EE90A4ED6391}"/>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FA681848-BA40-6342-2C94-8082D23E8F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686DEAB4-3421-ED75-0ABE-C8C663DB89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3FDB0086-77C4-93CC-A03F-64DA0B7E8B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FF1C77D0-68A8-8DFD-14BF-6C1ECD0767B4}"/>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DE60BF7A-F012-31BA-908F-21EB5EE8F599}"/>
              </a:ext>
            </a:extLst>
          </p:cNvPr>
          <p:cNvSpPr txBox="1"/>
          <p:nvPr/>
        </p:nvSpPr>
        <p:spPr>
          <a:xfrm>
            <a:off x="9404589" y="5719081"/>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7B1899DC-6704-D016-B759-64D54E5DC4EB}"/>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72570" y="4272543"/>
            <a:ext cx="719126" cy="719126"/>
          </a:xfrm>
          <a:prstGeom prst="rect">
            <a:avLst/>
          </a:prstGeom>
        </p:spPr>
      </p:pic>
      <p:pic>
        <p:nvPicPr>
          <p:cNvPr id="12" name="Graphic 11" descr="Laptop with solid fill">
            <a:extLst>
              <a:ext uri="{FF2B5EF4-FFF2-40B4-BE49-F238E27FC236}">
                <a16:creationId xmlns:a16="http://schemas.microsoft.com/office/drawing/2014/main" id="{DF99EF30-336A-F9AB-9D8E-92ECBC71BF8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367552" y="4281210"/>
            <a:ext cx="832915" cy="832914"/>
          </a:xfrm>
          <a:prstGeom prst="rect">
            <a:avLst/>
          </a:prstGeom>
        </p:spPr>
      </p:pic>
      <p:pic>
        <p:nvPicPr>
          <p:cNvPr id="14" name="Graphic 13" descr="Processor with solid fill">
            <a:extLst>
              <a:ext uri="{FF2B5EF4-FFF2-40B4-BE49-F238E27FC236}">
                <a16:creationId xmlns:a16="http://schemas.microsoft.com/office/drawing/2014/main" id="{000F4390-44BB-D64C-9761-C5417A6572D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9528" y="4980712"/>
            <a:ext cx="765210" cy="765210"/>
          </a:xfrm>
          <a:prstGeom prst="rect">
            <a:avLst/>
          </a:prstGeom>
        </p:spPr>
      </p:pic>
      <p:sp>
        <p:nvSpPr>
          <p:cNvPr id="15" name="Title 1">
            <a:extLst>
              <a:ext uri="{FF2B5EF4-FFF2-40B4-BE49-F238E27FC236}">
                <a16:creationId xmlns:a16="http://schemas.microsoft.com/office/drawing/2014/main" id="{9CC62DE9-5635-CD05-3981-E5C4699D43F5}"/>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B8C7BE11-DFCC-B556-1CF1-353BE1070910}"/>
              </a:ext>
            </a:extLst>
          </p:cNvPr>
          <p:cNvSpPr txBox="1"/>
          <p:nvPr/>
        </p:nvSpPr>
        <p:spPr>
          <a:xfrm>
            <a:off x="1083789" y="1583661"/>
            <a:ext cx="7576500" cy="1754326"/>
          </a:xfrm>
          <a:prstGeom prst="rect">
            <a:avLst/>
          </a:prstGeom>
          <a:noFill/>
        </p:spPr>
        <p:txBody>
          <a:bodyPr wrap="square" rtlCol="0">
            <a:spAutoFit/>
          </a:bodyPr>
          <a:lstStyle/>
          <a:p>
            <a:r>
              <a:rPr lang="en-US" dirty="0">
                <a:solidFill>
                  <a:schemeClr val="accent3">
                    <a:lumMod val="65000"/>
                  </a:schemeClr>
                </a:solidFill>
              </a:rPr>
              <a:t> </a:t>
            </a:r>
            <a:r>
              <a:rPr lang="en-US" dirty="0">
                <a:solidFill>
                  <a:schemeClr val="accent5"/>
                </a:solidFill>
              </a:rPr>
              <a:t>"base"</a:t>
            </a:r>
            <a:r>
              <a:rPr lang="en-US" dirty="0">
                <a:solidFill>
                  <a:schemeClr val="accent1"/>
                </a:solidFill>
              </a:rPr>
              <a:t>: "</a:t>
            </a:r>
            <a:r>
              <a:rPr lang="en-US" dirty="0" err="1">
                <a:solidFill>
                  <a:schemeClr val="accent1"/>
                </a:solidFill>
              </a:rPr>
              <a:t>modbus+tcp</a:t>
            </a:r>
            <a:r>
              <a:rPr lang="en-US" dirty="0">
                <a:solidFill>
                  <a:schemeClr val="accent1"/>
                </a:solidFill>
              </a:rPr>
              <a:t>://192.0.2.1:502/1/"</a:t>
            </a:r>
            <a:r>
              <a:rPr lang="en-US" dirty="0">
                <a:solidFill>
                  <a:schemeClr val="accent3">
                    <a:lumMod val="75000"/>
                  </a:schemeClr>
                </a:solidFill>
              </a:rPr>
              <a:t>,</a:t>
            </a:r>
          </a:p>
          <a:p>
            <a:r>
              <a:rPr lang="en-US" dirty="0">
                <a:solidFill>
                  <a:schemeClr val="accent3">
                    <a:lumMod val="65000"/>
                  </a:schemeClr>
                </a:solidFill>
              </a:rPr>
              <a:t>  "properties": {</a:t>
            </a:r>
          </a:p>
          <a:p>
            <a:r>
              <a:rPr lang="en-US" dirty="0">
                <a:solidFill>
                  <a:schemeClr val="accent3">
                    <a:lumMod val="65000"/>
                  </a:schemeClr>
                </a:solidFill>
              </a:rPr>
              <a:t>    "</a:t>
            </a:r>
            <a:r>
              <a:rPr lang="en-US" dirty="0" err="1">
                <a:solidFill>
                  <a:schemeClr val="accent3">
                    <a:lumMod val="65000"/>
                  </a:schemeClr>
                </a:solidFill>
              </a:rPr>
              <a:t>waterLevel</a:t>
            </a:r>
            <a:r>
              <a:rPr lang="en-US" dirty="0">
                <a:solidFill>
                  <a:schemeClr val="accent3">
                    <a:lumMod val="65000"/>
                  </a:schemeClr>
                </a:solidFill>
              </a:rPr>
              <a:t>": {</a:t>
            </a:r>
          </a:p>
          <a:p>
            <a:r>
              <a:rPr lang="en-US" dirty="0">
                <a:solidFill>
                  <a:schemeClr val="accent3">
                    <a:lumMod val="65000"/>
                  </a:schemeClr>
                </a:solidFill>
              </a:rPr>
              <a:t>      "title": "Water Level",</a:t>
            </a:r>
          </a:p>
          <a:p>
            <a:r>
              <a:rPr lang="en-US" dirty="0">
                <a:solidFill>
                  <a:schemeClr val="accent3">
                    <a:lumMod val="65000"/>
                  </a:schemeClr>
                </a:solidFill>
              </a:rPr>
              <a:t>      "type": "integer",</a:t>
            </a:r>
          </a:p>
          <a:p>
            <a:r>
              <a:rPr lang="en-US" dirty="0">
                <a:solidFill>
                  <a:schemeClr val="accent3">
                    <a:lumMod val="65000"/>
                  </a:schemeClr>
                </a:solidFill>
              </a:rPr>
              <a:t>      "description": "Current water level in milliliters",</a:t>
            </a:r>
          </a:p>
        </p:txBody>
      </p:sp>
      <p:pic>
        <p:nvPicPr>
          <p:cNvPr id="3" name="Graphic 2" descr="Factory with solid fill">
            <a:extLst>
              <a:ext uri="{FF2B5EF4-FFF2-40B4-BE49-F238E27FC236}">
                <a16:creationId xmlns:a16="http://schemas.microsoft.com/office/drawing/2014/main" id="{97766A54-6750-3770-D059-A3039461889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2333" y="4946859"/>
            <a:ext cx="832915" cy="832915"/>
          </a:xfrm>
          <a:prstGeom prst="rect">
            <a:avLst/>
          </a:prstGeom>
        </p:spPr>
      </p:pic>
      <p:sp>
        <p:nvSpPr>
          <p:cNvPr id="13" name="TextBox 12">
            <a:extLst>
              <a:ext uri="{FF2B5EF4-FFF2-40B4-BE49-F238E27FC236}">
                <a16:creationId xmlns:a16="http://schemas.microsoft.com/office/drawing/2014/main" id="{3A65C62A-CE6C-6636-FFF7-EEF4014D549E}"/>
              </a:ext>
            </a:extLst>
          </p:cNvPr>
          <p:cNvSpPr txBox="1"/>
          <p:nvPr/>
        </p:nvSpPr>
        <p:spPr>
          <a:xfrm>
            <a:off x="1080665" y="3229116"/>
            <a:ext cx="7576500" cy="2308324"/>
          </a:xfrm>
          <a:prstGeom prst="rect">
            <a:avLst/>
          </a:prstGeom>
          <a:noFill/>
        </p:spPr>
        <p:txBody>
          <a:bodyPr wrap="square" rtlCol="0">
            <a:spAutoFit/>
          </a:bodyPr>
          <a:lstStyle/>
          <a:p>
            <a:r>
              <a:rPr lang="en-US" dirty="0">
                <a:solidFill>
                  <a:schemeClr val="accent3">
                    <a:lumMod val="65000"/>
                  </a:schemeClr>
                </a:solidFill>
              </a:rPr>
              <a:t>      "forms": [</a:t>
            </a:r>
          </a:p>
          <a:p>
            <a:r>
              <a:rPr lang="en-US" dirty="0">
                <a:solidFill>
                  <a:schemeClr val="accent3">
                    <a:lumMod val="65000"/>
                  </a:schemeClr>
                </a:solidFill>
              </a:rPr>
              <a:t>        {</a:t>
            </a:r>
          </a:p>
          <a:p>
            <a:r>
              <a:rPr lang="en-US" dirty="0">
                <a:solidFill>
                  <a:schemeClr val="accent3">
                    <a:lumMod val="65000"/>
                  </a:schemeClr>
                </a:solidFill>
              </a:rPr>
              <a:t>          "op": "</a:t>
            </a:r>
            <a:r>
              <a:rPr lang="en-US" dirty="0" err="1">
                <a:solidFill>
                  <a:schemeClr val="accent3">
                    <a:lumMod val="65000"/>
                  </a:schemeClr>
                </a:solidFill>
              </a:rPr>
              <a:t>readproperty</a:t>
            </a:r>
            <a:r>
              <a:rPr lang="en-US" dirty="0">
                <a:solidFill>
                  <a:schemeClr val="accent3">
                    <a:lumMod val="65000"/>
                  </a:schemeClr>
                </a:solidFill>
              </a:rPr>
              <a:t>",</a:t>
            </a:r>
          </a:p>
          <a:p>
            <a:r>
              <a:rPr lang="en-US" dirty="0">
                <a:solidFill>
                  <a:schemeClr val="accent3">
                    <a:lumMod val="65000"/>
                  </a:schemeClr>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"40003",</a:t>
            </a:r>
          </a:p>
          <a:p>
            <a:r>
              <a:rPr lang="en-US" dirty="0">
                <a:solidFill>
                  <a:schemeClr val="accent5"/>
                </a:solidFill>
              </a:rPr>
              <a:t>          "</a:t>
            </a:r>
            <a:r>
              <a:rPr lang="en-US" dirty="0" err="1">
                <a:solidFill>
                  <a:schemeClr val="accent5"/>
                </a:solidFill>
              </a:rPr>
              <a:t>modv:function</a:t>
            </a:r>
            <a:r>
              <a:rPr lang="en-US" dirty="0">
                <a:solidFill>
                  <a:schemeClr val="accent5"/>
                </a:solidFill>
              </a:rPr>
              <a:t>"</a:t>
            </a:r>
            <a:r>
              <a:rPr lang="en-US" dirty="0">
                <a:solidFill>
                  <a:schemeClr val="accent1"/>
                </a:solidFill>
              </a:rPr>
              <a:t>:</a:t>
            </a:r>
            <a:r>
              <a:rPr lang="en-US" dirty="0">
                <a:solidFill>
                  <a:schemeClr val="accent5"/>
                </a:solidFill>
              </a:rPr>
              <a:t> </a:t>
            </a:r>
            <a:r>
              <a:rPr lang="en-US" dirty="0">
                <a:solidFill>
                  <a:schemeClr val="accent1"/>
                </a:solidFill>
              </a:rPr>
              <a:t>"readHoldingRegisters",</a:t>
            </a:r>
          </a:p>
          <a:p>
            <a:r>
              <a:rPr lang="en-US" dirty="0">
                <a:solidFill>
                  <a:schemeClr val="accent3">
                    <a:lumMod val="65000"/>
                  </a:schemeClr>
                </a:solidFill>
              </a:rPr>
              <a:t>          "</a:t>
            </a:r>
            <a:r>
              <a:rPr lang="en-US" dirty="0" err="1">
                <a:solidFill>
                  <a:schemeClr val="accent3">
                    <a:lumMod val="65000"/>
                  </a:schemeClr>
                </a:solidFill>
              </a:rPr>
              <a:t>contentType</a:t>
            </a:r>
            <a:r>
              <a:rPr lang="en-US" dirty="0">
                <a:solidFill>
                  <a:schemeClr val="accent3">
                    <a:lumMod val="65000"/>
                  </a:schemeClr>
                </a:solidFill>
              </a:rPr>
              <a:t>": "application/octet-stream"</a:t>
            </a:r>
          </a:p>
          <a:p>
            <a:r>
              <a:rPr lang="en-US" dirty="0">
                <a:solidFill>
                  <a:schemeClr val="accent3">
                    <a:lumMod val="65000"/>
                  </a:schemeClr>
                </a:solidFill>
              </a:rPr>
              <a:t>        }</a:t>
            </a:r>
          </a:p>
          <a:p>
            <a:r>
              <a:rPr lang="en-US" dirty="0">
                <a:solidFill>
                  <a:schemeClr val="accent3">
                    <a:lumMod val="65000"/>
                  </a:schemeClr>
                </a:solidFill>
              </a:rPr>
              <a:t>      ]</a:t>
            </a:r>
          </a:p>
        </p:txBody>
      </p:sp>
    </p:spTree>
    <p:extLst>
      <p:ext uri="{BB962C8B-B14F-4D97-AF65-F5344CB8AC3E}">
        <p14:creationId xmlns:p14="http://schemas.microsoft.com/office/powerpoint/2010/main" val="27263402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600">
        <p159:morph option="byObject"/>
      </p:transition>
    </mc:Choice>
    <mc:Fallback xmlns="">
      <p:transition spd="slow" advTm="3600">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F5AC2-9CBD-0AF6-AA64-05C42EC07419}"/>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90BF146E-7BE1-8288-F8EA-42EF04D381CD}"/>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1FC7046B-072A-7389-8A39-DC8BC71A59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1D0C02C4-0591-4EA7-BC79-75D0250FCC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B22081B9-3D25-6223-C4EA-355885520AF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45634EB0-0FBB-8C12-DFFA-1C270DA58796}"/>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222F15AF-AC71-1126-AD82-32CA0715007E}"/>
              </a:ext>
            </a:extLst>
          </p:cNvPr>
          <p:cNvSpPr txBox="1"/>
          <p:nvPr/>
        </p:nvSpPr>
        <p:spPr>
          <a:xfrm>
            <a:off x="9404589" y="5719081"/>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603F03EC-98D1-50A8-7D99-CBA6A623638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72570" y="4272543"/>
            <a:ext cx="719126" cy="719126"/>
          </a:xfrm>
          <a:prstGeom prst="rect">
            <a:avLst/>
          </a:prstGeom>
        </p:spPr>
      </p:pic>
      <p:pic>
        <p:nvPicPr>
          <p:cNvPr id="12" name="Graphic 11" descr="Laptop with solid fill">
            <a:extLst>
              <a:ext uri="{FF2B5EF4-FFF2-40B4-BE49-F238E27FC236}">
                <a16:creationId xmlns:a16="http://schemas.microsoft.com/office/drawing/2014/main" id="{0F367240-C969-E754-D350-3D3AD6C80861}"/>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367552" y="4281210"/>
            <a:ext cx="832915" cy="832914"/>
          </a:xfrm>
          <a:prstGeom prst="rect">
            <a:avLst/>
          </a:prstGeom>
        </p:spPr>
      </p:pic>
      <p:pic>
        <p:nvPicPr>
          <p:cNvPr id="14" name="Graphic 13" descr="Processor with solid fill">
            <a:extLst>
              <a:ext uri="{FF2B5EF4-FFF2-40B4-BE49-F238E27FC236}">
                <a16:creationId xmlns:a16="http://schemas.microsoft.com/office/drawing/2014/main" id="{890468B6-C71F-48AA-5553-5ADE8A90FE8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9528" y="4980712"/>
            <a:ext cx="765210" cy="765210"/>
          </a:xfrm>
          <a:prstGeom prst="rect">
            <a:avLst/>
          </a:prstGeom>
        </p:spPr>
      </p:pic>
      <p:sp>
        <p:nvSpPr>
          <p:cNvPr id="15" name="Title 1">
            <a:extLst>
              <a:ext uri="{FF2B5EF4-FFF2-40B4-BE49-F238E27FC236}">
                <a16:creationId xmlns:a16="http://schemas.microsoft.com/office/drawing/2014/main" id="{911E131C-8C12-78C3-8D2A-6B3A64696651}"/>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79016CAC-45A4-AA28-159B-63ED4A8C76DF}"/>
              </a:ext>
            </a:extLst>
          </p:cNvPr>
          <p:cNvSpPr txBox="1"/>
          <p:nvPr/>
        </p:nvSpPr>
        <p:spPr>
          <a:xfrm>
            <a:off x="1083789" y="1583661"/>
            <a:ext cx="7576500" cy="1754326"/>
          </a:xfrm>
          <a:prstGeom prst="rect">
            <a:avLst/>
          </a:prstGeom>
          <a:noFill/>
        </p:spPr>
        <p:txBody>
          <a:bodyPr wrap="square" rtlCol="0">
            <a:spAutoFit/>
          </a:bodyPr>
          <a:lstStyle/>
          <a:p>
            <a:r>
              <a:rPr lang="en-US" dirty="0">
                <a:solidFill>
                  <a:schemeClr val="accent3">
                    <a:lumMod val="65000"/>
                  </a:schemeClr>
                </a:solidFill>
              </a:rPr>
              <a:t> </a:t>
            </a:r>
            <a:r>
              <a:rPr lang="en-US" dirty="0">
                <a:solidFill>
                  <a:schemeClr val="accent5"/>
                </a:solidFill>
              </a:rPr>
              <a:t>"base"</a:t>
            </a:r>
            <a:r>
              <a:rPr lang="en-US" dirty="0">
                <a:solidFill>
                  <a:schemeClr val="accent1"/>
                </a:solidFill>
              </a:rPr>
              <a:t>: "</a:t>
            </a:r>
            <a:r>
              <a:rPr lang="en-US" dirty="0" err="1">
                <a:solidFill>
                  <a:schemeClr val="accent1"/>
                </a:solidFill>
              </a:rPr>
              <a:t>modbus+tcp</a:t>
            </a:r>
            <a:r>
              <a:rPr lang="en-US" dirty="0">
                <a:solidFill>
                  <a:schemeClr val="accent1"/>
                </a:solidFill>
              </a:rPr>
              <a:t>://192.0.2.1:502/1/"</a:t>
            </a:r>
            <a:r>
              <a:rPr lang="en-US" dirty="0">
                <a:solidFill>
                  <a:schemeClr val="accent3">
                    <a:lumMod val="75000"/>
                  </a:schemeClr>
                </a:solidFill>
              </a:rPr>
              <a:t>,</a:t>
            </a:r>
          </a:p>
          <a:p>
            <a:r>
              <a:rPr lang="en-US" dirty="0">
                <a:solidFill>
                  <a:schemeClr val="accent3">
                    <a:lumMod val="65000"/>
                  </a:schemeClr>
                </a:solidFill>
              </a:rPr>
              <a:t>  "properties": {</a:t>
            </a:r>
          </a:p>
          <a:p>
            <a:r>
              <a:rPr lang="en-US" dirty="0">
                <a:solidFill>
                  <a:schemeClr val="accent3">
                    <a:lumMod val="65000"/>
                  </a:schemeClr>
                </a:solidFill>
              </a:rPr>
              <a:t>    "</a:t>
            </a:r>
            <a:r>
              <a:rPr lang="en-US" dirty="0" err="1">
                <a:solidFill>
                  <a:schemeClr val="accent3">
                    <a:lumMod val="65000"/>
                  </a:schemeClr>
                </a:solidFill>
              </a:rPr>
              <a:t>waterLevel</a:t>
            </a:r>
            <a:r>
              <a:rPr lang="en-US" dirty="0">
                <a:solidFill>
                  <a:schemeClr val="accent3">
                    <a:lumMod val="65000"/>
                  </a:schemeClr>
                </a:solidFill>
              </a:rPr>
              <a:t>": {</a:t>
            </a:r>
          </a:p>
          <a:p>
            <a:r>
              <a:rPr lang="en-US" dirty="0">
                <a:solidFill>
                  <a:schemeClr val="accent3">
                    <a:lumMod val="65000"/>
                  </a:schemeClr>
                </a:solidFill>
              </a:rPr>
              <a:t>      "title": "Water Level",</a:t>
            </a:r>
          </a:p>
          <a:p>
            <a:r>
              <a:rPr lang="en-US" dirty="0">
                <a:solidFill>
                  <a:schemeClr val="accent3">
                    <a:lumMod val="65000"/>
                  </a:schemeClr>
                </a:solidFill>
              </a:rPr>
              <a:t>      "type": "integer",</a:t>
            </a:r>
          </a:p>
          <a:p>
            <a:r>
              <a:rPr lang="en-US" dirty="0">
                <a:solidFill>
                  <a:schemeClr val="accent3">
                    <a:lumMod val="65000"/>
                  </a:schemeClr>
                </a:solidFill>
              </a:rPr>
              <a:t>      "description": "Current water level in milliliters",</a:t>
            </a:r>
          </a:p>
        </p:txBody>
      </p:sp>
      <p:pic>
        <p:nvPicPr>
          <p:cNvPr id="3" name="Graphic 2" descr="Factory with solid fill">
            <a:extLst>
              <a:ext uri="{FF2B5EF4-FFF2-40B4-BE49-F238E27FC236}">
                <a16:creationId xmlns:a16="http://schemas.microsoft.com/office/drawing/2014/main" id="{40312B18-3283-53C9-A0B7-D0B54E38E9D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2333" y="4946859"/>
            <a:ext cx="832915" cy="832915"/>
          </a:xfrm>
          <a:prstGeom prst="rect">
            <a:avLst/>
          </a:prstGeom>
        </p:spPr>
      </p:pic>
      <p:sp>
        <p:nvSpPr>
          <p:cNvPr id="13" name="TextBox 12">
            <a:extLst>
              <a:ext uri="{FF2B5EF4-FFF2-40B4-BE49-F238E27FC236}">
                <a16:creationId xmlns:a16="http://schemas.microsoft.com/office/drawing/2014/main" id="{0F308AA2-3C7C-B11C-A069-9332D82B531B}"/>
              </a:ext>
            </a:extLst>
          </p:cNvPr>
          <p:cNvSpPr txBox="1"/>
          <p:nvPr/>
        </p:nvSpPr>
        <p:spPr>
          <a:xfrm>
            <a:off x="1080665" y="3229116"/>
            <a:ext cx="7576500" cy="2308324"/>
          </a:xfrm>
          <a:prstGeom prst="rect">
            <a:avLst/>
          </a:prstGeom>
          <a:noFill/>
        </p:spPr>
        <p:txBody>
          <a:bodyPr wrap="square" rtlCol="0">
            <a:spAutoFit/>
          </a:bodyPr>
          <a:lstStyle/>
          <a:p>
            <a:r>
              <a:rPr lang="en-US" dirty="0">
                <a:solidFill>
                  <a:schemeClr val="accent3">
                    <a:lumMod val="65000"/>
                  </a:schemeClr>
                </a:solidFill>
              </a:rPr>
              <a:t>      "forms": [</a:t>
            </a:r>
          </a:p>
          <a:p>
            <a:r>
              <a:rPr lang="en-US" dirty="0">
                <a:solidFill>
                  <a:schemeClr val="accent3">
                    <a:lumMod val="65000"/>
                  </a:schemeClr>
                </a:solidFill>
              </a:rPr>
              <a:t>        {</a:t>
            </a:r>
          </a:p>
          <a:p>
            <a:r>
              <a:rPr lang="en-US" dirty="0">
                <a:solidFill>
                  <a:schemeClr val="accent3">
                    <a:lumMod val="65000"/>
                  </a:schemeClr>
                </a:solidFill>
              </a:rPr>
              <a:t>          </a:t>
            </a:r>
            <a:r>
              <a:rPr lang="en-US" dirty="0">
                <a:solidFill>
                  <a:schemeClr val="accent5"/>
                </a:solidFill>
              </a:rPr>
              <a:t>"op": </a:t>
            </a:r>
            <a:r>
              <a:rPr lang="en-US" dirty="0">
                <a:solidFill>
                  <a:schemeClr val="accent1"/>
                </a:solidFill>
              </a:rPr>
              <a:t>"</a:t>
            </a:r>
            <a:r>
              <a:rPr lang="en-US" dirty="0" err="1">
                <a:solidFill>
                  <a:schemeClr val="accent1"/>
                </a:solidFill>
              </a:rPr>
              <a:t>readproperty</a:t>
            </a:r>
            <a:r>
              <a:rPr lang="en-US" dirty="0">
                <a:solidFill>
                  <a:schemeClr val="accent1"/>
                </a:solidFill>
              </a:rPr>
              <a:t>",</a:t>
            </a:r>
          </a:p>
          <a:p>
            <a:r>
              <a:rPr lang="en-US" dirty="0">
                <a:solidFill>
                  <a:schemeClr val="accent3">
                    <a:lumMod val="65000"/>
                  </a:schemeClr>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"40003",</a:t>
            </a:r>
          </a:p>
          <a:p>
            <a:r>
              <a:rPr lang="en-US" dirty="0">
                <a:solidFill>
                  <a:schemeClr val="accent5"/>
                </a:solidFill>
              </a:rPr>
              <a:t>          "</a:t>
            </a:r>
            <a:r>
              <a:rPr lang="en-US" dirty="0" err="1">
                <a:solidFill>
                  <a:schemeClr val="accent5"/>
                </a:solidFill>
              </a:rPr>
              <a:t>modv:function</a:t>
            </a:r>
            <a:r>
              <a:rPr lang="en-US" dirty="0">
                <a:solidFill>
                  <a:schemeClr val="accent5"/>
                </a:solidFill>
              </a:rPr>
              <a:t>"</a:t>
            </a:r>
            <a:r>
              <a:rPr lang="en-US" dirty="0">
                <a:solidFill>
                  <a:schemeClr val="accent1"/>
                </a:solidFill>
              </a:rPr>
              <a:t>:</a:t>
            </a:r>
            <a:r>
              <a:rPr lang="en-US" dirty="0">
                <a:solidFill>
                  <a:schemeClr val="accent5"/>
                </a:solidFill>
              </a:rPr>
              <a:t> </a:t>
            </a:r>
            <a:r>
              <a:rPr lang="en-US" dirty="0">
                <a:solidFill>
                  <a:schemeClr val="accent1"/>
                </a:solidFill>
              </a:rPr>
              <a:t>"readHoldingRegisters",</a:t>
            </a:r>
          </a:p>
          <a:p>
            <a:r>
              <a:rPr lang="en-US" dirty="0">
                <a:solidFill>
                  <a:schemeClr val="accent3">
                    <a:lumMod val="65000"/>
                  </a:schemeClr>
                </a:solidFill>
              </a:rPr>
              <a:t>          "</a:t>
            </a:r>
            <a:r>
              <a:rPr lang="en-US" dirty="0" err="1">
                <a:solidFill>
                  <a:schemeClr val="accent3">
                    <a:lumMod val="65000"/>
                  </a:schemeClr>
                </a:solidFill>
              </a:rPr>
              <a:t>contentType</a:t>
            </a:r>
            <a:r>
              <a:rPr lang="en-US" dirty="0">
                <a:solidFill>
                  <a:schemeClr val="accent3">
                    <a:lumMod val="65000"/>
                  </a:schemeClr>
                </a:solidFill>
              </a:rPr>
              <a:t>": "application/octet-stream"</a:t>
            </a:r>
          </a:p>
          <a:p>
            <a:r>
              <a:rPr lang="en-US" dirty="0">
                <a:solidFill>
                  <a:schemeClr val="accent3">
                    <a:lumMod val="65000"/>
                  </a:schemeClr>
                </a:solidFill>
              </a:rPr>
              <a:t>        }</a:t>
            </a:r>
          </a:p>
          <a:p>
            <a:r>
              <a:rPr lang="en-US" dirty="0">
                <a:solidFill>
                  <a:schemeClr val="accent3">
                    <a:lumMod val="65000"/>
                  </a:schemeClr>
                </a:solidFill>
              </a:rPr>
              <a:t>      ]</a:t>
            </a:r>
          </a:p>
        </p:txBody>
      </p:sp>
    </p:spTree>
    <p:extLst>
      <p:ext uri="{BB962C8B-B14F-4D97-AF65-F5344CB8AC3E}">
        <p14:creationId xmlns:p14="http://schemas.microsoft.com/office/powerpoint/2010/main" val="3113493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2000">
        <p159:morph option="byObject"/>
      </p:transition>
    </mc:Choice>
    <mc:Fallback xmlns="">
      <p:transition spd="slow" advTm="12000">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0D6A9-F90F-8D84-6B4D-B85813D6E06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425C5E57-E11A-1C1B-086F-06144A0AA518}"/>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FE5A4173-0B67-060F-2052-D74B23299E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37750F08-ED09-3EBA-00D3-103FE2B57E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95865AA5-8975-275A-7086-770BF72D567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B37645AE-F690-E816-00D9-C0E897C37E55}"/>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0F0BBBB2-EEDE-0808-EFA6-CA2E1B1699E0}"/>
              </a:ext>
            </a:extLst>
          </p:cNvPr>
          <p:cNvSpPr txBox="1"/>
          <p:nvPr/>
        </p:nvSpPr>
        <p:spPr>
          <a:xfrm>
            <a:off x="9404589" y="5719081"/>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1819F2CA-77A6-B6DC-D296-7DC1DA1ECB8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72570" y="4272543"/>
            <a:ext cx="719126" cy="719126"/>
          </a:xfrm>
          <a:prstGeom prst="rect">
            <a:avLst/>
          </a:prstGeom>
        </p:spPr>
      </p:pic>
      <p:pic>
        <p:nvPicPr>
          <p:cNvPr id="12" name="Graphic 11" descr="Laptop with solid fill">
            <a:extLst>
              <a:ext uri="{FF2B5EF4-FFF2-40B4-BE49-F238E27FC236}">
                <a16:creationId xmlns:a16="http://schemas.microsoft.com/office/drawing/2014/main" id="{41C9A5A0-01EC-AF79-228D-EEA1670CB0E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367552" y="4281210"/>
            <a:ext cx="832915" cy="832914"/>
          </a:xfrm>
          <a:prstGeom prst="rect">
            <a:avLst/>
          </a:prstGeom>
        </p:spPr>
      </p:pic>
      <p:pic>
        <p:nvPicPr>
          <p:cNvPr id="14" name="Graphic 13" descr="Processor with solid fill">
            <a:extLst>
              <a:ext uri="{FF2B5EF4-FFF2-40B4-BE49-F238E27FC236}">
                <a16:creationId xmlns:a16="http://schemas.microsoft.com/office/drawing/2014/main" id="{1912C0DD-C17B-9D3D-EBEB-4E6F957E658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9528" y="4980712"/>
            <a:ext cx="765210" cy="765210"/>
          </a:xfrm>
          <a:prstGeom prst="rect">
            <a:avLst/>
          </a:prstGeom>
        </p:spPr>
      </p:pic>
      <p:sp>
        <p:nvSpPr>
          <p:cNvPr id="15" name="Title 1">
            <a:extLst>
              <a:ext uri="{FF2B5EF4-FFF2-40B4-BE49-F238E27FC236}">
                <a16:creationId xmlns:a16="http://schemas.microsoft.com/office/drawing/2014/main" id="{0A636E37-E20C-7DB9-2880-ACCECAAB9F3B}"/>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88FCE9F3-4AF3-3C78-F126-818C144BBBE1}"/>
              </a:ext>
            </a:extLst>
          </p:cNvPr>
          <p:cNvSpPr txBox="1"/>
          <p:nvPr/>
        </p:nvSpPr>
        <p:spPr>
          <a:xfrm>
            <a:off x="1083789" y="1583661"/>
            <a:ext cx="7576500" cy="1754326"/>
          </a:xfrm>
          <a:prstGeom prst="rect">
            <a:avLst/>
          </a:prstGeom>
          <a:noFill/>
        </p:spPr>
        <p:txBody>
          <a:bodyPr wrap="square" rtlCol="0">
            <a:spAutoFit/>
          </a:bodyPr>
          <a:lstStyle/>
          <a:p>
            <a:r>
              <a:rPr lang="en-US" dirty="0">
                <a:solidFill>
                  <a:schemeClr val="accent3">
                    <a:lumMod val="65000"/>
                  </a:schemeClr>
                </a:solidFill>
              </a:rPr>
              <a:t> </a:t>
            </a:r>
            <a:r>
              <a:rPr lang="en-US" dirty="0">
                <a:solidFill>
                  <a:schemeClr val="accent5"/>
                </a:solidFill>
              </a:rPr>
              <a:t>"base"</a:t>
            </a:r>
            <a:r>
              <a:rPr lang="en-US" dirty="0">
                <a:solidFill>
                  <a:schemeClr val="accent1"/>
                </a:solidFill>
              </a:rPr>
              <a:t>: "</a:t>
            </a:r>
            <a:r>
              <a:rPr lang="en-US" dirty="0" err="1">
                <a:solidFill>
                  <a:schemeClr val="accent1"/>
                </a:solidFill>
              </a:rPr>
              <a:t>modbus+tcp</a:t>
            </a:r>
            <a:r>
              <a:rPr lang="en-US" dirty="0">
                <a:solidFill>
                  <a:schemeClr val="accent1"/>
                </a:solidFill>
              </a:rPr>
              <a:t>://192.0.2.1:502/1/"</a:t>
            </a:r>
            <a:r>
              <a:rPr lang="en-US" dirty="0">
                <a:solidFill>
                  <a:schemeClr val="accent3">
                    <a:lumMod val="75000"/>
                  </a:schemeClr>
                </a:solidFill>
              </a:rPr>
              <a:t>,</a:t>
            </a:r>
          </a:p>
          <a:p>
            <a:r>
              <a:rPr lang="en-US" dirty="0">
                <a:solidFill>
                  <a:schemeClr val="accent3">
                    <a:lumMod val="65000"/>
                  </a:schemeClr>
                </a:solidFill>
              </a:rPr>
              <a:t>  "properties": {</a:t>
            </a:r>
          </a:p>
          <a:p>
            <a:r>
              <a:rPr lang="en-US" dirty="0">
                <a:solidFill>
                  <a:schemeClr val="accent3">
                    <a:lumMod val="65000"/>
                  </a:schemeClr>
                </a:solidFill>
              </a:rPr>
              <a:t>    "</a:t>
            </a:r>
            <a:r>
              <a:rPr lang="en-US" dirty="0" err="1">
                <a:solidFill>
                  <a:schemeClr val="accent3">
                    <a:lumMod val="65000"/>
                  </a:schemeClr>
                </a:solidFill>
              </a:rPr>
              <a:t>waterLevel</a:t>
            </a:r>
            <a:r>
              <a:rPr lang="en-US" dirty="0">
                <a:solidFill>
                  <a:schemeClr val="accent3">
                    <a:lumMod val="65000"/>
                  </a:schemeClr>
                </a:solidFill>
              </a:rPr>
              <a:t>": {</a:t>
            </a:r>
          </a:p>
          <a:p>
            <a:r>
              <a:rPr lang="en-US" dirty="0">
                <a:solidFill>
                  <a:schemeClr val="accent3">
                    <a:lumMod val="65000"/>
                  </a:schemeClr>
                </a:solidFill>
              </a:rPr>
              <a:t>      "title": "Water Level",</a:t>
            </a:r>
          </a:p>
          <a:p>
            <a:r>
              <a:rPr lang="en-US" dirty="0">
                <a:solidFill>
                  <a:schemeClr val="accent3">
                    <a:lumMod val="65000"/>
                  </a:schemeClr>
                </a:solidFill>
              </a:rPr>
              <a:t>      "type": "integer",</a:t>
            </a:r>
          </a:p>
          <a:p>
            <a:r>
              <a:rPr lang="en-US" dirty="0">
                <a:solidFill>
                  <a:schemeClr val="accent3">
                    <a:lumMod val="65000"/>
                  </a:schemeClr>
                </a:solidFill>
              </a:rPr>
              <a:t>      "description": "Current water level in milliliters",</a:t>
            </a:r>
          </a:p>
        </p:txBody>
      </p:sp>
      <p:pic>
        <p:nvPicPr>
          <p:cNvPr id="3" name="Graphic 2" descr="Factory with solid fill">
            <a:extLst>
              <a:ext uri="{FF2B5EF4-FFF2-40B4-BE49-F238E27FC236}">
                <a16:creationId xmlns:a16="http://schemas.microsoft.com/office/drawing/2014/main" id="{3BAE13CA-8A42-93D8-AF55-787ECEFF73C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2333" y="4946859"/>
            <a:ext cx="832915" cy="832915"/>
          </a:xfrm>
          <a:prstGeom prst="rect">
            <a:avLst/>
          </a:prstGeom>
        </p:spPr>
      </p:pic>
      <p:sp>
        <p:nvSpPr>
          <p:cNvPr id="13" name="TextBox 12">
            <a:extLst>
              <a:ext uri="{FF2B5EF4-FFF2-40B4-BE49-F238E27FC236}">
                <a16:creationId xmlns:a16="http://schemas.microsoft.com/office/drawing/2014/main" id="{6DCC9822-72D1-85D6-B7E4-DD8EFA3953F3}"/>
              </a:ext>
            </a:extLst>
          </p:cNvPr>
          <p:cNvSpPr txBox="1"/>
          <p:nvPr/>
        </p:nvSpPr>
        <p:spPr>
          <a:xfrm>
            <a:off x="1080665" y="3229116"/>
            <a:ext cx="7576500" cy="2308324"/>
          </a:xfrm>
          <a:prstGeom prst="rect">
            <a:avLst/>
          </a:prstGeom>
          <a:noFill/>
        </p:spPr>
        <p:txBody>
          <a:bodyPr wrap="square" rtlCol="0">
            <a:spAutoFit/>
          </a:bodyPr>
          <a:lstStyle/>
          <a:p>
            <a:r>
              <a:rPr lang="en-US" dirty="0">
                <a:solidFill>
                  <a:schemeClr val="accent3">
                    <a:lumMod val="65000"/>
                  </a:schemeClr>
                </a:solidFill>
              </a:rPr>
              <a:t>      "forms": [</a:t>
            </a:r>
          </a:p>
          <a:p>
            <a:r>
              <a:rPr lang="en-US" dirty="0">
                <a:solidFill>
                  <a:schemeClr val="accent3">
                    <a:lumMod val="65000"/>
                  </a:schemeClr>
                </a:solidFill>
              </a:rPr>
              <a:t>        {</a:t>
            </a:r>
          </a:p>
          <a:p>
            <a:r>
              <a:rPr lang="en-US" dirty="0">
                <a:solidFill>
                  <a:schemeClr val="accent5"/>
                </a:solidFill>
              </a:rPr>
              <a:t>          "op"</a:t>
            </a:r>
            <a:r>
              <a:rPr lang="en-US" dirty="0">
                <a:solidFill>
                  <a:schemeClr val="accent1"/>
                </a:solidFill>
              </a:rPr>
              <a:t>: "</a:t>
            </a:r>
            <a:r>
              <a:rPr lang="en-US" dirty="0" err="1">
                <a:solidFill>
                  <a:schemeClr val="accent1"/>
                </a:solidFill>
              </a:rPr>
              <a:t>readproperty</a:t>
            </a:r>
            <a:r>
              <a:rPr lang="en-US" dirty="0">
                <a:solidFill>
                  <a:schemeClr val="accent1"/>
                </a:solidFill>
              </a:rPr>
              <a:t>",</a:t>
            </a:r>
          </a:p>
          <a:p>
            <a:r>
              <a:rPr lang="en-US" dirty="0">
                <a:solidFill>
                  <a:schemeClr val="accent3">
                    <a:lumMod val="65000"/>
                  </a:schemeClr>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"40003",</a:t>
            </a:r>
          </a:p>
          <a:p>
            <a:r>
              <a:rPr lang="en-US" dirty="0">
                <a:solidFill>
                  <a:schemeClr val="accent5"/>
                </a:solidFill>
              </a:rPr>
              <a:t>          "</a:t>
            </a:r>
            <a:r>
              <a:rPr lang="en-US" dirty="0" err="1">
                <a:solidFill>
                  <a:schemeClr val="accent5"/>
                </a:solidFill>
              </a:rPr>
              <a:t>modv:function</a:t>
            </a:r>
            <a:r>
              <a:rPr lang="en-US" dirty="0">
                <a:solidFill>
                  <a:schemeClr val="accent5"/>
                </a:solidFill>
              </a:rPr>
              <a:t>"</a:t>
            </a:r>
            <a:r>
              <a:rPr lang="en-US" dirty="0">
                <a:solidFill>
                  <a:schemeClr val="accent1"/>
                </a:solidFill>
              </a:rPr>
              <a:t>:</a:t>
            </a:r>
            <a:r>
              <a:rPr lang="en-US" dirty="0">
                <a:solidFill>
                  <a:schemeClr val="accent5"/>
                </a:solidFill>
              </a:rPr>
              <a:t> </a:t>
            </a:r>
            <a:r>
              <a:rPr lang="en-US" dirty="0">
                <a:solidFill>
                  <a:schemeClr val="accent1"/>
                </a:solidFill>
              </a:rPr>
              <a:t>"readHoldingRegisters",</a:t>
            </a:r>
          </a:p>
          <a:p>
            <a:r>
              <a:rPr lang="en-US" dirty="0">
                <a:solidFill>
                  <a:schemeClr val="accent5"/>
                </a:solidFill>
              </a:rPr>
              <a:t>          "</a:t>
            </a:r>
            <a:r>
              <a:rPr lang="en-US" dirty="0" err="1">
                <a:solidFill>
                  <a:schemeClr val="accent5"/>
                </a:solidFill>
              </a:rPr>
              <a:t>contentType</a:t>
            </a:r>
            <a:r>
              <a:rPr lang="en-US" dirty="0">
                <a:solidFill>
                  <a:schemeClr val="accent5"/>
                </a:solidFill>
              </a:rPr>
              <a:t>"</a:t>
            </a:r>
            <a:r>
              <a:rPr lang="en-US" dirty="0">
                <a:solidFill>
                  <a:schemeClr val="accent1"/>
                </a:solidFill>
              </a:rPr>
              <a:t>: "application/octet-stream"</a:t>
            </a:r>
          </a:p>
          <a:p>
            <a:r>
              <a:rPr lang="en-US" dirty="0">
                <a:solidFill>
                  <a:schemeClr val="accent3">
                    <a:lumMod val="65000"/>
                  </a:schemeClr>
                </a:solidFill>
              </a:rPr>
              <a:t>        }</a:t>
            </a:r>
          </a:p>
          <a:p>
            <a:r>
              <a:rPr lang="en-US" dirty="0">
                <a:solidFill>
                  <a:schemeClr val="accent3">
                    <a:lumMod val="65000"/>
                  </a:schemeClr>
                </a:solidFill>
              </a:rPr>
              <a:t>      ]</a:t>
            </a:r>
          </a:p>
        </p:txBody>
      </p:sp>
    </p:spTree>
    <p:extLst>
      <p:ext uri="{BB962C8B-B14F-4D97-AF65-F5344CB8AC3E}">
        <p14:creationId xmlns:p14="http://schemas.microsoft.com/office/powerpoint/2010/main" val="39180128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700">
        <p159:morph option="byObject"/>
      </p:transition>
    </mc:Choice>
    <mc:Fallback xmlns="">
      <p:transition spd="slow" advTm="10700">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10859-657F-3E21-1DDB-94FFA7718501}"/>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9297A46A-FEF8-5C36-D464-24D7C0EB1113}"/>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0A5A47D2-7F5E-C7C4-E956-B8C41C1269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17CF89D8-6B20-DEF7-0EFD-C460CEE3A3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B6BF715F-60C2-189B-BBBB-A09F1904BE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FFDF5BB3-6F45-EE21-115F-CD15709DA561}"/>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C2C29EDC-729A-1C50-49A7-13788C430678}"/>
              </a:ext>
            </a:extLst>
          </p:cNvPr>
          <p:cNvSpPr txBox="1"/>
          <p:nvPr/>
        </p:nvSpPr>
        <p:spPr>
          <a:xfrm>
            <a:off x="9404589" y="5719081"/>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989AEECD-CDD2-2E09-D6BC-DDC124499E32}"/>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72570" y="4272543"/>
            <a:ext cx="719126" cy="719126"/>
          </a:xfrm>
          <a:prstGeom prst="rect">
            <a:avLst/>
          </a:prstGeom>
        </p:spPr>
      </p:pic>
      <p:pic>
        <p:nvPicPr>
          <p:cNvPr id="12" name="Graphic 11" descr="Laptop with solid fill">
            <a:extLst>
              <a:ext uri="{FF2B5EF4-FFF2-40B4-BE49-F238E27FC236}">
                <a16:creationId xmlns:a16="http://schemas.microsoft.com/office/drawing/2014/main" id="{078C74C4-A069-F1C3-5906-AADA63BBCAFF}"/>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367552" y="4281210"/>
            <a:ext cx="832915" cy="832914"/>
          </a:xfrm>
          <a:prstGeom prst="rect">
            <a:avLst/>
          </a:prstGeom>
        </p:spPr>
      </p:pic>
      <p:pic>
        <p:nvPicPr>
          <p:cNvPr id="14" name="Graphic 13" descr="Processor with solid fill">
            <a:extLst>
              <a:ext uri="{FF2B5EF4-FFF2-40B4-BE49-F238E27FC236}">
                <a16:creationId xmlns:a16="http://schemas.microsoft.com/office/drawing/2014/main" id="{782175D4-CBFB-5087-38AC-F284E4F2EAB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9528" y="4980712"/>
            <a:ext cx="765210" cy="765210"/>
          </a:xfrm>
          <a:prstGeom prst="rect">
            <a:avLst/>
          </a:prstGeom>
        </p:spPr>
      </p:pic>
      <p:sp>
        <p:nvSpPr>
          <p:cNvPr id="15" name="Title 1">
            <a:extLst>
              <a:ext uri="{FF2B5EF4-FFF2-40B4-BE49-F238E27FC236}">
                <a16:creationId xmlns:a16="http://schemas.microsoft.com/office/drawing/2014/main" id="{1D01610C-0843-DC6E-EC53-FCC21C039BD1}"/>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pic>
        <p:nvPicPr>
          <p:cNvPr id="3" name="Graphic 2" descr="Factory with solid fill">
            <a:extLst>
              <a:ext uri="{FF2B5EF4-FFF2-40B4-BE49-F238E27FC236}">
                <a16:creationId xmlns:a16="http://schemas.microsoft.com/office/drawing/2014/main" id="{7E842DC0-3C88-2747-3946-59460615BC0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2333" y="4946859"/>
            <a:ext cx="832915" cy="832915"/>
          </a:xfrm>
          <a:prstGeom prst="rect">
            <a:avLst/>
          </a:prstGeom>
        </p:spPr>
      </p:pic>
      <p:sp>
        <p:nvSpPr>
          <p:cNvPr id="13" name="TextBox 12">
            <a:extLst>
              <a:ext uri="{FF2B5EF4-FFF2-40B4-BE49-F238E27FC236}">
                <a16:creationId xmlns:a16="http://schemas.microsoft.com/office/drawing/2014/main" id="{5EE37750-C91B-2D8F-3479-8E5D3742ADC4}"/>
              </a:ext>
            </a:extLst>
          </p:cNvPr>
          <p:cNvSpPr txBox="1"/>
          <p:nvPr/>
        </p:nvSpPr>
        <p:spPr>
          <a:xfrm>
            <a:off x="1080665" y="1747372"/>
            <a:ext cx="7576500" cy="2308324"/>
          </a:xfrm>
          <a:prstGeom prst="rect">
            <a:avLst/>
          </a:prstGeom>
          <a:noFill/>
        </p:spPr>
        <p:txBody>
          <a:bodyPr wrap="square" rtlCol="0">
            <a:spAutoFit/>
          </a:bodyPr>
          <a:lstStyle/>
          <a:p>
            <a:r>
              <a:rPr lang="en-US" dirty="0">
                <a:solidFill>
                  <a:schemeClr val="accent1"/>
                </a:solidFill>
              </a:rPr>
              <a:t>      </a:t>
            </a:r>
            <a:r>
              <a:rPr lang="en-US" dirty="0">
                <a:solidFill>
                  <a:schemeClr val="accent5"/>
                </a:solidFill>
              </a:rPr>
              <a:t>"forms"</a:t>
            </a:r>
            <a:r>
              <a:rPr lang="en-US" dirty="0">
                <a:solidFill>
                  <a:schemeClr val="accent1"/>
                </a:solidFill>
              </a:rPr>
              <a:t>: [</a:t>
            </a:r>
          </a:p>
          <a:p>
            <a:r>
              <a:rPr lang="en-US" dirty="0">
                <a:solidFill>
                  <a:schemeClr val="accent1"/>
                </a:solidFill>
              </a:rPr>
              <a:t>        {</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readproperty</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"40003",</a:t>
            </a:r>
          </a:p>
          <a:p>
            <a:r>
              <a:rPr lang="en-US" dirty="0">
                <a:solidFill>
                  <a:schemeClr val="accent1"/>
                </a:solidFill>
              </a:rPr>
              <a:t>          </a:t>
            </a:r>
            <a:r>
              <a:rPr lang="en-US" dirty="0">
                <a:solidFill>
                  <a:schemeClr val="accent5"/>
                </a:solidFill>
              </a:rPr>
              <a:t>"</a:t>
            </a:r>
            <a:r>
              <a:rPr lang="en-US" dirty="0" err="1">
                <a:solidFill>
                  <a:schemeClr val="accent5"/>
                </a:solidFill>
              </a:rPr>
              <a:t>modv:function</a:t>
            </a:r>
            <a:r>
              <a:rPr lang="en-US" dirty="0">
                <a:solidFill>
                  <a:schemeClr val="accent5"/>
                </a:solidFill>
              </a:rPr>
              <a:t>"</a:t>
            </a:r>
            <a:r>
              <a:rPr lang="en-US" dirty="0">
                <a:solidFill>
                  <a:schemeClr val="accent1"/>
                </a:solidFill>
              </a:rPr>
              <a:t>: "readHoldingRegisters",</a:t>
            </a:r>
          </a:p>
          <a:p>
            <a:r>
              <a:rPr lang="en-US" dirty="0">
                <a:solidFill>
                  <a:schemeClr val="accent1"/>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"application/octet-stream"</a:t>
            </a:r>
          </a:p>
          <a:p>
            <a:r>
              <a:rPr lang="en-US" dirty="0">
                <a:solidFill>
                  <a:schemeClr val="accent1"/>
                </a:solidFill>
              </a:rPr>
              <a:t>        }</a:t>
            </a:r>
          </a:p>
          <a:p>
            <a:r>
              <a:rPr lang="en-US" dirty="0">
                <a:solidFill>
                  <a:schemeClr val="accent1"/>
                </a:solidFill>
              </a:rPr>
              <a:t>      ]</a:t>
            </a:r>
          </a:p>
        </p:txBody>
      </p:sp>
      <p:sp>
        <p:nvSpPr>
          <p:cNvPr id="2" name="ReqLabel">
            <a:extLst>
              <a:ext uri="{FF2B5EF4-FFF2-40B4-BE49-F238E27FC236}">
                <a16:creationId xmlns:a16="http://schemas.microsoft.com/office/drawing/2014/main" id="{ABED2B99-262F-95CA-362E-6BD235AE7AEA}"/>
              </a:ext>
            </a:extLst>
          </p:cNvPr>
          <p:cNvSpPr txBox="1"/>
          <p:nvPr/>
        </p:nvSpPr>
        <p:spPr>
          <a:xfrm>
            <a:off x="1377262" y="4658765"/>
            <a:ext cx="2360560"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1"/>
                </a:solidFill>
                <a:latin typeface="Century Gothic" panose="020B0502020202020204" pitchFamily="34" charset="0"/>
              </a:rPr>
              <a:t>► REQUEST</a:t>
            </a:r>
          </a:p>
        </p:txBody>
      </p:sp>
      <p:sp>
        <p:nvSpPr>
          <p:cNvPr id="9" name="TextBox 8">
            <a:extLst>
              <a:ext uri="{FF2B5EF4-FFF2-40B4-BE49-F238E27FC236}">
                <a16:creationId xmlns:a16="http://schemas.microsoft.com/office/drawing/2014/main" id="{A6127299-B65A-29E8-3D98-1EBCEDE68CFE}"/>
              </a:ext>
            </a:extLst>
          </p:cNvPr>
          <p:cNvSpPr txBox="1"/>
          <p:nvPr/>
        </p:nvSpPr>
        <p:spPr>
          <a:xfrm>
            <a:off x="1377262" y="5060165"/>
            <a:ext cx="4169970" cy="1077218"/>
          </a:xfrm>
          <a:prstGeom prst="rect">
            <a:avLst/>
          </a:prstGeom>
          <a:noFill/>
        </p:spPr>
        <p:txBody>
          <a:bodyPr wrap="square" rtlCol="0">
            <a:spAutoFit/>
          </a:bodyPr>
          <a:lstStyle/>
          <a:p>
            <a:r>
              <a:rPr lang="en-US" sz="1600" dirty="0">
                <a:solidFill>
                  <a:schemeClr val="accent1"/>
                </a:solidFill>
              </a:rPr>
              <a:t>Unit ID: 0x01 </a:t>
            </a:r>
            <a:r>
              <a:rPr lang="en-US" sz="1600" dirty="0">
                <a:solidFill>
                  <a:schemeClr val="accent3">
                    <a:lumMod val="65000"/>
                  </a:schemeClr>
                </a:solidFill>
              </a:rPr>
              <a:t>(from /1/ in base URI)</a:t>
            </a:r>
          </a:p>
          <a:p>
            <a:r>
              <a:rPr lang="en-US" sz="1600" dirty="0">
                <a:solidFill>
                  <a:schemeClr val="accent1"/>
                </a:solidFill>
              </a:rPr>
              <a:t>Function Code: 0x03 </a:t>
            </a:r>
            <a:r>
              <a:rPr lang="en-US" sz="1600" dirty="0">
                <a:solidFill>
                  <a:schemeClr val="accent3">
                    <a:lumMod val="65000"/>
                  </a:schemeClr>
                </a:solidFill>
              </a:rPr>
              <a:t>(readHoldingRegisters)</a:t>
            </a:r>
          </a:p>
          <a:p>
            <a:r>
              <a:rPr lang="en-US" sz="1600" dirty="0">
                <a:solidFill>
                  <a:schemeClr val="accent1"/>
                </a:solidFill>
              </a:rPr>
              <a:t>Start Address: 40003</a:t>
            </a:r>
          </a:p>
          <a:p>
            <a:r>
              <a:rPr lang="en-US" sz="1600" dirty="0">
                <a:solidFill>
                  <a:schemeClr val="accent1"/>
                </a:solidFill>
              </a:rPr>
              <a:t>Quantity: 0x0001 </a:t>
            </a:r>
            <a:r>
              <a:rPr lang="en-US" sz="1600" dirty="0">
                <a:solidFill>
                  <a:schemeClr val="accent3">
                    <a:lumMod val="65000"/>
                  </a:schemeClr>
                </a:solidFill>
              </a:rPr>
              <a:t>(read 1 register = 2 bytes)</a:t>
            </a:r>
          </a:p>
        </p:txBody>
      </p:sp>
      <p:cxnSp>
        <p:nvCxnSpPr>
          <p:cNvPr id="20" name="Straight Arrow Connector 19">
            <a:extLst>
              <a:ext uri="{FF2B5EF4-FFF2-40B4-BE49-F238E27FC236}">
                <a16:creationId xmlns:a16="http://schemas.microsoft.com/office/drawing/2014/main" id="{FA3C84FC-AC63-4806-426D-58285534693A}"/>
              </a:ext>
            </a:extLst>
          </p:cNvPr>
          <p:cNvCxnSpPr>
            <a:cxnSpLocks/>
          </p:cNvCxnSpPr>
          <p:nvPr/>
        </p:nvCxnSpPr>
        <p:spPr>
          <a:xfrm flipH="1">
            <a:off x="10043875" y="3538385"/>
            <a:ext cx="5653" cy="6296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63DFDAA-E7E4-7C17-C1C3-85AAD3AE946E}"/>
              </a:ext>
            </a:extLst>
          </p:cNvPr>
          <p:cNvSpPr txBox="1"/>
          <p:nvPr/>
        </p:nvSpPr>
        <p:spPr>
          <a:xfrm>
            <a:off x="10129382" y="3668518"/>
            <a:ext cx="944297" cy="369332"/>
          </a:xfrm>
          <a:prstGeom prst="rect">
            <a:avLst/>
          </a:prstGeom>
          <a:noFill/>
        </p:spPr>
        <p:txBody>
          <a:bodyPr wrap="none" rtlCol="0">
            <a:spAutoFit/>
          </a:bodyPr>
          <a:lstStyle/>
          <a:p>
            <a:r>
              <a:rPr lang="en-US" dirty="0">
                <a:solidFill>
                  <a:schemeClr val="accent1"/>
                </a:solidFill>
              </a:rPr>
              <a:t>Request</a:t>
            </a:r>
            <a:endParaRPr lang="en-DE" dirty="0">
              <a:solidFill>
                <a:schemeClr val="accent1"/>
              </a:solidFill>
            </a:endParaRPr>
          </a:p>
        </p:txBody>
      </p:sp>
    </p:spTree>
    <p:extLst>
      <p:ext uri="{BB962C8B-B14F-4D97-AF65-F5344CB8AC3E}">
        <p14:creationId xmlns:p14="http://schemas.microsoft.com/office/powerpoint/2010/main" val="5930365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400">
        <p159:morph option="byObject"/>
      </p:transition>
    </mc:Choice>
    <mc:Fallback xmlns="">
      <p:transition spd="slow" advTm="14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50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500"/>
                                        <p:tgtEl>
                                          <p:spTgt spid="20"/>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FF820-73C4-AB43-E081-D7AAFD445E29}"/>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9699F437-974C-7A4F-09F1-AF5E84E1E8A7}"/>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B96D238B-B1AF-AA85-745E-A5ECEC4B62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3A7A361E-AF17-955B-759F-428F169041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EBFEA976-D499-3C80-B17E-E6B0B58EA68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1BF38A54-1809-D36F-EB58-D64009FC87FA}"/>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D014BCDA-096A-3574-13E7-3A46AC347D2D}"/>
              </a:ext>
            </a:extLst>
          </p:cNvPr>
          <p:cNvSpPr txBox="1"/>
          <p:nvPr/>
        </p:nvSpPr>
        <p:spPr>
          <a:xfrm>
            <a:off x="9404589" y="5719081"/>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6A960887-7641-F24B-EB9F-D216B16E860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72570" y="4272543"/>
            <a:ext cx="719126" cy="719126"/>
          </a:xfrm>
          <a:prstGeom prst="rect">
            <a:avLst/>
          </a:prstGeom>
        </p:spPr>
      </p:pic>
      <p:pic>
        <p:nvPicPr>
          <p:cNvPr id="12" name="Graphic 11" descr="Laptop with solid fill">
            <a:extLst>
              <a:ext uri="{FF2B5EF4-FFF2-40B4-BE49-F238E27FC236}">
                <a16:creationId xmlns:a16="http://schemas.microsoft.com/office/drawing/2014/main" id="{097D94BC-AF92-FF4F-8BCF-EAB2A7B8314C}"/>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367552" y="4281210"/>
            <a:ext cx="832915" cy="832914"/>
          </a:xfrm>
          <a:prstGeom prst="rect">
            <a:avLst/>
          </a:prstGeom>
        </p:spPr>
      </p:pic>
      <p:pic>
        <p:nvPicPr>
          <p:cNvPr id="14" name="Graphic 13" descr="Processor with solid fill">
            <a:extLst>
              <a:ext uri="{FF2B5EF4-FFF2-40B4-BE49-F238E27FC236}">
                <a16:creationId xmlns:a16="http://schemas.microsoft.com/office/drawing/2014/main" id="{CC3AA0A5-A38F-31E5-E28D-EAE61DC4B95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9528" y="4980712"/>
            <a:ext cx="765210" cy="765210"/>
          </a:xfrm>
          <a:prstGeom prst="rect">
            <a:avLst/>
          </a:prstGeom>
        </p:spPr>
      </p:pic>
      <p:sp>
        <p:nvSpPr>
          <p:cNvPr id="15" name="Title 1">
            <a:extLst>
              <a:ext uri="{FF2B5EF4-FFF2-40B4-BE49-F238E27FC236}">
                <a16:creationId xmlns:a16="http://schemas.microsoft.com/office/drawing/2014/main" id="{94B9455D-056E-E6A1-B32B-4CEF99F58822}"/>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pic>
        <p:nvPicPr>
          <p:cNvPr id="3" name="Graphic 2" descr="Factory with solid fill">
            <a:extLst>
              <a:ext uri="{FF2B5EF4-FFF2-40B4-BE49-F238E27FC236}">
                <a16:creationId xmlns:a16="http://schemas.microsoft.com/office/drawing/2014/main" id="{CB0AEA61-6AA7-DFB8-E038-A09F4207A1C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2333" y="4946859"/>
            <a:ext cx="832915" cy="832915"/>
          </a:xfrm>
          <a:prstGeom prst="rect">
            <a:avLst/>
          </a:prstGeom>
        </p:spPr>
      </p:pic>
      <p:sp>
        <p:nvSpPr>
          <p:cNvPr id="13" name="TextBox 12">
            <a:extLst>
              <a:ext uri="{FF2B5EF4-FFF2-40B4-BE49-F238E27FC236}">
                <a16:creationId xmlns:a16="http://schemas.microsoft.com/office/drawing/2014/main" id="{F52C6DBA-993A-6514-83DE-B5E877F30D85}"/>
              </a:ext>
            </a:extLst>
          </p:cNvPr>
          <p:cNvSpPr txBox="1"/>
          <p:nvPr/>
        </p:nvSpPr>
        <p:spPr>
          <a:xfrm>
            <a:off x="1080665" y="1747372"/>
            <a:ext cx="7576500" cy="2308324"/>
          </a:xfrm>
          <a:prstGeom prst="rect">
            <a:avLst/>
          </a:prstGeom>
          <a:noFill/>
        </p:spPr>
        <p:txBody>
          <a:bodyPr wrap="square" rtlCol="0">
            <a:spAutoFit/>
          </a:bodyPr>
          <a:lstStyle/>
          <a:p>
            <a:r>
              <a:rPr lang="en-US" dirty="0">
                <a:solidFill>
                  <a:schemeClr val="accent1"/>
                </a:solidFill>
              </a:rPr>
              <a:t>      </a:t>
            </a:r>
            <a:r>
              <a:rPr lang="en-US" dirty="0">
                <a:solidFill>
                  <a:schemeClr val="accent5"/>
                </a:solidFill>
              </a:rPr>
              <a:t>"forms"</a:t>
            </a:r>
            <a:r>
              <a:rPr lang="en-US" dirty="0">
                <a:solidFill>
                  <a:schemeClr val="accent1"/>
                </a:solidFill>
              </a:rPr>
              <a:t>: [</a:t>
            </a:r>
          </a:p>
          <a:p>
            <a:r>
              <a:rPr lang="en-US" dirty="0">
                <a:solidFill>
                  <a:schemeClr val="accent1"/>
                </a:solidFill>
              </a:rPr>
              <a:t>        {</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readproperty</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"40003",</a:t>
            </a:r>
          </a:p>
          <a:p>
            <a:r>
              <a:rPr lang="en-US" dirty="0">
                <a:solidFill>
                  <a:schemeClr val="accent1"/>
                </a:solidFill>
              </a:rPr>
              <a:t>          </a:t>
            </a:r>
            <a:r>
              <a:rPr lang="en-US" dirty="0">
                <a:solidFill>
                  <a:schemeClr val="accent5"/>
                </a:solidFill>
              </a:rPr>
              <a:t>"</a:t>
            </a:r>
            <a:r>
              <a:rPr lang="en-US" dirty="0" err="1">
                <a:solidFill>
                  <a:schemeClr val="accent5"/>
                </a:solidFill>
              </a:rPr>
              <a:t>modv:function</a:t>
            </a:r>
            <a:r>
              <a:rPr lang="en-US" dirty="0">
                <a:solidFill>
                  <a:schemeClr val="accent5"/>
                </a:solidFill>
              </a:rPr>
              <a:t>"</a:t>
            </a:r>
            <a:r>
              <a:rPr lang="en-US" dirty="0">
                <a:solidFill>
                  <a:schemeClr val="accent1"/>
                </a:solidFill>
              </a:rPr>
              <a:t>: "readHoldingRegisters",</a:t>
            </a:r>
          </a:p>
          <a:p>
            <a:r>
              <a:rPr lang="en-US" dirty="0">
                <a:solidFill>
                  <a:schemeClr val="accent1"/>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"application/octet-stream"</a:t>
            </a:r>
          </a:p>
          <a:p>
            <a:r>
              <a:rPr lang="en-US" dirty="0">
                <a:solidFill>
                  <a:schemeClr val="accent1"/>
                </a:solidFill>
              </a:rPr>
              <a:t>        }</a:t>
            </a:r>
          </a:p>
          <a:p>
            <a:r>
              <a:rPr lang="en-US" dirty="0">
                <a:solidFill>
                  <a:schemeClr val="accent1"/>
                </a:solidFill>
              </a:rPr>
              <a:t>      ]</a:t>
            </a:r>
          </a:p>
        </p:txBody>
      </p:sp>
      <p:sp>
        <p:nvSpPr>
          <p:cNvPr id="2" name="ReqLabel">
            <a:extLst>
              <a:ext uri="{FF2B5EF4-FFF2-40B4-BE49-F238E27FC236}">
                <a16:creationId xmlns:a16="http://schemas.microsoft.com/office/drawing/2014/main" id="{412B71B8-B3FC-4AA1-FE7E-6914406FA908}"/>
              </a:ext>
            </a:extLst>
          </p:cNvPr>
          <p:cNvSpPr txBox="1"/>
          <p:nvPr/>
        </p:nvSpPr>
        <p:spPr>
          <a:xfrm>
            <a:off x="1377262" y="4658765"/>
            <a:ext cx="2360560"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1"/>
                </a:solidFill>
                <a:latin typeface="Century Gothic" panose="020B0502020202020204" pitchFamily="34" charset="0"/>
              </a:rPr>
              <a:t>► REQUEST</a:t>
            </a:r>
          </a:p>
        </p:txBody>
      </p:sp>
      <p:sp>
        <p:nvSpPr>
          <p:cNvPr id="9" name="TextBox 8">
            <a:extLst>
              <a:ext uri="{FF2B5EF4-FFF2-40B4-BE49-F238E27FC236}">
                <a16:creationId xmlns:a16="http://schemas.microsoft.com/office/drawing/2014/main" id="{4967C6EB-79E7-A06E-6845-DB4C08ADB40B}"/>
              </a:ext>
            </a:extLst>
          </p:cNvPr>
          <p:cNvSpPr txBox="1"/>
          <p:nvPr/>
        </p:nvSpPr>
        <p:spPr>
          <a:xfrm>
            <a:off x="1377262" y="5060165"/>
            <a:ext cx="4169970" cy="1077218"/>
          </a:xfrm>
          <a:prstGeom prst="rect">
            <a:avLst/>
          </a:prstGeom>
          <a:noFill/>
        </p:spPr>
        <p:txBody>
          <a:bodyPr wrap="square" rtlCol="0">
            <a:spAutoFit/>
          </a:bodyPr>
          <a:lstStyle/>
          <a:p>
            <a:r>
              <a:rPr lang="en-US" sz="1600" dirty="0">
                <a:solidFill>
                  <a:schemeClr val="accent1"/>
                </a:solidFill>
              </a:rPr>
              <a:t>Unit ID: 0x01 </a:t>
            </a:r>
            <a:r>
              <a:rPr lang="en-US" sz="1600" dirty="0">
                <a:solidFill>
                  <a:schemeClr val="accent3">
                    <a:lumMod val="65000"/>
                  </a:schemeClr>
                </a:solidFill>
              </a:rPr>
              <a:t>(from /1/ in base URI)</a:t>
            </a:r>
          </a:p>
          <a:p>
            <a:r>
              <a:rPr lang="en-US" sz="1600" dirty="0">
                <a:solidFill>
                  <a:schemeClr val="accent1"/>
                </a:solidFill>
              </a:rPr>
              <a:t>Function Code: 0x03 </a:t>
            </a:r>
            <a:r>
              <a:rPr lang="en-US" sz="1600" dirty="0">
                <a:solidFill>
                  <a:schemeClr val="accent3">
                    <a:lumMod val="65000"/>
                  </a:schemeClr>
                </a:solidFill>
              </a:rPr>
              <a:t>(readHoldingRegisters)</a:t>
            </a:r>
          </a:p>
          <a:p>
            <a:r>
              <a:rPr lang="en-US" sz="1600" dirty="0">
                <a:solidFill>
                  <a:schemeClr val="accent1"/>
                </a:solidFill>
              </a:rPr>
              <a:t>Start Address: 40003</a:t>
            </a:r>
          </a:p>
          <a:p>
            <a:r>
              <a:rPr lang="en-US" sz="1600" dirty="0">
                <a:solidFill>
                  <a:schemeClr val="accent1"/>
                </a:solidFill>
              </a:rPr>
              <a:t>Quantity: 0x0001 </a:t>
            </a:r>
            <a:r>
              <a:rPr lang="en-US" sz="1600" dirty="0">
                <a:solidFill>
                  <a:schemeClr val="accent3">
                    <a:lumMod val="65000"/>
                  </a:schemeClr>
                </a:solidFill>
              </a:rPr>
              <a:t>(read 1 register = 2 bytes)</a:t>
            </a:r>
          </a:p>
        </p:txBody>
      </p:sp>
      <p:sp>
        <p:nvSpPr>
          <p:cNvPr id="17" name="TextBox 16">
            <a:extLst>
              <a:ext uri="{FF2B5EF4-FFF2-40B4-BE49-F238E27FC236}">
                <a16:creationId xmlns:a16="http://schemas.microsoft.com/office/drawing/2014/main" id="{9CED8E27-2A5D-C0CA-7382-AFBFE55357D6}"/>
              </a:ext>
            </a:extLst>
          </p:cNvPr>
          <p:cNvSpPr txBox="1"/>
          <p:nvPr/>
        </p:nvSpPr>
        <p:spPr>
          <a:xfrm>
            <a:off x="5547232" y="5058765"/>
            <a:ext cx="4628016" cy="830997"/>
          </a:xfrm>
          <a:prstGeom prst="rect">
            <a:avLst/>
          </a:prstGeom>
          <a:noFill/>
        </p:spPr>
        <p:txBody>
          <a:bodyPr wrap="square" rtlCol="0">
            <a:spAutoFit/>
          </a:bodyPr>
          <a:lstStyle/>
          <a:p>
            <a:r>
              <a:rPr lang="en-US" sz="1600" dirty="0">
                <a:solidFill>
                  <a:schemeClr val="accent1"/>
                </a:solidFill>
              </a:rPr>
              <a:t>Function Code: 0x03</a:t>
            </a:r>
          </a:p>
          <a:p>
            <a:r>
              <a:rPr lang="en-US" sz="1600" dirty="0">
                <a:solidFill>
                  <a:schemeClr val="accent1"/>
                </a:solidFill>
              </a:rPr>
              <a:t>Byte Count: 0x02     </a:t>
            </a:r>
          </a:p>
          <a:p>
            <a:r>
              <a:rPr lang="en-US" sz="1600" dirty="0">
                <a:solidFill>
                  <a:schemeClr val="accent1"/>
                </a:solidFill>
              </a:rPr>
              <a:t>Data: 0x01 0x2C </a:t>
            </a:r>
            <a:r>
              <a:rPr lang="en-US" sz="1600" dirty="0">
                <a:solidFill>
                  <a:schemeClr val="accent3">
                    <a:lumMod val="65000"/>
                  </a:schemeClr>
                </a:solidFill>
              </a:rPr>
              <a:t>(= 300 decimal)</a:t>
            </a:r>
          </a:p>
        </p:txBody>
      </p:sp>
      <p:sp>
        <p:nvSpPr>
          <p:cNvPr id="18" name="RespLabel">
            <a:extLst>
              <a:ext uri="{FF2B5EF4-FFF2-40B4-BE49-F238E27FC236}">
                <a16:creationId xmlns:a16="http://schemas.microsoft.com/office/drawing/2014/main" id="{A4CE0A70-F75E-C94C-7FE3-7C55D16E4AC1}"/>
              </a:ext>
            </a:extLst>
          </p:cNvPr>
          <p:cNvSpPr txBox="1"/>
          <p:nvPr/>
        </p:nvSpPr>
        <p:spPr>
          <a:xfrm>
            <a:off x="5547232" y="4659604"/>
            <a:ext cx="2193173"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6"/>
                </a:solidFill>
                <a:latin typeface="Century Gothic" panose="020B0502020202020204" pitchFamily="34" charset="0"/>
              </a:rPr>
              <a:t>◄ RESPONSE</a:t>
            </a:r>
          </a:p>
        </p:txBody>
      </p:sp>
      <p:cxnSp>
        <p:nvCxnSpPr>
          <p:cNvPr id="16" name="Straight Arrow Connector 15">
            <a:extLst>
              <a:ext uri="{FF2B5EF4-FFF2-40B4-BE49-F238E27FC236}">
                <a16:creationId xmlns:a16="http://schemas.microsoft.com/office/drawing/2014/main" id="{F31DDE92-79D7-E1E0-8EEC-81008C7B1FF4}"/>
              </a:ext>
            </a:extLst>
          </p:cNvPr>
          <p:cNvCxnSpPr>
            <a:cxnSpLocks/>
          </p:cNvCxnSpPr>
          <p:nvPr/>
        </p:nvCxnSpPr>
        <p:spPr>
          <a:xfrm flipH="1" flipV="1">
            <a:off x="10043875" y="3538385"/>
            <a:ext cx="5653" cy="6296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D9CCD1F-C77A-9A25-F99B-2ABEB6D78B3F}"/>
              </a:ext>
            </a:extLst>
          </p:cNvPr>
          <p:cNvSpPr txBox="1"/>
          <p:nvPr/>
        </p:nvSpPr>
        <p:spPr>
          <a:xfrm flipH="1">
            <a:off x="10129380" y="3668518"/>
            <a:ext cx="1181713" cy="369332"/>
          </a:xfrm>
          <a:prstGeom prst="rect">
            <a:avLst/>
          </a:prstGeom>
          <a:noFill/>
        </p:spPr>
        <p:txBody>
          <a:bodyPr wrap="square" rtlCol="0">
            <a:spAutoFit/>
          </a:bodyPr>
          <a:lstStyle/>
          <a:p>
            <a:r>
              <a:rPr lang="en-US" dirty="0">
                <a:solidFill>
                  <a:schemeClr val="accent1"/>
                </a:solidFill>
              </a:rPr>
              <a:t>Response</a:t>
            </a:r>
          </a:p>
        </p:txBody>
      </p:sp>
    </p:spTree>
    <p:extLst>
      <p:ext uri="{BB962C8B-B14F-4D97-AF65-F5344CB8AC3E}">
        <p14:creationId xmlns:p14="http://schemas.microsoft.com/office/powerpoint/2010/main" val="33155048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5300">
        <p159:morph option="byObject"/>
      </p:transition>
    </mc:Choice>
    <mc:Fallback xmlns="">
      <p:transition spd="slow" advTm="153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200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par>
                          <p:cTn id="8" fill="hold">
                            <p:stCondLst>
                              <p:cond delay="2500"/>
                            </p:stCondLst>
                            <p:childTnLst>
                              <p:par>
                                <p:cTn id="9" presetID="10" presetClass="entr" presetSubtype="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FC48B-1A8F-98D5-8730-8A42DD1DFCBE}"/>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740C22D9-4258-92C6-ED48-D7B204AADEFB}"/>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DD522459-6120-F8B8-EED5-3DA32FA4B6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8D896821-4FDF-4C14-B537-3037F75F0D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99D509C3-D433-5266-566B-9E417EBB0F6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21B2823C-65F0-2517-EE49-BB794DCB9A02}"/>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946625E1-63EE-1A58-4AE9-AD30430BDBC5}"/>
              </a:ext>
            </a:extLst>
          </p:cNvPr>
          <p:cNvSpPr txBox="1"/>
          <p:nvPr/>
        </p:nvSpPr>
        <p:spPr>
          <a:xfrm>
            <a:off x="9404589" y="5719081"/>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A4DB89A2-E818-D8F4-8CB6-9A9FBB66FF5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72570" y="4272543"/>
            <a:ext cx="719126" cy="719126"/>
          </a:xfrm>
          <a:prstGeom prst="rect">
            <a:avLst/>
          </a:prstGeom>
        </p:spPr>
      </p:pic>
      <p:pic>
        <p:nvPicPr>
          <p:cNvPr id="12" name="Graphic 11" descr="Laptop with solid fill">
            <a:extLst>
              <a:ext uri="{FF2B5EF4-FFF2-40B4-BE49-F238E27FC236}">
                <a16:creationId xmlns:a16="http://schemas.microsoft.com/office/drawing/2014/main" id="{F51EE0B8-FC74-DB4C-8F79-1D8385F76EB2}"/>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367552" y="4281210"/>
            <a:ext cx="832915" cy="832914"/>
          </a:xfrm>
          <a:prstGeom prst="rect">
            <a:avLst/>
          </a:prstGeom>
        </p:spPr>
      </p:pic>
      <p:pic>
        <p:nvPicPr>
          <p:cNvPr id="14" name="Graphic 13" descr="Processor with solid fill">
            <a:extLst>
              <a:ext uri="{FF2B5EF4-FFF2-40B4-BE49-F238E27FC236}">
                <a16:creationId xmlns:a16="http://schemas.microsoft.com/office/drawing/2014/main" id="{31C5F701-3AD7-AC18-3706-898AF35DBDA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9528" y="4980712"/>
            <a:ext cx="765210" cy="765210"/>
          </a:xfrm>
          <a:prstGeom prst="rect">
            <a:avLst/>
          </a:prstGeom>
        </p:spPr>
      </p:pic>
      <p:sp>
        <p:nvSpPr>
          <p:cNvPr id="15" name="Title 1">
            <a:extLst>
              <a:ext uri="{FF2B5EF4-FFF2-40B4-BE49-F238E27FC236}">
                <a16:creationId xmlns:a16="http://schemas.microsoft.com/office/drawing/2014/main" id="{A5D554EE-0C4F-3CD6-4510-540F1E9815B6}"/>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pic>
        <p:nvPicPr>
          <p:cNvPr id="3" name="Graphic 2" descr="Factory with solid fill">
            <a:extLst>
              <a:ext uri="{FF2B5EF4-FFF2-40B4-BE49-F238E27FC236}">
                <a16:creationId xmlns:a16="http://schemas.microsoft.com/office/drawing/2014/main" id="{BD83DB1F-0B69-6AF6-101C-DDF9C8ADFAF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2333" y="4946859"/>
            <a:ext cx="832915" cy="832915"/>
          </a:xfrm>
          <a:prstGeom prst="rect">
            <a:avLst/>
          </a:prstGeom>
        </p:spPr>
      </p:pic>
      <p:sp>
        <p:nvSpPr>
          <p:cNvPr id="13" name="TextBox 12">
            <a:extLst>
              <a:ext uri="{FF2B5EF4-FFF2-40B4-BE49-F238E27FC236}">
                <a16:creationId xmlns:a16="http://schemas.microsoft.com/office/drawing/2014/main" id="{38F37FD0-094F-9D9D-0CA6-F795094E2A45}"/>
              </a:ext>
            </a:extLst>
          </p:cNvPr>
          <p:cNvSpPr txBox="1"/>
          <p:nvPr/>
        </p:nvSpPr>
        <p:spPr>
          <a:xfrm>
            <a:off x="1080665" y="1747372"/>
            <a:ext cx="7576500" cy="2308324"/>
          </a:xfrm>
          <a:prstGeom prst="rect">
            <a:avLst/>
          </a:prstGeom>
          <a:noFill/>
        </p:spPr>
        <p:txBody>
          <a:bodyPr wrap="square" rtlCol="0">
            <a:spAutoFit/>
          </a:bodyPr>
          <a:lstStyle/>
          <a:p>
            <a:r>
              <a:rPr lang="en-US" dirty="0">
                <a:solidFill>
                  <a:schemeClr val="accent1"/>
                </a:solidFill>
              </a:rPr>
              <a:t>      </a:t>
            </a:r>
            <a:r>
              <a:rPr lang="en-US" dirty="0">
                <a:solidFill>
                  <a:schemeClr val="accent5"/>
                </a:solidFill>
              </a:rPr>
              <a:t>"forms"</a:t>
            </a:r>
            <a:r>
              <a:rPr lang="en-US" dirty="0">
                <a:solidFill>
                  <a:schemeClr val="accent1"/>
                </a:solidFill>
              </a:rPr>
              <a:t>: [</a:t>
            </a:r>
          </a:p>
          <a:p>
            <a:r>
              <a:rPr lang="en-US" dirty="0">
                <a:solidFill>
                  <a:schemeClr val="accent1"/>
                </a:solidFill>
              </a:rPr>
              <a:t>        {</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readproperty</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"40003",</a:t>
            </a:r>
          </a:p>
          <a:p>
            <a:r>
              <a:rPr lang="en-US" dirty="0">
                <a:solidFill>
                  <a:schemeClr val="accent1"/>
                </a:solidFill>
              </a:rPr>
              <a:t>          </a:t>
            </a:r>
            <a:r>
              <a:rPr lang="en-US" dirty="0">
                <a:solidFill>
                  <a:schemeClr val="accent5"/>
                </a:solidFill>
              </a:rPr>
              <a:t>"</a:t>
            </a:r>
            <a:r>
              <a:rPr lang="en-US" dirty="0" err="1">
                <a:solidFill>
                  <a:schemeClr val="accent5"/>
                </a:solidFill>
              </a:rPr>
              <a:t>modv:function</a:t>
            </a:r>
            <a:r>
              <a:rPr lang="en-US" dirty="0">
                <a:solidFill>
                  <a:schemeClr val="accent5"/>
                </a:solidFill>
              </a:rPr>
              <a:t>"</a:t>
            </a:r>
            <a:r>
              <a:rPr lang="en-US" dirty="0">
                <a:solidFill>
                  <a:schemeClr val="accent1"/>
                </a:solidFill>
              </a:rPr>
              <a:t>: "readHoldingRegisters",</a:t>
            </a:r>
          </a:p>
          <a:p>
            <a:r>
              <a:rPr lang="en-US" dirty="0">
                <a:solidFill>
                  <a:schemeClr val="accent1"/>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"application/octet-stream"</a:t>
            </a:r>
          </a:p>
          <a:p>
            <a:r>
              <a:rPr lang="en-US" dirty="0">
                <a:solidFill>
                  <a:schemeClr val="accent1"/>
                </a:solidFill>
              </a:rPr>
              <a:t>        }</a:t>
            </a:r>
          </a:p>
          <a:p>
            <a:r>
              <a:rPr lang="en-US" dirty="0">
                <a:solidFill>
                  <a:schemeClr val="accent1"/>
                </a:solidFill>
              </a:rPr>
              <a:t>      ]</a:t>
            </a:r>
          </a:p>
        </p:txBody>
      </p:sp>
      <p:sp>
        <p:nvSpPr>
          <p:cNvPr id="2" name="ReqLabel">
            <a:extLst>
              <a:ext uri="{FF2B5EF4-FFF2-40B4-BE49-F238E27FC236}">
                <a16:creationId xmlns:a16="http://schemas.microsoft.com/office/drawing/2014/main" id="{02824C4C-C993-D991-EB71-1BC723912D41}"/>
              </a:ext>
            </a:extLst>
          </p:cNvPr>
          <p:cNvSpPr txBox="1"/>
          <p:nvPr/>
        </p:nvSpPr>
        <p:spPr>
          <a:xfrm>
            <a:off x="1377262" y="4658765"/>
            <a:ext cx="2360560"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1"/>
                </a:solidFill>
                <a:latin typeface="Century Gothic" panose="020B0502020202020204" pitchFamily="34" charset="0"/>
              </a:rPr>
              <a:t>► REQUEST</a:t>
            </a:r>
          </a:p>
        </p:txBody>
      </p:sp>
      <p:sp>
        <p:nvSpPr>
          <p:cNvPr id="9" name="TextBox 8">
            <a:extLst>
              <a:ext uri="{FF2B5EF4-FFF2-40B4-BE49-F238E27FC236}">
                <a16:creationId xmlns:a16="http://schemas.microsoft.com/office/drawing/2014/main" id="{935524AA-4FA7-A23B-47FE-A6449ADE8972}"/>
              </a:ext>
            </a:extLst>
          </p:cNvPr>
          <p:cNvSpPr txBox="1"/>
          <p:nvPr/>
        </p:nvSpPr>
        <p:spPr>
          <a:xfrm>
            <a:off x="1377262" y="5060165"/>
            <a:ext cx="4169970" cy="1077218"/>
          </a:xfrm>
          <a:prstGeom prst="rect">
            <a:avLst/>
          </a:prstGeom>
          <a:noFill/>
        </p:spPr>
        <p:txBody>
          <a:bodyPr wrap="square" rtlCol="0">
            <a:spAutoFit/>
          </a:bodyPr>
          <a:lstStyle/>
          <a:p>
            <a:r>
              <a:rPr lang="en-US" sz="1600" dirty="0">
                <a:solidFill>
                  <a:schemeClr val="accent1"/>
                </a:solidFill>
              </a:rPr>
              <a:t>Unit ID: 0x01 </a:t>
            </a:r>
            <a:r>
              <a:rPr lang="en-US" sz="1600" dirty="0">
                <a:solidFill>
                  <a:schemeClr val="accent3">
                    <a:lumMod val="65000"/>
                  </a:schemeClr>
                </a:solidFill>
              </a:rPr>
              <a:t>(from /1/ in base URI)</a:t>
            </a:r>
          </a:p>
          <a:p>
            <a:r>
              <a:rPr lang="en-US" sz="1600" dirty="0">
                <a:solidFill>
                  <a:schemeClr val="accent1"/>
                </a:solidFill>
              </a:rPr>
              <a:t>Function Code: 0x03 </a:t>
            </a:r>
            <a:r>
              <a:rPr lang="en-US" sz="1600" dirty="0">
                <a:solidFill>
                  <a:schemeClr val="accent3">
                    <a:lumMod val="65000"/>
                  </a:schemeClr>
                </a:solidFill>
              </a:rPr>
              <a:t>(readHoldingRegisters)</a:t>
            </a:r>
          </a:p>
          <a:p>
            <a:r>
              <a:rPr lang="en-US" sz="1600" dirty="0">
                <a:solidFill>
                  <a:schemeClr val="accent1"/>
                </a:solidFill>
              </a:rPr>
              <a:t>Start Address: 40003</a:t>
            </a:r>
            <a:endParaRPr lang="en-US" sz="1600" dirty="0">
              <a:solidFill>
                <a:schemeClr val="accent3">
                  <a:lumMod val="65000"/>
                </a:schemeClr>
              </a:solidFill>
            </a:endParaRPr>
          </a:p>
          <a:p>
            <a:r>
              <a:rPr lang="en-US" sz="1600" dirty="0">
                <a:solidFill>
                  <a:schemeClr val="accent1"/>
                </a:solidFill>
              </a:rPr>
              <a:t>Quantity: 0x0001 </a:t>
            </a:r>
            <a:r>
              <a:rPr lang="en-US" sz="1600" dirty="0">
                <a:solidFill>
                  <a:schemeClr val="accent3">
                    <a:lumMod val="65000"/>
                  </a:schemeClr>
                </a:solidFill>
              </a:rPr>
              <a:t>(read 1 register = 2 bytes)</a:t>
            </a:r>
          </a:p>
        </p:txBody>
      </p:sp>
      <p:sp>
        <p:nvSpPr>
          <p:cNvPr id="17" name="TextBox 16">
            <a:extLst>
              <a:ext uri="{FF2B5EF4-FFF2-40B4-BE49-F238E27FC236}">
                <a16:creationId xmlns:a16="http://schemas.microsoft.com/office/drawing/2014/main" id="{D938E85D-3B3E-EB07-E8CE-A75CAA9DCEE2}"/>
              </a:ext>
            </a:extLst>
          </p:cNvPr>
          <p:cNvSpPr txBox="1"/>
          <p:nvPr/>
        </p:nvSpPr>
        <p:spPr>
          <a:xfrm>
            <a:off x="5547232" y="5058765"/>
            <a:ext cx="4628016" cy="830997"/>
          </a:xfrm>
          <a:prstGeom prst="rect">
            <a:avLst/>
          </a:prstGeom>
          <a:noFill/>
        </p:spPr>
        <p:txBody>
          <a:bodyPr wrap="square" rtlCol="0">
            <a:spAutoFit/>
          </a:bodyPr>
          <a:lstStyle/>
          <a:p>
            <a:r>
              <a:rPr lang="en-US" sz="1600" dirty="0">
                <a:solidFill>
                  <a:schemeClr val="accent1"/>
                </a:solidFill>
              </a:rPr>
              <a:t>Function Code: 0x03</a:t>
            </a:r>
          </a:p>
          <a:p>
            <a:r>
              <a:rPr lang="en-US" sz="1600" dirty="0">
                <a:solidFill>
                  <a:schemeClr val="accent1"/>
                </a:solidFill>
              </a:rPr>
              <a:t>Byte Count: 0x02     </a:t>
            </a:r>
          </a:p>
          <a:p>
            <a:r>
              <a:rPr lang="en-US" sz="1600" dirty="0">
                <a:solidFill>
                  <a:schemeClr val="accent1"/>
                </a:solidFill>
              </a:rPr>
              <a:t>Data: </a:t>
            </a:r>
            <a:r>
              <a:rPr lang="en-US" sz="1600" dirty="0">
                <a:solidFill>
                  <a:schemeClr val="accent6"/>
                </a:solidFill>
              </a:rPr>
              <a:t>0x01 0x2C </a:t>
            </a:r>
            <a:r>
              <a:rPr lang="en-US" sz="1600" dirty="0">
                <a:solidFill>
                  <a:schemeClr val="accent3">
                    <a:lumMod val="65000"/>
                  </a:schemeClr>
                </a:solidFill>
              </a:rPr>
              <a:t>(= 300 decimal)</a:t>
            </a:r>
          </a:p>
        </p:txBody>
      </p:sp>
      <p:sp>
        <p:nvSpPr>
          <p:cNvPr id="18" name="RespLabel">
            <a:extLst>
              <a:ext uri="{FF2B5EF4-FFF2-40B4-BE49-F238E27FC236}">
                <a16:creationId xmlns:a16="http://schemas.microsoft.com/office/drawing/2014/main" id="{6F899F94-951E-2183-0711-753BD17A650B}"/>
              </a:ext>
            </a:extLst>
          </p:cNvPr>
          <p:cNvSpPr txBox="1"/>
          <p:nvPr/>
        </p:nvSpPr>
        <p:spPr>
          <a:xfrm>
            <a:off x="5547232" y="4659604"/>
            <a:ext cx="2193173" cy="400000"/>
          </a:xfrm>
          <a:prstGeom prst="rect">
            <a:avLst/>
          </a:prstGeom>
          <a:solidFill>
            <a:schemeClr val="accent3">
              <a:lumMod val="95000"/>
            </a:schemeClr>
          </a:solidFill>
        </p:spPr>
        <p:txBody>
          <a:bodyPr wrap="square" lIns="91440" tIns="91440" rIns="91440" bIns="91440" rtlCol="0" anchor="ctr">
            <a:spAutoFit/>
          </a:bodyPr>
          <a:lstStyle/>
          <a:p>
            <a:r>
              <a:rPr lang="en-US" sz="1400" b="1" dirty="0">
                <a:solidFill>
                  <a:schemeClr val="accent6"/>
                </a:solidFill>
                <a:latin typeface="Century Gothic" panose="020B0502020202020204" pitchFamily="34" charset="0"/>
              </a:rPr>
              <a:t>◄ RESPONSE</a:t>
            </a:r>
          </a:p>
        </p:txBody>
      </p:sp>
    </p:spTree>
    <p:extLst>
      <p:ext uri="{BB962C8B-B14F-4D97-AF65-F5344CB8AC3E}">
        <p14:creationId xmlns:p14="http://schemas.microsoft.com/office/powerpoint/2010/main" val="6736947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3000">
        <p159:morph option="byObject"/>
      </p:transition>
    </mc:Choice>
    <mc:Fallback xmlns="">
      <p:transition spd="slow" advTm="33000">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1C30CEF-6903-F679-2A42-4563112885B7}"/>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AD77005C-5072-0DC3-C339-FCC1B6E3DF9E}"/>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726C625B-BD0E-8B58-C779-2F06C5CB19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25C37632-08EC-A843-2095-FCDDC015C6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403CA740-855A-5747-2858-8F117E49ADE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16267A4A-3CD4-BB06-3016-8162455BBFFB}"/>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58FEFDC0-F77E-8CBB-B1E4-283332D0E570}"/>
              </a:ext>
            </a:extLst>
          </p:cNvPr>
          <p:cNvSpPr txBox="1"/>
          <p:nvPr/>
        </p:nvSpPr>
        <p:spPr>
          <a:xfrm>
            <a:off x="9404589" y="5719081"/>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0E61E87F-46AF-808C-4F13-2AA9025B267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72570" y="4272543"/>
            <a:ext cx="719126" cy="719126"/>
          </a:xfrm>
          <a:prstGeom prst="rect">
            <a:avLst/>
          </a:prstGeom>
        </p:spPr>
      </p:pic>
      <p:pic>
        <p:nvPicPr>
          <p:cNvPr id="12" name="Graphic 11" descr="Laptop with solid fill">
            <a:extLst>
              <a:ext uri="{FF2B5EF4-FFF2-40B4-BE49-F238E27FC236}">
                <a16:creationId xmlns:a16="http://schemas.microsoft.com/office/drawing/2014/main" id="{7D5F9459-2477-4931-084B-8537CC076742}"/>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367552" y="4281210"/>
            <a:ext cx="832915" cy="832914"/>
          </a:xfrm>
          <a:prstGeom prst="rect">
            <a:avLst/>
          </a:prstGeom>
        </p:spPr>
      </p:pic>
      <p:pic>
        <p:nvPicPr>
          <p:cNvPr id="14" name="Graphic 13" descr="Processor with solid fill">
            <a:extLst>
              <a:ext uri="{FF2B5EF4-FFF2-40B4-BE49-F238E27FC236}">
                <a16:creationId xmlns:a16="http://schemas.microsoft.com/office/drawing/2014/main" id="{24D7D045-66F0-6BC8-4308-F5D7C0C9F13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9528" y="4980712"/>
            <a:ext cx="765210" cy="765210"/>
          </a:xfrm>
          <a:prstGeom prst="rect">
            <a:avLst/>
          </a:prstGeom>
        </p:spPr>
      </p:pic>
      <p:sp>
        <p:nvSpPr>
          <p:cNvPr id="15" name="Title 1">
            <a:extLst>
              <a:ext uri="{FF2B5EF4-FFF2-40B4-BE49-F238E27FC236}">
                <a16:creationId xmlns:a16="http://schemas.microsoft.com/office/drawing/2014/main" id="{53CFC68D-2B27-E030-E508-A7EEFC794AE1}"/>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F8147812-CF08-70D2-F3F2-93CC9FE5C31E}"/>
              </a:ext>
            </a:extLst>
          </p:cNvPr>
          <p:cNvSpPr txBox="1"/>
          <p:nvPr/>
        </p:nvSpPr>
        <p:spPr>
          <a:xfrm>
            <a:off x="1083789" y="1583661"/>
            <a:ext cx="7576500" cy="4524315"/>
          </a:xfrm>
          <a:prstGeom prst="rect">
            <a:avLst/>
          </a:prstGeom>
          <a:noFill/>
        </p:spPr>
        <p:txBody>
          <a:bodyPr wrap="square" rtlCol="0">
            <a:spAutoFit/>
          </a:bodyPr>
          <a:lstStyle/>
          <a:p>
            <a:r>
              <a:rPr lang="en-US" dirty="0">
                <a:solidFill>
                  <a:schemeClr val="accent1"/>
                </a:solidFill>
              </a:rPr>
              <a:t>... </a:t>
            </a:r>
          </a:p>
          <a:p>
            <a:r>
              <a:rPr lang="en-US" dirty="0">
                <a:solidFill>
                  <a:schemeClr val="accent5"/>
                </a:solidFill>
              </a:rPr>
              <a:t>"base"</a:t>
            </a:r>
            <a:r>
              <a:rPr lang="en-US" dirty="0">
                <a:solidFill>
                  <a:schemeClr val="accent1"/>
                </a:solidFill>
              </a:rPr>
              <a:t>: "</a:t>
            </a:r>
            <a:r>
              <a:rPr lang="en-US" dirty="0" err="1">
                <a:solidFill>
                  <a:schemeClr val="accent1"/>
                </a:solidFill>
              </a:rPr>
              <a:t>modbus+tcp</a:t>
            </a:r>
            <a:r>
              <a:rPr lang="en-US" dirty="0">
                <a:solidFill>
                  <a:schemeClr val="accent1"/>
                </a:solidFill>
              </a:rPr>
              <a:t>://coffee-machine.example.com:502/1/",</a:t>
            </a:r>
          </a:p>
          <a:p>
            <a:r>
              <a:rPr lang="en-US" dirty="0">
                <a:solidFill>
                  <a:schemeClr val="accent1"/>
                </a:solidFill>
              </a:rPr>
              <a:t>  </a:t>
            </a:r>
            <a:r>
              <a:rPr lang="en-US" dirty="0">
                <a:solidFill>
                  <a:schemeClr val="accent5"/>
                </a:solidFill>
              </a:rPr>
              <a:t>"properties"</a:t>
            </a:r>
            <a:r>
              <a:rPr lang="en-US" dirty="0">
                <a:solidFill>
                  <a:schemeClr val="accent1"/>
                </a:solidFill>
              </a:rPr>
              <a:t>: {</a:t>
            </a:r>
          </a:p>
          <a:p>
            <a:r>
              <a:rPr lang="en-US" dirty="0">
                <a:solidFill>
                  <a:schemeClr val="accent1"/>
                </a:solidFill>
              </a:rPr>
              <a:t>    </a:t>
            </a:r>
            <a:r>
              <a:rPr lang="en-US" dirty="0">
                <a:solidFill>
                  <a:schemeClr val="accent5"/>
                </a:solidFill>
              </a:rPr>
              <a:t>"</a:t>
            </a:r>
            <a:r>
              <a:rPr lang="en-US" dirty="0" err="1">
                <a:solidFill>
                  <a:schemeClr val="accent5"/>
                </a:solidFill>
              </a:rPr>
              <a:t>waterTankPresent</a:t>
            </a:r>
            <a:r>
              <a:rPr lang="en-US" dirty="0">
                <a:solidFill>
                  <a:schemeClr val="accent5"/>
                </a:solidFill>
              </a:rPr>
              <a:t>"</a:t>
            </a:r>
            <a:r>
              <a:rPr lang="en-US" dirty="0">
                <a:solidFill>
                  <a:schemeClr val="accent1"/>
                </a:solidFill>
              </a:rPr>
              <a:t>: {</a:t>
            </a:r>
          </a:p>
          <a:p>
            <a:r>
              <a:rPr lang="en-US" dirty="0">
                <a:solidFill>
                  <a:schemeClr val="accent1"/>
                </a:solidFill>
              </a:rPr>
              <a:t>      </a:t>
            </a:r>
            <a:r>
              <a:rPr lang="en-US" dirty="0">
                <a:solidFill>
                  <a:schemeClr val="accent5"/>
                </a:solidFill>
              </a:rPr>
              <a:t>"title"</a:t>
            </a:r>
            <a:r>
              <a:rPr lang="en-US" dirty="0">
                <a:solidFill>
                  <a:schemeClr val="accent1"/>
                </a:solidFill>
              </a:rPr>
              <a:t>: "Water Tank Present",</a:t>
            </a:r>
          </a:p>
          <a:p>
            <a:r>
              <a:rPr lang="en-US" dirty="0">
                <a:solidFill>
                  <a:schemeClr val="accent1"/>
                </a:solidFill>
              </a:rPr>
              <a:t>      </a:t>
            </a:r>
            <a:r>
              <a:rPr lang="en-US" dirty="0">
                <a:solidFill>
                  <a:schemeClr val="accent5"/>
                </a:solidFill>
              </a:rPr>
              <a:t>"type"</a:t>
            </a:r>
            <a:r>
              <a:rPr lang="en-US" dirty="0">
                <a:solidFill>
                  <a:schemeClr val="accent1"/>
                </a:solidFill>
              </a:rPr>
              <a:t>: "integer",</a:t>
            </a:r>
          </a:p>
          <a:p>
            <a:r>
              <a:rPr lang="en-US" dirty="0">
                <a:solidFill>
                  <a:schemeClr val="accent1"/>
                </a:solidFill>
              </a:rPr>
              <a:t>      </a:t>
            </a:r>
            <a:r>
              <a:rPr lang="en-US" dirty="0">
                <a:solidFill>
                  <a:schemeClr val="accent5"/>
                </a:solidFill>
              </a:rPr>
              <a:t>"description"</a:t>
            </a:r>
            <a:r>
              <a:rPr lang="en-US" dirty="0">
                <a:solidFill>
                  <a:schemeClr val="accent1"/>
                </a:solidFill>
              </a:rPr>
              <a:t>: "Indicates whether the water tank is correctly inserted",</a:t>
            </a:r>
          </a:p>
          <a:p>
            <a:r>
              <a:rPr lang="en-US" dirty="0">
                <a:solidFill>
                  <a:schemeClr val="accent1"/>
                </a:solidFill>
              </a:rPr>
              <a:t>      </a:t>
            </a:r>
            <a:r>
              <a:rPr lang="en-US" dirty="0">
                <a:solidFill>
                  <a:schemeClr val="accent5"/>
                </a:solidFill>
              </a:rPr>
              <a:t>"forms"</a:t>
            </a:r>
            <a:r>
              <a:rPr lang="en-US" dirty="0">
                <a:solidFill>
                  <a:schemeClr val="accent1"/>
                </a:solidFill>
              </a:rPr>
              <a:t>: [</a:t>
            </a:r>
          </a:p>
          <a:p>
            <a:r>
              <a:rPr lang="en-US" dirty="0">
                <a:solidFill>
                  <a:schemeClr val="accent1"/>
                </a:solidFill>
              </a:rPr>
              <a:t>        {</a:t>
            </a:r>
          </a:p>
          <a:p>
            <a:r>
              <a:rPr lang="en-US" dirty="0">
                <a:solidFill>
                  <a:schemeClr val="accent1"/>
                </a:solidFill>
              </a:rPr>
              <a:t>          </a:t>
            </a:r>
            <a:r>
              <a:rPr lang="en-US" dirty="0">
                <a:solidFill>
                  <a:schemeClr val="accent5"/>
                </a:solidFill>
              </a:rPr>
              <a:t>"op"</a:t>
            </a:r>
            <a:r>
              <a:rPr lang="en-US" dirty="0">
                <a:solidFill>
                  <a:schemeClr val="accent1"/>
                </a:solidFill>
              </a:rPr>
              <a:t>: "</a:t>
            </a:r>
            <a:r>
              <a:rPr lang="en-US" dirty="0" err="1">
                <a:solidFill>
                  <a:schemeClr val="accent1"/>
                </a:solidFill>
              </a:rPr>
              <a:t>readproperty</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"10003",</a:t>
            </a:r>
          </a:p>
          <a:p>
            <a:r>
              <a:rPr lang="en-US" dirty="0">
                <a:solidFill>
                  <a:schemeClr val="accent1"/>
                </a:solidFill>
              </a:rPr>
              <a:t>          </a:t>
            </a:r>
            <a:r>
              <a:rPr lang="en-US" dirty="0">
                <a:solidFill>
                  <a:schemeClr val="accent5"/>
                </a:solidFill>
              </a:rPr>
              <a:t>"</a:t>
            </a:r>
            <a:r>
              <a:rPr lang="en-US" dirty="0" err="1">
                <a:solidFill>
                  <a:schemeClr val="accent5"/>
                </a:solidFill>
              </a:rPr>
              <a:t>modv:function</a:t>
            </a:r>
            <a:r>
              <a:rPr lang="en-US" dirty="0">
                <a:solidFill>
                  <a:schemeClr val="accent5"/>
                </a:solidFill>
              </a:rPr>
              <a:t>"</a:t>
            </a:r>
            <a:r>
              <a:rPr lang="en-US" dirty="0">
                <a:solidFill>
                  <a:schemeClr val="accent1"/>
                </a:solidFill>
              </a:rPr>
              <a:t>: "</a:t>
            </a:r>
            <a:r>
              <a:rPr lang="en-US" dirty="0" err="1">
                <a:solidFill>
                  <a:schemeClr val="accent1"/>
                </a:solidFill>
              </a:rPr>
              <a:t>readDiscreteInput</a:t>
            </a:r>
            <a:r>
              <a:rPr lang="en-US" dirty="0">
                <a:solidFill>
                  <a:schemeClr val="accent1"/>
                </a:solidFill>
              </a:rPr>
              <a:t>",</a:t>
            </a:r>
          </a:p>
          <a:p>
            <a:r>
              <a:rPr lang="en-US" dirty="0">
                <a:solidFill>
                  <a:schemeClr val="accent1"/>
                </a:solidFill>
              </a:rPr>
              <a:t>          </a:t>
            </a:r>
            <a:r>
              <a:rPr lang="en-US" dirty="0">
                <a:solidFill>
                  <a:schemeClr val="accent5"/>
                </a:solidFill>
              </a:rPr>
              <a:t>"</a:t>
            </a:r>
            <a:r>
              <a:rPr lang="en-US" dirty="0" err="1">
                <a:solidFill>
                  <a:schemeClr val="accent5"/>
                </a:solidFill>
              </a:rPr>
              <a:t>contentType</a:t>
            </a:r>
            <a:r>
              <a:rPr lang="en-US" dirty="0">
                <a:solidFill>
                  <a:schemeClr val="accent5"/>
                </a:solidFill>
              </a:rPr>
              <a:t>"</a:t>
            </a:r>
            <a:r>
              <a:rPr lang="en-US" dirty="0">
                <a:solidFill>
                  <a:schemeClr val="accent1"/>
                </a:solidFill>
              </a:rPr>
              <a:t>: "application/octet-stream"</a:t>
            </a:r>
          </a:p>
          <a:p>
            <a:r>
              <a:rPr lang="en-US" dirty="0">
                <a:solidFill>
                  <a:schemeClr val="accent1"/>
                </a:solidFill>
              </a:rPr>
              <a:t>        }</a:t>
            </a:r>
          </a:p>
          <a:p>
            <a:r>
              <a:rPr lang="en-US" dirty="0">
                <a:solidFill>
                  <a:schemeClr val="accent1"/>
                </a:solidFill>
              </a:rPr>
              <a:t>      ]</a:t>
            </a:r>
          </a:p>
          <a:p>
            <a:r>
              <a:rPr lang="en-US" dirty="0">
                <a:solidFill>
                  <a:schemeClr val="accent1"/>
                </a:solidFill>
              </a:rPr>
              <a:t> ...</a:t>
            </a:r>
          </a:p>
        </p:txBody>
      </p:sp>
      <p:pic>
        <p:nvPicPr>
          <p:cNvPr id="3" name="Graphic 2" descr="Factory with solid fill">
            <a:extLst>
              <a:ext uri="{FF2B5EF4-FFF2-40B4-BE49-F238E27FC236}">
                <a16:creationId xmlns:a16="http://schemas.microsoft.com/office/drawing/2014/main" id="{3613C803-9E11-332D-3412-725AC40B45A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2333" y="4946859"/>
            <a:ext cx="832915" cy="832915"/>
          </a:xfrm>
          <a:prstGeom prst="rect">
            <a:avLst/>
          </a:prstGeom>
        </p:spPr>
      </p:pic>
    </p:spTree>
    <p:extLst>
      <p:ext uri="{BB962C8B-B14F-4D97-AF65-F5344CB8AC3E}">
        <p14:creationId xmlns:p14="http://schemas.microsoft.com/office/powerpoint/2010/main" val="30793001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150"/>
                                        <p:tgtEl>
                                          <p:spTgt spid="16">
                                            <p:txEl>
                                              <p:pRg st="0" end="0"/>
                                            </p:txEl>
                                          </p:spTgt>
                                        </p:tgtEl>
                                      </p:cBhvr>
                                    </p:animEffect>
                                  </p:childTnLst>
                                </p:cTn>
                              </p:par>
                            </p:childTnLst>
                          </p:cTn>
                        </p:par>
                        <p:par>
                          <p:cTn id="8" fill="hold">
                            <p:stCondLst>
                              <p:cond delay="150"/>
                            </p:stCondLst>
                            <p:childTnLst>
                              <p:par>
                                <p:cTn id="9" presetID="22" presetClass="entr" presetSubtype="8" fill="hold" grpId="0" nodeType="after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Effect transition="in" filter="wipe(left)">
                                      <p:cBhvr>
                                        <p:cTn id="11" dur="150"/>
                                        <p:tgtEl>
                                          <p:spTgt spid="16">
                                            <p:txEl>
                                              <p:pRg st="1" end="1"/>
                                            </p:txEl>
                                          </p:spTgt>
                                        </p:tgtEl>
                                      </p:cBhvr>
                                    </p:animEffect>
                                  </p:childTnLst>
                                </p:cTn>
                              </p:par>
                            </p:childTnLst>
                          </p:cTn>
                        </p:par>
                        <p:par>
                          <p:cTn id="12" fill="hold">
                            <p:stCondLst>
                              <p:cond delay="300"/>
                            </p:stCondLst>
                            <p:childTnLst>
                              <p:par>
                                <p:cTn id="13" presetID="22" presetClass="entr" presetSubtype="8" fill="hold" grpId="0" nodeType="after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Effect transition="in" filter="wipe(left)">
                                      <p:cBhvr>
                                        <p:cTn id="15" dur="150"/>
                                        <p:tgtEl>
                                          <p:spTgt spid="16">
                                            <p:txEl>
                                              <p:pRg st="2" end="2"/>
                                            </p:txEl>
                                          </p:spTgt>
                                        </p:tgtEl>
                                      </p:cBhvr>
                                    </p:animEffect>
                                  </p:childTnLst>
                                </p:cTn>
                              </p:par>
                            </p:childTnLst>
                          </p:cTn>
                        </p:par>
                        <p:par>
                          <p:cTn id="16" fill="hold">
                            <p:stCondLst>
                              <p:cond delay="450"/>
                            </p:stCondLst>
                            <p:childTnLst>
                              <p:par>
                                <p:cTn id="17" presetID="22" presetClass="entr" presetSubtype="8" fill="hold" grpId="0" nodeType="after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Effect transition="in" filter="wipe(left)">
                                      <p:cBhvr>
                                        <p:cTn id="19" dur="150"/>
                                        <p:tgtEl>
                                          <p:spTgt spid="16">
                                            <p:txEl>
                                              <p:pRg st="3" end="3"/>
                                            </p:txEl>
                                          </p:spTgt>
                                        </p:tgtEl>
                                      </p:cBhvr>
                                    </p:animEffect>
                                  </p:childTnLst>
                                </p:cTn>
                              </p:par>
                            </p:childTnLst>
                          </p:cTn>
                        </p:par>
                        <p:par>
                          <p:cTn id="20" fill="hold">
                            <p:stCondLst>
                              <p:cond delay="600"/>
                            </p:stCondLst>
                            <p:childTnLst>
                              <p:par>
                                <p:cTn id="21" presetID="22" presetClass="entr" presetSubtype="8" fill="hold" grpId="0" nodeType="after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Effect transition="in" filter="wipe(left)">
                                      <p:cBhvr>
                                        <p:cTn id="23" dur="150"/>
                                        <p:tgtEl>
                                          <p:spTgt spid="16">
                                            <p:txEl>
                                              <p:pRg st="4" end="4"/>
                                            </p:txEl>
                                          </p:spTgt>
                                        </p:tgtEl>
                                      </p:cBhvr>
                                    </p:animEffect>
                                  </p:childTnLst>
                                </p:cTn>
                              </p:par>
                            </p:childTnLst>
                          </p:cTn>
                        </p:par>
                        <p:par>
                          <p:cTn id="24" fill="hold">
                            <p:stCondLst>
                              <p:cond delay="750"/>
                            </p:stCondLst>
                            <p:childTnLst>
                              <p:par>
                                <p:cTn id="25" presetID="22" presetClass="entr" presetSubtype="8" fill="hold" grpId="0" nodeType="after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Effect transition="in" filter="wipe(left)">
                                      <p:cBhvr>
                                        <p:cTn id="27" dur="150"/>
                                        <p:tgtEl>
                                          <p:spTgt spid="16">
                                            <p:txEl>
                                              <p:pRg st="5" end="5"/>
                                            </p:txEl>
                                          </p:spTgt>
                                        </p:tgtEl>
                                      </p:cBhvr>
                                    </p:animEffect>
                                  </p:childTnLst>
                                </p:cTn>
                              </p:par>
                            </p:childTnLst>
                          </p:cTn>
                        </p:par>
                        <p:par>
                          <p:cTn id="28" fill="hold">
                            <p:stCondLst>
                              <p:cond delay="900"/>
                            </p:stCondLst>
                            <p:childTnLst>
                              <p:par>
                                <p:cTn id="29" presetID="22" presetClass="entr" presetSubtype="8" fill="hold" grpId="0" nodeType="after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Effect transition="in" filter="wipe(left)">
                                      <p:cBhvr>
                                        <p:cTn id="31" dur="150"/>
                                        <p:tgtEl>
                                          <p:spTgt spid="16">
                                            <p:txEl>
                                              <p:pRg st="6" end="6"/>
                                            </p:txEl>
                                          </p:spTgt>
                                        </p:tgtEl>
                                      </p:cBhvr>
                                    </p:animEffect>
                                  </p:childTnLst>
                                </p:cTn>
                              </p:par>
                            </p:childTnLst>
                          </p:cTn>
                        </p:par>
                        <p:par>
                          <p:cTn id="32" fill="hold">
                            <p:stCondLst>
                              <p:cond delay="1050"/>
                            </p:stCondLst>
                            <p:childTnLst>
                              <p:par>
                                <p:cTn id="33" presetID="22" presetClass="entr" presetSubtype="8" fill="hold" grpId="0" nodeType="afterEffect">
                                  <p:stCondLst>
                                    <p:cond delay="0"/>
                                  </p:stCondLst>
                                  <p:childTnLst>
                                    <p:set>
                                      <p:cBhvr>
                                        <p:cTn id="34" dur="1" fill="hold">
                                          <p:stCondLst>
                                            <p:cond delay="0"/>
                                          </p:stCondLst>
                                        </p:cTn>
                                        <p:tgtEl>
                                          <p:spTgt spid="16">
                                            <p:txEl>
                                              <p:pRg st="7" end="7"/>
                                            </p:txEl>
                                          </p:spTgt>
                                        </p:tgtEl>
                                        <p:attrNameLst>
                                          <p:attrName>style.visibility</p:attrName>
                                        </p:attrNameLst>
                                      </p:cBhvr>
                                      <p:to>
                                        <p:strVal val="visible"/>
                                      </p:to>
                                    </p:set>
                                    <p:animEffect transition="in" filter="wipe(left)">
                                      <p:cBhvr>
                                        <p:cTn id="35" dur="150"/>
                                        <p:tgtEl>
                                          <p:spTgt spid="16">
                                            <p:txEl>
                                              <p:pRg st="7" end="7"/>
                                            </p:txEl>
                                          </p:spTgt>
                                        </p:tgtEl>
                                      </p:cBhvr>
                                    </p:animEffect>
                                  </p:childTnLst>
                                </p:cTn>
                              </p:par>
                            </p:childTnLst>
                          </p:cTn>
                        </p:par>
                        <p:par>
                          <p:cTn id="36" fill="hold">
                            <p:stCondLst>
                              <p:cond delay="1200"/>
                            </p:stCondLst>
                            <p:childTnLst>
                              <p:par>
                                <p:cTn id="37" presetID="22" presetClass="entr" presetSubtype="8" fill="hold" grpId="0" nodeType="afterEffect">
                                  <p:stCondLst>
                                    <p:cond delay="0"/>
                                  </p:stCondLst>
                                  <p:childTnLst>
                                    <p:set>
                                      <p:cBhvr>
                                        <p:cTn id="38" dur="1" fill="hold">
                                          <p:stCondLst>
                                            <p:cond delay="0"/>
                                          </p:stCondLst>
                                        </p:cTn>
                                        <p:tgtEl>
                                          <p:spTgt spid="16">
                                            <p:txEl>
                                              <p:pRg st="8" end="8"/>
                                            </p:txEl>
                                          </p:spTgt>
                                        </p:tgtEl>
                                        <p:attrNameLst>
                                          <p:attrName>style.visibility</p:attrName>
                                        </p:attrNameLst>
                                      </p:cBhvr>
                                      <p:to>
                                        <p:strVal val="visible"/>
                                      </p:to>
                                    </p:set>
                                    <p:animEffect transition="in" filter="wipe(left)">
                                      <p:cBhvr>
                                        <p:cTn id="39" dur="150"/>
                                        <p:tgtEl>
                                          <p:spTgt spid="16">
                                            <p:txEl>
                                              <p:pRg st="8" end="8"/>
                                            </p:txEl>
                                          </p:spTgt>
                                        </p:tgtEl>
                                      </p:cBhvr>
                                    </p:animEffect>
                                  </p:childTnLst>
                                </p:cTn>
                              </p:par>
                            </p:childTnLst>
                          </p:cTn>
                        </p:par>
                        <p:par>
                          <p:cTn id="40" fill="hold">
                            <p:stCondLst>
                              <p:cond delay="1350"/>
                            </p:stCondLst>
                            <p:childTnLst>
                              <p:par>
                                <p:cTn id="41" presetID="22" presetClass="entr" presetSubtype="8" fill="hold" grpId="0" nodeType="afterEffect">
                                  <p:stCondLst>
                                    <p:cond delay="0"/>
                                  </p:stCondLst>
                                  <p:childTnLst>
                                    <p:set>
                                      <p:cBhvr>
                                        <p:cTn id="42" dur="1" fill="hold">
                                          <p:stCondLst>
                                            <p:cond delay="0"/>
                                          </p:stCondLst>
                                        </p:cTn>
                                        <p:tgtEl>
                                          <p:spTgt spid="16">
                                            <p:txEl>
                                              <p:pRg st="9" end="9"/>
                                            </p:txEl>
                                          </p:spTgt>
                                        </p:tgtEl>
                                        <p:attrNameLst>
                                          <p:attrName>style.visibility</p:attrName>
                                        </p:attrNameLst>
                                      </p:cBhvr>
                                      <p:to>
                                        <p:strVal val="visible"/>
                                      </p:to>
                                    </p:set>
                                    <p:animEffect transition="in" filter="wipe(left)">
                                      <p:cBhvr>
                                        <p:cTn id="43" dur="150"/>
                                        <p:tgtEl>
                                          <p:spTgt spid="16">
                                            <p:txEl>
                                              <p:pRg st="9" end="9"/>
                                            </p:txEl>
                                          </p:spTgt>
                                        </p:tgtEl>
                                      </p:cBhvr>
                                    </p:animEffect>
                                  </p:childTnLst>
                                </p:cTn>
                              </p:par>
                            </p:childTnLst>
                          </p:cTn>
                        </p:par>
                        <p:par>
                          <p:cTn id="44" fill="hold">
                            <p:stCondLst>
                              <p:cond delay="1500"/>
                            </p:stCondLst>
                            <p:childTnLst>
                              <p:par>
                                <p:cTn id="45" presetID="22" presetClass="entr" presetSubtype="8" fill="hold" grpId="0" nodeType="afterEffect">
                                  <p:stCondLst>
                                    <p:cond delay="0"/>
                                  </p:stCondLst>
                                  <p:childTnLst>
                                    <p:set>
                                      <p:cBhvr>
                                        <p:cTn id="46" dur="1" fill="hold">
                                          <p:stCondLst>
                                            <p:cond delay="0"/>
                                          </p:stCondLst>
                                        </p:cTn>
                                        <p:tgtEl>
                                          <p:spTgt spid="16">
                                            <p:txEl>
                                              <p:pRg st="10" end="10"/>
                                            </p:txEl>
                                          </p:spTgt>
                                        </p:tgtEl>
                                        <p:attrNameLst>
                                          <p:attrName>style.visibility</p:attrName>
                                        </p:attrNameLst>
                                      </p:cBhvr>
                                      <p:to>
                                        <p:strVal val="visible"/>
                                      </p:to>
                                    </p:set>
                                    <p:animEffect transition="in" filter="wipe(left)">
                                      <p:cBhvr>
                                        <p:cTn id="47" dur="150"/>
                                        <p:tgtEl>
                                          <p:spTgt spid="16">
                                            <p:txEl>
                                              <p:pRg st="10" end="10"/>
                                            </p:txEl>
                                          </p:spTgt>
                                        </p:tgtEl>
                                      </p:cBhvr>
                                    </p:animEffect>
                                  </p:childTnLst>
                                </p:cTn>
                              </p:par>
                            </p:childTnLst>
                          </p:cTn>
                        </p:par>
                        <p:par>
                          <p:cTn id="48" fill="hold">
                            <p:stCondLst>
                              <p:cond delay="1650"/>
                            </p:stCondLst>
                            <p:childTnLst>
                              <p:par>
                                <p:cTn id="49" presetID="22" presetClass="entr" presetSubtype="8" fill="hold" grpId="0" nodeType="afterEffect">
                                  <p:stCondLst>
                                    <p:cond delay="0"/>
                                  </p:stCondLst>
                                  <p:childTnLst>
                                    <p:set>
                                      <p:cBhvr>
                                        <p:cTn id="50" dur="1" fill="hold">
                                          <p:stCondLst>
                                            <p:cond delay="0"/>
                                          </p:stCondLst>
                                        </p:cTn>
                                        <p:tgtEl>
                                          <p:spTgt spid="16">
                                            <p:txEl>
                                              <p:pRg st="11" end="11"/>
                                            </p:txEl>
                                          </p:spTgt>
                                        </p:tgtEl>
                                        <p:attrNameLst>
                                          <p:attrName>style.visibility</p:attrName>
                                        </p:attrNameLst>
                                      </p:cBhvr>
                                      <p:to>
                                        <p:strVal val="visible"/>
                                      </p:to>
                                    </p:set>
                                    <p:animEffect transition="in" filter="wipe(left)">
                                      <p:cBhvr>
                                        <p:cTn id="51" dur="150"/>
                                        <p:tgtEl>
                                          <p:spTgt spid="16">
                                            <p:txEl>
                                              <p:pRg st="11" end="11"/>
                                            </p:txEl>
                                          </p:spTgt>
                                        </p:tgtEl>
                                      </p:cBhvr>
                                    </p:animEffect>
                                  </p:childTnLst>
                                </p:cTn>
                              </p:par>
                            </p:childTnLst>
                          </p:cTn>
                        </p:par>
                        <p:par>
                          <p:cTn id="52" fill="hold">
                            <p:stCondLst>
                              <p:cond delay="1800"/>
                            </p:stCondLst>
                            <p:childTnLst>
                              <p:par>
                                <p:cTn id="53" presetID="22" presetClass="entr" presetSubtype="8" fill="hold" grpId="0" nodeType="afterEffect">
                                  <p:stCondLst>
                                    <p:cond delay="0"/>
                                  </p:stCondLst>
                                  <p:childTnLst>
                                    <p:set>
                                      <p:cBhvr>
                                        <p:cTn id="54" dur="1" fill="hold">
                                          <p:stCondLst>
                                            <p:cond delay="0"/>
                                          </p:stCondLst>
                                        </p:cTn>
                                        <p:tgtEl>
                                          <p:spTgt spid="16">
                                            <p:txEl>
                                              <p:pRg st="12" end="12"/>
                                            </p:txEl>
                                          </p:spTgt>
                                        </p:tgtEl>
                                        <p:attrNameLst>
                                          <p:attrName>style.visibility</p:attrName>
                                        </p:attrNameLst>
                                      </p:cBhvr>
                                      <p:to>
                                        <p:strVal val="visible"/>
                                      </p:to>
                                    </p:set>
                                    <p:animEffect transition="in" filter="wipe(left)">
                                      <p:cBhvr>
                                        <p:cTn id="55" dur="150"/>
                                        <p:tgtEl>
                                          <p:spTgt spid="16">
                                            <p:txEl>
                                              <p:pRg st="12" end="12"/>
                                            </p:txEl>
                                          </p:spTgt>
                                        </p:tgtEl>
                                      </p:cBhvr>
                                    </p:animEffect>
                                  </p:childTnLst>
                                </p:cTn>
                              </p:par>
                            </p:childTnLst>
                          </p:cTn>
                        </p:par>
                        <p:par>
                          <p:cTn id="56" fill="hold">
                            <p:stCondLst>
                              <p:cond delay="1950"/>
                            </p:stCondLst>
                            <p:childTnLst>
                              <p:par>
                                <p:cTn id="57" presetID="22" presetClass="entr" presetSubtype="8" fill="hold" grpId="0" nodeType="afterEffect">
                                  <p:stCondLst>
                                    <p:cond delay="0"/>
                                  </p:stCondLst>
                                  <p:childTnLst>
                                    <p:set>
                                      <p:cBhvr>
                                        <p:cTn id="58" dur="1" fill="hold">
                                          <p:stCondLst>
                                            <p:cond delay="0"/>
                                          </p:stCondLst>
                                        </p:cTn>
                                        <p:tgtEl>
                                          <p:spTgt spid="16">
                                            <p:txEl>
                                              <p:pRg st="13" end="13"/>
                                            </p:txEl>
                                          </p:spTgt>
                                        </p:tgtEl>
                                        <p:attrNameLst>
                                          <p:attrName>style.visibility</p:attrName>
                                        </p:attrNameLst>
                                      </p:cBhvr>
                                      <p:to>
                                        <p:strVal val="visible"/>
                                      </p:to>
                                    </p:set>
                                    <p:animEffect transition="in" filter="wipe(left)">
                                      <p:cBhvr>
                                        <p:cTn id="59" dur="150"/>
                                        <p:tgtEl>
                                          <p:spTgt spid="16">
                                            <p:txEl>
                                              <p:pRg st="13" end="13"/>
                                            </p:txEl>
                                          </p:spTgt>
                                        </p:tgtEl>
                                      </p:cBhvr>
                                    </p:animEffect>
                                  </p:childTnLst>
                                </p:cTn>
                              </p:par>
                            </p:childTnLst>
                          </p:cTn>
                        </p:par>
                        <p:par>
                          <p:cTn id="60" fill="hold">
                            <p:stCondLst>
                              <p:cond delay="2100"/>
                            </p:stCondLst>
                            <p:childTnLst>
                              <p:par>
                                <p:cTn id="61" presetID="22" presetClass="entr" presetSubtype="8" fill="hold" grpId="0" nodeType="afterEffect">
                                  <p:stCondLst>
                                    <p:cond delay="0"/>
                                  </p:stCondLst>
                                  <p:childTnLst>
                                    <p:set>
                                      <p:cBhvr>
                                        <p:cTn id="62" dur="1" fill="hold">
                                          <p:stCondLst>
                                            <p:cond delay="0"/>
                                          </p:stCondLst>
                                        </p:cTn>
                                        <p:tgtEl>
                                          <p:spTgt spid="16">
                                            <p:txEl>
                                              <p:pRg st="14" end="14"/>
                                            </p:txEl>
                                          </p:spTgt>
                                        </p:tgtEl>
                                        <p:attrNameLst>
                                          <p:attrName>style.visibility</p:attrName>
                                        </p:attrNameLst>
                                      </p:cBhvr>
                                      <p:to>
                                        <p:strVal val="visible"/>
                                      </p:to>
                                    </p:set>
                                    <p:animEffect transition="in" filter="wipe(left)">
                                      <p:cBhvr>
                                        <p:cTn id="63" dur="150"/>
                                        <p:tgtEl>
                                          <p:spTgt spid="16">
                                            <p:txEl>
                                              <p:pRg st="14" end="14"/>
                                            </p:txEl>
                                          </p:spTgt>
                                        </p:tgtEl>
                                      </p:cBhvr>
                                    </p:animEffect>
                                  </p:childTnLst>
                                </p:cTn>
                              </p:par>
                            </p:childTnLst>
                          </p:cTn>
                        </p:par>
                        <p:par>
                          <p:cTn id="64" fill="hold">
                            <p:stCondLst>
                              <p:cond delay="2250"/>
                            </p:stCondLst>
                            <p:childTnLst>
                              <p:par>
                                <p:cTn id="65" presetID="22" presetClass="entr" presetSubtype="8" fill="hold" grpId="0" nodeType="afterEffect">
                                  <p:stCondLst>
                                    <p:cond delay="0"/>
                                  </p:stCondLst>
                                  <p:childTnLst>
                                    <p:set>
                                      <p:cBhvr>
                                        <p:cTn id="66" dur="1" fill="hold">
                                          <p:stCondLst>
                                            <p:cond delay="0"/>
                                          </p:stCondLst>
                                        </p:cTn>
                                        <p:tgtEl>
                                          <p:spTgt spid="16">
                                            <p:txEl>
                                              <p:pRg st="15" end="15"/>
                                            </p:txEl>
                                          </p:spTgt>
                                        </p:tgtEl>
                                        <p:attrNameLst>
                                          <p:attrName>style.visibility</p:attrName>
                                        </p:attrNameLst>
                                      </p:cBhvr>
                                      <p:to>
                                        <p:strVal val="visible"/>
                                      </p:to>
                                    </p:set>
                                    <p:animEffect transition="in" filter="wipe(left)">
                                      <p:cBhvr>
                                        <p:cTn id="67" dur="150"/>
                                        <p:tgtEl>
                                          <p:spTgt spid="16">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3C15C09-B6AE-20CA-13A0-746884755881}"/>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78ACC319-BCD8-2B47-B5E5-70426C321B91}"/>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A20E76B5-1625-C2F8-026C-C3FD589458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6306E351-C610-DDCF-B5FD-DC3F3168C4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4F33A49E-A5AB-6945-DCE4-C61E12CB849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4CA877FC-3EDC-362E-2B79-0540F9EA4033}"/>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A0B5FA19-9CE5-66B7-A1E1-DF70C99BA776}"/>
              </a:ext>
            </a:extLst>
          </p:cNvPr>
          <p:cNvSpPr txBox="1"/>
          <p:nvPr/>
        </p:nvSpPr>
        <p:spPr>
          <a:xfrm>
            <a:off x="9404589" y="5719081"/>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5D61B757-8C33-AD0B-F4E5-44D7338948B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72570" y="4272543"/>
            <a:ext cx="719126" cy="719126"/>
          </a:xfrm>
          <a:prstGeom prst="rect">
            <a:avLst/>
          </a:prstGeom>
        </p:spPr>
      </p:pic>
      <p:pic>
        <p:nvPicPr>
          <p:cNvPr id="12" name="Graphic 11" descr="Laptop with solid fill">
            <a:extLst>
              <a:ext uri="{FF2B5EF4-FFF2-40B4-BE49-F238E27FC236}">
                <a16:creationId xmlns:a16="http://schemas.microsoft.com/office/drawing/2014/main" id="{326F8182-8B34-CC9D-4E72-745859EFDF28}"/>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367552" y="4281210"/>
            <a:ext cx="832915" cy="832914"/>
          </a:xfrm>
          <a:prstGeom prst="rect">
            <a:avLst/>
          </a:prstGeom>
        </p:spPr>
      </p:pic>
      <p:pic>
        <p:nvPicPr>
          <p:cNvPr id="14" name="Graphic 13" descr="Processor with solid fill">
            <a:extLst>
              <a:ext uri="{FF2B5EF4-FFF2-40B4-BE49-F238E27FC236}">
                <a16:creationId xmlns:a16="http://schemas.microsoft.com/office/drawing/2014/main" id="{18EEEBDD-AF5E-BE3F-F786-2A99D1A08B9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9528" y="4980712"/>
            <a:ext cx="765210" cy="765210"/>
          </a:xfrm>
          <a:prstGeom prst="rect">
            <a:avLst/>
          </a:prstGeom>
        </p:spPr>
      </p:pic>
      <p:sp>
        <p:nvSpPr>
          <p:cNvPr id="15" name="Title 1">
            <a:extLst>
              <a:ext uri="{FF2B5EF4-FFF2-40B4-BE49-F238E27FC236}">
                <a16:creationId xmlns:a16="http://schemas.microsoft.com/office/drawing/2014/main" id="{2EFACBEA-005A-055E-7573-10FFB38CB8F9}"/>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14507FEA-4023-F566-F515-03141F828245}"/>
              </a:ext>
            </a:extLst>
          </p:cNvPr>
          <p:cNvSpPr txBox="1"/>
          <p:nvPr/>
        </p:nvSpPr>
        <p:spPr>
          <a:xfrm>
            <a:off x="1083789" y="1583661"/>
            <a:ext cx="7576500" cy="4524315"/>
          </a:xfrm>
          <a:prstGeom prst="rect">
            <a:avLst/>
          </a:prstGeom>
          <a:noFill/>
        </p:spPr>
        <p:txBody>
          <a:bodyPr wrap="square" rtlCol="0">
            <a:spAutoFit/>
          </a:bodyPr>
          <a:lstStyle/>
          <a:p>
            <a:r>
              <a:rPr lang="en-US" dirty="0">
                <a:solidFill>
                  <a:schemeClr val="accent3">
                    <a:lumMod val="75000"/>
                  </a:schemeClr>
                </a:solidFill>
              </a:rPr>
              <a:t>... </a:t>
            </a:r>
          </a:p>
          <a:p>
            <a:r>
              <a:rPr lang="en-US" dirty="0">
                <a:solidFill>
                  <a:schemeClr val="accent3">
                    <a:lumMod val="75000"/>
                  </a:schemeClr>
                </a:solidFill>
              </a:rPr>
              <a:t>"base": "</a:t>
            </a:r>
            <a:r>
              <a:rPr lang="en-US" dirty="0" err="1">
                <a:solidFill>
                  <a:schemeClr val="accent3">
                    <a:lumMod val="75000"/>
                  </a:schemeClr>
                </a:solidFill>
              </a:rPr>
              <a:t>modbus+tcp</a:t>
            </a:r>
            <a:r>
              <a:rPr lang="en-US" dirty="0">
                <a:solidFill>
                  <a:schemeClr val="accent3">
                    <a:lumMod val="75000"/>
                  </a:schemeClr>
                </a:solidFill>
              </a:rPr>
              <a:t>://coffee-machine.example.com:502/1/",</a:t>
            </a:r>
          </a:p>
          <a:p>
            <a:r>
              <a:rPr lang="en-US" dirty="0">
                <a:solidFill>
                  <a:schemeClr val="accent3">
                    <a:lumMod val="75000"/>
                  </a:schemeClr>
                </a:solidFill>
              </a:rPr>
              <a:t>  "properties": {</a:t>
            </a:r>
          </a:p>
          <a:p>
            <a:r>
              <a:rPr lang="en-US" dirty="0">
                <a:solidFill>
                  <a:schemeClr val="accent3">
                    <a:lumMod val="75000"/>
                  </a:schemeClr>
                </a:solidFill>
              </a:rPr>
              <a:t>    "</a:t>
            </a:r>
            <a:r>
              <a:rPr lang="en-US" dirty="0" err="1">
                <a:solidFill>
                  <a:schemeClr val="accent3">
                    <a:lumMod val="75000"/>
                  </a:schemeClr>
                </a:solidFill>
              </a:rPr>
              <a:t>waterTankPresent</a:t>
            </a:r>
            <a:r>
              <a:rPr lang="en-US" dirty="0">
                <a:solidFill>
                  <a:schemeClr val="accent3">
                    <a:lumMod val="75000"/>
                  </a:schemeClr>
                </a:solidFill>
              </a:rPr>
              <a:t>": {</a:t>
            </a:r>
          </a:p>
          <a:p>
            <a:r>
              <a:rPr lang="en-US" dirty="0">
                <a:solidFill>
                  <a:schemeClr val="accent3">
                    <a:lumMod val="75000"/>
                  </a:schemeClr>
                </a:solidFill>
              </a:rPr>
              <a:t>      "title": "Water Tank Present",</a:t>
            </a:r>
          </a:p>
          <a:p>
            <a:r>
              <a:rPr lang="en-US" dirty="0">
                <a:solidFill>
                  <a:schemeClr val="accent3">
                    <a:lumMod val="75000"/>
                  </a:schemeClr>
                </a:solidFill>
              </a:rPr>
              <a:t>      "type": "integer",</a:t>
            </a:r>
          </a:p>
          <a:p>
            <a:r>
              <a:rPr lang="en-US" dirty="0">
                <a:solidFill>
                  <a:schemeClr val="accent3">
                    <a:lumMod val="75000"/>
                  </a:schemeClr>
                </a:solidFill>
              </a:rPr>
              <a:t>      "description": "Indicates whether the water tank is correctly inserted",</a:t>
            </a:r>
          </a:p>
          <a:p>
            <a:r>
              <a:rPr lang="en-US" dirty="0">
                <a:solidFill>
                  <a:schemeClr val="accent3">
                    <a:lumMod val="75000"/>
                  </a:schemeClr>
                </a:solidFill>
              </a:rPr>
              <a:t>      "forms": [</a:t>
            </a:r>
          </a:p>
          <a:p>
            <a:r>
              <a:rPr lang="en-US" dirty="0">
                <a:solidFill>
                  <a:schemeClr val="accent3">
                    <a:lumMod val="75000"/>
                  </a:schemeClr>
                </a:solidFill>
              </a:rPr>
              <a:t>        {</a:t>
            </a:r>
          </a:p>
          <a:p>
            <a:r>
              <a:rPr lang="en-US" dirty="0">
                <a:solidFill>
                  <a:schemeClr val="accent3">
                    <a:lumMod val="75000"/>
                  </a:schemeClr>
                </a:solidFill>
              </a:rPr>
              <a:t>          "op": "</a:t>
            </a:r>
            <a:r>
              <a:rPr lang="en-US" dirty="0" err="1">
                <a:solidFill>
                  <a:schemeClr val="accent3">
                    <a:lumMod val="75000"/>
                  </a:schemeClr>
                </a:solidFill>
              </a:rPr>
              <a:t>readproperty</a:t>
            </a:r>
            <a:r>
              <a:rPr lang="en-US" dirty="0">
                <a:solidFill>
                  <a:schemeClr val="accent3">
                    <a:lumMod val="75000"/>
                  </a:schemeClr>
                </a:solidFill>
              </a:rPr>
              <a:t>",</a:t>
            </a:r>
          </a:p>
          <a:p>
            <a:r>
              <a:rPr lang="en-US" dirty="0">
                <a:solidFill>
                  <a:schemeClr val="accent3">
                    <a:lumMod val="75000"/>
                  </a:schemeClr>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"10003",</a:t>
            </a:r>
          </a:p>
          <a:p>
            <a:r>
              <a:rPr lang="en-US" dirty="0">
                <a:solidFill>
                  <a:schemeClr val="accent3">
                    <a:lumMod val="75000"/>
                  </a:schemeClr>
                </a:solidFill>
              </a:rPr>
              <a:t>          "</a:t>
            </a:r>
            <a:r>
              <a:rPr lang="en-US" dirty="0" err="1">
                <a:solidFill>
                  <a:schemeClr val="accent3">
                    <a:lumMod val="75000"/>
                  </a:schemeClr>
                </a:solidFill>
              </a:rPr>
              <a:t>modv:function</a:t>
            </a:r>
            <a:r>
              <a:rPr lang="en-US" dirty="0">
                <a:solidFill>
                  <a:schemeClr val="accent3">
                    <a:lumMod val="75000"/>
                  </a:schemeClr>
                </a:solidFill>
              </a:rPr>
              <a:t>": "</a:t>
            </a:r>
            <a:r>
              <a:rPr lang="en-US" dirty="0" err="1">
                <a:solidFill>
                  <a:schemeClr val="accent3">
                    <a:lumMod val="75000"/>
                  </a:schemeClr>
                </a:solidFill>
              </a:rPr>
              <a:t>readDiscreteInput</a:t>
            </a:r>
            <a:r>
              <a:rPr lang="en-US" dirty="0">
                <a:solidFill>
                  <a:schemeClr val="accent3">
                    <a:lumMod val="75000"/>
                  </a:schemeClr>
                </a:solidFill>
              </a:rPr>
              <a:t>",</a:t>
            </a:r>
          </a:p>
          <a:p>
            <a:r>
              <a:rPr lang="en-US" dirty="0">
                <a:solidFill>
                  <a:schemeClr val="accent3">
                    <a:lumMod val="75000"/>
                  </a:schemeClr>
                </a:solidFill>
              </a:rPr>
              <a:t>          "</a:t>
            </a:r>
            <a:r>
              <a:rPr lang="en-US" dirty="0" err="1">
                <a:solidFill>
                  <a:schemeClr val="accent3">
                    <a:lumMod val="75000"/>
                  </a:schemeClr>
                </a:solidFill>
              </a:rPr>
              <a:t>contentType</a:t>
            </a:r>
            <a:r>
              <a:rPr lang="en-US" dirty="0">
                <a:solidFill>
                  <a:schemeClr val="accent3">
                    <a:lumMod val="75000"/>
                  </a:schemeClr>
                </a:solidFill>
              </a:rPr>
              <a:t>": "application/octet-stream"</a:t>
            </a:r>
          </a:p>
          <a:p>
            <a:r>
              <a:rPr lang="en-US" dirty="0">
                <a:solidFill>
                  <a:schemeClr val="accent3">
                    <a:lumMod val="75000"/>
                  </a:schemeClr>
                </a:solidFill>
              </a:rPr>
              <a:t>        }</a:t>
            </a:r>
          </a:p>
          <a:p>
            <a:r>
              <a:rPr lang="en-US" dirty="0">
                <a:solidFill>
                  <a:schemeClr val="accent3">
                    <a:lumMod val="75000"/>
                  </a:schemeClr>
                </a:solidFill>
              </a:rPr>
              <a:t>      ]</a:t>
            </a:r>
          </a:p>
          <a:p>
            <a:r>
              <a:rPr lang="en-US" dirty="0">
                <a:solidFill>
                  <a:schemeClr val="accent3">
                    <a:lumMod val="75000"/>
                  </a:schemeClr>
                </a:solidFill>
              </a:rPr>
              <a:t> ...</a:t>
            </a:r>
          </a:p>
        </p:txBody>
      </p:sp>
      <p:pic>
        <p:nvPicPr>
          <p:cNvPr id="3" name="Graphic 2" descr="Factory with solid fill">
            <a:extLst>
              <a:ext uri="{FF2B5EF4-FFF2-40B4-BE49-F238E27FC236}">
                <a16:creationId xmlns:a16="http://schemas.microsoft.com/office/drawing/2014/main" id="{77C379C3-940C-4193-AE77-1A11D736392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2333" y="4946859"/>
            <a:ext cx="832915" cy="832915"/>
          </a:xfrm>
          <a:prstGeom prst="rect">
            <a:avLst/>
          </a:prstGeom>
        </p:spPr>
      </p:pic>
    </p:spTree>
    <p:extLst>
      <p:ext uri="{BB962C8B-B14F-4D97-AF65-F5344CB8AC3E}">
        <p14:creationId xmlns:p14="http://schemas.microsoft.com/office/powerpoint/2010/main" val="1864253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15258E9-70F7-2637-5F1A-58EFF8E98F44}"/>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6A41F2C1-D0FD-65B8-9260-1771CFA16EBA}"/>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37AC031C-2A64-3D0A-F001-278C0C1330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6DF49B07-C9C5-1E22-9E98-6711F1A7FA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811CC01F-BDFC-68B2-1DC2-772A92D023C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FAEAEB82-09A6-9CFB-7A7C-C8278424D61B}"/>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A7CB7877-BB72-6389-466E-9FB34ED3F8D1}"/>
              </a:ext>
            </a:extLst>
          </p:cNvPr>
          <p:cNvSpPr txBox="1"/>
          <p:nvPr/>
        </p:nvSpPr>
        <p:spPr>
          <a:xfrm>
            <a:off x="9404589" y="5719081"/>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141EAEE0-A938-973D-B991-5FC627AC605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72570" y="4272543"/>
            <a:ext cx="719126" cy="719126"/>
          </a:xfrm>
          <a:prstGeom prst="rect">
            <a:avLst/>
          </a:prstGeom>
        </p:spPr>
      </p:pic>
      <p:pic>
        <p:nvPicPr>
          <p:cNvPr id="12" name="Graphic 11" descr="Laptop with solid fill">
            <a:extLst>
              <a:ext uri="{FF2B5EF4-FFF2-40B4-BE49-F238E27FC236}">
                <a16:creationId xmlns:a16="http://schemas.microsoft.com/office/drawing/2014/main" id="{24F8399E-0FB4-B432-537C-267653D6AEC1}"/>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367552" y="4281210"/>
            <a:ext cx="832915" cy="832914"/>
          </a:xfrm>
          <a:prstGeom prst="rect">
            <a:avLst/>
          </a:prstGeom>
        </p:spPr>
      </p:pic>
      <p:pic>
        <p:nvPicPr>
          <p:cNvPr id="14" name="Graphic 13" descr="Processor with solid fill">
            <a:extLst>
              <a:ext uri="{FF2B5EF4-FFF2-40B4-BE49-F238E27FC236}">
                <a16:creationId xmlns:a16="http://schemas.microsoft.com/office/drawing/2014/main" id="{4A74A878-3892-47F4-7CB9-AA604673F42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9528" y="4980712"/>
            <a:ext cx="765210" cy="765210"/>
          </a:xfrm>
          <a:prstGeom prst="rect">
            <a:avLst/>
          </a:prstGeom>
        </p:spPr>
      </p:pic>
      <p:sp>
        <p:nvSpPr>
          <p:cNvPr id="15" name="Title 1">
            <a:extLst>
              <a:ext uri="{FF2B5EF4-FFF2-40B4-BE49-F238E27FC236}">
                <a16:creationId xmlns:a16="http://schemas.microsoft.com/office/drawing/2014/main" id="{997132E6-12F8-3E71-7C83-38009DF966F1}"/>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68EEC7FA-98A6-6284-55A5-B36C58F63316}"/>
              </a:ext>
            </a:extLst>
          </p:cNvPr>
          <p:cNvSpPr txBox="1"/>
          <p:nvPr/>
        </p:nvSpPr>
        <p:spPr>
          <a:xfrm>
            <a:off x="1083789" y="1583661"/>
            <a:ext cx="7576500" cy="4524315"/>
          </a:xfrm>
          <a:prstGeom prst="rect">
            <a:avLst/>
          </a:prstGeom>
          <a:noFill/>
        </p:spPr>
        <p:txBody>
          <a:bodyPr wrap="square" rtlCol="0">
            <a:spAutoFit/>
          </a:bodyPr>
          <a:lstStyle/>
          <a:p>
            <a:r>
              <a:rPr lang="en-US" dirty="0">
                <a:solidFill>
                  <a:schemeClr val="accent3">
                    <a:lumMod val="75000"/>
                  </a:schemeClr>
                </a:solidFill>
              </a:rPr>
              <a:t>... </a:t>
            </a:r>
          </a:p>
          <a:p>
            <a:r>
              <a:rPr lang="en-US" dirty="0">
                <a:solidFill>
                  <a:schemeClr val="accent3">
                    <a:lumMod val="75000"/>
                  </a:schemeClr>
                </a:solidFill>
              </a:rPr>
              <a:t>"base": "</a:t>
            </a:r>
            <a:r>
              <a:rPr lang="en-US" dirty="0" err="1">
                <a:solidFill>
                  <a:schemeClr val="accent3">
                    <a:lumMod val="75000"/>
                  </a:schemeClr>
                </a:solidFill>
              </a:rPr>
              <a:t>modbus+tcp</a:t>
            </a:r>
            <a:r>
              <a:rPr lang="en-US" dirty="0">
                <a:solidFill>
                  <a:schemeClr val="accent3">
                    <a:lumMod val="75000"/>
                  </a:schemeClr>
                </a:solidFill>
              </a:rPr>
              <a:t>://coffee-machine.example.com:502/1/",</a:t>
            </a:r>
          </a:p>
          <a:p>
            <a:r>
              <a:rPr lang="en-US" dirty="0">
                <a:solidFill>
                  <a:schemeClr val="accent3">
                    <a:lumMod val="75000"/>
                  </a:schemeClr>
                </a:solidFill>
              </a:rPr>
              <a:t>  "properties": {</a:t>
            </a:r>
          </a:p>
          <a:p>
            <a:r>
              <a:rPr lang="en-US" dirty="0">
                <a:solidFill>
                  <a:schemeClr val="accent3">
                    <a:lumMod val="75000"/>
                  </a:schemeClr>
                </a:solidFill>
              </a:rPr>
              <a:t>    "</a:t>
            </a:r>
            <a:r>
              <a:rPr lang="en-US" dirty="0" err="1">
                <a:solidFill>
                  <a:schemeClr val="accent3">
                    <a:lumMod val="75000"/>
                  </a:schemeClr>
                </a:solidFill>
              </a:rPr>
              <a:t>waterTankPresent</a:t>
            </a:r>
            <a:r>
              <a:rPr lang="en-US" dirty="0">
                <a:solidFill>
                  <a:schemeClr val="accent3">
                    <a:lumMod val="75000"/>
                  </a:schemeClr>
                </a:solidFill>
              </a:rPr>
              <a:t>": {</a:t>
            </a:r>
          </a:p>
          <a:p>
            <a:r>
              <a:rPr lang="en-US" dirty="0">
                <a:solidFill>
                  <a:schemeClr val="accent3">
                    <a:lumMod val="75000"/>
                  </a:schemeClr>
                </a:solidFill>
              </a:rPr>
              <a:t>      "title": "Water Tank Present",</a:t>
            </a:r>
          </a:p>
          <a:p>
            <a:r>
              <a:rPr lang="en-US" dirty="0">
                <a:solidFill>
                  <a:schemeClr val="accent3">
                    <a:lumMod val="75000"/>
                  </a:schemeClr>
                </a:solidFill>
              </a:rPr>
              <a:t>      "type": "integer",</a:t>
            </a:r>
          </a:p>
          <a:p>
            <a:r>
              <a:rPr lang="en-US" dirty="0">
                <a:solidFill>
                  <a:schemeClr val="accent3">
                    <a:lumMod val="75000"/>
                  </a:schemeClr>
                </a:solidFill>
              </a:rPr>
              <a:t>      "description": "Indicates whether the water tank is correctly inserted",</a:t>
            </a:r>
          </a:p>
          <a:p>
            <a:r>
              <a:rPr lang="en-US" dirty="0">
                <a:solidFill>
                  <a:schemeClr val="accent3">
                    <a:lumMod val="75000"/>
                  </a:schemeClr>
                </a:solidFill>
              </a:rPr>
              <a:t>      "forms": [</a:t>
            </a:r>
          </a:p>
          <a:p>
            <a:r>
              <a:rPr lang="en-US" dirty="0">
                <a:solidFill>
                  <a:schemeClr val="accent3">
                    <a:lumMod val="75000"/>
                  </a:schemeClr>
                </a:solidFill>
              </a:rPr>
              <a:t>        {</a:t>
            </a:r>
          </a:p>
          <a:p>
            <a:r>
              <a:rPr lang="en-US" dirty="0">
                <a:solidFill>
                  <a:schemeClr val="accent3">
                    <a:lumMod val="75000"/>
                  </a:schemeClr>
                </a:solidFill>
              </a:rPr>
              <a:t>          "op": "</a:t>
            </a:r>
            <a:r>
              <a:rPr lang="en-US" dirty="0" err="1">
                <a:solidFill>
                  <a:schemeClr val="accent3">
                    <a:lumMod val="75000"/>
                  </a:schemeClr>
                </a:solidFill>
              </a:rPr>
              <a:t>readproperty</a:t>
            </a:r>
            <a:r>
              <a:rPr lang="en-US" dirty="0">
                <a:solidFill>
                  <a:schemeClr val="accent3">
                    <a:lumMod val="75000"/>
                  </a:schemeClr>
                </a:solidFill>
              </a:rPr>
              <a:t>",</a:t>
            </a:r>
          </a:p>
          <a:p>
            <a:r>
              <a:rPr lang="en-US" dirty="0">
                <a:solidFill>
                  <a:schemeClr val="accent3">
                    <a:lumMod val="75000"/>
                  </a:schemeClr>
                </a:solidFill>
              </a:rPr>
              <a:t>          </a:t>
            </a:r>
            <a:r>
              <a:rPr lang="en-US" dirty="0">
                <a:solidFill>
                  <a:schemeClr val="accent5"/>
                </a:solidFill>
              </a:rPr>
              <a:t>"</a:t>
            </a:r>
            <a:r>
              <a:rPr lang="en-US" dirty="0" err="1">
                <a:solidFill>
                  <a:schemeClr val="accent5"/>
                </a:solidFill>
              </a:rPr>
              <a:t>href</a:t>
            </a:r>
            <a:r>
              <a:rPr lang="en-US" dirty="0">
                <a:solidFill>
                  <a:schemeClr val="accent5"/>
                </a:solidFill>
              </a:rPr>
              <a:t>"</a:t>
            </a:r>
            <a:r>
              <a:rPr lang="en-US" dirty="0">
                <a:solidFill>
                  <a:schemeClr val="accent1"/>
                </a:solidFill>
              </a:rPr>
              <a:t>: "10003",</a:t>
            </a:r>
          </a:p>
          <a:p>
            <a:r>
              <a:rPr lang="en-US" dirty="0">
                <a:solidFill>
                  <a:schemeClr val="accent3">
                    <a:lumMod val="75000"/>
                  </a:schemeClr>
                </a:solidFill>
              </a:rPr>
              <a:t>          </a:t>
            </a:r>
            <a:r>
              <a:rPr lang="en-US" dirty="0">
                <a:solidFill>
                  <a:schemeClr val="accent5"/>
                </a:solidFill>
              </a:rPr>
              <a:t>"</a:t>
            </a:r>
            <a:r>
              <a:rPr lang="en-US" dirty="0" err="1">
                <a:solidFill>
                  <a:schemeClr val="accent5"/>
                </a:solidFill>
              </a:rPr>
              <a:t>modv:function</a:t>
            </a:r>
            <a:r>
              <a:rPr lang="en-US" dirty="0">
                <a:solidFill>
                  <a:schemeClr val="accent5"/>
                </a:solidFill>
              </a:rPr>
              <a:t>"</a:t>
            </a:r>
            <a:r>
              <a:rPr lang="en-US" dirty="0">
                <a:solidFill>
                  <a:schemeClr val="accent1"/>
                </a:solidFill>
              </a:rPr>
              <a:t>: "</a:t>
            </a:r>
            <a:r>
              <a:rPr lang="en-US" dirty="0" err="1">
                <a:solidFill>
                  <a:schemeClr val="accent1"/>
                </a:solidFill>
              </a:rPr>
              <a:t>readDiscreteInput</a:t>
            </a:r>
            <a:r>
              <a:rPr lang="en-US" dirty="0">
                <a:solidFill>
                  <a:schemeClr val="accent1"/>
                </a:solidFill>
              </a:rPr>
              <a:t>",</a:t>
            </a:r>
          </a:p>
          <a:p>
            <a:r>
              <a:rPr lang="en-US" dirty="0">
                <a:solidFill>
                  <a:schemeClr val="accent3">
                    <a:lumMod val="75000"/>
                  </a:schemeClr>
                </a:solidFill>
              </a:rPr>
              <a:t>          "</a:t>
            </a:r>
            <a:r>
              <a:rPr lang="en-US" dirty="0" err="1">
                <a:solidFill>
                  <a:schemeClr val="accent3">
                    <a:lumMod val="75000"/>
                  </a:schemeClr>
                </a:solidFill>
              </a:rPr>
              <a:t>contentType</a:t>
            </a:r>
            <a:r>
              <a:rPr lang="en-US" dirty="0">
                <a:solidFill>
                  <a:schemeClr val="accent3">
                    <a:lumMod val="75000"/>
                  </a:schemeClr>
                </a:solidFill>
              </a:rPr>
              <a:t>": "application/octet-stream"</a:t>
            </a:r>
          </a:p>
          <a:p>
            <a:r>
              <a:rPr lang="en-US" dirty="0">
                <a:solidFill>
                  <a:schemeClr val="accent3">
                    <a:lumMod val="75000"/>
                  </a:schemeClr>
                </a:solidFill>
              </a:rPr>
              <a:t>        }</a:t>
            </a:r>
          </a:p>
          <a:p>
            <a:r>
              <a:rPr lang="en-US" dirty="0">
                <a:solidFill>
                  <a:schemeClr val="accent3">
                    <a:lumMod val="75000"/>
                  </a:schemeClr>
                </a:solidFill>
              </a:rPr>
              <a:t>      ]</a:t>
            </a:r>
          </a:p>
          <a:p>
            <a:r>
              <a:rPr lang="en-US" dirty="0">
                <a:solidFill>
                  <a:schemeClr val="accent3">
                    <a:lumMod val="75000"/>
                  </a:schemeClr>
                </a:solidFill>
              </a:rPr>
              <a:t> ...</a:t>
            </a:r>
          </a:p>
        </p:txBody>
      </p:sp>
      <p:pic>
        <p:nvPicPr>
          <p:cNvPr id="3" name="Graphic 2" descr="Factory with solid fill">
            <a:extLst>
              <a:ext uri="{FF2B5EF4-FFF2-40B4-BE49-F238E27FC236}">
                <a16:creationId xmlns:a16="http://schemas.microsoft.com/office/drawing/2014/main" id="{50C43906-3686-0088-16F8-6AC921F8B62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2333" y="4946859"/>
            <a:ext cx="832915" cy="832915"/>
          </a:xfrm>
          <a:prstGeom prst="rect">
            <a:avLst/>
          </a:prstGeom>
        </p:spPr>
      </p:pic>
    </p:spTree>
    <p:extLst>
      <p:ext uri="{BB962C8B-B14F-4D97-AF65-F5344CB8AC3E}">
        <p14:creationId xmlns:p14="http://schemas.microsoft.com/office/powerpoint/2010/main" val="35382522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9507C03-C66B-56E1-E8BF-5AD4393180C4}"/>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E3948135-9E9D-1084-AC7C-F7F3461E1450}"/>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053FE704-36CC-400C-1AA4-20CF305495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E819A7E2-E67B-82C9-A771-D22AC6CE25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1CCCB1A5-8713-1EC0-39BE-674383A8F22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894D7587-D729-D33E-E85E-74BE1B694A23}"/>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40868847-83A4-070F-30DA-0C1ACE8B0EFB}"/>
              </a:ext>
            </a:extLst>
          </p:cNvPr>
          <p:cNvSpPr txBox="1"/>
          <p:nvPr/>
        </p:nvSpPr>
        <p:spPr>
          <a:xfrm>
            <a:off x="9404589" y="5719081"/>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51FEE85A-2159-3495-BA38-C8B12DFE03E2}"/>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72570" y="4272543"/>
            <a:ext cx="719126" cy="719126"/>
          </a:xfrm>
          <a:prstGeom prst="rect">
            <a:avLst/>
          </a:prstGeom>
        </p:spPr>
      </p:pic>
      <p:pic>
        <p:nvPicPr>
          <p:cNvPr id="12" name="Graphic 11" descr="Laptop with solid fill">
            <a:extLst>
              <a:ext uri="{FF2B5EF4-FFF2-40B4-BE49-F238E27FC236}">
                <a16:creationId xmlns:a16="http://schemas.microsoft.com/office/drawing/2014/main" id="{679CB14C-773F-FC1A-E28A-165B8916DB9A}"/>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367552" y="4281210"/>
            <a:ext cx="832915" cy="832914"/>
          </a:xfrm>
          <a:prstGeom prst="rect">
            <a:avLst/>
          </a:prstGeom>
        </p:spPr>
      </p:pic>
      <p:pic>
        <p:nvPicPr>
          <p:cNvPr id="14" name="Graphic 13" descr="Processor with solid fill">
            <a:extLst>
              <a:ext uri="{FF2B5EF4-FFF2-40B4-BE49-F238E27FC236}">
                <a16:creationId xmlns:a16="http://schemas.microsoft.com/office/drawing/2014/main" id="{3ACC371E-AE8A-0660-CFDD-E3A67F2322A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9528" y="4980712"/>
            <a:ext cx="765210" cy="765210"/>
          </a:xfrm>
          <a:prstGeom prst="rect">
            <a:avLst/>
          </a:prstGeom>
        </p:spPr>
      </p:pic>
      <p:sp>
        <p:nvSpPr>
          <p:cNvPr id="15" name="Title 1">
            <a:extLst>
              <a:ext uri="{FF2B5EF4-FFF2-40B4-BE49-F238E27FC236}">
                <a16:creationId xmlns:a16="http://schemas.microsoft.com/office/drawing/2014/main" id="{5D353F83-2242-6AFD-E4D8-9BA1A7C0A539}"/>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E48F25BE-E38D-31D6-E54A-9136EE228702}"/>
              </a:ext>
            </a:extLst>
          </p:cNvPr>
          <p:cNvSpPr txBox="1"/>
          <p:nvPr/>
        </p:nvSpPr>
        <p:spPr>
          <a:xfrm>
            <a:off x="1083789" y="1583661"/>
            <a:ext cx="7576500" cy="4524315"/>
          </a:xfrm>
          <a:prstGeom prst="rect">
            <a:avLst/>
          </a:prstGeom>
          <a:noFill/>
        </p:spPr>
        <p:txBody>
          <a:bodyPr wrap="square" rtlCol="0">
            <a:spAutoFit/>
          </a:bodyPr>
          <a:lstStyle/>
          <a:p>
            <a:r>
              <a:rPr lang="en-US" dirty="0">
                <a:solidFill>
                  <a:schemeClr val="accent3">
                    <a:lumMod val="75000"/>
                  </a:schemeClr>
                </a:solidFill>
              </a:rPr>
              <a:t>... </a:t>
            </a:r>
          </a:p>
          <a:p>
            <a:r>
              <a:rPr lang="en-US" dirty="0">
                <a:solidFill>
                  <a:schemeClr val="accent3">
                    <a:lumMod val="75000"/>
                  </a:schemeClr>
                </a:solidFill>
              </a:rPr>
              <a:t>"base": "</a:t>
            </a:r>
            <a:r>
              <a:rPr lang="en-US" dirty="0" err="1">
                <a:solidFill>
                  <a:schemeClr val="accent3">
                    <a:lumMod val="75000"/>
                  </a:schemeClr>
                </a:solidFill>
              </a:rPr>
              <a:t>modbus+tcp</a:t>
            </a:r>
            <a:r>
              <a:rPr lang="en-US" dirty="0">
                <a:solidFill>
                  <a:schemeClr val="accent3">
                    <a:lumMod val="75000"/>
                  </a:schemeClr>
                </a:solidFill>
              </a:rPr>
              <a:t>://coffee-machine.example.com:502/1/",</a:t>
            </a:r>
          </a:p>
          <a:p>
            <a:r>
              <a:rPr lang="en-US" dirty="0">
                <a:solidFill>
                  <a:schemeClr val="accent3">
                    <a:lumMod val="75000"/>
                  </a:schemeClr>
                </a:solidFill>
              </a:rPr>
              <a:t>  "properties": {</a:t>
            </a:r>
          </a:p>
          <a:p>
            <a:r>
              <a:rPr lang="en-US" dirty="0">
                <a:solidFill>
                  <a:schemeClr val="accent3">
                    <a:lumMod val="75000"/>
                  </a:schemeClr>
                </a:solidFill>
              </a:rPr>
              <a:t>    "</a:t>
            </a:r>
            <a:r>
              <a:rPr lang="en-US" dirty="0" err="1">
                <a:solidFill>
                  <a:schemeClr val="accent3">
                    <a:lumMod val="75000"/>
                  </a:schemeClr>
                </a:solidFill>
              </a:rPr>
              <a:t>waterTankPresent</a:t>
            </a:r>
            <a:r>
              <a:rPr lang="en-US" dirty="0">
                <a:solidFill>
                  <a:schemeClr val="accent3">
                    <a:lumMod val="75000"/>
                  </a:schemeClr>
                </a:solidFill>
              </a:rPr>
              <a:t>": {</a:t>
            </a:r>
          </a:p>
          <a:p>
            <a:r>
              <a:rPr lang="en-US" dirty="0">
                <a:solidFill>
                  <a:schemeClr val="accent3">
                    <a:lumMod val="75000"/>
                  </a:schemeClr>
                </a:solidFill>
              </a:rPr>
              <a:t>      "title": "Water Tank Present",</a:t>
            </a:r>
          </a:p>
          <a:p>
            <a:r>
              <a:rPr lang="en-US" dirty="0">
                <a:solidFill>
                  <a:schemeClr val="accent3">
                    <a:lumMod val="75000"/>
                  </a:schemeClr>
                </a:solidFill>
              </a:rPr>
              <a:t>      "type": "integer",</a:t>
            </a:r>
          </a:p>
          <a:p>
            <a:r>
              <a:rPr lang="en-US" dirty="0">
                <a:solidFill>
                  <a:schemeClr val="accent3">
                    <a:lumMod val="75000"/>
                  </a:schemeClr>
                </a:solidFill>
              </a:rPr>
              <a:t>      "description": "Indicates whether the water tank is correctly inserted",</a:t>
            </a:r>
          </a:p>
          <a:p>
            <a:r>
              <a:rPr lang="en-US" dirty="0">
                <a:solidFill>
                  <a:schemeClr val="accent3">
                    <a:lumMod val="75000"/>
                  </a:schemeClr>
                </a:solidFill>
              </a:rPr>
              <a:t>      "forms": [</a:t>
            </a:r>
          </a:p>
          <a:p>
            <a:r>
              <a:rPr lang="en-US" dirty="0">
                <a:solidFill>
                  <a:schemeClr val="accent3">
                    <a:lumMod val="75000"/>
                  </a:schemeClr>
                </a:solidFill>
              </a:rPr>
              <a:t>        {</a:t>
            </a:r>
          </a:p>
          <a:p>
            <a:r>
              <a:rPr lang="en-US" dirty="0">
                <a:solidFill>
                  <a:schemeClr val="accent3">
                    <a:lumMod val="75000"/>
                  </a:schemeClr>
                </a:solidFill>
              </a:rPr>
              <a:t>          "op": "</a:t>
            </a:r>
            <a:r>
              <a:rPr lang="en-US" dirty="0" err="1">
                <a:solidFill>
                  <a:schemeClr val="accent3">
                    <a:lumMod val="75000"/>
                  </a:schemeClr>
                </a:solidFill>
              </a:rPr>
              <a:t>readproperty</a:t>
            </a:r>
            <a:r>
              <a:rPr lang="en-US" dirty="0">
                <a:solidFill>
                  <a:schemeClr val="accent3">
                    <a:lumMod val="75000"/>
                  </a:schemeClr>
                </a:solidFill>
              </a:rPr>
              <a:t>",</a:t>
            </a:r>
          </a:p>
          <a:p>
            <a:r>
              <a:rPr lang="en-US" dirty="0">
                <a:solidFill>
                  <a:schemeClr val="accent3">
                    <a:lumMod val="75000"/>
                  </a:schemeClr>
                </a:solidFill>
              </a:rPr>
              <a:t>          "</a:t>
            </a:r>
            <a:r>
              <a:rPr lang="en-US" dirty="0" err="1">
                <a:solidFill>
                  <a:schemeClr val="accent3">
                    <a:lumMod val="75000"/>
                  </a:schemeClr>
                </a:solidFill>
              </a:rPr>
              <a:t>href</a:t>
            </a:r>
            <a:r>
              <a:rPr lang="en-US" dirty="0">
                <a:solidFill>
                  <a:schemeClr val="accent3">
                    <a:lumMod val="75000"/>
                  </a:schemeClr>
                </a:solidFill>
              </a:rPr>
              <a:t>": "10003",</a:t>
            </a:r>
          </a:p>
          <a:p>
            <a:r>
              <a:rPr lang="en-US" dirty="0">
                <a:solidFill>
                  <a:schemeClr val="accent3">
                    <a:lumMod val="75000"/>
                  </a:schemeClr>
                </a:solidFill>
              </a:rPr>
              <a:t>          "</a:t>
            </a:r>
            <a:r>
              <a:rPr lang="en-US" dirty="0" err="1">
                <a:solidFill>
                  <a:schemeClr val="accent3">
                    <a:lumMod val="75000"/>
                  </a:schemeClr>
                </a:solidFill>
              </a:rPr>
              <a:t>modv:function</a:t>
            </a:r>
            <a:r>
              <a:rPr lang="en-US" dirty="0">
                <a:solidFill>
                  <a:schemeClr val="accent3">
                    <a:lumMod val="75000"/>
                  </a:schemeClr>
                </a:solidFill>
              </a:rPr>
              <a:t>": "</a:t>
            </a:r>
            <a:r>
              <a:rPr lang="en-US" dirty="0" err="1">
                <a:solidFill>
                  <a:schemeClr val="accent3">
                    <a:lumMod val="75000"/>
                  </a:schemeClr>
                </a:solidFill>
              </a:rPr>
              <a:t>readDiscreteInput</a:t>
            </a:r>
            <a:r>
              <a:rPr lang="en-US" dirty="0">
                <a:solidFill>
                  <a:schemeClr val="accent3">
                    <a:lumMod val="75000"/>
                  </a:schemeClr>
                </a:solidFill>
              </a:rPr>
              <a:t>",</a:t>
            </a:r>
          </a:p>
          <a:p>
            <a:r>
              <a:rPr lang="en-US" dirty="0">
                <a:solidFill>
                  <a:schemeClr val="accent1"/>
                </a:solidFill>
              </a:rPr>
              <a:t>         </a:t>
            </a:r>
            <a:r>
              <a:rPr lang="en-US" dirty="0">
                <a:solidFill>
                  <a:schemeClr val="accent5"/>
                </a:solidFill>
              </a:rPr>
              <a:t> "</a:t>
            </a:r>
            <a:r>
              <a:rPr lang="en-US" dirty="0" err="1">
                <a:solidFill>
                  <a:schemeClr val="accent5"/>
                </a:solidFill>
              </a:rPr>
              <a:t>contentType</a:t>
            </a:r>
            <a:r>
              <a:rPr lang="en-US" dirty="0">
                <a:solidFill>
                  <a:schemeClr val="accent5"/>
                </a:solidFill>
              </a:rPr>
              <a:t>"</a:t>
            </a:r>
            <a:r>
              <a:rPr lang="en-US" dirty="0">
                <a:solidFill>
                  <a:schemeClr val="accent1"/>
                </a:solidFill>
              </a:rPr>
              <a:t>: "application/octet-stream"</a:t>
            </a:r>
          </a:p>
          <a:p>
            <a:r>
              <a:rPr lang="en-US" dirty="0">
                <a:solidFill>
                  <a:schemeClr val="accent3">
                    <a:lumMod val="75000"/>
                  </a:schemeClr>
                </a:solidFill>
              </a:rPr>
              <a:t>        }</a:t>
            </a:r>
          </a:p>
          <a:p>
            <a:r>
              <a:rPr lang="en-US" dirty="0">
                <a:solidFill>
                  <a:schemeClr val="accent3">
                    <a:lumMod val="75000"/>
                  </a:schemeClr>
                </a:solidFill>
              </a:rPr>
              <a:t>      ]</a:t>
            </a:r>
          </a:p>
          <a:p>
            <a:r>
              <a:rPr lang="en-US" dirty="0">
                <a:solidFill>
                  <a:schemeClr val="accent3">
                    <a:lumMod val="75000"/>
                  </a:schemeClr>
                </a:solidFill>
              </a:rPr>
              <a:t> ...</a:t>
            </a:r>
          </a:p>
        </p:txBody>
      </p:sp>
      <p:pic>
        <p:nvPicPr>
          <p:cNvPr id="3" name="Graphic 2" descr="Factory with solid fill">
            <a:extLst>
              <a:ext uri="{FF2B5EF4-FFF2-40B4-BE49-F238E27FC236}">
                <a16:creationId xmlns:a16="http://schemas.microsoft.com/office/drawing/2014/main" id="{1F0B0136-9AF7-D669-A4A1-163AEF4B70F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2333" y="4946859"/>
            <a:ext cx="832915" cy="832915"/>
          </a:xfrm>
          <a:prstGeom prst="rect">
            <a:avLst/>
          </a:prstGeom>
        </p:spPr>
      </p:pic>
      <p:cxnSp>
        <p:nvCxnSpPr>
          <p:cNvPr id="2" name="Straight Arrow Connector 1">
            <a:extLst>
              <a:ext uri="{FF2B5EF4-FFF2-40B4-BE49-F238E27FC236}">
                <a16:creationId xmlns:a16="http://schemas.microsoft.com/office/drawing/2014/main" id="{DFFC93C9-315A-FA87-24EE-437598FCD172}"/>
              </a:ext>
            </a:extLst>
          </p:cNvPr>
          <p:cNvCxnSpPr>
            <a:cxnSpLocks/>
          </p:cNvCxnSpPr>
          <p:nvPr/>
        </p:nvCxnSpPr>
        <p:spPr>
          <a:xfrm flipH="1" flipV="1">
            <a:off x="10043875" y="3538385"/>
            <a:ext cx="5653" cy="6296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FEB9FCE-BB7D-27B2-0440-D5CCE5FFEDDB}"/>
              </a:ext>
            </a:extLst>
          </p:cNvPr>
          <p:cNvSpPr txBox="1"/>
          <p:nvPr/>
        </p:nvSpPr>
        <p:spPr>
          <a:xfrm flipH="1">
            <a:off x="10087402" y="3676248"/>
            <a:ext cx="1454672" cy="369332"/>
          </a:xfrm>
          <a:prstGeom prst="rect">
            <a:avLst/>
          </a:prstGeom>
          <a:noFill/>
        </p:spPr>
        <p:txBody>
          <a:bodyPr wrap="square" rtlCol="0">
            <a:spAutoFit/>
          </a:bodyPr>
          <a:lstStyle/>
          <a:p>
            <a:r>
              <a:rPr lang="en-US" dirty="0">
                <a:solidFill>
                  <a:schemeClr val="accent1"/>
                </a:solidFill>
              </a:rPr>
              <a:t>octet-stream</a:t>
            </a:r>
          </a:p>
        </p:txBody>
      </p:sp>
    </p:spTree>
    <p:extLst>
      <p:ext uri="{BB962C8B-B14F-4D97-AF65-F5344CB8AC3E}">
        <p14:creationId xmlns:p14="http://schemas.microsoft.com/office/powerpoint/2010/main" val="13215805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293027-6AAE-CD77-7027-826BB73085A5}"/>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3B88918D-CE82-29C4-DA1C-9BA0CBB1E008}"/>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64A6BE97-B944-F206-5A4A-3E51ABBBA3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D19CE0D2-EB20-06DE-BCA1-57D8ECAF32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127D9AA3-8AA9-3922-07F2-074F62A5BC9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096D13C8-3D2D-0717-B6C8-9E0A4CE6E812}"/>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51D0631E-29C2-CC21-FD34-AC8EE4D033AC}"/>
              </a:ext>
            </a:extLst>
          </p:cNvPr>
          <p:cNvSpPr txBox="1"/>
          <p:nvPr/>
        </p:nvSpPr>
        <p:spPr>
          <a:xfrm>
            <a:off x="9404589" y="5719081"/>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4AC8E594-6308-D89D-6C89-8450AEF1B13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72570" y="4272543"/>
            <a:ext cx="719126" cy="719126"/>
          </a:xfrm>
          <a:prstGeom prst="rect">
            <a:avLst/>
          </a:prstGeom>
        </p:spPr>
      </p:pic>
      <p:pic>
        <p:nvPicPr>
          <p:cNvPr id="12" name="Graphic 11" descr="Laptop with solid fill">
            <a:extLst>
              <a:ext uri="{FF2B5EF4-FFF2-40B4-BE49-F238E27FC236}">
                <a16:creationId xmlns:a16="http://schemas.microsoft.com/office/drawing/2014/main" id="{7A1AA89B-CD66-90E1-A247-EB6127008729}"/>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367552" y="4281210"/>
            <a:ext cx="832915" cy="832914"/>
          </a:xfrm>
          <a:prstGeom prst="rect">
            <a:avLst/>
          </a:prstGeom>
        </p:spPr>
      </p:pic>
      <p:pic>
        <p:nvPicPr>
          <p:cNvPr id="14" name="Graphic 13" descr="Processor with solid fill">
            <a:extLst>
              <a:ext uri="{FF2B5EF4-FFF2-40B4-BE49-F238E27FC236}">
                <a16:creationId xmlns:a16="http://schemas.microsoft.com/office/drawing/2014/main" id="{55C24E35-50E2-798A-6B1B-C7ABFD2E5E5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9528" y="4980712"/>
            <a:ext cx="765210" cy="765210"/>
          </a:xfrm>
          <a:prstGeom prst="rect">
            <a:avLst/>
          </a:prstGeom>
        </p:spPr>
      </p:pic>
      <p:sp>
        <p:nvSpPr>
          <p:cNvPr id="15" name="Title 1">
            <a:extLst>
              <a:ext uri="{FF2B5EF4-FFF2-40B4-BE49-F238E27FC236}">
                <a16:creationId xmlns:a16="http://schemas.microsoft.com/office/drawing/2014/main" id="{DF8340CD-44A6-402A-6D67-2AADF3621787}"/>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9CD2C21C-81EE-330D-204B-76B6DA709E5F}"/>
              </a:ext>
            </a:extLst>
          </p:cNvPr>
          <p:cNvSpPr txBox="1"/>
          <p:nvPr/>
        </p:nvSpPr>
        <p:spPr>
          <a:xfrm>
            <a:off x="1083789" y="1583661"/>
            <a:ext cx="7576500" cy="4524315"/>
          </a:xfrm>
          <a:prstGeom prst="rect">
            <a:avLst/>
          </a:prstGeom>
          <a:noFill/>
        </p:spPr>
        <p:txBody>
          <a:bodyPr wrap="square" rtlCol="0">
            <a:spAutoFit/>
          </a:bodyPr>
          <a:lstStyle/>
          <a:p>
            <a:r>
              <a:rPr lang="en-US" dirty="0">
                <a:solidFill>
                  <a:schemeClr val="accent3">
                    <a:lumMod val="75000"/>
                  </a:schemeClr>
                </a:solidFill>
              </a:rPr>
              <a:t>... </a:t>
            </a:r>
          </a:p>
          <a:p>
            <a:r>
              <a:rPr lang="en-US" dirty="0">
                <a:solidFill>
                  <a:schemeClr val="accent3">
                    <a:lumMod val="75000"/>
                  </a:schemeClr>
                </a:solidFill>
              </a:rPr>
              <a:t>"base": "</a:t>
            </a:r>
            <a:r>
              <a:rPr lang="en-US" dirty="0" err="1">
                <a:solidFill>
                  <a:schemeClr val="accent3">
                    <a:lumMod val="75000"/>
                  </a:schemeClr>
                </a:solidFill>
              </a:rPr>
              <a:t>modbus+tcp</a:t>
            </a:r>
            <a:r>
              <a:rPr lang="en-US" dirty="0">
                <a:solidFill>
                  <a:schemeClr val="accent3">
                    <a:lumMod val="75000"/>
                  </a:schemeClr>
                </a:solidFill>
              </a:rPr>
              <a:t>://coffee-machine.example.com:502/1/",</a:t>
            </a:r>
          </a:p>
          <a:p>
            <a:r>
              <a:rPr lang="en-US" dirty="0">
                <a:solidFill>
                  <a:schemeClr val="accent3">
                    <a:lumMod val="75000"/>
                  </a:schemeClr>
                </a:solidFill>
              </a:rPr>
              <a:t>  "properties": {</a:t>
            </a:r>
          </a:p>
          <a:p>
            <a:r>
              <a:rPr lang="en-US" dirty="0">
                <a:solidFill>
                  <a:schemeClr val="accent3">
                    <a:lumMod val="75000"/>
                  </a:schemeClr>
                </a:solidFill>
              </a:rPr>
              <a:t>    "</a:t>
            </a:r>
            <a:r>
              <a:rPr lang="en-US" dirty="0" err="1">
                <a:solidFill>
                  <a:schemeClr val="accent3">
                    <a:lumMod val="75000"/>
                  </a:schemeClr>
                </a:solidFill>
              </a:rPr>
              <a:t>waterTankPresent</a:t>
            </a:r>
            <a:r>
              <a:rPr lang="en-US" dirty="0">
                <a:solidFill>
                  <a:schemeClr val="accent3">
                    <a:lumMod val="75000"/>
                  </a:schemeClr>
                </a:solidFill>
              </a:rPr>
              <a:t>": {</a:t>
            </a:r>
          </a:p>
          <a:p>
            <a:r>
              <a:rPr lang="en-US" dirty="0">
                <a:solidFill>
                  <a:schemeClr val="accent3">
                    <a:lumMod val="75000"/>
                  </a:schemeClr>
                </a:solidFill>
              </a:rPr>
              <a:t>      "title": "Water Tank Present",</a:t>
            </a:r>
          </a:p>
          <a:p>
            <a:r>
              <a:rPr lang="en-US" dirty="0">
                <a:solidFill>
                  <a:schemeClr val="accent3">
                    <a:lumMod val="75000"/>
                  </a:schemeClr>
                </a:solidFill>
              </a:rPr>
              <a:t>      "type": "integer",</a:t>
            </a:r>
          </a:p>
          <a:p>
            <a:r>
              <a:rPr lang="en-US" dirty="0">
                <a:solidFill>
                  <a:schemeClr val="accent3">
                    <a:lumMod val="75000"/>
                  </a:schemeClr>
                </a:solidFill>
              </a:rPr>
              <a:t>      "description": "Indicates whether the water tank is correctly inserted",</a:t>
            </a:r>
          </a:p>
          <a:p>
            <a:r>
              <a:rPr lang="en-US" dirty="0">
                <a:solidFill>
                  <a:schemeClr val="accent3">
                    <a:lumMod val="75000"/>
                  </a:schemeClr>
                </a:solidFill>
              </a:rPr>
              <a:t>      "forms": [</a:t>
            </a:r>
          </a:p>
          <a:p>
            <a:r>
              <a:rPr lang="en-US" dirty="0">
                <a:solidFill>
                  <a:schemeClr val="accent3">
                    <a:lumMod val="75000"/>
                  </a:schemeClr>
                </a:solidFill>
              </a:rPr>
              <a:t>        {</a:t>
            </a:r>
          </a:p>
          <a:p>
            <a:r>
              <a:rPr lang="en-US" dirty="0">
                <a:solidFill>
                  <a:schemeClr val="accent3">
                    <a:lumMod val="75000"/>
                  </a:schemeClr>
                </a:solidFill>
              </a:rPr>
              <a:t>          "op": "</a:t>
            </a:r>
            <a:r>
              <a:rPr lang="en-US" dirty="0" err="1">
                <a:solidFill>
                  <a:schemeClr val="accent3">
                    <a:lumMod val="75000"/>
                  </a:schemeClr>
                </a:solidFill>
              </a:rPr>
              <a:t>readproperty</a:t>
            </a:r>
            <a:r>
              <a:rPr lang="en-US" dirty="0">
                <a:solidFill>
                  <a:schemeClr val="accent3">
                    <a:lumMod val="75000"/>
                  </a:schemeClr>
                </a:solidFill>
              </a:rPr>
              <a:t>",</a:t>
            </a:r>
          </a:p>
          <a:p>
            <a:r>
              <a:rPr lang="en-US" dirty="0">
                <a:solidFill>
                  <a:schemeClr val="accent3">
                    <a:lumMod val="75000"/>
                  </a:schemeClr>
                </a:solidFill>
              </a:rPr>
              <a:t>          "</a:t>
            </a:r>
            <a:r>
              <a:rPr lang="en-US" dirty="0" err="1">
                <a:solidFill>
                  <a:schemeClr val="accent3">
                    <a:lumMod val="75000"/>
                  </a:schemeClr>
                </a:solidFill>
              </a:rPr>
              <a:t>href</a:t>
            </a:r>
            <a:r>
              <a:rPr lang="en-US" dirty="0">
                <a:solidFill>
                  <a:schemeClr val="accent3">
                    <a:lumMod val="75000"/>
                  </a:schemeClr>
                </a:solidFill>
              </a:rPr>
              <a:t>": "10003",</a:t>
            </a:r>
          </a:p>
          <a:p>
            <a:r>
              <a:rPr lang="en-US" dirty="0">
                <a:solidFill>
                  <a:schemeClr val="accent3">
                    <a:lumMod val="75000"/>
                  </a:schemeClr>
                </a:solidFill>
              </a:rPr>
              <a:t>          "</a:t>
            </a:r>
            <a:r>
              <a:rPr lang="en-US" dirty="0" err="1">
                <a:solidFill>
                  <a:schemeClr val="accent3">
                    <a:lumMod val="75000"/>
                  </a:schemeClr>
                </a:solidFill>
              </a:rPr>
              <a:t>modv:function</a:t>
            </a:r>
            <a:r>
              <a:rPr lang="en-US" dirty="0">
                <a:solidFill>
                  <a:schemeClr val="accent3">
                    <a:lumMod val="75000"/>
                  </a:schemeClr>
                </a:solidFill>
              </a:rPr>
              <a:t>": "</a:t>
            </a:r>
            <a:r>
              <a:rPr lang="en-US" dirty="0" err="1">
                <a:solidFill>
                  <a:schemeClr val="accent3">
                    <a:lumMod val="75000"/>
                  </a:schemeClr>
                </a:solidFill>
              </a:rPr>
              <a:t>readDiscreteInput</a:t>
            </a:r>
            <a:r>
              <a:rPr lang="en-US" dirty="0">
                <a:solidFill>
                  <a:schemeClr val="accent3">
                    <a:lumMod val="75000"/>
                  </a:schemeClr>
                </a:solidFill>
              </a:rPr>
              <a:t>",</a:t>
            </a:r>
          </a:p>
          <a:p>
            <a:r>
              <a:rPr lang="en-US" dirty="0">
                <a:solidFill>
                  <a:schemeClr val="accent3">
                    <a:lumMod val="75000"/>
                  </a:schemeClr>
                </a:solidFill>
              </a:rPr>
              <a:t>          "</a:t>
            </a:r>
            <a:r>
              <a:rPr lang="en-US" dirty="0" err="1">
                <a:solidFill>
                  <a:schemeClr val="accent3">
                    <a:lumMod val="75000"/>
                  </a:schemeClr>
                </a:solidFill>
              </a:rPr>
              <a:t>contentType</a:t>
            </a:r>
            <a:r>
              <a:rPr lang="en-US" dirty="0">
                <a:solidFill>
                  <a:schemeClr val="accent3">
                    <a:lumMod val="75000"/>
                  </a:schemeClr>
                </a:solidFill>
              </a:rPr>
              <a:t>": "application/octet-stream"</a:t>
            </a:r>
          </a:p>
          <a:p>
            <a:r>
              <a:rPr lang="en-US" dirty="0">
                <a:solidFill>
                  <a:schemeClr val="accent3">
                    <a:lumMod val="75000"/>
                  </a:schemeClr>
                </a:solidFill>
              </a:rPr>
              <a:t>        }</a:t>
            </a:r>
          </a:p>
          <a:p>
            <a:r>
              <a:rPr lang="en-US" dirty="0">
                <a:solidFill>
                  <a:schemeClr val="accent3">
                    <a:lumMod val="75000"/>
                  </a:schemeClr>
                </a:solidFill>
              </a:rPr>
              <a:t>      ]</a:t>
            </a:r>
          </a:p>
          <a:p>
            <a:r>
              <a:rPr lang="en-US" dirty="0">
                <a:solidFill>
                  <a:schemeClr val="accent3">
                    <a:lumMod val="75000"/>
                  </a:schemeClr>
                </a:solidFill>
              </a:rPr>
              <a:t> ...</a:t>
            </a:r>
          </a:p>
        </p:txBody>
      </p:sp>
      <p:pic>
        <p:nvPicPr>
          <p:cNvPr id="3" name="Graphic 2" descr="Factory with solid fill">
            <a:extLst>
              <a:ext uri="{FF2B5EF4-FFF2-40B4-BE49-F238E27FC236}">
                <a16:creationId xmlns:a16="http://schemas.microsoft.com/office/drawing/2014/main" id="{8D8679A8-64D5-ACBE-C761-E15DA567EBC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2333" y="4946859"/>
            <a:ext cx="832915" cy="832915"/>
          </a:xfrm>
          <a:prstGeom prst="rect">
            <a:avLst/>
          </a:prstGeom>
        </p:spPr>
      </p:pic>
      <p:sp>
        <p:nvSpPr>
          <p:cNvPr id="13" name="Content Placeholder 2">
            <a:extLst>
              <a:ext uri="{FF2B5EF4-FFF2-40B4-BE49-F238E27FC236}">
                <a16:creationId xmlns:a16="http://schemas.microsoft.com/office/drawing/2014/main" id="{B8308D5E-9FBF-7119-064E-2035A2557102}"/>
              </a:ext>
            </a:extLst>
          </p:cNvPr>
          <p:cNvSpPr txBox="1">
            <a:spLocks/>
          </p:cNvSpPr>
          <p:nvPr/>
        </p:nvSpPr>
        <p:spPr>
          <a:xfrm>
            <a:off x="9370089" y="1451730"/>
            <a:ext cx="1779574" cy="3526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buFont typeface="Wingdings" panose="05000000000000000000" pitchFamily="2" charset="2"/>
              <a:buChar char="ü"/>
            </a:pPr>
            <a:r>
              <a:rPr lang="en-US" sz="1800" dirty="0">
                <a:solidFill>
                  <a:schemeClr val="accent6"/>
                </a:solidFill>
                <a:latin typeface="Consolas" panose="020B0609020204030204" pitchFamily="49" charset="0"/>
                <a:cs typeface="Consolas" panose="020B0609020204030204" pitchFamily="49" charset="0"/>
              </a:rPr>
              <a:t> Modbus</a:t>
            </a:r>
          </a:p>
        </p:txBody>
      </p:sp>
    </p:spTree>
    <p:extLst>
      <p:ext uri="{BB962C8B-B14F-4D97-AF65-F5344CB8AC3E}">
        <p14:creationId xmlns:p14="http://schemas.microsoft.com/office/powerpoint/2010/main" val="23503313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03A7AF0-ED80-868B-9375-B863B147C193}"/>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E12CF373-233B-9965-97E4-B5251BF2879B}"/>
              </a:ext>
            </a:extLst>
          </p:cNvPr>
          <p:cNvGrpSpPr/>
          <p:nvPr/>
        </p:nvGrpSpPr>
        <p:grpSpPr>
          <a:xfrm>
            <a:off x="9304275" y="1691238"/>
            <a:ext cx="1779574" cy="1749380"/>
            <a:chOff x="8386845" y="932048"/>
            <a:chExt cx="2916766" cy="2867278"/>
          </a:xfrm>
        </p:grpSpPr>
        <p:pic>
          <p:nvPicPr>
            <p:cNvPr id="5" name="Graphic 4" descr="Remote control with solid fill">
              <a:extLst>
                <a:ext uri="{FF2B5EF4-FFF2-40B4-BE49-F238E27FC236}">
                  <a16:creationId xmlns:a16="http://schemas.microsoft.com/office/drawing/2014/main" id="{595F35E4-0E72-A20E-674F-1BB49ED0EA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9308" y="1024053"/>
              <a:ext cx="2144303" cy="2144303"/>
            </a:xfrm>
            <a:prstGeom prst="rect">
              <a:avLst/>
            </a:prstGeom>
          </p:spPr>
        </p:pic>
        <p:pic>
          <p:nvPicPr>
            <p:cNvPr id="6" name="Graphic 5" descr="Cmd Terminal with solid fill">
              <a:extLst>
                <a:ext uri="{FF2B5EF4-FFF2-40B4-BE49-F238E27FC236}">
                  <a16:creationId xmlns:a16="http://schemas.microsoft.com/office/drawing/2014/main" id="{FEAEE5E3-58F7-2226-7476-4902416E5A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9253" y="932048"/>
              <a:ext cx="1257866" cy="1257865"/>
            </a:xfrm>
            <a:prstGeom prst="rect">
              <a:avLst/>
            </a:prstGeom>
          </p:spPr>
        </p:pic>
        <p:pic>
          <p:nvPicPr>
            <p:cNvPr id="7" name="Graphic 6" descr="Ui Ux with solid fill">
              <a:extLst>
                <a:ext uri="{FF2B5EF4-FFF2-40B4-BE49-F238E27FC236}">
                  <a16:creationId xmlns:a16="http://schemas.microsoft.com/office/drawing/2014/main" id="{2E395408-E7D2-4CBA-CA35-1399A5D8DE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9253" y="2015677"/>
              <a:ext cx="1257866" cy="1257865"/>
            </a:xfrm>
            <a:prstGeom prst="rect">
              <a:avLst/>
            </a:prstGeom>
          </p:spPr>
        </p:pic>
        <p:sp>
          <p:nvSpPr>
            <p:cNvPr id="8" name="TextBox 7">
              <a:extLst>
                <a:ext uri="{FF2B5EF4-FFF2-40B4-BE49-F238E27FC236}">
                  <a16:creationId xmlns:a16="http://schemas.microsoft.com/office/drawing/2014/main" id="{BD50DD51-3CA1-1C36-A7CF-579DFCAB8C48}"/>
                </a:ext>
              </a:extLst>
            </p:cNvPr>
            <p:cNvSpPr txBox="1"/>
            <p:nvPr/>
          </p:nvSpPr>
          <p:spPr>
            <a:xfrm>
              <a:off x="8386845" y="3174354"/>
              <a:ext cx="2426381" cy="62497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Consumer</a:t>
              </a:r>
            </a:p>
          </p:txBody>
        </p:sp>
      </p:grpSp>
      <p:sp>
        <p:nvSpPr>
          <p:cNvPr id="10" name="TextBox 9">
            <a:extLst>
              <a:ext uri="{FF2B5EF4-FFF2-40B4-BE49-F238E27FC236}">
                <a16:creationId xmlns:a16="http://schemas.microsoft.com/office/drawing/2014/main" id="{06EED16D-3DC3-5434-B34A-206A1BF0236C}"/>
              </a:ext>
            </a:extLst>
          </p:cNvPr>
          <p:cNvSpPr txBox="1"/>
          <p:nvPr/>
        </p:nvSpPr>
        <p:spPr>
          <a:xfrm>
            <a:off x="9404589" y="5719081"/>
            <a:ext cx="1480381" cy="3813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52A5"/>
                </a:solidFill>
                <a:effectLst/>
                <a:uLnTx/>
                <a:uFillTx/>
                <a:latin typeface="Century Gothic" panose="020B0502020202020204" pitchFamily="34" charset="0"/>
                <a:ea typeface="+mn-ea"/>
                <a:cs typeface="+mn-cs"/>
              </a:rPr>
              <a:t>Thing</a:t>
            </a:r>
          </a:p>
        </p:txBody>
      </p:sp>
      <p:pic>
        <p:nvPicPr>
          <p:cNvPr id="11" name="Graphic 10" descr="Thermometer with solid fill">
            <a:extLst>
              <a:ext uri="{FF2B5EF4-FFF2-40B4-BE49-F238E27FC236}">
                <a16:creationId xmlns:a16="http://schemas.microsoft.com/office/drawing/2014/main" id="{21CE207A-DA5F-657C-B6C2-7145559EA60C}"/>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72570" y="4272543"/>
            <a:ext cx="719126" cy="719126"/>
          </a:xfrm>
          <a:prstGeom prst="rect">
            <a:avLst/>
          </a:prstGeom>
        </p:spPr>
      </p:pic>
      <p:pic>
        <p:nvPicPr>
          <p:cNvPr id="12" name="Graphic 11" descr="Laptop with solid fill">
            <a:extLst>
              <a:ext uri="{FF2B5EF4-FFF2-40B4-BE49-F238E27FC236}">
                <a16:creationId xmlns:a16="http://schemas.microsoft.com/office/drawing/2014/main" id="{32F7EF14-F21C-B137-A2C6-402B466B57C2}"/>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367552" y="4281210"/>
            <a:ext cx="832915" cy="832914"/>
          </a:xfrm>
          <a:prstGeom prst="rect">
            <a:avLst/>
          </a:prstGeom>
        </p:spPr>
      </p:pic>
      <p:pic>
        <p:nvPicPr>
          <p:cNvPr id="14" name="Graphic 13" descr="Processor with solid fill">
            <a:extLst>
              <a:ext uri="{FF2B5EF4-FFF2-40B4-BE49-F238E27FC236}">
                <a16:creationId xmlns:a16="http://schemas.microsoft.com/office/drawing/2014/main" id="{7674BFA2-776E-4B84-71FC-F0D7F3A67FD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9528" y="4980712"/>
            <a:ext cx="765210" cy="765210"/>
          </a:xfrm>
          <a:prstGeom prst="rect">
            <a:avLst/>
          </a:prstGeom>
        </p:spPr>
      </p:pic>
      <p:sp>
        <p:nvSpPr>
          <p:cNvPr id="15" name="Title 1">
            <a:extLst>
              <a:ext uri="{FF2B5EF4-FFF2-40B4-BE49-F238E27FC236}">
                <a16:creationId xmlns:a16="http://schemas.microsoft.com/office/drawing/2014/main" id="{CAE0D621-5D9B-CC34-E990-22BE622016F5}"/>
              </a:ext>
            </a:extLst>
          </p:cNvPr>
          <p:cNvSpPr txBox="1">
            <a:spLocks/>
          </p:cNvSpPr>
          <p:nvPr/>
        </p:nvSpPr>
        <p:spPr>
          <a:xfrm>
            <a:off x="2198977" y="3656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Modbus</a:t>
            </a:r>
            <a:endParaRPr lang="aa-ET"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E0C008D0-2A88-1571-4F12-B0DA26C3E8D7}"/>
              </a:ext>
            </a:extLst>
          </p:cNvPr>
          <p:cNvSpPr txBox="1"/>
          <p:nvPr/>
        </p:nvSpPr>
        <p:spPr>
          <a:xfrm>
            <a:off x="1083789" y="1583661"/>
            <a:ext cx="7576500" cy="4524315"/>
          </a:xfrm>
          <a:prstGeom prst="rect">
            <a:avLst/>
          </a:prstGeom>
          <a:noFill/>
        </p:spPr>
        <p:txBody>
          <a:bodyPr wrap="square" rtlCol="0">
            <a:spAutoFit/>
          </a:bodyPr>
          <a:lstStyle/>
          <a:p>
            <a:r>
              <a:rPr lang="en-US" dirty="0">
                <a:solidFill>
                  <a:schemeClr val="accent3">
                    <a:lumMod val="75000"/>
                  </a:schemeClr>
                </a:solidFill>
              </a:rPr>
              <a:t>... </a:t>
            </a:r>
          </a:p>
          <a:p>
            <a:r>
              <a:rPr lang="en-US" dirty="0">
                <a:solidFill>
                  <a:schemeClr val="accent3">
                    <a:lumMod val="75000"/>
                  </a:schemeClr>
                </a:solidFill>
              </a:rPr>
              <a:t>"base": "</a:t>
            </a:r>
            <a:r>
              <a:rPr lang="en-US" dirty="0" err="1">
                <a:solidFill>
                  <a:schemeClr val="accent3">
                    <a:lumMod val="75000"/>
                  </a:schemeClr>
                </a:solidFill>
              </a:rPr>
              <a:t>modbus+tcp</a:t>
            </a:r>
            <a:r>
              <a:rPr lang="en-US" dirty="0">
                <a:solidFill>
                  <a:schemeClr val="accent3">
                    <a:lumMod val="75000"/>
                  </a:schemeClr>
                </a:solidFill>
              </a:rPr>
              <a:t>://coffee-machine.example.com:502/1/",</a:t>
            </a:r>
          </a:p>
          <a:p>
            <a:r>
              <a:rPr lang="en-US" dirty="0">
                <a:solidFill>
                  <a:schemeClr val="accent3">
                    <a:lumMod val="75000"/>
                  </a:schemeClr>
                </a:solidFill>
              </a:rPr>
              <a:t>  "properties": {</a:t>
            </a:r>
          </a:p>
          <a:p>
            <a:r>
              <a:rPr lang="en-US" dirty="0">
                <a:solidFill>
                  <a:schemeClr val="accent3">
                    <a:lumMod val="75000"/>
                  </a:schemeClr>
                </a:solidFill>
              </a:rPr>
              <a:t>    </a:t>
            </a:r>
            <a:r>
              <a:rPr lang="en-US" dirty="0">
                <a:solidFill>
                  <a:schemeClr val="accent5"/>
                </a:solidFill>
              </a:rPr>
              <a:t>"</a:t>
            </a:r>
            <a:r>
              <a:rPr lang="en-US" dirty="0" err="1">
                <a:solidFill>
                  <a:schemeClr val="accent5"/>
                </a:solidFill>
              </a:rPr>
              <a:t>waterTankPresent</a:t>
            </a:r>
            <a:r>
              <a:rPr lang="en-US" dirty="0">
                <a:solidFill>
                  <a:schemeClr val="accent5"/>
                </a:solidFill>
              </a:rPr>
              <a:t>"</a:t>
            </a:r>
            <a:r>
              <a:rPr lang="en-US" dirty="0">
                <a:solidFill>
                  <a:schemeClr val="accent1"/>
                </a:solidFill>
              </a:rPr>
              <a:t>: {</a:t>
            </a:r>
          </a:p>
          <a:p>
            <a:r>
              <a:rPr lang="en-US" dirty="0">
                <a:solidFill>
                  <a:schemeClr val="accent1"/>
                </a:solidFill>
              </a:rPr>
              <a:t>      </a:t>
            </a:r>
            <a:r>
              <a:rPr lang="en-US" dirty="0">
                <a:solidFill>
                  <a:schemeClr val="accent5"/>
                </a:solidFill>
              </a:rPr>
              <a:t>"title"</a:t>
            </a:r>
            <a:r>
              <a:rPr lang="en-US" dirty="0">
                <a:solidFill>
                  <a:schemeClr val="accent1"/>
                </a:solidFill>
              </a:rPr>
              <a:t>: "Water Tank Present",</a:t>
            </a:r>
          </a:p>
          <a:p>
            <a:r>
              <a:rPr lang="en-US" dirty="0">
                <a:solidFill>
                  <a:schemeClr val="accent1"/>
                </a:solidFill>
              </a:rPr>
              <a:t>      </a:t>
            </a:r>
            <a:r>
              <a:rPr lang="en-US" dirty="0">
                <a:solidFill>
                  <a:schemeClr val="accent5"/>
                </a:solidFill>
              </a:rPr>
              <a:t>"type"</a:t>
            </a:r>
            <a:r>
              <a:rPr lang="en-US" dirty="0">
                <a:solidFill>
                  <a:schemeClr val="accent1"/>
                </a:solidFill>
              </a:rPr>
              <a:t>: "integer",</a:t>
            </a:r>
          </a:p>
          <a:p>
            <a:r>
              <a:rPr lang="en-US" dirty="0">
                <a:solidFill>
                  <a:schemeClr val="accent1"/>
                </a:solidFill>
              </a:rPr>
              <a:t>      </a:t>
            </a:r>
            <a:r>
              <a:rPr lang="en-US" dirty="0">
                <a:solidFill>
                  <a:schemeClr val="accent5"/>
                </a:solidFill>
              </a:rPr>
              <a:t>"description"</a:t>
            </a:r>
            <a:r>
              <a:rPr lang="en-US" dirty="0">
                <a:solidFill>
                  <a:schemeClr val="accent1"/>
                </a:solidFill>
              </a:rPr>
              <a:t>: "Indicates whether the water tank is correctly inserted",</a:t>
            </a:r>
          </a:p>
          <a:p>
            <a:r>
              <a:rPr lang="en-US" dirty="0">
                <a:solidFill>
                  <a:schemeClr val="accent3">
                    <a:lumMod val="75000"/>
                  </a:schemeClr>
                </a:solidFill>
              </a:rPr>
              <a:t>      "forms": [</a:t>
            </a:r>
          </a:p>
          <a:p>
            <a:r>
              <a:rPr lang="en-US" dirty="0">
                <a:solidFill>
                  <a:schemeClr val="accent3">
                    <a:lumMod val="75000"/>
                  </a:schemeClr>
                </a:solidFill>
              </a:rPr>
              <a:t>        {</a:t>
            </a:r>
          </a:p>
          <a:p>
            <a:r>
              <a:rPr lang="en-US" dirty="0">
                <a:solidFill>
                  <a:schemeClr val="accent3">
                    <a:lumMod val="75000"/>
                  </a:schemeClr>
                </a:solidFill>
              </a:rPr>
              <a:t>          "op": "</a:t>
            </a:r>
            <a:r>
              <a:rPr lang="en-US" dirty="0" err="1">
                <a:solidFill>
                  <a:schemeClr val="accent3">
                    <a:lumMod val="75000"/>
                  </a:schemeClr>
                </a:solidFill>
              </a:rPr>
              <a:t>readproperty</a:t>
            </a:r>
            <a:r>
              <a:rPr lang="en-US" dirty="0">
                <a:solidFill>
                  <a:schemeClr val="accent3">
                    <a:lumMod val="75000"/>
                  </a:schemeClr>
                </a:solidFill>
              </a:rPr>
              <a:t>",</a:t>
            </a:r>
          </a:p>
          <a:p>
            <a:r>
              <a:rPr lang="en-US" dirty="0">
                <a:solidFill>
                  <a:schemeClr val="accent3">
                    <a:lumMod val="75000"/>
                  </a:schemeClr>
                </a:solidFill>
              </a:rPr>
              <a:t>          "</a:t>
            </a:r>
            <a:r>
              <a:rPr lang="en-US" dirty="0" err="1">
                <a:solidFill>
                  <a:schemeClr val="accent3">
                    <a:lumMod val="75000"/>
                  </a:schemeClr>
                </a:solidFill>
              </a:rPr>
              <a:t>href</a:t>
            </a:r>
            <a:r>
              <a:rPr lang="en-US" dirty="0">
                <a:solidFill>
                  <a:schemeClr val="accent3">
                    <a:lumMod val="75000"/>
                  </a:schemeClr>
                </a:solidFill>
              </a:rPr>
              <a:t>": "10003",</a:t>
            </a:r>
          </a:p>
          <a:p>
            <a:r>
              <a:rPr lang="en-US" dirty="0">
                <a:solidFill>
                  <a:schemeClr val="accent3">
                    <a:lumMod val="75000"/>
                  </a:schemeClr>
                </a:solidFill>
              </a:rPr>
              <a:t>          "</a:t>
            </a:r>
            <a:r>
              <a:rPr lang="en-US" dirty="0" err="1">
                <a:solidFill>
                  <a:schemeClr val="accent3">
                    <a:lumMod val="75000"/>
                  </a:schemeClr>
                </a:solidFill>
              </a:rPr>
              <a:t>modv:function</a:t>
            </a:r>
            <a:r>
              <a:rPr lang="en-US" dirty="0">
                <a:solidFill>
                  <a:schemeClr val="accent3">
                    <a:lumMod val="75000"/>
                  </a:schemeClr>
                </a:solidFill>
              </a:rPr>
              <a:t>": "</a:t>
            </a:r>
            <a:r>
              <a:rPr lang="en-US" dirty="0" err="1">
                <a:solidFill>
                  <a:schemeClr val="accent3">
                    <a:lumMod val="75000"/>
                  </a:schemeClr>
                </a:solidFill>
              </a:rPr>
              <a:t>readDiscreteInput</a:t>
            </a:r>
            <a:r>
              <a:rPr lang="en-US" dirty="0">
                <a:solidFill>
                  <a:schemeClr val="accent3">
                    <a:lumMod val="75000"/>
                  </a:schemeClr>
                </a:solidFill>
              </a:rPr>
              <a:t>",</a:t>
            </a:r>
          </a:p>
          <a:p>
            <a:r>
              <a:rPr lang="en-US" dirty="0">
                <a:solidFill>
                  <a:schemeClr val="accent3">
                    <a:lumMod val="75000"/>
                  </a:schemeClr>
                </a:solidFill>
              </a:rPr>
              <a:t>          "</a:t>
            </a:r>
            <a:r>
              <a:rPr lang="en-US" dirty="0" err="1">
                <a:solidFill>
                  <a:schemeClr val="accent3">
                    <a:lumMod val="75000"/>
                  </a:schemeClr>
                </a:solidFill>
              </a:rPr>
              <a:t>contentType</a:t>
            </a:r>
            <a:r>
              <a:rPr lang="en-US" dirty="0">
                <a:solidFill>
                  <a:schemeClr val="accent3">
                    <a:lumMod val="75000"/>
                  </a:schemeClr>
                </a:solidFill>
              </a:rPr>
              <a:t>": "application/octet-stream"</a:t>
            </a:r>
          </a:p>
          <a:p>
            <a:r>
              <a:rPr lang="en-US" dirty="0">
                <a:solidFill>
                  <a:schemeClr val="accent3">
                    <a:lumMod val="75000"/>
                  </a:schemeClr>
                </a:solidFill>
              </a:rPr>
              <a:t>        }</a:t>
            </a:r>
          </a:p>
          <a:p>
            <a:r>
              <a:rPr lang="en-US" dirty="0">
                <a:solidFill>
                  <a:schemeClr val="accent3">
                    <a:lumMod val="75000"/>
                  </a:schemeClr>
                </a:solidFill>
              </a:rPr>
              <a:t>      ]</a:t>
            </a:r>
          </a:p>
          <a:p>
            <a:r>
              <a:rPr lang="en-US" dirty="0">
                <a:solidFill>
                  <a:schemeClr val="accent3">
                    <a:lumMod val="75000"/>
                  </a:schemeClr>
                </a:solidFill>
              </a:rPr>
              <a:t> ...</a:t>
            </a:r>
          </a:p>
        </p:txBody>
      </p:sp>
      <p:pic>
        <p:nvPicPr>
          <p:cNvPr id="3" name="Graphic 2" descr="Factory with solid fill">
            <a:extLst>
              <a:ext uri="{FF2B5EF4-FFF2-40B4-BE49-F238E27FC236}">
                <a16:creationId xmlns:a16="http://schemas.microsoft.com/office/drawing/2014/main" id="{FB82C837-6398-77F7-83C4-3C3412A28B5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42333" y="4946859"/>
            <a:ext cx="832915" cy="832915"/>
          </a:xfrm>
          <a:prstGeom prst="rect">
            <a:avLst/>
          </a:prstGeom>
        </p:spPr>
      </p:pic>
      <p:sp>
        <p:nvSpPr>
          <p:cNvPr id="13" name="Content Placeholder 2">
            <a:extLst>
              <a:ext uri="{FF2B5EF4-FFF2-40B4-BE49-F238E27FC236}">
                <a16:creationId xmlns:a16="http://schemas.microsoft.com/office/drawing/2014/main" id="{C36C2F6B-0DAF-A7D9-980A-48BCFED35B91}"/>
              </a:ext>
            </a:extLst>
          </p:cNvPr>
          <p:cNvSpPr txBox="1">
            <a:spLocks/>
          </p:cNvSpPr>
          <p:nvPr/>
        </p:nvSpPr>
        <p:spPr>
          <a:xfrm>
            <a:off x="9370089" y="1451730"/>
            <a:ext cx="1779574" cy="3526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buFont typeface="Wingdings" panose="05000000000000000000" pitchFamily="2" charset="2"/>
              <a:buChar char="ü"/>
            </a:pPr>
            <a:r>
              <a:rPr lang="en-US" sz="1800" dirty="0">
                <a:solidFill>
                  <a:schemeClr val="accent6"/>
                </a:solidFill>
                <a:latin typeface="Consolas" panose="020B0609020204030204" pitchFamily="49" charset="0"/>
                <a:cs typeface="Consolas" panose="020B0609020204030204" pitchFamily="49" charset="0"/>
              </a:rPr>
              <a:t> Modbus</a:t>
            </a:r>
          </a:p>
        </p:txBody>
      </p:sp>
    </p:spTree>
    <p:extLst>
      <p:ext uri="{BB962C8B-B14F-4D97-AF65-F5344CB8AC3E}">
        <p14:creationId xmlns:p14="http://schemas.microsoft.com/office/powerpoint/2010/main" val="29013288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763ED-9E1B-71FA-D9E6-706D54BDBF7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54DC7A3-8EA1-ED0C-512F-50111ACBCCA8}"/>
              </a:ext>
            </a:extLst>
          </p:cNvPr>
          <p:cNvSpPr txBox="1">
            <a:spLocks/>
          </p:cNvSpPr>
          <p:nvPr/>
        </p:nvSpPr>
        <p:spPr>
          <a:xfrm>
            <a:off x="2198977" y="2766218"/>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Summary</a:t>
            </a:r>
            <a:endParaRPr lang="aa-ET" dirty="0">
              <a:solidFill>
                <a:schemeClr val="accent1"/>
              </a:solidFill>
              <a:latin typeface="Century Gothic" panose="020B0502020202020204" pitchFamily="34" charset="0"/>
            </a:endParaRPr>
          </a:p>
        </p:txBody>
      </p:sp>
    </p:spTree>
    <p:extLst>
      <p:ext uri="{BB962C8B-B14F-4D97-AF65-F5344CB8AC3E}">
        <p14:creationId xmlns:p14="http://schemas.microsoft.com/office/powerpoint/2010/main" val="13319011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EC7E4-0EFE-0FA9-A4E9-612DE442A4F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C82BC87-0DEB-C22B-180D-298BEC1822D0}"/>
              </a:ext>
            </a:extLst>
          </p:cNvPr>
          <p:cNvSpPr txBox="1">
            <a:spLocks/>
          </p:cNvSpPr>
          <p:nvPr/>
        </p:nvSpPr>
        <p:spPr>
          <a:xfrm>
            <a:off x="2198977" y="2132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Summary</a:t>
            </a:r>
            <a:endParaRPr lang="aa-ET" dirty="0">
              <a:solidFill>
                <a:schemeClr val="accent1"/>
              </a:solidFill>
              <a:latin typeface="Century Gothic" panose="020B0502020202020204" pitchFamily="34" charset="0"/>
            </a:endParaRPr>
          </a:p>
        </p:txBody>
      </p:sp>
    </p:spTree>
    <p:extLst>
      <p:ext uri="{BB962C8B-B14F-4D97-AF65-F5344CB8AC3E}">
        <p14:creationId xmlns:p14="http://schemas.microsoft.com/office/powerpoint/2010/main" val="14885649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373BF-AE13-D4EA-5003-21400742F1F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CDFB049-AAB5-80AB-AF04-16A17C42F675}"/>
              </a:ext>
            </a:extLst>
          </p:cNvPr>
          <p:cNvSpPr txBox="1">
            <a:spLocks/>
          </p:cNvSpPr>
          <p:nvPr/>
        </p:nvSpPr>
        <p:spPr>
          <a:xfrm>
            <a:off x="2198977" y="2132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Summary</a:t>
            </a:r>
            <a:endParaRPr lang="aa-ET" dirty="0">
              <a:solidFill>
                <a:schemeClr val="accent1"/>
              </a:solidFill>
              <a:latin typeface="Century Gothic" panose="020B0502020202020204" pitchFamily="34" charset="0"/>
            </a:endParaRPr>
          </a:p>
        </p:txBody>
      </p:sp>
      <p:grpSp>
        <p:nvGrpSpPr>
          <p:cNvPr id="9" name="Group 8">
            <a:extLst>
              <a:ext uri="{FF2B5EF4-FFF2-40B4-BE49-F238E27FC236}">
                <a16:creationId xmlns:a16="http://schemas.microsoft.com/office/drawing/2014/main" id="{83715A61-78A6-63B0-7D96-0B7CDB8EA3B9}"/>
              </a:ext>
            </a:extLst>
          </p:cNvPr>
          <p:cNvGrpSpPr/>
          <p:nvPr/>
        </p:nvGrpSpPr>
        <p:grpSpPr>
          <a:xfrm>
            <a:off x="1652409" y="1538838"/>
            <a:ext cx="8887182" cy="899508"/>
            <a:chOff x="977364" y="1853852"/>
            <a:chExt cx="10406735" cy="1077238"/>
          </a:xfrm>
        </p:grpSpPr>
        <p:sp>
          <p:nvSpPr>
            <p:cNvPr id="5" name="Rectangle: Rounded Corners 4">
              <a:extLst>
                <a:ext uri="{FF2B5EF4-FFF2-40B4-BE49-F238E27FC236}">
                  <a16:creationId xmlns:a16="http://schemas.microsoft.com/office/drawing/2014/main" id="{029D0A10-72F4-72B4-AE2D-13A313FE1C31}"/>
                </a:ext>
              </a:extLst>
            </p:cNvPr>
            <p:cNvSpPr/>
            <p:nvPr/>
          </p:nvSpPr>
          <p:spPr>
            <a:xfrm>
              <a:off x="977364" y="1853852"/>
              <a:ext cx="10396603"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Rounded Corners 1">
              <a:extLst>
                <a:ext uri="{FF2B5EF4-FFF2-40B4-BE49-F238E27FC236}">
                  <a16:creationId xmlns:a16="http://schemas.microsoft.com/office/drawing/2014/main" id="{AD70BF8F-E842-0AA8-4ACB-6AF5C140FC68}"/>
                </a:ext>
              </a:extLst>
            </p:cNvPr>
            <p:cNvSpPr/>
            <p:nvPr/>
          </p:nvSpPr>
          <p:spPr>
            <a:xfrm>
              <a:off x="993240" y="1853852"/>
              <a:ext cx="10382224"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25B0CD66-DCEC-C9FA-77AD-E4928289274E}"/>
                </a:ext>
              </a:extLst>
            </p:cNvPr>
            <p:cNvSpPr/>
            <p:nvPr/>
          </p:nvSpPr>
          <p:spPr>
            <a:xfrm>
              <a:off x="1007436" y="1853852"/>
              <a:ext cx="10375648"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9C719BCE-179D-DE69-D597-2B2255E272AA}"/>
                </a:ext>
              </a:extLst>
            </p:cNvPr>
            <p:cNvSpPr/>
            <p:nvPr/>
          </p:nvSpPr>
          <p:spPr>
            <a:xfrm>
              <a:off x="1022830" y="1853852"/>
              <a:ext cx="10361269"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E2A1AEEE-C084-E1AF-FFF8-B6D52FF03B5E}"/>
                </a:ext>
              </a:extLst>
            </p:cNvPr>
            <p:cNvSpPr/>
            <p:nvPr/>
          </p:nvSpPr>
          <p:spPr>
            <a:xfrm>
              <a:off x="1038708" y="1853852"/>
              <a:ext cx="10333736"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972ED03A-DC77-40B6-2DCF-D9BF2362C43A}"/>
                </a:ext>
              </a:extLst>
            </p:cNvPr>
            <p:cNvSpPr/>
            <p:nvPr/>
          </p:nvSpPr>
          <p:spPr>
            <a:xfrm>
              <a:off x="1053924" y="1853852"/>
              <a:ext cx="10311916"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5" name="TextBox 44">
            <a:extLst>
              <a:ext uri="{FF2B5EF4-FFF2-40B4-BE49-F238E27FC236}">
                <a16:creationId xmlns:a16="http://schemas.microsoft.com/office/drawing/2014/main" id="{A93F5316-38EA-E264-CCC7-193F9F86C862}"/>
              </a:ext>
            </a:extLst>
          </p:cNvPr>
          <p:cNvSpPr txBox="1"/>
          <p:nvPr/>
        </p:nvSpPr>
        <p:spPr>
          <a:xfrm>
            <a:off x="1967483" y="1787727"/>
            <a:ext cx="6911507" cy="707886"/>
          </a:xfrm>
          <a:prstGeom prst="rect">
            <a:avLst/>
          </a:prstGeom>
          <a:noFill/>
        </p:spPr>
        <p:txBody>
          <a:bodyPr wrap="square" rtlCol="0">
            <a:spAutoFit/>
          </a:bodyPr>
          <a:lstStyle/>
          <a:p>
            <a:r>
              <a:rPr lang="en-US" sz="2000" dirty="0">
                <a:solidFill>
                  <a:schemeClr val="bg1"/>
                </a:solidFill>
              </a:rPr>
              <a:t>Bindings define how interactions are executed over the network.</a:t>
            </a:r>
          </a:p>
          <a:p>
            <a:endParaRPr lang="en-US" sz="2000" dirty="0">
              <a:solidFill>
                <a:schemeClr val="bg1"/>
              </a:solidFill>
            </a:endParaRPr>
          </a:p>
        </p:txBody>
      </p:sp>
    </p:spTree>
    <p:extLst>
      <p:ext uri="{BB962C8B-B14F-4D97-AF65-F5344CB8AC3E}">
        <p14:creationId xmlns:p14="http://schemas.microsoft.com/office/powerpoint/2010/main" val="3673864853"/>
      </p:ext>
    </p:extLst>
  </p:cSld>
  <p:clrMapOvr>
    <a:masterClrMapping/>
  </p:clrMapOvr>
  <p:transition spd="slow" advTm="1500">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7776F-50A2-89D2-BF14-CA1434970C2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8320FD0-253A-3DD7-9010-D1C531B88426}"/>
              </a:ext>
            </a:extLst>
          </p:cNvPr>
          <p:cNvSpPr txBox="1">
            <a:spLocks/>
          </p:cNvSpPr>
          <p:nvPr/>
        </p:nvSpPr>
        <p:spPr>
          <a:xfrm>
            <a:off x="2198977" y="2132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Summary</a:t>
            </a:r>
            <a:endParaRPr lang="aa-ET" dirty="0">
              <a:solidFill>
                <a:schemeClr val="accent1"/>
              </a:solidFill>
              <a:latin typeface="Century Gothic" panose="020B0502020202020204" pitchFamily="34" charset="0"/>
            </a:endParaRPr>
          </a:p>
        </p:txBody>
      </p:sp>
      <p:grpSp>
        <p:nvGrpSpPr>
          <p:cNvPr id="9" name="Group 8">
            <a:extLst>
              <a:ext uri="{FF2B5EF4-FFF2-40B4-BE49-F238E27FC236}">
                <a16:creationId xmlns:a16="http://schemas.microsoft.com/office/drawing/2014/main" id="{60D8ACA4-CEA9-3B17-A62C-5DA325601C2B}"/>
              </a:ext>
            </a:extLst>
          </p:cNvPr>
          <p:cNvGrpSpPr/>
          <p:nvPr/>
        </p:nvGrpSpPr>
        <p:grpSpPr>
          <a:xfrm>
            <a:off x="1652409" y="1538838"/>
            <a:ext cx="8887182" cy="899508"/>
            <a:chOff x="977364" y="1853852"/>
            <a:chExt cx="10406735" cy="1077238"/>
          </a:xfrm>
        </p:grpSpPr>
        <p:sp>
          <p:nvSpPr>
            <p:cNvPr id="5" name="Rectangle: Rounded Corners 4">
              <a:extLst>
                <a:ext uri="{FF2B5EF4-FFF2-40B4-BE49-F238E27FC236}">
                  <a16:creationId xmlns:a16="http://schemas.microsoft.com/office/drawing/2014/main" id="{5C7323F7-734B-E2C8-F942-989AA1E98753}"/>
                </a:ext>
              </a:extLst>
            </p:cNvPr>
            <p:cNvSpPr/>
            <p:nvPr/>
          </p:nvSpPr>
          <p:spPr>
            <a:xfrm>
              <a:off x="977364" y="1853852"/>
              <a:ext cx="10396603"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Rounded Corners 1">
              <a:extLst>
                <a:ext uri="{FF2B5EF4-FFF2-40B4-BE49-F238E27FC236}">
                  <a16:creationId xmlns:a16="http://schemas.microsoft.com/office/drawing/2014/main" id="{6EE3D9B4-E546-6B38-8CD8-3C14E8F59A88}"/>
                </a:ext>
              </a:extLst>
            </p:cNvPr>
            <p:cNvSpPr/>
            <p:nvPr/>
          </p:nvSpPr>
          <p:spPr>
            <a:xfrm>
              <a:off x="993240" y="1853852"/>
              <a:ext cx="10382224"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C0D16A96-608F-0797-DB14-ABD2B234C522}"/>
                </a:ext>
              </a:extLst>
            </p:cNvPr>
            <p:cNvSpPr/>
            <p:nvPr/>
          </p:nvSpPr>
          <p:spPr>
            <a:xfrm>
              <a:off x="1007436" y="1853852"/>
              <a:ext cx="10375648"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2A0A2A7E-E07C-5283-D85A-AD80E2A70F64}"/>
                </a:ext>
              </a:extLst>
            </p:cNvPr>
            <p:cNvSpPr/>
            <p:nvPr/>
          </p:nvSpPr>
          <p:spPr>
            <a:xfrm>
              <a:off x="1022830" y="1853852"/>
              <a:ext cx="10361269"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E41EC2C5-DE53-5AE1-E9E0-252024EF0AF5}"/>
                </a:ext>
              </a:extLst>
            </p:cNvPr>
            <p:cNvSpPr/>
            <p:nvPr/>
          </p:nvSpPr>
          <p:spPr>
            <a:xfrm>
              <a:off x="1038708" y="1853852"/>
              <a:ext cx="10333736"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775F1BE0-0BA2-3E74-B5F5-B84B7606B944}"/>
                </a:ext>
              </a:extLst>
            </p:cNvPr>
            <p:cNvSpPr/>
            <p:nvPr/>
          </p:nvSpPr>
          <p:spPr>
            <a:xfrm>
              <a:off x="1053924" y="1853852"/>
              <a:ext cx="10311916"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6E13E223-10C1-A03B-D45D-A56949FAB465}"/>
              </a:ext>
            </a:extLst>
          </p:cNvPr>
          <p:cNvGrpSpPr/>
          <p:nvPr/>
        </p:nvGrpSpPr>
        <p:grpSpPr>
          <a:xfrm>
            <a:off x="1652409" y="2697078"/>
            <a:ext cx="8887182" cy="899508"/>
            <a:chOff x="977364" y="1853852"/>
            <a:chExt cx="10406735" cy="1077238"/>
          </a:xfrm>
        </p:grpSpPr>
        <p:sp>
          <p:nvSpPr>
            <p:cNvPr id="25" name="Rectangle: Rounded Corners 24">
              <a:extLst>
                <a:ext uri="{FF2B5EF4-FFF2-40B4-BE49-F238E27FC236}">
                  <a16:creationId xmlns:a16="http://schemas.microsoft.com/office/drawing/2014/main" id="{E2D85511-DB2B-B322-D78E-F1085508DCB8}"/>
                </a:ext>
              </a:extLst>
            </p:cNvPr>
            <p:cNvSpPr/>
            <p:nvPr/>
          </p:nvSpPr>
          <p:spPr>
            <a:xfrm>
              <a:off x="977364" y="1853852"/>
              <a:ext cx="10396603"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4E3E7EC8-1C93-DF23-7DB0-78B7A4A49F6E}"/>
                </a:ext>
              </a:extLst>
            </p:cNvPr>
            <p:cNvSpPr/>
            <p:nvPr/>
          </p:nvSpPr>
          <p:spPr>
            <a:xfrm>
              <a:off x="993240" y="1853852"/>
              <a:ext cx="10382224"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C50F19CF-2206-7C8B-8557-52FF8158C3CC}"/>
                </a:ext>
              </a:extLst>
            </p:cNvPr>
            <p:cNvSpPr/>
            <p:nvPr/>
          </p:nvSpPr>
          <p:spPr>
            <a:xfrm>
              <a:off x="1007436" y="1853852"/>
              <a:ext cx="10375648"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86F8C127-D521-3E68-B062-FCE25D93D38D}"/>
                </a:ext>
              </a:extLst>
            </p:cNvPr>
            <p:cNvSpPr/>
            <p:nvPr/>
          </p:nvSpPr>
          <p:spPr>
            <a:xfrm>
              <a:off x="1022830" y="1853852"/>
              <a:ext cx="10361269"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28">
              <a:extLst>
                <a:ext uri="{FF2B5EF4-FFF2-40B4-BE49-F238E27FC236}">
                  <a16:creationId xmlns:a16="http://schemas.microsoft.com/office/drawing/2014/main" id="{2EBCB693-534C-E863-D8F7-7FB24B359697}"/>
                </a:ext>
              </a:extLst>
            </p:cNvPr>
            <p:cNvSpPr/>
            <p:nvPr/>
          </p:nvSpPr>
          <p:spPr>
            <a:xfrm>
              <a:off x="1038708" y="1853852"/>
              <a:ext cx="10333736"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Rounded Corners 29">
              <a:extLst>
                <a:ext uri="{FF2B5EF4-FFF2-40B4-BE49-F238E27FC236}">
                  <a16:creationId xmlns:a16="http://schemas.microsoft.com/office/drawing/2014/main" id="{16D57F77-04C1-7874-32F8-9D72A4E64B54}"/>
                </a:ext>
              </a:extLst>
            </p:cNvPr>
            <p:cNvSpPr/>
            <p:nvPr/>
          </p:nvSpPr>
          <p:spPr>
            <a:xfrm>
              <a:off x="1053924" y="1853852"/>
              <a:ext cx="10311916"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5" name="TextBox 44">
            <a:extLst>
              <a:ext uri="{FF2B5EF4-FFF2-40B4-BE49-F238E27FC236}">
                <a16:creationId xmlns:a16="http://schemas.microsoft.com/office/drawing/2014/main" id="{BC45665A-635F-A26E-86BD-480DF66A3C69}"/>
              </a:ext>
            </a:extLst>
          </p:cNvPr>
          <p:cNvSpPr txBox="1"/>
          <p:nvPr/>
        </p:nvSpPr>
        <p:spPr>
          <a:xfrm>
            <a:off x="1967483" y="1787727"/>
            <a:ext cx="6911507" cy="707886"/>
          </a:xfrm>
          <a:prstGeom prst="rect">
            <a:avLst/>
          </a:prstGeom>
          <a:noFill/>
        </p:spPr>
        <p:txBody>
          <a:bodyPr wrap="square" rtlCol="0">
            <a:spAutoFit/>
          </a:bodyPr>
          <a:lstStyle/>
          <a:p>
            <a:r>
              <a:rPr lang="en-US" sz="2000" dirty="0">
                <a:solidFill>
                  <a:schemeClr val="bg1"/>
                </a:solidFill>
              </a:rPr>
              <a:t>Bindings define how interactions are executed over the network.</a:t>
            </a:r>
          </a:p>
          <a:p>
            <a:endParaRPr lang="en-US" sz="2000" dirty="0">
              <a:solidFill>
                <a:schemeClr val="bg1"/>
              </a:solidFill>
            </a:endParaRPr>
          </a:p>
        </p:txBody>
      </p:sp>
      <p:sp>
        <p:nvSpPr>
          <p:cNvPr id="46" name="TextBox 45">
            <a:extLst>
              <a:ext uri="{FF2B5EF4-FFF2-40B4-BE49-F238E27FC236}">
                <a16:creationId xmlns:a16="http://schemas.microsoft.com/office/drawing/2014/main" id="{75B92FBB-C7BB-B65C-83C4-DD9BC35916AD}"/>
              </a:ext>
            </a:extLst>
          </p:cNvPr>
          <p:cNvSpPr txBox="1"/>
          <p:nvPr/>
        </p:nvSpPr>
        <p:spPr>
          <a:xfrm>
            <a:off x="1967483" y="2941099"/>
            <a:ext cx="6292492" cy="400110"/>
          </a:xfrm>
          <a:prstGeom prst="rect">
            <a:avLst/>
          </a:prstGeom>
          <a:noFill/>
        </p:spPr>
        <p:txBody>
          <a:bodyPr wrap="none" rtlCol="0">
            <a:spAutoFit/>
          </a:bodyPr>
          <a:lstStyle/>
          <a:p>
            <a:r>
              <a:rPr lang="en-US" sz="2000" dirty="0">
                <a:solidFill>
                  <a:schemeClr val="bg1"/>
                </a:solidFill>
              </a:rPr>
              <a:t>They are expressed using </a:t>
            </a:r>
            <a:r>
              <a:rPr lang="en-US" sz="2000" dirty="0">
                <a:solidFill>
                  <a:schemeClr val="accent5"/>
                </a:solidFill>
              </a:rPr>
              <a:t>"forms" </a:t>
            </a:r>
            <a:r>
              <a:rPr lang="en-US" sz="2000" dirty="0">
                <a:solidFill>
                  <a:schemeClr val="bg1"/>
                </a:solidFill>
              </a:rPr>
              <a:t>in the Thing Description.</a:t>
            </a:r>
          </a:p>
        </p:txBody>
      </p:sp>
    </p:spTree>
    <p:extLst>
      <p:ext uri="{BB962C8B-B14F-4D97-AF65-F5344CB8AC3E}">
        <p14:creationId xmlns:p14="http://schemas.microsoft.com/office/powerpoint/2010/main" val="1060323619"/>
      </p:ext>
    </p:extLst>
  </p:cSld>
  <p:clrMapOvr>
    <a:masterClrMapping/>
  </p:clrMapOvr>
  <p:transition spd="slow" advTm="2700">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B89F3-EC4C-042C-DD8D-B04DAEBB650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3FB4DF3-A59C-A893-99DF-7CB090A36710}"/>
              </a:ext>
            </a:extLst>
          </p:cNvPr>
          <p:cNvSpPr txBox="1">
            <a:spLocks/>
          </p:cNvSpPr>
          <p:nvPr/>
        </p:nvSpPr>
        <p:spPr>
          <a:xfrm>
            <a:off x="2198977" y="2132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Summary</a:t>
            </a:r>
            <a:endParaRPr lang="aa-ET" dirty="0">
              <a:solidFill>
                <a:schemeClr val="accent1"/>
              </a:solidFill>
              <a:latin typeface="Century Gothic" panose="020B0502020202020204" pitchFamily="34" charset="0"/>
            </a:endParaRPr>
          </a:p>
        </p:txBody>
      </p:sp>
      <p:grpSp>
        <p:nvGrpSpPr>
          <p:cNvPr id="9" name="Group 8">
            <a:extLst>
              <a:ext uri="{FF2B5EF4-FFF2-40B4-BE49-F238E27FC236}">
                <a16:creationId xmlns:a16="http://schemas.microsoft.com/office/drawing/2014/main" id="{F4E29941-15FB-03B5-265D-1C339F98DF15}"/>
              </a:ext>
            </a:extLst>
          </p:cNvPr>
          <p:cNvGrpSpPr/>
          <p:nvPr/>
        </p:nvGrpSpPr>
        <p:grpSpPr>
          <a:xfrm>
            <a:off x="1652409" y="1538838"/>
            <a:ext cx="8887182" cy="899508"/>
            <a:chOff x="977364" y="1853852"/>
            <a:chExt cx="10406735" cy="1077238"/>
          </a:xfrm>
        </p:grpSpPr>
        <p:sp>
          <p:nvSpPr>
            <p:cNvPr id="5" name="Rectangle: Rounded Corners 4">
              <a:extLst>
                <a:ext uri="{FF2B5EF4-FFF2-40B4-BE49-F238E27FC236}">
                  <a16:creationId xmlns:a16="http://schemas.microsoft.com/office/drawing/2014/main" id="{804328A1-F7EC-F847-1CEE-6F1F57B2E7B4}"/>
                </a:ext>
              </a:extLst>
            </p:cNvPr>
            <p:cNvSpPr/>
            <p:nvPr/>
          </p:nvSpPr>
          <p:spPr>
            <a:xfrm>
              <a:off x="977364" y="1853852"/>
              <a:ext cx="10396603"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Rounded Corners 1">
              <a:extLst>
                <a:ext uri="{FF2B5EF4-FFF2-40B4-BE49-F238E27FC236}">
                  <a16:creationId xmlns:a16="http://schemas.microsoft.com/office/drawing/2014/main" id="{687E04F3-5CDC-F35C-0E72-A05CEFD0CBD5}"/>
                </a:ext>
              </a:extLst>
            </p:cNvPr>
            <p:cNvSpPr/>
            <p:nvPr/>
          </p:nvSpPr>
          <p:spPr>
            <a:xfrm>
              <a:off x="993240" y="1853852"/>
              <a:ext cx="10382224"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3623267E-592D-0DAC-492F-FFC281FF4C29}"/>
                </a:ext>
              </a:extLst>
            </p:cNvPr>
            <p:cNvSpPr/>
            <p:nvPr/>
          </p:nvSpPr>
          <p:spPr>
            <a:xfrm>
              <a:off x="1007436" y="1853852"/>
              <a:ext cx="10375648"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347428FF-6AAB-2211-31E3-E926647FA1F1}"/>
                </a:ext>
              </a:extLst>
            </p:cNvPr>
            <p:cNvSpPr/>
            <p:nvPr/>
          </p:nvSpPr>
          <p:spPr>
            <a:xfrm>
              <a:off x="1022830" y="1853852"/>
              <a:ext cx="10361269"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22282877-355F-189A-A0D9-98C8FE6501BE}"/>
                </a:ext>
              </a:extLst>
            </p:cNvPr>
            <p:cNvSpPr/>
            <p:nvPr/>
          </p:nvSpPr>
          <p:spPr>
            <a:xfrm>
              <a:off x="1038708" y="1853852"/>
              <a:ext cx="10333736"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500DC2F8-76FD-2B02-F4A0-32A1F3687254}"/>
                </a:ext>
              </a:extLst>
            </p:cNvPr>
            <p:cNvSpPr/>
            <p:nvPr/>
          </p:nvSpPr>
          <p:spPr>
            <a:xfrm>
              <a:off x="1053924" y="1853852"/>
              <a:ext cx="10311916"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4CD6E129-FF63-EC1C-4338-CA46C55BCB82}"/>
              </a:ext>
            </a:extLst>
          </p:cNvPr>
          <p:cNvGrpSpPr/>
          <p:nvPr/>
        </p:nvGrpSpPr>
        <p:grpSpPr>
          <a:xfrm>
            <a:off x="1652409" y="2697078"/>
            <a:ext cx="8887182" cy="899508"/>
            <a:chOff x="977364" y="1853852"/>
            <a:chExt cx="10406735" cy="1077238"/>
          </a:xfrm>
        </p:grpSpPr>
        <p:sp>
          <p:nvSpPr>
            <p:cNvPr id="25" name="Rectangle: Rounded Corners 24">
              <a:extLst>
                <a:ext uri="{FF2B5EF4-FFF2-40B4-BE49-F238E27FC236}">
                  <a16:creationId xmlns:a16="http://schemas.microsoft.com/office/drawing/2014/main" id="{D173EC26-F507-3DBB-A57F-B50AA6B67B2D}"/>
                </a:ext>
              </a:extLst>
            </p:cNvPr>
            <p:cNvSpPr/>
            <p:nvPr/>
          </p:nvSpPr>
          <p:spPr>
            <a:xfrm>
              <a:off x="977364" y="1853852"/>
              <a:ext cx="10396603"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6D4FA41B-1BB6-26F7-1BAC-4E58ECD76A4E}"/>
                </a:ext>
              </a:extLst>
            </p:cNvPr>
            <p:cNvSpPr/>
            <p:nvPr/>
          </p:nvSpPr>
          <p:spPr>
            <a:xfrm>
              <a:off x="993240" y="1853852"/>
              <a:ext cx="10382224"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41185F07-A1D7-973E-3D7C-6310E0ED7647}"/>
                </a:ext>
              </a:extLst>
            </p:cNvPr>
            <p:cNvSpPr/>
            <p:nvPr/>
          </p:nvSpPr>
          <p:spPr>
            <a:xfrm>
              <a:off x="1007436" y="1853852"/>
              <a:ext cx="10375648"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B262114F-E983-05EE-ED61-4CA8443A1C52}"/>
                </a:ext>
              </a:extLst>
            </p:cNvPr>
            <p:cNvSpPr/>
            <p:nvPr/>
          </p:nvSpPr>
          <p:spPr>
            <a:xfrm>
              <a:off x="1022830" y="1853852"/>
              <a:ext cx="10361269"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28">
              <a:extLst>
                <a:ext uri="{FF2B5EF4-FFF2-40B4-BE49-F238E27FC236}">
                  <a16:creationId xmlns:a16="http://schemas.microsoft.com/office/drawing/2014/main" id="{CD2AEAF5-6EEB-956C-126D-88F2C436FD5D}"/>
                </a:ext>
              </a:extLst>
            </p:cNvPr>
            <p:cNvSpPr/>
            <p:nvPr/>
          </p:nvSpPr>
          <p:spPr>
            <a:xfrm>
              <a:off x="1038708" y="1853852"/>
              <a:ext cx="10333736"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Rounded Corners 29">
              <a:extLst>
                <a:ext uri="{FF2B5EF4-FFF2-40B4-BE49-F238E27FC236}">
                  <a16:creationId xmlns:a16="http://schemas.microsoft.com/office/drawing/2014/main" id="{A220C941-9D65-BA1B-1A09-5FACD4D28A33}"/>
                </a:ext>
              </a:extLst>
            </p:cNvPr>
            <p:cNvSpPr/>
            <p:nvPr/>
          </p:nvSpPr>
          <p:spPr>
            <a:xfrm>
              <a:off x="1053924" y="1853852"/>
              <a:ext cx="10311916"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D0D63A72-471C-A9D1-2199-FE2DF000F59A}"/>
              </a:ext>
            </a:extLst>
          </p:cNvPr>
          <p:cNvGrpSpPr/>
          <p:nvPr/>
        </p:nvGrpSpPr>
        <p:grpSpPr>
          <a:xfrm>
            <a:off x="1652409" y="3901038"/>
            <a:ext cx="8887182" cy="899508"/>
            <a:chOff x="977364" y="1853852"/>
            <a:chExt cx="10406735" cy="1077238"/>
          </a:xfrm>
        </p:grpSpPr>
        <p:sp>
          <p:nvSpPr>
            <p:cNvPr id="32" name="Rectangle: Rounded Corners 31">
              <a:extLst>
                <a:ext uri="{FF2B5EF4-FFF2-40B4-BE49-F238E27FC236}">
                  <a16:creationId xmlns:a16="http://schemas.microsoft.com/office/drawing/2014/main" id="{39F95C60-7EAF-6FB6-654A-88FD0D3EA9D6}"/>
                </a:ext>
              </a:extLst>
            </p:cNvPr>
            <p:cNvSpPr/>
            <p:nvPr/>
          </p:nvSpPr>
          <p:spPr>
            <a:xfrm>
              <a:off x="977364" y="1853852"/>
              <a:ext cx="10396603" cy="1077238"/>
            </a:xfrm>
            <a:prstGeom prst="roundRect">
              <a:avLst>
                <a:gd name="adj" fmla="val 11008"/>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Rounded Corners 32">
              <a:extLst>
                <a:ext uri="{FF2B5EF4-FFF2-40B4-BE49-F238E27FC236}">
                  <a16:creationId xmlns:a16="http://schemas.microsoft.com/office/drawing/2014/main" id="{C678F8CB-3B7F-0C81-9AA8-E7151021580F}"/>
                </a:ext>
              </a:extLst>
            </p:cNvPr>
            <p:cNvSpPr/>
            <p:nvPr/>
          </p:nvSpPr>
          <p:spPr>
            <a:xfrm>
              <a:off x="993240" y="1853852"/>
              <a:ext cx="10382224" cy="1077238"/>
            </a:xfrm>
            <a:prstGeom prst="roundRect">
              <a:avLst>
                <a:gd name="adj" fmla="val 11008"/>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Rounded Corners 33">
              <a:extLst>
                <a:ext uri="{FF2B5EF4-FFF2-40B4-BE49-F238E27FC236}">
                  <a16:creationId xmlns:a16="http://schemas.microsoft.com/office/drawing/2014/main" id="{8559B658-75F8-F96C-CCF6-D245BF2E58C2}"/>
                </a:ext>
              </a:extLst>
            </p:cNvPr>
            <p:cNvSpPr/>
            <p:nvPr/>
          </p:nvSpPr>
          <p:spPr>
            <a:xfrm>
              <a:off x="1007436" y="1853852"/>
              <a:ext cx="10375648" cy="1077238"/>
            </a:xfrm>
            <a:prstGeom prst="roundRect">
              <a:avLst>
                <a:gd name="adj" fmla="val 11008"/>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Rounded Corners 34">
              <a:extLst>
                <a:ext uri="{FF2B5EF4-FFF2-40B4-BE49-F238E27FC236}">
                  <a16:creationId xmlns:a16="http://schemas.microsoft.com/office/drawing/2014/main" id="{8FD3D59F-B887-4C7E-8274-14E20478AD20}"/>
                </a:ext>
              </a:extLst>
            </p:cNvPr>
            <p:cNvSpPr/>
            <p:nvPr/>
          </p:nvSpPr>
          <p:spPr>
            <a:xfrm>
              <a:off x="1022830" y="1853852"/>
              <a:ext cx="10361269" cy="1077238"/>
            </a:xfrm>
            <a:prstGeom prst="roundRect">
              <a:avLst>
                <a:gd name="adj" fmla="val 11008"/>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Rounded Corners 35">
              <a:extLst>
                <a:ext uri="{FF2B5EF4-FFF2-40B4-BE49-F238E27FC236}">
                  <a16:creationId xmlns:a16="http://schemas.microsoft.com/office/drawing/2014/main" id="{64D4023E-D5CF-7EAA-56B3-79C6F946A07C}"/>
                </a:ext>
              </a:extLst>
            </p:cNvPr>
            <p:cNvSpPr/>
            <p:nvPr/>
          </p:nvSpPr>
          <p:spPr>
            <a:xfrm>
              <a:off x="1038708" y="1853852"/>
              <a:ext cx="10333736" cy="1077238"/>
            </a:xfrm>
            <a:prstGeom prst="roundRect">
              <a:avLst>
                <a:gd name="adj" fmla="val 11008"/>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Rounded Corners 36">
              <a:extLst>
                <a:ext uri="{FF2B5EF4-FFF2-40B4-BE49-F238E27FC236}">
                  <a16:creationId xmlns:a16="http://schemas.microsoft.com/office/drawing/2014/main" id="{955E4EDF-7DC7-2B2D-3682-4B3DCBBC3FBC}"/>
                </a:ext>
              </a:extLst>
            </p:cNvPr>
            <p:cNvSpPr/>
            <p:nvPr/>
          </p:nvSpPr>
          <p:spPr>
            <a:xfrm>
              <a:off x="1053924" y="1853852"/>
              <a:ext cx="10311916" cy="1077238"/>
            </a:xfrm>
            <a:prstGeom prst="roundRect">
              <a:avLst>
                <a:gd name="adj" fmla="val 11008"/>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5" name="TextBox 44">
            <a:extLst>
              <a:ext uri="{FF2B5EF4-FFF2-40B4-BE49-F238E27FC236}">
                <a16:creationId xmlns:a16="http://schemas.microsoft.com/office/drawing/2014/main" id="{2AB944BA-A1C7-2C80-D8E4-155C9AEF9151}"/>
              </a:ext>
            </a:extLst>
          </p:cNvPr>
          <p:cNvSpPr txBox="1"/>
          <p:nvPr/>
        </p:nvSpPr>
        <p:spPr>
          <a:xfrm>
            <a:off x="1967483" y="1787727"/>
            <a:ext cx="6911507" cy="707886"/>
          </a:xfrm>
          <a:prstGeom prst="rect">
            <a:avLst/>
          </a:prstGeom>
          <a:noFill/>
        </p:spPr>
        <p:txBody>
          <a:bodyPr wrap="square" rtlCol="0">
            <a:spAutoFit/>
          </a:bodyPr>
          <a:lstStyle/>
          <a:p>
            <a:r>
              <a:rPr lang="en-US" sz="2000" dirty="0">
                <a:solidFill>
                  <a:schemeClr val="bg1"/>
                </a:solidFill>
              </a:rPr>
              <a:t>Bindings define how interactions are executed over the network.</a:t>
            </a:r>
          </a:p>
          <a:p>
            <a:endParaRPr lang="en-US" sz="2000" dirty="0">
              <a:solidFill>
                <a:schemeClr val="bg1"/>
              </a:solidFill>
            </a:endParaRPr>
          </a:p>
        </p:txBody>
      </p:sp>
      <p:sp>
        <p:nvSpPr>
          <p:cNvPr id="46" name="TextBox 45">
            <a:extLst>
              <a:ext uri="{FF2B5EF4-FFF2-40B4-BE49-F238E27FC236}">
                <a16:creationId xmlns:a16="http://schemas.microsoft.com/office/drawing/2014/main" id="{17733B97-BE89-A6C6-4463-90C1A11E1E91}"/>
              </a:ext>
            </a:extLst>
          </p:cNvPr>
          <p:cNvSpPr txBox="1"/>
          <p:nvPr/>
        </p:nvSpPr>
        <p:spPr>
          <a:xfrm>
            <a:off x="1967483" y="2941099"/>
            <a:ext cx="6292492" cy="400110"/>
          </a:xfrm>
          <a:prstGeom prst="rect">
            <a:avLst/>
          </a:prstGeom>
          <a:noFill/>
        </p:spPr>
        <p:txBody>
          <a:bodyPr wrap="none" rtlCol="0">
            <a:spAutoFit/>
          </a:bodyPr>
          <a:lstStyle/>
          <a:p>
            <a:r>
              <a:rPr lang="en-US" sz="2000" dirty="0">
                <a:solidFill>
                  <a:schemeClr val="bg1"/>
                </a:solidFill>
              </a:rPr>
              <a:t>They are expressed using </a:t>
            </a:r>
            <a:r>
              <a:rPr lang="en-US" sz="2000" dirty="0">
                <a:solidFill>
                  <a:schemeClr val="accent5"/>
                </a:solidFill>
              </a:rPr>
              <a:t>"forms" </a:t>
            </a:r>
            <a:r>
              <a:rPr lang="en-US" sz="2000" dirty="0">
                <a:solidFill>
                  <a:schemeClr val="bg1"/>
                </a:solidFill>
              </a:rPr>
              <a:t>in the Thing Description.</a:t>
            </a:r>
          </a:p>
        </p:txBody>
      </p:sp>
      <p:sp>
        <p:nvSpPr>
          <p:cNvPr id="47" name="TextBox 46">
            <a:extLst>
              <a:ext uri="{FF2B5EF4-FFF2-40B4-BE49-F238E27FC236}">
                <a16:creationId xmlns:a16="http://schemas.microsoft.com/office/drawing/2014/main" id="{088B8FB0-8965-3C55-109E-10E9F40E7D27}"/>
              </a:ext>
            </a:extLst>
          </p:cNvPr>
          <p:cNvSpPr txBox="1"/>
          <p:nvPr/>
        </p:nvSpPr>
        <p:spPr>
          <a:xfrm>
            <a:off x="1967483" y="4150737"/>
            <a:ext cx="5579220" cy="400110"/>
          </a:xfrm>
          <a:prstGeom prst="rect">
            <a:avLst/>
          </a:prstGeom>
          <a:noFill/>
        </p:spPr>
        <p:txBody>
          <a:bodyPr wrap="none" rtlCol="0">
            <a:spAutoFit/>
          </a:bodyPr>
          <a:lstStyle/>
          <a:p>
            <a:r>
              <a:rPr lang="en-US" sz="2000" dirty="0">
                <a:solidFill>
                  <a:schemeClr val="bg1"/>
                </a:solidFill>
              </a:rPr>
              <a:t>Different protocols fit different interaction patterns.</a:t>
            </a:r>
          </a:p>
        </p:txBody>
      </p:sp>
    </p:spTree>
    <p:extLst>
      <p:ext uri="{BB962C8B-B14F-4D97-AF65-F5344CB8AC3E}">
        <p14:creationId xmlns:p14="http://schemas.microsoft.com/office/powerpoint/2010/main" val="1514188079"/>
      </p:ext>
    </p:extLst>
  </p:cSld>
  <p:clrMapOvr>
    <a:masterClrMapping/>
  </p:clrMapOvr>
  <p:transition spd="slow" advTm="2400">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C5D4057-158B-2EC7-035B-DCA18498D6B1}"/>
              </a:ext>
            </a:extLst>
          </p:cNvPr>
          <p:cNvSpPr txBox="1">
            <a:spLocks/>
          </p:cNvSpPr>
          <p:nvPr/>
        </p:nvSpPr>
        <p:spPr>
          <a:xfrm>
            <a:off x="2198977" y="213275"/>
            <a:ext cx="7794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solidFill>
                  <a:schemeClr val="accent1"/>
                </a:solidFill>
                <a:latin typeface="Century Gothic" panose="020B0502020202020204" pitchFamily="34" charset="0"/>
              </a:rPr>
              <a:t>Summary</a:t>
            </a:r>
            <a:endParaRPr lang="aa-ET" dirty="0">
              <a:solidFill>
                <a:schemeClr val="accent1"/>
              </a:solidFill>
              <a:latin typeface="Century Gothic" panose="020B0502020202020204" pitchFamily="34" charset="0"/>
            </a:endParaRPr>
          </a:p>
        </p:txBody>
      </p:sp>
      <p:grpSp>
        <p:nvGrpSpPr>
          <p:cNvPr id="9" name="Group 8">
            <a:extLst>
              <a:ext uri="{FF2B5EF4-FFF2-40B4-BE49-F238E27FC236}">
                <a16:creationId xmlns:a16="http://schemas.microsoft.com/office/drawing/2014/main" id="{C77E27B8-1054-13F5-9E57-EAA54C4CC5E2}"/>
              </a:ext>
            </a:extLst>
          </p:cNvPr>
          <p:cNvGrpSpPr/>
          <p:nvPr/>
        </p:nvGrpSpPr>
        <p:grpSpPr>
          <a:xfrm>
            <a:off x="1652409" y="1538838"/>
            <a:ext cx="8887182" cy="899508"/>
            <a:chOff x="977364" y="1853852"/>
            <a:chExt cx="10406735" cy="1077238"/>
          </a:xfrm>
        </p:grpSpPr>
        <p:sp>
          <p:nvSpPr>
            <p:cNvPr id="5" name="Rectangle: Rounded Corners 4">
              <a:extLst>
                <a:ext uri="{FF2B5EF4-FFF2-40B4-BE49-F238E27FC236}">
                  <a16:creationId xmlns:a16="http://schemas.microsoft.com/office/drawing/2014/main" id="{7D967D16-E726-99E3-7819-E5A3AF039DE8}"/>
                </a:ext>
              </a:extLst>
            </p:cNvPr>
            <p:cNvSpPr/>
            <p:nvPr/>
          </p:nvSpPr>
          <p:spPr>
            <a:xfrm>
              <a:off x="977364" y="1853852"/>
              <a:ext cx="10396603"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Rounded Corners 1">
              <a:extLst>
                <a:ext uri="{FF2B5EF4-FFF2-40B4-BE49-F238E27FC236}">
                  <a16:creationId xmlns:a16="http://schemas.microsoft.com/office/drawing/2014/main" id="{23BDF195-25FF-F992-9482-15485454E764}"/>
                </a:ext>
              </a:extLst>
            </p:cNvPr>
            <p:cNvSpPr/>
            <p:nvPr/>
          </p:nvSpPr>
          <p:spPr>
            <a:xfrm>
              <a:off x="993240" y="1853852"/>
              <a:ext cx="10382224"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E4F56DD8-929B-415B-A4DC-AE651CC6F456}"/>
                </a:ext>
              </a:extLst>
            </p:cNvPr>
            <p:cNvSpPr/>
            <p:nvPr/>
          </p:nvSpPr>
          <p:spPr>
            <a:xfrm>
              <a:off x="1007436" y="1853852"/>
              <a:ext cx="10375648"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061F8A01-221E-18F9-2EA6-257483113C50}"/>
                </a:ext>
              </a:extLst>
            </p:cNvPr>
            <p:cNvSpPr/>
            <p:nvPr/>
          </p:nvSpPr>
          <p:spPr>
            <a:xfrm>
              <a:off x="1022830" y="1853852"/>
              <a:ext cx="10361269"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0059A3A7-F7F4-22D8-5F1A-E64FE8AE7CE6}"/>
                </a:ext>
              </a:extLst>
            </p:cNvPr>
            <p:cNvSpPr/>
            <p:nvPr/>
          </p:nvSpPr>
          <p:spPr>
            <a:xfrm>
              <a:off x="1038708" y="1853852"/>
              <a:ext cx="10333736"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CB74C181-A9BC-2BB5-F599-A13230570DF6}"/>
                </a:ext>
              </a:extLst>
            </p:cNvPr>
            <p:cNvSpPr/>
            <p:nvPr/>
          </p:nvSpPr>
          <p:spPr>
            <a:xfrm>
              <a:off x="1053924" y="1853852"/>
              <a:ext cx="10311916" cy="1077238"/>
            </a:xfrm>
            <a:prstGeom prst="roundRect">
              <a:avLst>
                <a:gd name="adj" fmla="val 11008"/>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C6201290-C61D-DA80-652D-98FB71FB216B}"/>
              </a:ext>
            </a:extLst>
          </p:cNvPr>
          <p:cNvGrpSpPr/>
          <p:nvPr/>
        </p:nvGrpSpPr>
        <p:grpSpPr>
          <a:xfrm>
            <a:off x="1652409" y="2697078"/>
            <a:ext cx="8887182" cy="899508"/>
            <a:chOff x="977364" y="1853852"/>
            <a:chExt cx="10406735" cy="1077238"/>
          </a:xfrm>
        </p:grpSpPr>
        <p:sp>
          <p:nvSpPr>
            <p:cNvPr id="25" name="Rectangle: Rounded Corners 24">
              <a:extLst>
                <a:ext uri="{FF2B5EF4-FFF2-40B4-BE49-F238E27FC236}">
                  <a16:creationId xmlns:a16="http://schemas.microsoft.com/office/drawing/2014/main" id="{06CBC830-F356-CDC9-0205-CDE5B4B5077A}"/>
                </a:ext>
              </a:extLst>
            </p:cNvPr>
            <p:cNvSpPr/>
            <p:nvPr/>
          </p:nvSpPr>
          <p:spPr>
            <a:xfrm>
              <a:off x="977364" y="1853852"/>
              <a:ext cx="10396603"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ABB48AD4-FF90-71F8-3A9F-C897D03BB837}"/>
                </a:ext>
              </a:extLst>
            </p:cNvPr>
            <p:cNvSpPr/>
            <p:nvPr/>
          </p:nvSpPr>
          <p:spPr>
            <a:xfrm>
              <a:off x="993240" y="1853852"/>
              <a:ext cx="10382224"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2D48EE89-5BE1-BA62-AAE6-91BA1F372E47}"/>
                </a:ext>
              </a:extLst>
            </p:cNvPr>
            <p:cNvSpPr/>
            <p:nvPr/>
          </p:nvSpPr>
          <p:spPr>
            <a:xfrm>
              <a:off x="1007436" y="1853852"/>
              <a:ext cx="10375648"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DBFFCCD8-CA5C-28FA-2DA6-CAA4891F3E90}"/>
                </a:ext>
              </a:extLst>
            </p:cNvPr>
            <p:cNvSpPr/>
            <p:nvPr/>
          </p:nvSpPr>
          <p:spPr>
            <a:xfrm>
              <a:off x="1022830" y="1853852"/>
              <a:ext cx="10361269"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28">
              <a:extLst>
                <a:ext uri="{FF2B5EF4-FFF2-40B4-BE49-F238E27FC236}">
                  <a16:creationId xmlns:a16="http://schemas.microsoft.com/office/drawing/2014/main" id="{F4C3CEAB-F833-CE4B-1D72-EA8D0A3A05F4}"/>
                </a:ext>
              </a:extLst>
            </p:cNvPr>
            <p:cNvSpPr/>
            <p:nvPr/>
          </p:nvSpPr>
          <p:spPr>
            <a:xfrm>
              <a:off x="1038708" y="1853852"/>
              <a:ext cx="10333736"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Rounded Corners 29">
              <a:extLst>
                <a:ext uri="{FF2B5EF4-FFF2-40B4-BE49-F238E27FC236}">
                  <a16:creationId xmlns:a16="http://schemas.microsoft.com/office/drawing/2014/main" id="{416BC8E3-FFFE-DFAF-E28D-327CA62777ED}"/>
                </a:ext>
              </a:extLst>
            </p:cNvPr>
            <p:cNvSpPr/>
            <p:nvPr/>
          </p:nvSpPr>
          <p:spPr>
            <a:xfrm>
              <a:off x="1053924" y="1853852"/>
              <a:ext cx="10311916" cy="1077238"/>
            </a:xfrm>
            <a:prstGeom prst="roundRect">
              <a:avLst>
                <a:gd name="adj" fmla="val 11008"/>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E4C4E04-3823-D7B5-DF03-A8C301B63A77}"/>
              </a:ext>
            </a:extLst>
          </p:cNvPr>
          <p:cNvGrpSpPr/>
          <p:nvPr/>
        </p:nvGrpSpPr>
        <p:grpSpPr>
          <a:xfrm>
            <a:off x="1652409" y="3901038"/>
            <a:ext cx="8887182" cy="899508"/>
            <a:chOff x="977364" y="1853852"/>
            <a:chExt cx="10406735" cy="1077238"/>
          </a:xfrm>
        </p:grpSpPr>
        <p:sp>
          <p:nvSpPr>
            <p:cNvPr id="32" name="Rectangle: Rounded Corners 31">
              <a:extLst>
                <a:ext uri="{FF2B5EF4-FFF2-40B4-BE49-F238E27FC236}">
                  <a16:creationId xmlns:a16="http://schemas.microsoft.com/office/drawing/2014/main" id="{AA30C16A-BE4D-2DF3-0EFF-B8CDF2AD3AD5}"/>
                </a:ext>
              </a:extLst>
            </p:cNvPr>
            <p:cNvSpPr/>
            <p:nvPr/>
          </p:nvSpPr>
          <p:spPr>
            <a:xfrm>
              <a:off x="977364" y="1853852"/>
              <a:ext cx="10396603" cy="1077238"/>
            </a:xfrm>
            <a:prstGeom prst="roundRect">
              <a:avLst>
                <a:gd name="adj" fmla="val 11008"/>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Rounded Corners 32">
              <a:extLst>
                <a:ext uri="{FF2B5EF4-FFF2-40B4-BE49-F238E27FC236}">
                  <a16:creationId xmlns:a16="http://schemas.microsoft.com/office/drawing/2014/main" id="{57A80907-1BF4-7A7E-0358-B0F8F5EFECC5}"/>
                </a:ext>
              </a:extLst>
            </p:cNvPr>
            <p:cNvSpPr/>
            <p:nvPr/>
          </p:nvSpPr>
          <p:spPr>
            <a:xfrm>
              <a:off x="993240" y="1853852"/>
              <a:ext cx="10382224" cy="1077238"/>
            </a:xfrm>
            <a:prstGeom prst="roundRect">
              <a:avLst>
                <a:gd name="adj" fmla="val 11008"/>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Rounded Corners 33">
              <a:extLst>
                <a:ext uri="{FF2B5EF4-FFF2-40B4-BE49-F238E27FC236}">
                  <a16:creationId xmlns:a16="http://schemas.microsoft.com/office/drawing/2014/main" id="{F4247CC8-652F-3D5C-63C6-22E69C2B0F84}"/>
                </a:ext>
              </a:extLst>
            </p:cNvPr>
            <p:cNvSpPr/>
            <p:nvPr/>
          </p:nvSpPr>
          <p:spPr>
            <a:xfrm>
              <a:off x="1007436" y="1853852"/>
              <a:ext cx="10375648" cy="1077238"/>
            </a:xfrm>
            <a:prstGeom prst="roundRect">
              <a:avLst>
                <a:gd name="adj" fmla="val 11008"/>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Rounded Corners 34">
              <a:extLst>
                <a:ext uri="{FF2B5EF4-FFF2-40B4-BE49-F238E27FC236}">
                  <a16:creationId xmlns:a16="http://schemas.microsoft.com/office/drawing/2014/main" id="{87BCEA0E-2149-083C-1177-EAB00BA22078}"/>
                </a:ext>
              </a:extLst>
            </p:cNvPr>
            <p:cNvSpPr/>
            <p:nvPr/>
          </p:nvSpPr>
          <p:spPr>
            <a:xfrm>
              <a:off x="1022830" y="1853852"/>
              <a:ext cx="10361269" cy="1077238"/>
            </a:xfrm>
            <a:prstGeom prst="roundRect">
              <a:avLst>
                <a:gd name="adj" fmla="val 11008"/>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Rounded Corners 35">
              <a:extLst>
                <a:ext uri="{FF2B5EF4-FFF2-40B4-BE49-F238E27FC236}">
                  <a16:creationId xmlns:a16="http://schemas.microsoft.com/office/drawing/2014/main" id="{8B7480B8-0506-FBA4-45B8-BD48D62027B7}"/>
                </a:ext>
              </a:extLst>
            </p:cNvPr>
            <p:cNvSpPr/>
            <p:nvPr/>
          </p:nvSpPr>
          <p:spPr>
            <a:xfrm>
              <a:off x="1038708" y="1853852"/>
              <a:ext cx="10333736" cy="1077238"/>
            </a:xfrm>
            <a:prstGeom prst="roundRect">
              <a:avLst>
                <a:gd name="adj" fmla="val 11008"/>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Rounded Corners 36">
              <a:extLst>
                <a:ext uri="{FF2B5EF4-FFF2-40B4-BE49-F238E27FC236}">
                  <a16:creationId xmlns:a16="http://schemas.microsoft.com/office/drawing/2014/main" id="{86F64979-97B5-61F8-0422-6937DB441A6E}"/>
                </a:ext>
              </a:extLst>
            </p:cNvPr>
            <p:cNvSpPr/>
            <p:nvPr/>
          </p:nvSpPr>
          <p:spPr>
            <a:xfrm>
              <a:off x="1053924" y="1853852"/>
              <a:ext cx="10311916" cy="1077238"/>
            </a:xfrm>
            <a:prstGeom prst="roundRect">
              <a:avLst>
                <a:gd name="adj" fmla="val 11008"/>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8" name="Group 37">
            <a:extLst>
              <a:ext uri="{FF2B5EF4-FFF2-40B4-BE49-F238E27FC236}">
                <a16:creationId xmlns:a16="http://schemas.microsoft.com/office/drawing/2014/main" id="{535C20A5-693C-1487-C611-CABDC23D4914}"/>
              </a:ext>
            </a:extLst>
          </p:cNvPr>
          <p:cNvGrpSpPr/>
          <p:nvPr/>
        </p:nvGrpSpPr>
        <p:grpSpPr>
          <a:xfrm>
            <a:off x="1652409" y="5104998"/>
            <a:ext cx="8887182" cy="899508"/>
            <a:chOff x="977363" y="1853852"/>
            <a:chExt cx="10406735" cy="1077238"/>
          </a:xfrm>
        </p:grpSpPr>
        <p:sp>
          <p:nvSpPr>
            <p:cNvPr id="39" name="Rectangle: Rounded Corners 38">
              <a:extLst>
                <a:ext uri="{FF2B5EF4-FFF2-40B4-BE49-F238E27FC236}">
                  <a16:creationId xmlns:a16="http://schemas.microsoft.com/office/drawing/2014/main" id="{4F50891A-1D3F-FC7F-3686-3F0CAAC5CC0E}"/>
                </a:ext>
              </a:extLst>
            </p:cNvPr>
            <p:cNvSpPr/>
            <p:nvPr/>
          </p:nvSpPr>
          <p:spPr>
            <a:xfrm>
              <a:off x="977363" y="1853852"/>
              <a:ext cx="10396603" cy="1077238"/>
            </a:xfrm>
            <a:prstGeom prst="roundRect">
              <a:avLst>
                <a:gd name="adj" fmla="val 11008"/>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Rounded Corners 39">
              <a:extLst>
                <a:ext uri="{FF2B5EF4-FFF2-40B4-BE49-F238E27FC236}">
                  <a16:creationId xmlns:a16="http://schemas.microsoft.com/office/drawing/2014/main" id="{3C16666C-21C1-0D3E-8600-75B708408972}"/>
                </a:ext>
              </a:extLst>
            </p:cNvPr>
            <p:cNvSpPr/>
            <p:nvPr/>
          </p:nvSpPr>
          <p:spPr>
            <a:xfrm>
              <a:off x="993239" y="1853852"/>
              <a:ext cx="10382224" cy="1077238"/>
            </a:xfrm>
            <a:prstGeom prst="roundRect">
              <a:avLst>
                <a:gd name="adj" fmla="val 11008"/>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Rounded Corners 40">
              <a:extLst>
                <a:ext uri="{FF2B5EF4-FFF2-40B4-BE49-F238E27FC236}">
                  <a16:creationId xmlns:a16="http://schemas.microsoft.com/office/drawing/2014/main" id="{95622C5D-AB3C-3048-681F-F84BDDB336EF}"/>
                </a:ext>
              </a:extLst>
            </p:cNvPr>
            <p:cNvSpPr/>
            <p:nvPr/>
          </p:nvSpPr>
          <p:spPr>
            <a:xfrm>
              <a:off x="1007435" y="1853852"/>
              <a:ext cx="10375647" cy="1077238"/>
            </a:xfrm>
            <a:prstGeom prst="roundRect">
              <a:avLst>
                <a:gd name="adj" fmla="val 11008"/>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Rounded Corners 41">
              <a:extLst>
                <a:ext uri="{FF2B5EF4-FFF2-40B4-BE49-F238E27FC236}">
                  <a16:creationId xmlns:a16="http://schemas.microsoft.com/office/drawing/2014/main" id="{7E232541-1368-DDD8-C2EE-FDA7DC625E4B}"/>
                </a:ext>
              </a:extLst>
            </p:cNvPr>
            <p:cNvSpPr/>
            <p:nvPr/>
          </p:nvSpPr>
          <p:spPr>
            <a:xfrm>
              <a:off x="1022829" y="1853852"/>
              <a:ext cx="10361269" cy="1077238"/>
            </a:xfrm>
            <a:prstGeom prst="roundRect">
              <a:avLst>
                <a:gd name="adj" fmla="val 11008"/>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Rounded Corners 42">
              <a:extLst>
                <a:ext uri="{FF2B5EF4-FFF2-40B4-BE49-F238E27FC236}">
                  <a16:creationId xmlns:a16="http://schemas.microsoft.com/office/drawing/2014/main" id="{5D73B64A-609F-6DF4-64CE-E160E7FB949B}"/>
                </a:ext>
              </a:extLst>
            </p:cNvPr>
            <p:cNvSpPr/>
            <p:nvPr/>
          </p:nvSpPr>
          <p:spPr>
            <a:xfrm>
              <a:off x="1038708" y="1853852"/>
              <a:ext cx="10333736" cy="1077238"/>
            </a:xfrm>
            <a:prstGeom prst="roundRect">
              <a:avLst>
                <a:gd name="adj" fmla="val 11008"/>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Rounded Corners 43">
              <a:extLst>
                <a:ext uri="{FF2B5EF4-FFF2-40B4-BE49-F238E27FC236}">
                  <a16:creationId xmlns:a16="http://schemas.microsoft.com/office/drawing/2014/main" id="{CD88A707-4B80-50BA-EAFB-F7BD7CC0B57F}"/>
                </a:ext>
              </a:extLst>
            </p:cNvPr>
            <p:cNvSpPr/>
            <p:nvPr/>
          </p:nvSpPr>
          <p:spPr>
            <a:xfrm>
              <a:off x="1053924" y="1853852"/>
              <a:ext cx="10311916" cy="1077238"/>
            </a:xfrm>
            <a:prstGeom prst="roundRect">
              <a:avLst>
                <a:gd name="adj" fmla="val 11008"/>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5" name="TextBox 44">
            <a:extLst>
              <a:ext uri="{FF2B5EF4-FFF2-40B4-BE49-F238E27FC236}">
                <a16:creationId xmlns:a16="http://schemas.microsoft.com/office/drawing/2014/main" id="{334C79F0-6B8F-9E56-A3F8-84439A4887FC}"/>
              </a:ext>
            </a:extLst>
          </p:cNvPr>
          <p:cNvSpPr txBox="1"/>
          <p:nvPr/>
        </p:nvSpPr>
        <p:spPr>
          <a:xfrm>
            <a:off x="1967483" y="1787727"/>
            <a:ext cx="6911507" cy="707886"/>
          </a:xfrm>
          <a:prstGeom prst="rect">
            <a:avLst/>
          </a:prstGeom>
          <a:noFill/>
        </p:spPr>
        <p:txBody>
          <a:bodyPr wrap="square" rtlCol="0">
            <a:spAutoFit/>
          </a:bodyPr>
          <a:lstStyle/>
          <a:p>
            <a:r>
              <a:rPr lang="en-US" sz="2000" dirty="0">
                <a:solidFill>
                  <a:schemeClr val="bg1"/>
                </a:solidFill>
              </a:rPr>
              <a:t>Bindings define how interactions are executed over the network.</a:t>
            </a:r>
          </a:p>
          <a:p>
            <a:endParaRPr lang="en-US" sz="2000" dirty="0">
              <a:solidFill>
                <a:schemeClr val="bg1"/>
              </a:solidFill>
            </a:endParaRPr>
          </a:p>
        </p:txBody>
      </p:sp>
      <p:sp>
        <p:nvSpPr>
          <p:cNvPr id="46" name="TextBox 45">
            <a:extLst>
              <a:ext uri="{FF2B5EF4-FFF2-40B4-BE49-F238E27FC236}">
                <a16:creationId xmlns:a16="http://schemas.microsoft.com/office/drawing/2014/main" id="{CB8F9D8D-8882-1080-E0CD-FC17CB97C954}"/>
              </a:ext>
            </a:extLst>
          </p:cNvPr>
          <p:cNvSpPr txBox="1"/>
          <p:nvPr/>
        </p:nvSpPr>
        <p:spPr>
          <a:xfrm>
            <a:off x="1967483" y="2941099"/>
            <a:ext cx="6292492" cy="400110"/>
          </a:xfrm>
          <a:prstGeom prst="rect">
            <a:avLst/>
          </a:prstGeom>
          <a:noFill/>
        </p:spPr>
        <p:txBody>
          <a:bodyPr wrap="none" rtlCol="0">
            <a:spAutoFit/>
          </a:bodyPr>
          <a:lstStyle/>
          <a:p>
            <a:r>
              <a:rPr lang="en-US" sz="2000" dirty="0">
                <a:solidFill>
                  <a:schemeClr val="bg1"/>
                </a:solidFill>
              </a:rPr>
              <a:t>They are expressed using </a:t>
            </a:r>
            <a:r>
              <a:rPr lang="en-US" sz="2000" dirty="0">
                <a:solidFill>
                  <a:schemeClr val="accent5"/>
                </a:solidFill>
              </a:rPr>
              <a:t>"forms" </a:t>
            </a:r>
            <a:r>
              <a:rPr lang="en-US" sz="2000" dirty="0">
                <a:solidFill>
                  <a:schemeClr val="bg1"/>
                </a:solidFill>
              </a:rPr>
              <a:t>in the Thing Description.</a:t>
            </a:r>
          </a:p>
        </p:txBody>
      </p:sp>
      <p:sp>
        <p:nvSpPr>
          <p:cNvPr id="47" name="TextBox 46">
            <a:extLst>
              <a:ext uri="{FF2B5EF4-FFF2-40B4-BE49-F238E27FC236}">
                <a16:creationId xmlns:a16="http://schemas.microsoft.com/office/drawing/2014/main" id="{7E54416B-29F3-7088-7777-8EBC4266B250}"/>
              </a:ext>
            </a:extLst>
          </p:cNvPr>
          <p:cNvSpPr txBox="1"/>
          <p:nvPr/>
        </p:nvSpPr>
        <p:spPr>
          <a:xfrm>
            <a:off x="1967483" y="4150737"/>
            <a:ext cx="5579220" cy="400110"/>
          </a:xfrm>
          <a:prstGeom prst="rect">
            <a:avLst/>
          </a:prstGeom>
          <a:noFill/>
        </p:spPr>
        <p:txBody>
          <a:bodyPr wrap="none" rtlCol="0">
            <a:spAutoFit/>
          </a:bodyPr>
          <a:lstStyle/>
          <a:p>
            <a:r>
              <a:rPr lang="en-US" sz="2000" dirty="0">
                <a:solidFill>
                  <a:schemeClr val="bg1"/>
                </a:solidFill>
              </a:rPr>
              <a:t>Different protocols fit different interaction patterns.</a:t>
            </a:r>
          </a:p>
        </p:txBody>
      </p:sp>
      <p:sp>
        <p:nvSpPr>
          <p:cNvPr id="48" name="TextBox 47">
            <a:extLst>
              <a:ext uri="{FF2B5EF4-FFF2-40B4-BE49-F238E27FC236}">
                <a16:creationId xmlns:a16="http://schemas.microsoft.com/office/drawing/2014/main" id="{0DCA3B01-B533-DF5E-2B07-FE33D85C5EB7}"/>
              </a:ext>
            </a:extLst>
          </p:cNvPr>
          <p:cNvSpPr txBox="1"/>
          <p:nvPr/>
        </p:nvSpPr>
        <p:spPr>
          <a:xfrm>
            <a:off x="1967483" y="5354223"/>
            <a:ext cx="6712863" cy="400110"/>
          </a:xfrm>
          <a:prstGeom prst="rect">
            <a:avLst/>
          </a:prstGeom>
          <a:noFill/>
        </p:spPr>
        <p:txBody>
          <a:bodyPr wrap="none" rtlCol="0">
            <a:spAutoFit/>
          </a:bodyPr>
          <a:lstStyle/>
          <a:p>
            <a:r>
              <a:rPr lang="en-US" sz="2000" dirty="0" err="1">
                <a:solidFill>
                  <a:schemeClr val="bg1"/>
                </a:solidFill>
              </a:rPr>
              <a:t>WoT</a:t>
            </a:r>
            <a:r>
              <a:rPr lang="en-US" sz="2000" dirty="0">
                <a:solidFill>
                  <a:schemeClr val="bg1"/>
                </a:solidFill>
              </a:rPr>
              <a:t> unifies them under a single, consistent interaction model.</a:t>
            </a:r>
          </a:p>
        </p:txBody>
      </p:sp>
    </p:spTree>
    <p:extLst>
      <p:ext uri="{BB962C8B-B14F-4D97-AF65-F5344CB8AC3E}">
        <p14:creationId xmlns:p14="http://schemas.microsoft.com/office/powerpoint/2010/main" val="3575136434"/>
      </p:ext>
    </p:extLst>
  </p:cSld>
  <p:clrMapOvr>
    <a:masterClrMapping/>
  </p:clrMapOvr>
  <p:transition spd="slow" advTm="3300">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079D50C5-FAF9-69C9-E581-B5318807CD15}"/>
              </a:ext>
            </a:extLst>
          </p:cNvPr>
          <p:cNvSpPr/>
          <p:nvPr/>
        </p:nvSpPr>
        <p:spPr>
          <a:xfrm>
            <a:off x="1032256" y="3291829"/>
            <a:ext cx="4547616" cy="2818177"/>
          </a:xfrm>
          <a:prstGeom prst="roundRect">
            <a:avLst>
              <a:gd name="adj" fmla="val 8522"/>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7B2EE81-90D0-AEF5-195E-CD3BBEC1AAC8}"/>
              </a:ext>
            </a:extLst>
          </p:cNvPr>
          <p:cNvSpPr txBox="1"/>
          <p:nvPr/>
        </p:nvSpPr>
        <p:spPr>
          <a:xfrm>
            <a:off x="2731008" y="585216"/>
            <a:ext cx="184731" cy="369332"/>
          </a:xfrm>
          <a:prstGeom prst="rect">
            <a:avLst/>
          </a:prstGeom>
          <a:noFill/>
        </p:spPr>
        <p:txBody>
          <a:bodyPr wrap="none" rtlCol="0">
            <a:spAutoFit/>
          </a:bodyPr>
          <a:lstStyle/>
          <a:p>
            <a:endParaRPr lang="en-US" dirty="0"/>
          </a:p>
        </p:txBody>
      </p:sp>
      <p:sp>
        <p:nvSpPr>
          <p:cNvPr id="13" name="TextBox 12">
            <a:extLst>
              <a:ext uri="{FF2B5EF4-FFF2-40B4-BE49-F238E27FC236}">
                <a16:creationId xmlns:a16="http://schemas.microsoft.com/office/drawing/2014/main" id="{194EC36A-72C0-5D97-08B6-18C18A96A95D}"/>
              </a:ext>
            </a:extLst>
          </p:cNvPr>
          <p:cNvSpPr txBox="1"/>
          <p:nvPr/>
        </p:nvSpPr>
        <p:spPr>
          <a:xfrm>
            <a:off x="8769346" y="2544227"/>
            <a:ext cx="2390398" cy="584775"/>
          </a:xfrm>
          <a:prstGeom prst="rect">
            <a:avLst/>
          </a:prstGeom>
          <a:noFill/>
        </p:spPr>
        <p:txBody>
          <a:bodyPr wrap="none" rtlCol="0">
            <a:spAutoFit/>
          </a:bodyPr>
          <a:lstStyle/>
          <a:p>
            <a:r>
              <a:rPr lang="en-US" sz="3200" dirty="0">
                <a:solidFill>
                  <a:schemeClr val="accent2"/>
                </a:solidFill>
                <a:latin typeface="Century Gothic" panose="020B0502020202020204" pitchFamily="34" charset="0"/>
              </a:rPr>
              <a:t>Next Video</a:t>
            </a:r>
          </a:p>
        </p:txBody>
      </p:sp>
      <p:sp>
        <p:nvSpPr>
          <p:cNvPr id="14" name="Rectangle 13">
            <a:extLst>
              <a:ext uri="{FF2B5EF4-FFF2-40B4-BE49-F238E27FC236}">
                <a16:creationId xmlns:a16="http://schemas.microsoft.com/office/drawing/2014/main" id="{30610344-5073-9351-D254-6D8408C00B10}"/>
              </a:ext>
            </a:extLst>
          </p:cNvPr>
          <p:cNvSpPr>
            <a:spLocks/>
          </p:cNvSpPr>
          <p:nvPr/>
        </p:nvSpPr>
        <p:spPr>
          <a:xfrm>
            <a:off x="4507675" y="432606"/>
            <a:ext cx="3176651" cy="3696485"/>
          </a:xfrm>
          <a:prstGeom prst="rect">
            <a:avLst/>
          </a:prstGeom>
          <a:noFill/>
        </p:spPr>
        <p:txBody>
          <a:bodyPr wrap="none" lIns="91440" tIns="45720" rIns="91440" bIns="45720">
            <a:prstTxWarp prst="textArchUp">
              <a:avLst>
                <a:gd name="adj" fmla="val 11740300"/>
              </a:avLst>
            </a:prstTxWarp>
            <a:spAutoFit/>
          </a:bodyPr>
          <a:lstStyle/>
          <a:p>
            <a:r>
              <a:rPr lang="en-US" sz="3600" dirty="0">
                <a:solidFill>
                  <a:schemeClr val="accent1"/>
                </a:solidFill>
                <a:latin typeface="Century Gothic" panose="020B0502020202020204" pitchFamily="34" charset="0"/>
              </a:rPr>
              <a:t>Subscribe to our Channel</a:t>
            </a:r>
          </a:p>
        </p:txBody>
      </p:sp>
      <p:sp>
        <p:nvSpPr>
          <p:cNvPr id="2" name="TextBox 1">
            <a:extLst>
              <a:ext uri="{FF2B5EF4-FFF2-40B4-BE49-F238E27FC236}">
                <a16:creationId xmlns:a16="http://schemas.microsoft.com/office/drawing/2014/main" id="{DB648E07-0ADA-3213-F04B-B618F86FE55A}"/>
              </a:ext>
            </a:extLst>
          </p:cNvPr>
          <p:cNvSpPr txBox="1"/>
          <p:nvPr/>
        </p:nvSpPr>
        <p:spPr>
          <a:xfrm>
            <a:off x="1032256" y="2544228"/>
            <a:ext cx="1556836" cy="584775"/>
          </a:xfrm>
          <a:prstGeom prst="rect">
            <a:avLst/>
          </a:prstGeom>
          <a:noFill/>
        </p:spPr>
        <p:txBody>
          <a:bodyPr wrap="none" rtlCol="0">
            <a:spAutoFit/>
          </a:bodyPr>
          <a:lstStyle/>
          <a:p>
            <a:r>
              <a:rPr lang="en-US" sz="3200" dirty="0">
                <a:solidFill>
                  <a:schemeClr val="accent2"/>
                </a:solidFill>
                <a:latin typeface="Century Gothic" panose="020B0502020202020204" pitchFamily="34" charset="0"/>
              </a:rPr>
              <a:t>Playlist</a:t>
            </a:r>
            <a:r>
              <a:rPr lang="en-US" sz="2400" dirty="0">
                <a:solidFill>
                  <a:schemeClr val="accent2"/>
                </a:solidFill>
                <a:latin typeface="Century Gothic" panose="020B0502020202020204" pitchFamily="34" charset="0"/>
              </a:rPr>
              <a:t> </a:t>
            </a:r>
          </a:p>
        </p:txBody>
      </p:sp>
      <p:sp>
        <p:nvSpPr>
          <p:cNvPr id="4" name="Oval 3">
            <a:extLst>
              <a:ext uri="{FF2B5EF4-FFF2-40B4-BE49-F238E27FC236}">
                <a16:creationId xmlns:a16="http://schemas.microsoft.com/office/drawing/2014/main" id="{B0419334-D010-AABC-F69E-4CE3A439194D}"/>
              </a:ext>
            </a:extLst>
          </p:cNvPr>
          <p:cNvSpPr/>
          <p:nvPr/>
        </p:nvSpPr>
        <p:spPr>
          <a:xfrm>
            <a:off x="4899713" y="736429"/>
            <a:ext cx="2392574" cy="2392574"/>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17CFD8EC-DAD6-2D70-BC4C-CA8D499F942E}"/>
              </a:ext>
            </a:extLst>
          </p:cNvPr>
          <p:cNvSpPr/>
          <p:nvPr/>
        </p:nvSpPr>
        <p:spPr>
          <a:xfrm>
            <a:off x="6612128" y="3291829"/>
            <a:ext cx="4547616" cy="2818177"/>
          </a:xfrm>
          <a:prstGeom prst="roundRect">
            <a:avLst>
              <a:gd name="adj" fmla="val 8522"/>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1335981"/>
      </p:ext>
    </p:extLst>
  </p:cSld>
  <p:clrMapOvr>
    <a:masterClrMapping/>
  </p:clrMapOvr>
  <mc:AlternateContent xmlns:mc="http://schemas.openxmlformats.org/markup-compatibility/2006" xmlns:p14="http://schemas.microsoft.com/office/powerpoint/2010/main">
    <mc:Choice Requires="p14">
      <p:transition spd="slow" p14:dur="2000" advClick="0" advTm="16000">
        <p:fade/>
      </p:transition>
    </mc:Choice>
    <mc:Fallback xmlns="">
      <p:transition spd="slow" advClick="0" advTm="16000">
        <p:fade/>
      </p:transition>
    </mc:Fallback>
  </mc:AlternateContent>
</p:sld>
</file>

<file path=ppt/theme/theme1.xml><?xml version="1.0" encoding="utf-8"?>
<a:theme xmlns:a="http://schemas.openxmlformats.org/drawingml/2006/main" name="Office Theme">
  <a:themeElements>
    <a:clrScheme name="WoT">
      <a:dk1>
        <a:srgbClr val="EDF3F8"/>
      </a:dk1>
      <a:lt1>
        <a:srgbClr val="000000"/>
      </a:lt1>
      <a:dk2>
        <a:srgbClr val="ECBF7C"/>
      </a:dk2>
      <a:lt2>
        <a:srgbClr val="AFCBE0"/>
      </a:lt2>
      <a:accent1>
        <a:srgbClr val="0052A5"/>
      </a:accent1>
      <a:accent2>
        <a:srgbClr val="ED7D31"/>
      </a:accent2>
      <a:accent3>
        <a:srgbClr val="FFFFFF"/>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{640321A2-7C26-874A-BACB-BE2A97C410C5}tf10001119</Template>
  <TotalTime>26057</TotalTime>
  <Words>9767</Words>
  <Application>Microsoft Office PowerPoint</Application>
  <PresentationFormat>Widescreen</PresentationFormat>
  <Paragraphs>1193</Paragraphs>
  <Slides>66</Slides>
  <Notes>65</Notes>
  <HiddenSlides>17</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Arial</vt:lpstr>
      <vt:lpstr>Calibri</vt:lpstr>
      <vt:lpstr>Calibri Light</vt:lpstr>
      <vt:lpstr>Century Gothic</vt:lpstr>
      <vt:lpstr>Consolas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Sezgin, Idil</dc:creator>
  <cp:lastModifiedBy>Teodor Boykov Penchev</cp:lastModifiedBy>
  <cp:revision>636</cp:revision>
  <dcterms:created xsi:type="dcterms:W3CDTF">2023-01-06T10:41:30Z</dcterms:created>
  <dcterms:modified xsi:type="dcterms:W3CDTF">2026-09-01T02:38:31Z</dcterms:modified>
</cp:coreProperties>
</file>