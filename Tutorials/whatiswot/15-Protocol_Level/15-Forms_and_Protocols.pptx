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355" r:id="rId2"/>
    <p:sldId id="430" r:id="rId3"/>
    <p:sldId id="432" r:id="rId4"/>
    <p:sldId id="434" r:id="rId5"/>
    <p:sldId id="433" r:id="rId6"/>
    <p:sldId id="435" r:id="rId7"/>
    <p:sldId id="436" r:id="rId8"/>
    <p:sldId id="536" r:id="rId9"/>
    <p:sldId id="538" r:id="rId10"/>
    <p:sldId id="437" r:id="rId11"/>
    <p:sldId id="438" r:id="rId12"/>
    <p:sldId id="439" r:id="rId13"/>
    <p:sldId id="440" r:id="rId14"/>
    <p:sldId id="441" r:id="rId15"/>
    <p:sldId id="444" r:id="rId16"/>
    <p:sldId id="442" r:id="rId17"/>
    <p:sldId id="443" r:id="rId18"/>
    <p:sldId id="445" r:id="rId19"/>
    <p:sldId id="539" r:id="rId20"/>
    <p:sldId id="540" r:id="rId21"/>
    <p:sldId id="446" r:id="rId22"/>
    <p:sldId id="447" r:id="rId23"/>
    <p:sldId id="448" r:id="rId24"/>
    <p:sldId id="449" r:id="rId25"/>
    <p:sldId id="450" r:id="rId26"/>
    <p:sldId id="451" r:id="rId27"/>
    <p:sldId id="452" r:id="rId28"/>
    <p:sldId id="453" r:id="rId29"/>
    <p:sldId id="455" r:id="rId30"/>
    <p:sldId id="456" r:id="rId31"/>
    <p:sldId id="457" r:id="rId32"/>
    <p:sldId id="471" r:id="rId33"/>
    <p:sldId id="473" r:id="rId34"/>
    <p:sldId id="472" r:id="rId35"/>
    <p:sldId id="276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E4E4E4"/>
    <a:srgbClr val="D7D7D7"/>
    <a:srgbClr val="F73B3B"/>
    <a:srgbClr val="FF3333"/>
    <a:srgbClr val="E8FA3C"/>
    <a:srgbClr val="33CC33"/>
    <a:srgbClr val="AFCBE0"/>
    <a:srgbClr val="0052A5"/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10" autoAdjust="0"/>
    <p:restoredTop sz="74667" autoAdjust="0"/>
  </p:normalViewPr>
  <p:slideViewPr>
    <p:cSldViewPr snapToGrid="0">
      <p:cViewPr varScale="1">
        <p:scale>
          <a:sx n="91" d="100"/>
          <a:sy n="91" d="100"/>
        </p:scale>
        <p:origin x="1752" y="5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5C6DA-5C8D-412A-A384-5B74A29C9C7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2165D8-144D-4958-A83E-0D8604559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517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previous tutorial, we explored Interaction Affordances — properties, actions, and events — and how they describe what a Thing can do. In this video, we will focus on the next important question: How do those interactions actually happen over the network?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385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previous tutorial, we explored Interaction Affordances — properties, actions, and events — and how they describe what a Thing can do. In this video, we will focus on the next important question: How do those interactions actually happen over the network?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94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0D7CA-B75D-03ED-4ABE-9D03FC2D6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05308-64EE-B317-2E42-E4A6ED880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20873A-C8CE-B78A-31AD-C2D626BCF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previous tutorial, we explored Interaction Affordances — properties, actions, and events — and how they describe what a Thing can do. In this video, we will focus on the next important question: How do those interactions actually happen over the network?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98A69-2812-6A8D-6BA2-FA118EB0F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05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55E27-4B9C-CCF4-6248-1C6A39838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09540-63FB-0AE9-2E57-165C238D7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BE853-1F14-C9FA-9033-63C868E43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previous tutorial, we explored Interaction Affordances — properties, actions, and events — and how they describe what a Thing can do. In this video, we will focus on the next important question: How do those interactions actually happen over the network?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76432-F4D8-4055-545E-3AF0D99B1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077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19F97-D7CD-0EAB-7C20-7618FBD5F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A927E6-A390-7123-EE40-B89E95982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FB3A92-9C13-C84A-CC16-38B30EA03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previous tutorial, we explored Interaction Affordances — properties, actions, and events — and how they describe what a Thing can do. In this video, we will focus on the next important question: How do those interactions actually happen over the network?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9D36B-2BD5-2EF7-7662-DB6C06FF0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248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65F46-A006-7FCC-AA68-138B6E494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0B050E-BCA5-9528-99C3-8FAD9F6FC2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DD3D02-40F5-17B7-C998-FA54F3DA5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previous tutorial, we explored Interaction Affordances — properties, actions, and events — and how they describe what a Thing can do. In this video, we will focus on the next important question: How do those interactions actually happen over the network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54DF6-102D-3C49-B9C7-AA84FD07D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89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A4A47-42D2-A46B-D78C-B8641179D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C240E0-15F9-4854-B394-EBC76211EE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2D11E6-73A5-1FBD-A1B1-3BD7B9425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Web of Things, this is handled through bindings. Bindings define how a Consumer communicates with a Thing using concrete protocols like HTTP, CoAP, MQTT, and others, or how the data is serialized, such as JSON, text, or CBOR.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8C29A-2CEE-2013-91A5-9A52A3FB1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092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20EFA-133C-1F09-34EA-C4F4A0308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789C1-6391-5451-3E57-AD6F84EA2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C7BC8F-E01D-A9F3-798B-0EB338D0C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binding maps an operation of an interaction affordance — such as reading a property or invoking an action — to a specific network message which includes the communication protocol and endpoint, and the parameters required by the protocol.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By the end of this video, you'll understand how the Consumer knows where to send a request, which protocol to use, and how to encode the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CA909-49F9-9D16-0928-593AC00346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785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AA7E7-99DA-D10E-A19B-D428F64F0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564A5C-FFE2-83AA-2A1C-AC6ABBB5C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BB8DCE-F7BF-CFC9-4F6B-36191476A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binding maps an operation of an interaction affordance — such as reading a property or invoking an action — to a specific network message which includes the communication protocol and endpoint, and the parameters required by the protocol.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By the end of this video, you'll understand how the Consumer knows where to send a request, which protocol to use, and how to encode the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0A806-FE5D-A092-C5DF-8280A4646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67D84-5052-ECF0-059B-FCB6D17B8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38D72-AD91-589C-4451-4B6F2D371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4CC35C-EE49-7FE7-9971-3902AD333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form describes a way to interact with an affordance over a specific protocol. It can be thought of as a simple instruction to the Consumer: "To perform this type of operation on this affordance, send a request in this way to this address." Now let's break down the key parts of a form.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61D94-76DB-C7EF-2E9A-87271EA0F9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97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D4E32-0B29-EBA2-E89A-5626E2BAD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2D6D3B-0F0D-9ED9-CC96-8D8151B0C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78D8A-8B3B-F896-1487-080CC64F6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form describes a way to interact with an affordance over a specific protocol. It can be thought of as a simple instruction to the Consumer: "To perform this type of operation on this affordance, send a request in this way to this address." Now let's break down the key parts of a form.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12023-E32E-3CC5-850B-D1B4E328DA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125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FFE52-3F67-07E2-53C4-7B5956936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0B80CC-2B14-763E-3DA0-4DC81FBD2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6F2CDC-B522-573C-2434-2108E3BC6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form describes a way to interact with an affordance over a specific protocol. It can be thought of as a simple instruction to the Consumer: "To perform this type of operation on this affordance, send a request in this way to this address." Now let's break down the key parts of a form.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33806-C511-01ED-F1E1-AD65AA6714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680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form can declare one or more operations, using the `op` field. Operations describe what semantic action(s) the Consumer can perform — for example: reading or writing a property, invoking an action, or subscribing to an event. These operation types are defined by the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specification and are independent of any specific protocol. You can find a full list on the TD specification.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691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form can declare one or more operations, using the `op` field. Operations describe what semantic action(s) the Consumer can perform — for example: reading or writing a property, invoking an action, or subscribing to an event. These operation types are defined by the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specification and are independent of any specific protocol. You can find a full list on the TD specification.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0077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form can declare one or more operations, using the `op` field. Operations describe what semantic action(s) the Consumer can perform — for example: reading or writing a property, invoking an action, or subscribing to an event. These operation types are defined by the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specification and are independent of any specific protocol. You can find a full list on the TD specification.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6561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form can declare one or more operations, using the `op` field. Operations describe what semantic action(s) the Consumer can perform — for example: reading or writing a property, invoking an action, or subscribing to an event. These operation types are defined by the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specification and are independent of any specific protocol. You can find a full list on the TD specification.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278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form can declare one or more operations, using the `op` field. Operations describe what semantic action(s) the Consumer can perform — for example: reading or writing a property, invoking an action, or subscribing to an event. These operation types are defined by the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specification and are independent of any specific protocol. You can find a full list on the TD specification.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822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`op` is omitted, default operations are inferred based on the affordance type. For example, forms of a readable property are assumed to include the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readproperty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operation unless stated otherwise.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996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A81CC-8C0B-969D-A6A2-995FF2C63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A6D32-2F74-B592-7545-2040A3394B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F26601-708F-A2CF-568C-2596FB947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`op` is omitted, default operations are inferred based on the affordance type. For example, forms of a readable property are assumed to include the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readproperty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operation unless stated otherwise.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DD263-D071-D67C-6836-084B73F9A8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9976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35C46-8BA8-A0DD-1B56-8727450C4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C83F1-EF17-2E6A-D3DC-5E16BACB2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916C0-A58C-C4AD-A89B-D60CCB943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`op` is omitted, default operations are inferred based on the affordance type. For example, forms of a readable property are assumed to include the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readproperty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operation unless stated otherwise.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48590-DF3A-7A8C-38B5-980148B826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5606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most important field in a form is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`. The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is a URI that tells the client where to interact with the Thing and which protocol to use. The protocol is inferred directly from the URI scheme.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`https://` -&gt; HTTP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coap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://` -&gt; CoAP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mqtt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://` -&gt; MQTT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839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most important field in a form is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`. The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is a URI that tells the client where to interact with the Thing and which protocol to use. The protocol is inferred directly from the URI scheme.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8703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most important field in a form is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`. The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is a URI that tells the client where to interact with the Thing and which protocol to use. The protocol is inferred directly from the URI scheme.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1498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most important field in a form is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`. The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is a URI that tells the client where to interact with the Thing and which protocol to use. The protocol is inferred directly from the URI scheme.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365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design allows the Thing Description concept to stay protocol-agnostic while still enabling concrete protocol-level interactions. A single affordance can expose multiple forms as well, offering the same interaction over different protocols.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098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Forms also specify a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contentType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which tells the client how the payload is encoded. Common examples include: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`application/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-&gt; JSON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`application/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cbor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-&gt; CBOR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`text/plain` -&gt; TEXT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1926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Forms also specify a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contentType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which tells the client how the payload is encoded. Common examples include: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`application/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-&gt; JSON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`application/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cbor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-&gt; CBOR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`text/plain` -&gt; TEXT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946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ensures that both the Thing and the Consumer agree on how data is serialized and parsed. 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789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no content type is specified, protocol-specific defaults may apply, but explicitly declaring them improves interoperability.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49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no content type is specified, protocol-specific defaults may apply, but explicitly declaring them improves interoperability.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517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aims to stay protocol-independent, forms allow protocol-specific extensions when needed. These are expressed through additional fields defined in protocol binding specifications.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520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C9100-3955-A294-112F-0210787BA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5F4C27-79B5-DBDD-D3B9-0C8EB4B68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F51EF-C33B-9D4F-788A-533B4745D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aims to stay protocol-independent, forms allow protocol-specific extensions when needed. These are expressed through additional fields defined in protocol binding specifications.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0A085-0423-25D2-DF17-085B442B8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0417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50BFE-E080-6DA4-492F-0B9338495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83EB6-0EA0-76A0-D78F-DADDE85CA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B9BFE-08E6-245F-10EA-FE9FA94B29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aims to stay protocol-independent, forms allow protocol-specific extensions when needed. These are expressed through additional fields defined in protocol binding specifications.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D998C-7BA5-06D6-C4AA-4C69418D03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88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54E17-F134-136A-5C2A-5D000A949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3B7E9-AD05-6B82-2FF3-4C69951F1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4A2ACA-8ACB-CDAB-62F6-A0372055F4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aims to stay protocol-independent, forms allow protocol-specific extensions when needed. These are expressed through additional fields defined in protocol binding specifications.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2E50E-208F-C2CB-9B3B-F3C0141673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165D8-144D-4958-A83E-0D86045592C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355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D45EA-097A-449E-8E80-C10F8140ABD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35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F9CB-E3D7-441A-A1FF-5C1CDFA7D5B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062D-F1E8-4268-AE56-56D8738C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43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F9CB-E3D7-441A-A1FF-5C1CDFA7D5B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062D-F1E8-4268-AE56-56D8738C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882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F9CB-E3D7-441A-A1FF-5C1CDFA7D5B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062D-F1E8-4268-AE56-56D8738C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24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F9CB-E3D7-441A-A1FF-5C1CDFA7D5B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062D-F1E8-4268-AE56-56D8738C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13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F9CB-E3D7-441A-A1FF-5C1CDFA7D5B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062D-F1E8-4268-AE56-56D8738C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5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F9CB-E3D7-441A-A1FF-5C1CDFA7D5B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062D-F1E8-4268-AE56-56D8738C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99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F9CB-E3D7-441A-A1FF-5C1CDFA7D5B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062D-F1E8-4268-AE56-56D8738C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50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F9CB-E3D7-441A-A1FF-5C1CDFA7D5B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062D-F1E8-4268-AE56-56D8738C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195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F9CB-E3D7-441A-A1FF-5C1CDFA7D5B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062D-F1E8-4268-AE56-56D8738C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3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F9CB-E3D7-441A-A1FF-5C1CDFA7D5B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062D-F1E8-4268-AE56-56D8738C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146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F9CB-E3D7-441A-A1FF-5C1CDFA7D5B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062D-F1E8-4268-AE56-56D8738C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504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4F9CB-E3D7-441A-A1FF-5C1CDFA7D5B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67062D-F1E8-4268-AE56-56D8738C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15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Relationship Id="rId9" Type="http://schemas.openxmlformats.org/officeDocument/2006/relationships/image" Target="../media/image21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10" Type="http://schemas.openxmlformats.org/officeDocument/2006/relationships/image" Target="../media/image22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6AEDECF-CA77-A241-43F0-1133D41290B1}"/>
              </a:ext>
            </a:extLst>
          </p:cNvPr>
          <p:cNvSpPr txBox="1">
            <a:spLocks/>
          </p:cNvSpPr>
          <p:nvPr/>
        </p:nvSpPr>
        <p:spPr>
          <a:xfrm>
            <a:off x="6754786" y="4622136"/>
            <a:ext cx="3709196" cy="7260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70000"/>
              </a:lnSpc>
            </a:pPr>
            <a:r>
              <a:rPr lang="en-GB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Forms and Bindings</a:t>
            </a:r>
            <a:endParaRPr lang="tr-TR" sz="2800" dirty="0">
              <a:solidFill>
                <a:schemeClr val="accent1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28C1D12-93AE-F369-E64C-33AF94451D50}"/>
              </a:ext>
            </a:extLst>
          </p:cNvPr>
          <p:cNvSpPr/>
          <p:nvPr/>
        </p:nvSpPr>
        <p:spPr>
          <a:xfrm>
            <a:off x="4126402" y="1798200"/>
            <a:ext cx="2261013" cy="2237766"/>
          </a:xfrm>
          <a:prstGeom prst="ellipse">
            <a:avLst/>
          </a:prstGeom>
          <a:solidFill>
            <a:srgbClr val="DFEAF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en-US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F520380-3466-9C63-2C7D-108702479253}"/>
              </a:ext>
            </a:extLst>
          </p:cNvPr>
          <p:cNvSpPr txBox="1">
            <a:spLocks/>
          </p:cNvSpPr>
          <p:nvPr/>
        </p:nvSpPr>
        <p:spPr>
          <a:xfrm>
            <a:off x="4937254" y="2364404"/>
            <a:ext cx="831086" cy="7260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tr-TR" sz="6600">
                <a:solidFill>
                  <a:schemeClr val="tx2"/>
                </a:solidFill>
                <a:latin typeface="Consolas" panose="020B0609020204030204" pitchFamily="49" charset="0"/>
              </a:rPr>
              <a:t>W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651CE5AC-415B-FF4A-7E69-CF76CB6AC943}"/>
              </a:ext>
            </a:extLst>
          </p:cNvPr>
          <p:cNvSpPr/>
          <p:nvPr/>
        </p:nvSpPr>
        <p:spPr>
          <a:xfrm>
            <a:off x="4548853" y="2168484"/>
            <a:ext cx="328240" cy="1485359"/>
          </a:xfrm>
          <a:prstGeom prst="leftBrace">
            <a:avLst>
              <a:gd name="adj1" fmla="val 41120"/>
              <a:gd name="adj2" fmla="val 50000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FC3E99C-C383-A62B-CD81-9B99789A48F4}"/>
              </a:ext>
            </a:extLst>
          </p:cNvPr>
          <p:cNvSpPr txBox="1">
            <a:spLocks/>
          </p:cNvSpPr>
          <p:nvPr/>
        </p:nvSpPr>
        <p:spPr>
          <a:xfrm>
            <a:off x="4936185" y="3090423"/>
            <a:ext cx="683013" cy="7260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tr-TR" sz="6600">
                <a:solidFill>
                  <a:schemeClr val="tx2"/>
                </a:solidFill>
                <a:latin typeface="Consolas" panose="020B0609020204030204" pitchFamily="49" charset="0"/>
              </a:rPr>
              <a:t>W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A5248189-D205-78EA-AB1D-945D2AFBB99F}"/>
              </a:ext>
            </a:extLst>
          </p:cNvPr>
          <p:cNvSpPr/>
          <p:nvPr/>
        </p:nvSpPr>
        <p:spPr>
          <a:xfrm flipH="1">
            <a:off x="5641860" y="2168670"/>
            <a:ext cx="328240" cy="1485359"/>
          </a:xfrm>
          <a:prstGeom prst="leftBrace">
            <a:avLst>
              <a:gd name="adj1" fmla="val 41120"/>
              <a:gd name="adj2" fmla="val 50000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77A8FE5-30C3-91B3-1FDF-3CAD9BDD32B6}"/>
              </a:ext>
            </a:extLst>
          </p:cNvPr>
          <p:cNvSpPr txBox="1">
            <a:spLocks/>
          </p:cNvSpPr>
          <p:nvPr/>
        </p:nvSpPr>
        <p:spPr>
          <a:xfrm>
            <a:off x="5396787" y="2435584"/>
            <a:ext cx="831086" cy="7260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tr-TR" sz="3600">
                <a:solidFill>
                  <a:schemeClr val="bg2"/>
                </a:solidFill>
                <a:latin typeface="Consolas" panose="020B0609020204030204" pitchFamily="49" charset="0"/>
              </a:rPr>
              <a:t>,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5BE55F-A93B-F07D-B3E9-73A6CC249B85}"/>
              </a:ext>
            </a:extLst>
          </p:cNvPr>
          <p:cNvCxnSpPr>
            <a:cxnSpLocks/>
            <a:stCxn id="13" idx="3"/>
            <a:endCxn id="25" idx="7"/>
          </p:cNvCxnSpPr>
          <p:nvPr/>
        </p:nvCxnSpPr>
        <p:spPr>
          <a:xfrm flipH="1">
            <a:off x="3883778" y="2631685"/>
            <a:ext cx="568713" cy="498481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7C9369-733F-CCAE-ABD3-74AD9AA4BE01}"/>
              </a:ext>
            </a:extLst>
          </p:cNvPr>
          <p:cNvCxnSpPr>
            <a:cxnSpLocks/>
            <a:stCxn id="25" idx="5"/>
            <a:endCxn id="16" idx="1"/>
          </p:cNvCxnSpPr>
          <p:nvPr/>
        </p:nvCxnSpPr>
        <p:spPr>
          <a:xfrm>
            <a:off x="3870220" y="3292390"/>
            <a:ext cx="606293" cy="70359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D1C0AD8-9F3F-97C9-0D16-B3972AF9BE44}"/>
              </a:ext>
            </a:extLst>
          </p:cNvPr>
          <p:cNvSpPr/>
          <p:nvPr/>
        </p:nvSpPr>
        <p:spPr>
          <a:xfrm>
            <a:off x="4435879" y="2534860"/>
            <a:ext cx="113437" cy="1134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3F61D1C-6220-98B9-50BE-36DB0D79B14F}"/>
              </a:ext>
            </a:extLst>
          </p:cNvPr>
          <p:cNvSpPr/>
          <p:nvPr/>
        </p:nvSpPr>
        <p:spPr>
          <a:xfrm>
            <a:off x="3814427" y="1832439"/>
            <a:ext cx="180972" cy="1809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8B18FF0-2702-1761-E7F6-5ACF9FE70A35}"/>
              </a:ext>
            </a:extLst>
          </p:cNvPr>
          <p:cNvCxnSpPr>
            <a:cxnSpLocks/>
            <a:stCxn id="14" idx="4"/>
            <a:endCxn id="25" idx="0"/>
          </p:cNvCxnSpPr>
          <p:nvPr/>
        </p:nvCxnSpPr>
        <p:spPr>
          <a:xfrm flipH="1">
            <a:off x="3805474" y="2013411"/>
            <a:ext cx="99439" cy="1076378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0A26D4D-F619-49EE-B3A3-B6B46460E95B}"/>
              </a:ext>
            </a:extLst>
          </p:cNvPr>
          <p:cNvSpPr/>
          <p:nvPr/>
        </p:nvSpPr>
        <p:spPr>
          <a:xfrm rot="20652436">
            <a:off x="4466831" y="3956988"/>
            <a:ext cx="152311" cy="15231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3CDBA5-9E25-1A95-AEC4-D705463A887B}"/>
              </a:ext>
            </a:extLst>
          </p:cNvPr>
          <p:cNvCxnSpPr>
            <a:cxnSpLocks/>
            <a:stCxn id="16" idx="5"/>
            <a:endCxn id="18" idx="2"/>
          </p:cNvCxnSpPr>
          <p:nvPr/>
        </p:nvCxnSpPr>
        <p:spPr>
          <a:xfrm>
            <a:off x="4609460" y="4070305"/>
            <a:ext cx="845691" cy="157768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4853A6E1-B085-41E0-4266-8D2D60DF5E2A}"/>
              </a:ext>
            </a:extLst>
          </p:cNvPr>
          <p:cNvSpPr/>
          <p:nvPr/>
        </p:nvSpPr>
        <p:spPr>
          <a:xfrm rot="684807">
            <a:off x="5453362" y="4155493"/>
            <a:ext cx="180972" cy="1809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819E646-8027-12F5-8417-C298ABB5996C}"/>
              </a:ext>
            </a:extLst>
          </p:cNvPr>
          <p:cNvCxnSpPr>
            <a:cxnSpLocks/>
            <a:stCxn id="25" idx="0"/>
            <a:endCxn id="20" idx="0"/>
          </p:cNvCxnSpPr>
          <p:nvPr/>
        </p:nvCxnSpPr>
        <p:spPr>
          <a:xfrm flipH="1">
            <a:off x="3666269" y="3089789"/>
            <a:ext cx="139205" cy="43687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59AD42FA-C035-40D9-9C47-80E8D979C663}"/>
              </a:ext>
            </a:extLst>
          </p:cNvPr>
          <p:cNvSpPr/>
          <p:nvPr/>
        </p:nvSpPr>
        <p:spPr>
          <a:xfrm rot="1830353">
            <a:off x="3591345" y="3519780"/>
            <a:ext cx="99393" cy="9939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30FC2CC-25D7-F0BA-8898-31914E02A0A2}"/>
              </a:ext>
            </a:extLst>
          </p:cNvPr>
          <p:cNvSpPr txBox="1">
            <a:spLocks/>
          </p:cNvSpPr>
          <p:nvPr/>
        </p:nvSpPr>
        <p:spPr>
          <a:xfrm>
            <a:off x="5417305" y="2389469"/>
            <a:ext cx="2891874" cy="7260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tr-TR" sz="6000" spc="-150">
                <a:solidFill>
                  <a:schemeClr val="tx2"/>
                </a:solidFill>
                <a:latin typeface="Consolas" panose="020B0609020204030204" pitchFamily="49" charset="0"/>
              </a:rPr>
              <a:t>hat is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7737A1B4-C476-F7D6-1877-D1DF51DDD8A0}"/>
              </a:ext>
            </a:extLst>
          </p:cNvPr>
          <p:cNvSpPr txBox="1">
            <a:spLocks/>
          </p:cNvSpPr>
          <p:nvPr/>
        </p:nvSpPr>
        <p:spPr>
          <a:xfrm>
            <a:off x="5412751" y="3098282"/>
            <a:ext cx="2891874" cy="7260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tr-TR" sz="6000" spc="-300">
                <a:solidFill>
                  <a:schemeClr val="tx2"/>
                </a:solidFill>
                <a:latin typeface="Consolas" panose="020B0609020204030204" pitchFamily="49" charset="0"/>
              </a:rPr>
              <a:t>oT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3B8974A-0FE4-596B-241C-2727868AFA1F}"/>
              </a:ext>
            </a:extLst>
          </p:cNvPr>
          <p:cNvCxnSpPr>
            <a:cxnSpLocks/>
            <a:stCxn id="18" idx="6"/>
            <a:endCxn id="24" idx="1"/>
          </p:cNvCxnSpPr>
          <p:nvPr/>
        </p:nvCxnSpPr>
        <p:spPr>
          <a:xfrm>
            <a:off x="5632545" y="4263885"/>
            <a:ext cx="970408" cy="721261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Left Brace 23">
            <a:extLst>
              <a:ext uri="{FF2B5EF4-FFF2-40B4-BE49-F238E27FC236}">
                <a16:creationId xmlns:a16="http://schemas.microsoft.com/office/drawing/2014/main" id="{E5326A17-4B2D-A111-A482-ADC0165D1E97}"/>
              </a:ext>
            </a:extLst>
          </p:cNvPr>
          <p:cNvSpPr/>
          <p:nvPr/>
        </p:nvSpPr>
        <p:spPr>
          <a:xfrm>
            <a:off x="6602953" y="4486999"/>
            <a:ext cx="255735" cy="996294"/>
          </a:xfrm>
          <a:prstGeom prst="leftBrace">
            <a:avLst>
              <a:gd name="adj1" fmla="val 41120"/>
              <a:gd name="adj2" fmla="val 50000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7E5B72-638E-0D4E-1421-8CA056E4B794}"/>
              </a:ext>
            </a:extLst>
          </p:cNvPr>
          <p:cNvSpPr/>
          <p:nvPr/>
        </p:nvSpPr>
        <p:spPr>
          <a:xfrm rot="286644">
            <a:off x="3680777" y="3089389"/>
            <a:ext cx="230220" cy="2302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A7B28016-F4C3-D954-6344-A2BF37902DA5}"/>
              </a:ext>
            </a:extLst>
          </p:cNvPr>
          <p:cNvSpPr/>
          <p:nvPr/>
        </p:nvSpPr>
        <p:spPr>
          <a:xfrm flipH="1">
            <a:off x="10360080" y="4486999"/>
            <a:ext cx="255735" cy="996294"/>
          </a:xfrm>
          <a:prstGeom prst="leftBrace">
            <a:avLst>
              <a:gd name="adj1" fmla="val 41120"/>
              <a:gd name="adj2" fmla="val 50000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490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"/>
    </mc:Choice>
    <mc:Fallback xmlns=""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1.85185E-6 L 0.20651 -1.85185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26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2.96296E-6 L 0.2168 2.96296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33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80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9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animBg="1"/>
      <p:bldP spid="10" grpId="0"/>
      <p:bldP spid="13" grpId="0" animBg="1"/>
      <p:bldP spid="14" grpId="0" animBg="1"/>
      <p:bldP spid="16" grpId="0" animBg="1"/>
      <p:bldP spid="18" grpId="0" animBg="1"/>
      <p:bldP spid="20" grpId="0" animBg="1"/>
      <p:bldP spid="21" grpId="0"/>
      <p:bldP spid="22" grpId="0"/>
      <p:bldP spid="24" grpId="0" animBg="1"/>
      <p:bldP spid="25" grpId="0" animBg="1"/>
      <p:bldP spid="2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0F1CC-C05D-C0C2-8CBC-C8E633C4B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7589" y="1253331"/>
            <a:ext cx="4019811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"properties":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"forms":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 ... ]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},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"actions": 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...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"forms": [ ... ]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},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"events": 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...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"forms": [ ... ]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B33071-BD4E-27DD-E3A0-E2DE98BE2B94}"/>
              </a:ext>
            </a:extLst>
          </p:cNvPr>
          <p:cNvSpPr txBox="1">
            <a:spLocks/>
          </p:cNvSpPr>
          <p:nvPr/>
        </p:nvSpPr>
        <p:spPr>
          <a:xfrm>
            <a:off x="4317589" y="1253331"/>
            <a:ext cx="40198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"actions":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"forms":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 ... ]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},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"events": {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...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"forms": [ ... ]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16941CA-4DEE-AF12-061A-913C880A525A}"/>
              </a:ext>
            </a:extLst>
          </p:cNvPr>
          <p:cNvSpPr txBox="1">
            <a:spLocks/>
          </p:cNvSpPr>
          <p:nvPr/>
        </p:nvSpPr>
        <p:spPr>
          <a:xfrm>
            <a:off x="4317589" y="1253331"/>
            <a:ext cx="40198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"events":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"forms":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 ... ]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7082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00">
        <p159:morph option="byObject"/>
      </p:transition>
    </mc:Choice>
    <mc:Fallback>
      <p:transition spd="slow" advTm="5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FD639-CF83-68C7-FF0D-DCD8B6762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EA5C1-C1EC-6556-9A0D-CFCF9861F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7589" y="1253331"/>
            <a:ext cx="4019811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3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3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"properties": 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3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...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"forms":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 ... ]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accent3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},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"actions": 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...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"forms": [ ... ]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},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"events": 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...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"forms": [ ... ]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D73DBE-14C2-A276-19A7-5221BCDB4960}"/>
              </a:ext>
            </a:extLst>
          </p:cNvPr>
          <p:cNvSpPr txBox="1">
            <a:spLocks/>
          </p:cNvSpPr>
          <p:nvPr/>
        </p:nvSpPr>
        <p:spPr>
          <a:xfrm>
            <a:off x="4317589" y="1253331"/>
            <a:ext cx="40198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accent3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"actions": {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3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...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"forms":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 ... ]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3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},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"events": {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...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"forms": [ ... ]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361928E-E373-0CBC-54B6-BCDF2F2720E6}"/>
              </a:ext>
            </a:extLst>
          </p:cNvPr>
          <p:cNvSpPr txBox="1">
            <a:spLocks/>
          </p:cNvSpPr>
          <p:nvPr/>
        </p:nvSpPr>
        <p:spPr>
          <a:xfrm>
            <a:off x="4317589" y="1253331"/>
            <a:ext cx="40198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accent3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"events": {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3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...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"forms":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 ... ]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accent3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3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0725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2889F-ED96-48BE-91BB-AA8B9354A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AC6DBBE-0F43-9494-BDA4-A76342ED89D5}"/>
              </a:ext>
            </a:extLst>
          </p:cNvPr>
          <p:cNvSpPr txBox="1">
            <a:spLocks/>
          </p:cNvSpPr>
          <p:nvPr/>
        </p:nvSpPr>
        <p:spPr>
          <a:xfrm>
            <a:off x="4317589" y="1253331"/>
            <a:ext cx="40198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"actions": {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...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"forms":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 ... ]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3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},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"events": {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...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"forms": [ ... ]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359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D47F9-5960-7FDB-1CA8-E4D5B02E5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F91C39-9639-4590-D4F8-F2E5918B028D}"/>
              </a:ext>
            </a:extLst>
          </p:cNvPr>
          <p:cNvSpPr txBox="1">
            <a:spLocks/>
          </p:cNvSpPr>
          <p:nvPr/>
        </p:nvSpPr>
        <p:spPr>
          <a:xfrm>
            <a:off x="3413349" y="2506662"/>
            <a:ext cx="40198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"actions": {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...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"forms":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 ... ]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3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},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"events": {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...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"forms": [ ... ]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F2F2F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1E64EC9-817D-C10B-5C55-7F9DF34240D4}"/>
              </a:ext>
            </a:extLst>
          </p:cNvPr>
          <p:cNvSpPr txBox="1">
            <a:spLocks/>
          </p:cNvSpPr>
          <p:nvPr/>
        </p:nvSpPr>
        <p:spPr>
          <a:xfrm>
            <a:off x="2198977" y="1487011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W</a:t>
            </a:r>
            <a:r>
              <a:rPr lang="aa-ET" dirty="0">
                <a:solidFill>
                  <a:schemeClr val="accent1"/>
                </a:solidFill>
                <a:latin typeface="Century Gothic" panose="020B0502020202020204" pitchFamily="34" charset="0"/>
              </a:rPr>
              <a:t>hat are </a:t>
            </a:r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Bindings</a:t>
            </a:r>
            <a:r>
              <a:rPr lang="aa-ET" dirty="0">
                <a:solidFill>
                  <a:schemeClr val="accent1"/>
                </a:solidFill>
                <a:latin typeface="Century Gothic" panose="020B0502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16735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18BDF-1ED2-D406-6EFB-D2388DC54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0B7A5B9-33CD-E5C0-AE1B-AF554D39649D}"/>
              </a:ext>
            </a:extLst>
          </p:cNvPr>
          <p:cNvSpPr txBox="1">
            <a:spLocks/>
          </p:cNvSpPr>
          <p:nvPr/>
        </p:nvSpPr>
        <p:spPr>
          <a:xfrm>
            <a:off x="2198977" y="1487011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W</a:t>
            </a:r>
            <a:r>
              <a:rPr lang="aa-ET" dirty="0">
                <a:solidFill>
                  <a:schemeClr val="accent1"/>
                </a:solidFill>
                <a:latin typeface="Century Gothic" panose="020B0502020202020204" pitchFamily="34" charset="0"/>
              </a:rPr>
              <a:t>hat are</a:t>
            </a:r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 Bindings</a:t>
            </a:r>
            <a:r>
              <a:rPr lang="aa-ET" dirty="0">
                <a:solidFill>
                  <a:schemeClr val="accent1"/>
                </a:solidFill>
                <a:latin typeface="Century Gothic" panose="020B0502020202020204" pitchFamily="34" charset="0"/>
              </a:rPr>
              <a:t>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AC4A11D-F617-C1A7-F133-A49BF768EB6B}"/>
              </a:ext>
            </a:extLst>
          </p:cNvPr>
          <p:cNvGrpSpPr/>
          <p:nvPr/>
        </p:nvGrpSpPr>
        <p:grpSpPr>
          <a:xfrm>
            <a:off x="2712892" y="3156328"/>
            <a:ext cx="2916766" cy="2827081"/>
            <a:chOff x="8386845" y="932048"/>
            <a:chExt cx="2916766" cy="2827081"/>
          </a:xfrm>
        </p:grpSpPr>
        <p:pic>
          <p:nvPicPr>
            <p:cNvPr id="3" name="Graphic 2" descr="Remote control with solid fill">
              <a:extLst>
                <a:ext uri="{FF2B5EF4-FFF2-40B4-BE49-F238E27FC236}">
                  <a16:creationId xmlns:a16="http://schemas.microsoft.com/office/drawing/2014/main" id="{E39960CA-3620-8D74-13AE-3EF85C7418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59308" y="1024053"/>
              <a:ext cx="2144303" cy="2144303"/>
            </a:xfrm>
            <a:prstGeom prst="rect">
              <a:avLst/>
            </a:prstGeom>
          </p:spPr>
        </p:pic>
        <p:pic>
          <p:nvPicPr>
            <p:cNvPr id="5" name="Graphic 4" descr="Cmd Terminal with solid fill">
              <a:extLst>
                <a:ext uri="{FF2B5EF4-FFF2-40B4-BE49-F238E27FC236}">
                  <a16:creationId xmlns:a16="http://schemas.microsoft.com/office/drawing/2014/main" id="{E620E396-B2D5-ABA8-CE0A-9F5F7E9CA7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99253" y="932048"/>
              <a:ext cx="1257866" cy="1257865"/>
            </a:xfrm>
            <a:prstGeom prst="rect">
              <a:avLst/>
            </a:prstGeom>
          </p:spPr>
        </p:pic>
        <p:pic>
          <p:nvPicPr>
            <p:cNvPr id="6" name="Graphic 5" descr="Ui Ux with solid fill">
              <a:extLst>
                <a:ext uri="{FF2B5EF4-FFF2-40B4-BE49-F238E27FC236}">
                  <a16:creationId xmlns:a16="http://schemas.microsoft.com/office/drawing/2014/main" id="{D951C7F3-3AEF-A35C-EDEE-AC0B4AE9BC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99253" y="2015677"/>
              <a:ext cx="1257866" cy="125786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28A277C-0AE8-966F-9BCC-8AAB975BFEE0}"/>
                </a:ext>
              </a:extLst>
            </p:cNvPr>
            <p:cNvSpPr txBox="1"/>
            <p:nvPr/>
          </p:nvSpPr>
          <p:spPr>
            <a:xfrm>
              <a:off x="8386845" y="3174354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52A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Consumer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52D5012-2DF0-0A00-8314-0AAFE4500D44}"/>
              </a:ext>
            </a:extLst>
          </p:cNvPr>
          <p:cNvGrpSpPr/>
          <p:nvPr/>
        </p:nvGrpSpPr>
        <p:grpSpPr>
          <a:xfrm>
            <a:off x="7129930" y="3027722"/>
            <a:ext cx="2577778" cy="2955687"/>
            <a:chOff x="8634714" y="642551"/>
            <a:chExt cx="2577778" cy="295568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5BDA76F-06FB-A035-D95D-B4E06E6910DE}"/>
                </a:ext>
              </a:extLst>
            </p:cNvPr>
            <p:cNvSpPr txBox="1"/>
            <p:nvPr/>
          </p:nvSpPr>
          <p:spPr>
            <a:xfrm>
              <a:off x="8786111" y="3013463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52A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Thing</a:t>
              </a:r>
            </a:p>
          </p:txBody>
        </p:sp>
        <p:pic>
          <p:nvPicPr>
            <p:cNvPr id="11" name="Graphic 10" descr="Thermometer with solid fill">
              <a:extLst>
                <a:ext uri="{FF2B5EF4-FFF2-40B4-BE49-F238E27FC236}">
                  <a16:creationId xmlns:a16="http://schemas.microsoft.com/office/drawing/2014/main" id="{9368678C-A8F8-0A01-539B-B2EBC21039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9880948" y="642551"/>
              <a:ext cx="1178665" cy="1178665"/>
            </a:xfrm>
            <a:prstGeom prst="rect">
              <a:avLst/>
            </a:prstGeom>
          </p:spPr>
        </p:pic>
        <p:pic>
          <p:nvPicPr>
            <p:cNvPr id="12" name="Graphic 11" descr="Laptop with solid fill">
              <a:extLst>
                <a:ext uri="{FF2B5EF4-FFF2-40B4-BE49-F238E27FC236}">
                  <a16:creationId xmlns:a16="http://schemas.microsoft.com/office/drawing/2014/main" id="{BF717531-0FEF-4137-672E-CB1388FDE6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8725406" y="656757"/>
              <a:ext cx="1365168" cy="1365167"/>
            </a:xfrm>
            <a:prstGeom prst="rect">
              <a:avLst/>
            </a:prstGeom>
          </p:spPr>
        </p:pic>
        <p:pic>
          <p:nvPicPr>
            <p:cNvPr id="13" name="Graphic 12" descr="Server with solid fill">
              <a:extLst>
                <a:ext uri="{FF2B5EF4-FFF2-40B4-BE49-F238E27FC236}">
                  <a16:creationId xmlns:a16="http://schemas.microsoft.com/office/drawing/2014/main" id="{0423D543-D6AA-1612-52E6-30B3C85F28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8634714" y="1748063"/>
              <a:ext cx="1364588" cy="1364588"/>
            </a:xfrm>
            <a:prstGeom prst="rect">
              <a:avLst/>
            </a:prstGeom>
          </p:spPr>
        </p:pic>
        <p:pic>
          <p:nvPicPr>
            <p:cNvPr id="14" name="Graphic 13" descr="Processor with solid fill">
              <a:extLst>
                <a:ext uri="{FF2B5EF4-FFF2-40B4-BE49-F238E27FC236}">
                  <a16:creationId xmlns:a16="http://schemas.microsoft.com/office/drawing/2014/main" id="{51488621-4988-5442-1EF4-97BDBB3BFE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843182" y="1803258"/>
              <a:ext cx="1254198" cy="1254198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57B6EAC-F3A1-2861-43C6-D2A19B7467C1}"/>
              </a:ext>
            </a:extLst>
          </p:cNvPr>
          <p:cNvSpPr txBox="1"/>
          <p:nvPr/>
        </p:nvSpPr>
        <p:spPr>
          <a:xfrm>
            <a:off x="5815707" y="3207231"/>
            <a:ext cx="7553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solidFill>
                  <a:schemeClr val="accent1"/>
                </a:solidFill>
              </a:rPr>
              <a:t>?</a:t>
            </a:r>
            <a:endParaRPr lang="en-US" sz="9600" dirty="0">
              <a:solidFill>
                <a:schemeClr val="accent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1C85607-AD57-570E-29F1-039481E6FB68}"/>
              </a:ext>
            </a:extLst>
          </p:cNvPr>
          <p:cNvCxnSpPr/>
          <p:nvPr/>
        </p:nvCxnSpPr>
        <p:spPr>
          <a:xfrm>
            <a:off x="5629658" y="4642168"/>
            <a:ext cx="1152142" cy="0"/>
          </a:xfrm>
          <a:prstGeom prst="line">
            <a:avLst/>
          </a:prstGeom>
          <a:ln w="5715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8ECA9FA-5AC5-3FE6-475E-8F277F4C8B63}"/>
              </a:ext>
            </a:extLst>
          </p:cNvPr>
          <p:cNvSpPr/>
          <p:nvPr/>
        </p:nvSpPr>
        <p:spPr>
          <a:xfrm>
            <a:off x="6028355" y="4851440"/>
            <a:ext cx="300684" cy="300684"/>
          </a:xfrm>
          <a:custGeom>
            <a:avLst/>
            <a:gdLst>
              <a:gd name="csX0" fmla="*/ 133350 w 266700"/>
              <a:gd name="csY0" fmla="*/ 0 h 266700"/>
              <a:gd name="csX1" fmla="*/ 0 w 266700"/>
              <a:gd name="csY1" fmla="*/ 133350 h 266700"/>
              <a:gd name="csX2" fmla="*/ 133350 w 266700"/>
              <a:gd name="csY2" fmla="*/ 266700 h 266700"/>
              <a:gd name="csX3" fmla="*/ 266700 w 266700"/>
              <a:gd name="csY3" fmla="*/ 133350 h 266700"/>
              <a:gd name="csX4" fmla="*/ 133350 w 266700"/>
              <a:gd name="csY4" fmla="*/ 0 h 266700"/>
              <a:gd name="csX5" fmla="*/ 142875 w 266700"/>
              <a:gd name="csY5" fmla="*/ 142875 h 266700"/>
              <a:gd name="csX6" fmla="*/ 186595 w 266700"/>
              <a:gd name="csY6" fmla="*/ 142875 h 266700"/>
              <a:gd name="csX7" fmla="*/ 142875 w 266700"/>
              <a:gd name="csY7" fmla="*/ 229648 h 266700"/>
              <a:gd name="csX8" fmla="*/ 142875 w 266700"/>
              <a:gd name="csY8" fmla="*/ 123825 h 266700"/>
              <a:gd name="csX9" fmla="*/ 142875 w 266700"/>
              <a:gd name="csY9" fmla="*/ 36957 h 266700"/>
              <a:gd name="csX10" fmla="*/ 186595 w 266700"/>
              <a:gd name="csY10" fmla="*/ 123825 h 266700"/>
              <a:gd name="csX11" fmla="*/ 123825 w 266700"/>
              <a:gd name="csY11" fmla="*/ 123825 h 266700"/>
              <a:gd name="csX12" fmla="*/ 81534 w 266700"/>
              <a:gd name="csY12" fmla="*/ 123825 h 266700"/>
              <a:gd name="csX13" fmla="*/ 123825 w 266700"/>
              <a:gd name="csY13" fmla="*/ 38100 h 266700"/>
              <a:gd name="csX14" fmla="*/ 123825 w 266700"/>
              <a:gd name="csY14" fmla="*/ 142875 h 266700"/>
              <a:gd name="csX15" fmla="*/ 123825 w 266700"/>
              <a:gd name="csY15" fmla="*/ 228600 h 266700"/>
              <a:gd name="csX16" fmla="*/ 81534 w 266700"/>
              <a:gd name="csY16" fmla="*/ 142875 h 266700"/>
              <a:gd name="csX17" fmla="*/ 62389 w 266700"/>
              <a:gd name="csY17" fmla="*/ 123825 h 266700"/>
              <a:gd name="csX18" fmla="*/ 21622 w 266700"/>
              <a:gd name="csY18" fmla="*/ 123825 h 266700"/>
              <a:gd name="csX19" fmla="*/ 111824 w 266700"/>
              <a:gd name="csY19" fmla="*/ 23336 h 266700"/>
              <a:gd name="csX20" fmla="*/ 62389 w 266700"/>
              <a:gd name="csY20" fmla="*/ 123825 h 266700"/>
              <a:gd name="csX21" fmla="*/ 62389 w 266700"/>
              <a:gd name="csY21" fmla="*/ 142875 h 266700"/>
              <a:gd name="csX22" fmla="*/ 112014 w 266700"/>
              <a:gd name="csY22" fmla="*/ 243459 h 266700"/>
              <a:gd name="csX23" fmla="*/ 21622 w 266700"/>
              <a:gd name="csY23" fmla="*/ 142875 h 266700"/>
              <a:gd name="csX24" fmla="*/ 205740 w 266700"/>
              <a:gd name="csY24" fmla="*/ 142875 h 266700"/>
              <a:gd name="csX25" fmla="*/ 245078 w 266700"/>
              <a:gd name="csY25" fmla="*/ 142875 h 266700"/>
              <a:gd name="csX26" fmla="*/ 156400 w 266700"/>
              <a:gd name="csY26" fmla="*/ 243078 h 266700"/>
              <a:gd name="csX27" fmla="*/ 205740 w 266700"/>
              <a:gd name="csY27" fmla="*/ 142875 h 266700"/>
              <a:gd name="csX28" fmla="*/ 205740 w 266700"/>
              <a:gd name="csY28" fmla="*/ 123825 h 266700"/>
              <a:gd name="csX29" fmla="*/ 156686 w 266700"/>
              <a:gd name="csY29" fmla="*/ 23717 h 266700"/>
              <a:gd name="csX30" fmla="*/ 245078 w 266700"/>
              <a:gd name="csY30" fmla="*/ 123825 h 266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266700" h="266700">
                <a:moveTo>
                  <a:pt x="133350" y="0"/>
                </a:moveTo>
                <a:cubicBezTo>
                  <a:pt x="59703" y="0"/>
                  <a:pt x="0" y="59703"/>
                  <a:pt x="0" y="133350"/>
                </a:cubicBezTo>
                <a:cubicBezTo>
                  <a:pt x="0" y="206997"/>
                  <a:pt x="59703" y="266700"/>
                  <a:pt x="133350" y="266700"/>
                </a:cubicBezTo>
                <a:cubicBezTo>
                  <a:pt x="206997" y="266700"/>
                  <a:pt x="266700" y="206997"/>
                  <a:pt x="266700" y="133350"/>
                </a:cubicBezTo>
                <a:cubicBezTo>
                  <a:pt x="266700" y="59703"/>
                  <a:pt x="206997" y="0"/>
                  <a:pt x="133350" y="0"/>
                </a:cubicBezTo>
                <a:close/>
                <a:moveTo>
                  <a:pt x="142875" y="142875"/>
                </a:moveTo>
                <a:lnTo>
                  <a:pt x="186595" y="142875"/>
                </a:lnTo>
                <a:cubicBezTo>
                  <a:pt x="181616" y="175711"/>
                  <a:pt x="166302" y="206107"/>
                  <a:pt x="142875" y="229648"/>
                </a:cubicBezTo>
                <a:close/>
                <a:moveTo>
                  <a:pt x="142875" y="123825"/>
                </a:moveTo>
                <a:lnTo>
                  <a:pt x="142875" y="36957"/>
                </a:lnTo>
                <a:cubicBezTo>
                  <a:pt x="166326" y="60520"/>
                  <a:pt x="181642" y="90952"/>
                  <a:pt x="186595" y="123825"/>
                </a:cubicBezTo>
                <a:close/>
                <a:moveTo>
                  <a:pt x="123825" y="123825"/>
                </a:moveTo>
                <a:lnTo>
                  <a:pt x="81534" y="123825"/>
                </a:lnTo>
                <a:cubicBezTo>
                  <a:pt x="86271" y="91515"/>
                  <a:pt x="101069" y="61520"/>
                  <a:pt x="123825" y="38100"/>
                </a:cubicBezTo>
                <a:close/>
                <a:moveTo>
                  <a:pt x="123825" y="142875"/>
                </a:moveTo>
                <a:lnTo>
                  <a:pt x="123825" y="228600"/>
                </a:lnTo>
                <a:cubicBezTo>
                  <a:pt x="101112" y="205149"/>
                  <a:pt x="86320" y="175170"/>
                  <a:pt x="81534" y="142875"/>
                </a:cubicBezTo>
                <a:close/>
                <a:moveTo>
                  <a:pt x="62389" y="123825"/>
                </a:moveTo>
                <a:lnTo>
                  <a:pt x="21622" y="123825"/>
                </a:lnTo>
                <a:cubicBezTo>
                  <a:pt x="25850" y="73933"/>
                  <a:pt x="62676" y="32908"/>
                  <a:pt x="111824" y="23336"/>
                </a:cubicBezTo>
                <a:cubicBezTo>
                  <a:pt x="84670" y="50432"/>
                  <a:pt x="67282" y="85777"/>
                  <a:pt x="62389" y="123825"/>
                </a:cubicBezTo>
                <a:close/>
                <a:moveTo>
                  <a:pt x="62389" y="142875"/>
                </a:moveTo>
                <a:cubicBezTo>
                  <a:pt x="67286" y="180988"/>
                  <a:pt x="84748" y="216382"/>
                  <a:pt x="112014" y="243459"/>
                </a:cubicBezTo>
                <a:cubicBezTo>
                  <a:pt x="62794" y="233894"/>
                  <a:pt x="25894" y="192834"/>
                  <a:pt x="21622" y="142875"/>
                </a:cubicBezTo>
                <a:close/>
                <a:moveTo>
                  <a:pt x="205740" y="142875"/>
                </a:moveTo>
                <a:lnTo>
                  <a:pt x="245078" y="142875"/>
                </a:lnTo>
                <a:cubicBezTo>
                  <a:pt x="240907" y="192201"/>
                  <a:pt x="204854" y="232941"/>
                  <a:pt x="156400" y="243078"/>
                </a:cubicBezTo>
                <a:cubicBezTo>
                  <a:pt x="183540" y="216099"/>
                  <a:pt x="200903" y="180836"/>
                  <a:pt x="205740" y="142875"/>
                </a:cubicBezTo>
                <a:close/>
                <a:moveTo>
                  <a:pt x="205740" y="123825"/>
                </a:moveTo>
                <a:cubicBezTo>
                  <a:pt x="200864" y="85963"/>
                  <a:pt x="183619" y="50771"/>
                  <a:pt x="156686" y="23717"/>
                </a:cubicBezTo>
                <a:cubicBezTo>
                  <a:pt x="204996" y="33955"/>
                  <a:pt x="240902" y="74620"/>
                  <a:pt x="245078" y="1238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76654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200">
        <p159:morph option="byObject"/>
      </p:transition>
    </mc:Choice>
    <mc:Fallback xmlns="">
      <p:transition spd="slow" advTm="32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4F58-4133-B2CC-36DC-3E4670CB8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C890543-7941-73D1-DCAE-29F01772B52C}"/>
              </a:ext>
            </a:extLst>
          </p:cNvPr>
          <p:cNvSpPr txBox="1">
            <a:spLocks/>
          </p:cNvSpPr>
          <p:nvPr/>
        </p:nvSpPr>
        <p:spPr>
          <a:xfrm>
            <a:off x="2198977" y="1487011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W</a:t>
            </a:r>
            <a:r>
              <a:rPr lang="aa-ET" dirty="0">
                <a:solidFill>
                  <a:schemeClr val="accent1"/>
                </a:solidFill>
                <a:latin typeface="Century Gothic" panose="020B0502020202020204" pitchFamily="34" charset="0"/>
              </a:rPr>
              <a:t>hat are </a:t>
            </a:r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Bindings</a:t>
            </a:r>
            <a:r>
              <a:rPr lang="aa-ET" dirty="0">
                <a:solidFill>
                  <a:schemeClr val="accent1"/>
                </a:solidFill>
                <a:latin typeface="Century Gothic" panose="020B0502020202020204" pitchFamily="34" charset="0"/>
              </a:rPr>
              <a:t>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9CA613F-DED0-D7A4-1252-8E8F5733CB95}"/>
              </a:ext>
            </a:extLst>
          </p:cNvPr>
          <p:cNvGrpSpPr/>
          <p:nvPr/>
        </p:nvGrpSpPr>
        <p:grpSpPr>
          <a:xfrm>
            <a:off x="2712892" y="3150272"/>
            <a:ext cx="2916766" cy="2827081"/>
            <a:chOff x="8386845" y="932048"/>
            <a:chExt cx="2916766" cy="2827081"/>
          </a:xfrm>
        </p:grpSpPr>
        <p:pic>
          <p:nvPicPr>
            <p:cNvPr id="3" name="Graphic 2" descr="Remote control with solid fill">
              <a:extLst>
                <a:ext uri="{FF2B5EF4-FFF2-40B4-BE49-F238E27FC236}">
                  <a16:creationId xmlns:a16="http://schemas.microsoft.com/office/drawing/2014/main" id="{0409FE8E-0628-5AC6-6CE3-63F28A89CB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59308" y="1024053"/>
              <a:ext cx="2144303" cy="2144303"/>
            </a:xfrm>
            <a:prstGeom prst="rect">
              <a:avLst/>
            </a:prstGeom>
          </p:spPr>
        </p:pic>
        <p:pic>
          <p:nvPicPr>
            <p:cNvPr id="5" name="Graphic 4" descr="Cmd Terminal with solid fill">
              <a:extLst>
                <a:ext uri="{FF2B5EF4-FFF2-40B4-BE49-F238E27FC236}">
                  <a16:creationId xmlns:a16="http://schemas.microsoft.com/office/drawing/2014/main" id="{A844FA11-7900-0504-2B0F-A4DE0894D5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99253" y="932048"/>
              <a:ext cx="1257866" cy="1257865"/>
            </a:xfrm>
            <a:prstGeom prst="rect">
              <a:avLst/>
            </a:prstGeom>
          </p:spPr>
        </p:pic>
        <p:pic>
          <p:nvPicPr>
            <p:cNvPr id="6" name="Graphic 5" descr="Ui Ux with solid fill">
              <a:extLst>
                <a:ext uri="{FF2B5EF4-FFF2-40B4-BE49-F238E27FC236}">
                  <a16:creationId xmlns:a16="http://schemas.microsoft.com/office/drawing/2014/main" id="{E04E912E-4B03-C1F8-5C3C-7445B85FB4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99253" y="2015677"/>
              <a:ext cx="1257866" cy="125786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AFCD06D-7D96-5F2A-2794-B6A3492EC1A0}"/>
                </a:ext>
              </a:extLst>
            </p:cNvPr>
            <p:cNvSpPr txBox="1"/>
            <p:nvPr/>
          </p:nvSpPr>
          <p:spPr>
            <a:xfrm>
              <a:off x="8386845" y="3174354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52A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Consumer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5C290E0-AEEE-3A7B-08A9-5A14910DE1F8}"/>
              </a:ext>
            </a:extLst>
          </p:cNvPr>
          <p:cNvGrpSpPr/>
          <p:nvPr/>
        </p:nvGrpSpPr>
        <p:grpSpPr>
          <a:xfrm>
            <a:off x="7129930" y="3027722"/>
            <a:ext cx="2577778" cy="2955687"/>
            <a:chOff x="8634714" y="642551"/>
            <a:chExt cx="2577778" cy="295568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650CA3-85A5-6076-78B2-3B5C9655928C}"/>
                </a:ext>
              </a:extLst>
            </p:cNvPr>
            <p:cNvSpPr txBox="1"/>
            <p:nvPr/>
          </p:nvSpPr>
          <p:spPr>
            <a:xfrm>
              <a:off x="8786111" y="3013463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52A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Thing</a:t>
              </a:r>
            </a:p>
          </p:txBody>
        </p:sp>
        <p:pic>
          <p:nvPicPr>
            <p:cNvPr id="11" name="Graphic 10" descr="Thermometer with solid fill">
              <a:extLst>
                <a:ext uri="{FF2B5EF4-FFF2-40B4-BE49-F238E27FC236}">
                  <a16:creationId xmlns:a16="http://schemas.microsoft.com/office/drawing/2014/main" id="{2C072DD6-4F17-F3F4-25E6-A5F987C278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9880948" y="642551"/>
              <a:ext cx="1178665" cy="1178665"/>
            </a:xfrm>
            <a:prstGeom prst="rect">
              <a:avLst/>
            </a:prstGeom>
          </p:spPr>
        </p:pic>
        <p:pic>
          <p:nvPicPr>
            <p:cNvPr id="12" name="Graphic 11" descr="Laptop with solid fill">
              <a:extLst>
                <a:ext uri="{FF2B5EF4-FFF2-40B4-BE49-F238E27FC236}">
                  <a16:creationId xmlns:a16="http://schemas.microsoft.com/office/drawing/2014/main" id="{4003C78A-9501-4D1A-6C74-EE8EF2A75B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8725406" y="656757"/>
              <a:ext cx="1365168" cy="1365167"/>
            </a:xfrm>
            <a:prstGeom prst="rect">
              <a:avLst/>
            </a:prstGeom>
          </p:spPr>
        </p:pic>
        <p:pic>
          <p:nvPicPr>
            <p:cNvPr id="13" name="Graphic 12" descr="Server with solid fill">
              <a:extLst>
                <a:ext uri="{FF2B5EF4-FFF2-40B4-BE49-F238E27FC236}">
                  <a16:creationId xmlns:a16="http://schemas.microsoft.com/office/drawing/2014/main" id="{A852D1BF-D012-244B-52E3-BAEA2042261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8634714" y="1748063"/>
              <a:ext cx="1364588" cy="1364588"/>
            </a:xfrm>
            <a:prstGeom prst="rect">
              <a:avLst/>
            </a:prstGeom>
          </p:spPr>
        </p:pic>
        <p:pic>
          <p:nvPicPr>
            <p:cNvPr id="14" name="Graphic 13" descr="Processor with solid fill">
              <a:extLst>
                <a:ext uri="{FF2B5EF4-FFF2-40B4-BE49-F238E27FC236}">
                  <a16:creationId xmlns:a16="http://schemas.microsoft.com/office/drawing/2014/main" id="{02EB804E-4B93-BD2C-1708-121E470EC3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843182" y="1803258"/>
              <a:ext cx="1254198" cy="1254198"/>
            </a:xfrm>
            <a:prstGeom prst="rect">
              <a:avLst/>
            </a:prstGeom>
          </p:spPr>
        </p:pic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720FAC-4CF6-E618-3792-AE6227C67C4C}"/>
              </a:ext>
            </a:extLst>
          </p:cNvPr>
          <p:cNvSpPr txBox="1">
            <a:spLocks/>
          </p:cNvSpPr>
          <p:nvPr/>
        </p:nvSpPr>
        <p:spPr>
          <a:xfrm>
            <a:off x="5190277" y="4277186"/>
            <a:ext cx="2122611" cy="3386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6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"forms": 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 ... ]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722ABE-5B08-0C77-375C-A4A90E674F71}"/>
              </a:ext>
            </a:extLst>
          </p:cNvPr>
          <p:cNvCxnSpPr>
            <a:cxnSpLocks/>
          </p:cNvCxnSpPr>
          <p:nvPr/>
        </p:nvCxnSpPr>
        <p:spPr>
          <a:xfrm>
            <a:off x="5818904" y="4693269"/>
            <a:ext cx="73429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2E8C048-98B8-9643-8F89-DCDB3BE81885}"/>
              </a:ext>
            </a:extLst>
          </p:cNvPr>
          <p:cNvCxnSpPr>
            <a:cxnSpLocks/>
          </p:cNvCxnSpPr>
          <p:nvPr/>
        </p:nvCxnSpPr>
        <p:spPr>
          <a:xfrm flipH="1" flipV="1">
            <a:off x="5806712" y="4868929"/>
            <a:ext cx="709912" cy="54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81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3500">
        <p159:morph option="byObject"/>
      </p:transition>
    </mc:Choice>
    <mc:Fallback xmlns="">
      <p:transition spd="slow" advTm="13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E480E-5C86-76B1-2E34-853BA1E7F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588DB2D-A653-0F1C-999D-AB811983482F}"/>
              </a:ext>
            </a:extLst>
          </p:cNvPr>
          <p:cNvSpPr txBox="1">
            <a:spLocks/>
          </p:cNvSpPr>
          <p:nvPr/>
        </p:nvSpPr>
        <p:spPr>
          <a:xfrm>
            <a:off x="2198977" y="341421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W</a:t>
            </a:r>
            <a:r>
              <a:rPr lang="aa-ET" dirty="0">
                <a:solidFill>
                  <a:schemeClr val="accent1"/>
                </a:solidFill>
                <a:latin typeface="Century Gothic" panose="020B0502020202020204" pitchFamily="34" charset="0"/>
              </a:rPr>
              <a:t>hat are </a:t>
            </a:r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Bindings</a:t>
            </a:r>
            <a:r>
              <a:rPr lang="aa-ET" dirty="0">
                <a:solidFill>
                  <a:schemeClr val="accent1"/>
                </a:solidFill>
                <a:latin typeface="Century Gothic" panose="020B0502020202020204" pitchFamily="34" charset="0"/>
              </a:rPr>
              <a:t>?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EDF94D-B26D-8A35-4026-966D3CB1C38A}"/>
              </a:ext>
            </a:extLst>
          </p:cNvPr>
          <p:cNvGrpSpPr/>
          <p:nvPr/>
        </p:nvGrpSpPr>
        <p:grpSpPr>
          <a:xfrm>
            <a:off x="4547122" y="2741602"/>
            <a:ext cx="2425178" cy="3386475"/>
            <a:chOff x="974627" y="2611041"/>
            <a:chExt cx="520902" cy="727378"/>
          </a:xfrm>
          <a:solidFill>
            <a:schemeClr val="tx2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31BF40A-E088-078B-F32B-1B6A23A4CB7B}"/>
                </a:ext>
              </a:extLst>
            </p:cNvPr>
            <p:cNvSpPr/>
            <p:nvPr/>
          </p:nvSpPr>
          <p:spPr>
            <a:xfrm>
              <a:off x="974627" y="2611041"/>
              <a:ext cx="520902" cy="727378"/>
            </a:xfrm>
            <a:custGeom>
              <a:avLst/>
              <a:gdLst>
                <a:gd name="connsiteX0" fmla="*/ 58472 w 798363"/>
                <a:gd name="connsiteY0" fmla="*/ 0 h 1032987"/>
                <a:gd name="connsiteX1" fmla="*/ 292354 w 798363"/>
                <a:gd name="connsiteY1" fmla="*/ 0 h 1032987"/>
                <a:gd name="connsiteX2" fmla="*/ 292359 w 798363"/>
                <a:gd name="connsiteY2" fmla="*/ 1 h 1032987"/>
                <a:gd name="connsiteX3" fmla="*/ 622950 w 798363"/>
                <a:gd name="connsiteY3" fmla="*/ 1 h 1032987"/>
                <a:gd name="connsiteX4" fmla="*/ 798363 w 798363"/>
                <a:gd name="connsiteY4" fmla="*/ 175414 h 1032987"/>
                <a:gd name="connsiteX5" fmla="*/ 622950 w 798363"/>
                <a:gd name="connsiteY5" fmla="*/ 350827 h 1032987"/>
                <a:gd name="connsiteX6" fmla="*/ 562765 w 798363"/>
                <a:gd name="connsiteY6" fmla="*/ 350827 h 1032987"/>
                <a:gd name="connsiteX7" fmla="*/ 562765 w 798363"/>
                <a:gd name="connsiteY7" fmla="*/ 503174 h 1032987"/>
                <a:gd name="connsiteX8" fmla="*/ 549447 w 798363"/>
                <a:gd name="connsiteY8" fmla="*/ 516492 h 1032987"/>
                <a:gd name="connsiteX9" fmla="*/ 496174 w 798363"/>
                <a:gd name="connsiteY9" fmla="*/ 516492 h 1032987"/>
                <a:gd name="connsiteX10" fmla="*/ 482856 w 798363"/>
                <a:gd name="connsiteY10" fmla="*/ 503174 h 1032987"/>
                <a:gd name="connsiteX11" fmla="*/ 482856 w 798363"/>
                <a:gd name="connsiteY11" fmla="*/ 350827 h 1032987"/>
                <a:gd name="connsiteX12" fmla="*/ 350826 w 798363"/>
                <a:gd name="connsiteY12" fmla="*/ 350827 h 1032987"/>
                <a:gd name="connsiteX13" fmla="*/ 350826 w 798363"/>
                <a:gd name="connsiteY13" fmla="*/ 858878 h 1032987"/>
                <a:gd name="connsiteX14" fmla="*/ 765662 w 798363"/>
                <a:gd name="connsiteY14" fmla="*/ 858878 h 1032987"/>
                <a:gd name="connsiteX15" fmla="*/ 794681 w 798363"/>
                <a:gd name="connsiteY15" fmla="*/ 887897 h 1032987"/>
                <a:gd name="connsiteX16" fmla="*/ 794681 w 798363"/>
                <a:gd name="connsiteY16" fmla="*/ 1003968 h 1032987"/>
                <a:gd name="connsiteX17" fmla="*/ 765662 w 798363"/>
                <a:gd name="connsiteY17" fmla="*/ 1032987 h 1032987"/>
                <a:gd name="connsiteX18" fmla="*/ 292357 w 798363"/>
                <a:gd name="connsiteY18" fmla="*/ 1032987 h 1032987"/>
                <a:gd name="connsiteX19" fmla="*/ 292354 w 798363"/>
                <a:gd name="connsiteY19" fmla="*/ 1032987 h 1032987"/>
                <a:gd name="connsiteX20" fmla="*/ 58472 w 798363"/>
                <a:gd name="connsiteY20" fmla="*/ 1032987 h 1032987"/>
                <a:gd name="connsiteX21" fmla="*/ 58470 w 798363"/>
                <a:gd name="connsiteY21" fmla="*/ 1032987 h 1032987"/>
                <a:gd name="connsiteX22" fmla="*/ 30592 w 798363"/>
                <a:gd name="connsiteY22" fmla="*/ 1032987 h 1032987"/>
                <a:gd name="connsiteX23" fmla="*/ 1573 w 798363"/>
                <a:gd name="connsiteY23" fmla="*/ 1003968 h 1032987"/>
                <a:gd name="connsiteX24" fmla="*/ 1573 w 798363"/>
                <a:gd name="connsiteY24" fmla="*/ 982304 h 1032987"/>
                <a:gd name="connsiteX25" fmla="*/ 0 w 798363"/>
                <a:gd name="connsiteY25" fmla="*/ 974515 h 1032987"/>
                <a:gd name="connsiteX26" fmla="*/ 0 w 798363"/>
                <a:gd name="connsiteY26" fmla="*/ 58472 h 1032987"/>
                <a:gd name="connsiteX27" fmla="*/ 58472 w 798363"/>
                <a:gd name="connsiteY27" fmla="*/ 0 h 1032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798363" h="1032987">
                  <a:moveTo>
                    <a:pt x="58472" y="0"/>
                  </a:moveTo>
                  <a:lnTo>
                    <a:pt x="292354" y="0"/>
                  </a:lnTo>
                  <a:lnTo>
                    <a:pt x="292359" y="1"/>
                  </a:lnTo>
                  <a:lnTo>
                    <a:pt x="622950" y="1"/>
                  </a:lnTo>
                  <a:cubicBezTo>
                    <a:pt x="719828" y="1"/>
                    <a:pt x="798363" y="78536"/>
                    <a:pt x="798363" y="175414"/>
                  </a:cubicBezTo>
                  <a:cubicBezTo>
                    <a:pt x="798363" y="272292"/>
                    <a:pt x="719828" y="350827"/>
                    <a:pt x="622950" y="350827"/>
                  </a:cubicBezTo>
                  <a:lnTo>
                    <a:pt x="562765" y="350827"/>
                  </a:lnTo>
                  <a:lnTo>
                    <a:pt x="562765" y="503174"/>
                  </a:lnTo>
                  <a:cubicBezTo>
                    <a:pt x="562765" y="510529"/>
                    <a:pt x="556802" y="516492"/>
                    <a:pt x="549447" y="516492"/>
                  </a:cubicBezTo>
                  <a:lnTo>
                    <a:pt x="496174" y="516492"/>
                  </a:lnTo>
                  <a:cubicBezTo>
                    <a:pt x="488819" y="516492"/>
                    <a:pt x="482856" y="510529"/>
                    <a:pt x="482856" y="503174"/>
                  </a:cubicBezTo>
                  <a:lnTo>
                    <a:pt x="482856" y="350827"/>
                  </a:lnTo>
                  <a:lnTo>
                    <a:pt x="350826" y="350827"/>
                  </a:lnTo>
                  <a:lnTo>
                    <a:pt x="350826" y="858878"/>
                  </a:lnTo>
                  <a:lnTo>
                    <a:pt x="765662" y="858878"/>
                  </a:lnTo>
                  <a:cubicBezTo>
                    <a:pt x="781689" y="858878"/>
                    <a:pt x="794681" y="871870"/>
                    <a:pt x="794681" y="887897"/>
                  </a:cubicBezTo>
                  <a:lnTo>
                    <a:pt x="794681" y="1003968"/>
                  </a:lnTo>
                  <a:cubicBezTo>
                    <a:pt x="794681" y="1019995"/>
                    <a:pt x="781689" y="1032987"/>
                    <a:pt x="765662" y="1032987"/>
                  </a:cubicBezTo>
                  <a:lnTo>
                    <a:pt x="292357" y="1032987"/>
                  </a:lnTo>
                  <a:lnTo>
                    <a:pt x="292354" y="1032987"/>
                  </a:lnTo>
                  <a:lnTo>
                    <a:pt x="58472" y="1032987"/>
                  </a:lnTo>
                  <a:lnTo>
                    <a:pt x="58470" y="1032987"/>
                  </a:lnTo>
                  <a:lnTo>
                    <a:pt x="30592" y="1032987"/>
                  </a:lnTo>
                  <a:cubicBezTo>
                    <a:pt x="14565" y="1032987"/>
                    <a:pt x="1573" y="1019995"/>
                    <a:pt x="1573" y="1003968"/>
                  </a:cubicBezTo>
                  <a:lnTo>
                    <a:pt x="1573" y="982304"/>
                  </a:lnTo>
                  <a:lnTo>
                    <a:pt x="0" y="974515"/>
                  </a:lnTo>
                  <a:lnTo>
                    <a:pt x="0" y="58472"/>
                  </a:lnTo>
                  <a:cubicBezTo>
                    <a:pt x="0" y="26179"/>
                    <a:pt x="26179" y="0"/>
                    <a:pt x="5847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6AA78EE-E405-E9D1-C57F-0D4D283671BC}"/>
                </a:ext>
              </a:extLst>
            </p:cNvPr>
            <p:cNvSpPr/>
            <p:nvPr/>
          </p:nvSpPr>
          <p:spPr>
            <a:xfrm>
              <a:off x="1254841" y="3042122"/>
              <a:ext cx="206628" cy="165303"/>
            </a:xfrm>
            <a:custGeom>
              <a:avLst/>
              <a:gdLst>
                <a:gd name="connsiteX0" fmla="*/ 206629 w 206628"/>
                <a:gd name="connsiteY0" fmla="*/ 70089 h 165303"/>
                <a:gd name="connsiteX1" fmla="*/ 158691 w 206628"/>
                <a:gd name="connsiteY1" fmla="*/ 19836 h 165303"/>
                <a:gd name="connsiteX2" fmla="*/ 158691 w 206628"/>
                <a:gd name="connsiteY2" fmla="*/ 0 h 165303"/>
                <a:gd name="connsiteX3" fmla="*/ 0 w 206628"/>
                <a:gd name="connsiteY3" fmla="*/ 0 h 165303"/>
                <a:gd name="connsiteX4" fmla="*/ 0 w 206628"/>
                <a:gd name="connsiteY4" fmla="*/ 152079 h 165303"/>
                <a:gd name="connsiteX5" fmla="*/ 13224 w 206628"/>
                <a:gd name="connsiteY5" fmla="*/ 165303 h 165303"/>
                <a:gd name="connsiteX6" fmla="*/ 145467 w 206628"/>
                <a:gd name="connsiteY6" fmla="*/ 165303 h 165303"/>
                <a:gd name="connsiteX7" fmla="*/ 158691 w 206628"/>
                <a:gd name="connsiteY7" fmla="*/ 152079 h 165303"/>
                <a:gd name="connsiteX8" fmla="*/ 158691 w 206628"/>
                <a:gd name="connsiteY8" fmla="*/ 120671 h 165303"/>
                <a:gd name="connsiteX9" fmla="*/ 206629 w 206628"/>
                <a:gd name="connsiteY9" fmla="*/ 70089 h 165303"/>
                <a:gd name="connsiteX10" fmla="*/ 159022 w 206628"/>
                <a:gd name="connsiteY10" fmla="*/ 100835 h 165303"/>
                <a:gd name="connsiteX11" fmla="*/ 159022 w 206628"/>
                <a:gd name="connsiteY11" fmla="*/ 39673 h 165303"/>
                <a:gd name="connsiteX12" fmla="*/ 187123 w 206628"/>
                <a:gd name="connsiteY12" fmla="*/ 70089 h 165303"/>
                <a:gd name="connsiteX13" fmla="*/ 159022 w 206628"/>
                <a:gd name="connsiteY13" fmla="*/ 100835 h 165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6628" h="165303">
                  <a:moveTo>
                    <a:pt x="206629" y="70089"/>
                  </a:moveTo>
                  <a:cubicBezTo>
                    <a:pt x="206629" y="42979"/>
                    <a:pt x="185470" y="21159"/>
                    <a:pt x="158691" y="19836"/>
                  </a:cubicBezTo>
                  <a:lnTo>
                    <a:pt x="158691" y="0"/>
                  </a:lnTo>
                  <a:lnTo>
                    <a:pt x="0" y="0"/>
                  </a:lnTo>
                  <a:lnTo>
                    <a:pt x="0" y="152079"/>
                  </a:lnTo>
                  <a:cubicBezTo>
                    <a:pt x="0" y="159352"/>
                    <a:pt x="5951" y="165303"/>
                    <a:pt x="13224" y="165303"/>
                  </a:cubicBezTo>
                  <a:lnTo>
                    <a:pt x="145467" y="165303"/>
                  </a:lnTo>
                  <a:cubicBezTo>
                    <a:pt x="152740" y="165303"/>
                    <a:pt x="158691" y="159352"/>
                    <a:pt x="158691" y="152079"/>
                  </a:cubicBezTo>
                  <a:lnTo>
                    <a:pt x="158691" y="120671"/>
                  </a:lnTo>
                  <a:cubicBezTo>
                    <a:pt x="185470" y="119349"/>
                    <a:pt x="206629" y="97198"/>
                    <a:pt x="206629" y="70089"/>
                  </a:cubicBezTo>
                  <a:close/>
                  <a:moveTo>
                    <a:pt x="159022" y="100835"/>
                  </a:moveTo>
                  <a:lnTo>
                    <a:pt x="159022" y="39673"/>
                  </a:lnTo>
                  <a:cubicBezTo>
                    <a:pt x="174891" y="40995"/>
                    <a:pt x="187123" y="54219"/>
                    <a:pt x="187123" y="70089"/>
                  </a:cubicBezTo>
                  <a:cubicBezTo>
                    <a:pt x="187123" y="85958"/>
                    <a:pt x="174560" y="99512"/>
                    <a:pt x="159022" y="100835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3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8B13DB4-9E8D-C220-4B54-89BA2B0AE8BC}"/>
              </a:ext>
            </a:extLst>
          </p:cNvPr>
          <p:cNvGrpSpPr/>
          <p:nvPr/>
        </p:nvGrpSpPr>
        <p:grpSpPr>
          <a:xfrm>
            <a:off x="5625286" y="3087993"/>
            <a:ext cx="1101971" cy="437538"/>
            <a:chOff x="9843013" y="2095500"/>
            <a:chExt cx="1101971" cy="437538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C6C4088-09F8-7462-255E-0E622E095F6A}"/>
                </a:ext>
              </a:extLst>
            </p:cNvPr>
            <p:cNvSpPr/>
            <p:nvPr/>
          </p:nvSpPr>
          <p:spPr>
            <a:xfrm>
              <a:off x="9843013" y="2095500"/>
              <a:ext cx="1101971" cy="437538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0E282EE-A878-4335-32B4-9E7D631EE36F}"/>
                </a:ext>
              </a:extLst>
            </p:cNvPr>
            <p:cNvGrpSpPr/>
            <p:nvPr/>
          </p:nvGrpSpPr>
          <p:grpSpPr>
            <a:xfrm>
              <a:off x="9998060" y="2173688"/>
              <a:ext cx="791876" cy="281161"/>
              <a:chOff x="9931328" y="2153492"/>
              <a:chExt cx="941880" cy="334421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56ACBD6-4E60-C80D-F4EF-F2846CD85091}"/>
                  </a:ext>
                </a:extLst>
              </p:cNvPr>
              <p:cNvSpPr/>
              <p:nvPr/>
            </p:nvSpPr>
            <p:spPr>
              <a:xfrm rot="19951854">
                <a:off x="9931328" y="2160944"/>
                <a:ext cx="297563" cy="326969"/>
              </a:xfrm>
              <a:custGeom>
                <a:avLst/>
                <a:gdLst>
                  <a:gd name="connsiteX0" fmla="*/ 242170 w 297563"/>
                  <a:gd name="connsiteY0" fmla="*/ 17895 h 326969"/>
                  <a:gd name="connsiteX1" fmla="*/ 32972 w 297563"/>
                  <a:gd name="connsiteY1" fmla="*/ 89190 h 326969"/>
                  <a:gd name="connsiteX2" fmla="*/ 55384 w 297563"/>
                  <a:gd name="connsiteY2" fmla="*/ 309075 h 326969"/>
                  <a:gd name="connsiteX3" fmla="*/ 264591 w 297563"/>
                  <a:gd name="connsiteY3" fmla="*/ 237770 h 326969"/>
                  <a:gd name="connsiteX4" fmla="*/ 242170 w 297563"/>
                  <a:gd name="connsiteY4" fmla="*/ 17895 h 326969"/>
                  <a:gd name="connsiteX5" fmla="*/ 167770 w 297563"/>
                  <a:gd name="connsiteY5" fmla="*/ 162323 h 326969"/>
                  <a:gd name="connsiteX6" fmla="*/ 113277 w 297563"/>
                  <a:gd name="connsiteY6" fmla="*/ 288558 h 326969"/>
                  <a:gd name="connsiteX7" fmla="*/ 75958 w 297563"/>
                  <a:gd name="connsiteY7" fmla="*/ 277004 h 326969"/>
                  <a:gd name="connsiteX8" fmla="*/ 72968 w 297563"/>
                  <a:gd name="connsiteY8" fmla="*/ 274804 h 326969"/>
                  <a:gd name="connsiteX9" fmla="*/ 130756 w 297563"/>
                  <a:gd name="connsiteY9" fmla="*/ 153322 h 326969"/>
                  <a:gd name="connsiteX10" fmla="*/ 179047 w 297563"/>
                  <a:gd name="connsiteY10" fmla="*/ 38069 h 326969"/>
                  <a:gd name="connsiteX11" fmla="*/ 179457 w 297563"/>
                  <a:gd name="connsiteY11" fmla="*/ 38069 h 326969"/>
                  <a:gd name="connsiteX12" fmla="*/ 221596 w 297563"/>
                  <a:gd name="connsiteY12" fmla="*/ 49937 h 326969"/>
                  <a:gd name="connsiteX13" fmla="*/ 221958 w 297563"/>
                  <a:gd name="connsiteY13" fmla="*/ 50204 h 326969"/>
                  <a:gd name="connsiteX14" fmla="*/ 167770 w 297563"/>
                  <a:gd name="connsiteY14" fmla="*/ 162323 h 326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97563" h="326969">
                    <a:moveTo>
                      <a:pt x="242170" y="17895"/>
                    </a:moveTo>
                    <a:cubicBezTo>
                      <a:pt x="178209" y="-23138"/>
                      <a:pt x="84550" y="8789"/>
                      <a:pt x="32972" y="89190"/>
                    </a:cubicBezTo>
                    <a:cubicBezTo>
                      <a:pt x="-18606" y="169590"/>
                      <a:pt x="-8576" y="268041"/>
                      <a:pt x="55384" y="309075"/>
                    </a:cubicBezTo>
                    <a:cubicBezTo>
                      <a:pt x="119345" y="350108"/>
                      <a:pt x="213004" y="318180"/>
                      <a:pt x="264591" y="237770"/>
                    </a:cubicBezTo>
                    <a:cubicBezTo>
                      <a:pt x="316179" y="157360"/>
                      <a:pt x="306130" y="58919"/>
                      <a:pt x="242170" y="17895"/>
                    </a:cubicBezTo>
                    <a:close/>
                    <a:moveTo>
                      <a:pt x="167770" y="162323"/>
                    </a:moveTo>
                    <a:cubicBezTo>
                      <a:pt x="157378" y="205128"/>
                      <a:pt x="145862" y="251972"/>
                      <a:pt x="113277" y="288558"/>
                    </a:cubicBezTo>
                    <a:cubicBezTo>
                      <a:pt x="100040" y="288039"/>
                      <a:pt x="87172" y="284055"/>
                      <a:pt x="75958" y="277004"/>
                    </a:cubicBezTo>
                    <a:cubicBezTo>
                      <a:pt x="74911" y="276328"/>
                      <a:pt x="73977" y="275527"/>
                      <a:pt x="72968" y="274804"/>
                    </a:cubicBezTo>
                    <a:cubicBezTo>
                      <a:pt x="108515" y="244543"/>
                      <a:pt x="119411" y="200023"/>
                      <a:pt x="130756" y="153322"/>
                    </a:cubicBezTo>
                    <a:cubicBezTo>
                      <a:pt x="140786" y="112021"/>
                      <a:pt x="151139" y="69845"/>
                      <a:pt x="179047" y="38069"/>
                    </a:cubicBezTo>
                    <a:lnTo>
                      <a:pt x="179457" y="38069"/>
                    </a:lnTo>
                    <a:cubicBezTo>
                      <a:pt x="194358" y="37844"/>
                      <a:pt x="209002" y="41969"/>
                      <a:pt x="221596" y="49937"/>
                    </a:cubicBezTo>
                    <a:cubicBezTo>
                      <a:pt x="221719" y="50023"/>
                      <a:pt x="221834" y="50128"/>
                      <a:pt x="221958" y="50204"/>
                    </a:cubicBezTo>
                    <a:cubicBezTo>
                      <a:pt x="188973" y="75083"/>
                      <a:pt x="178990" y="116146"/>
                      <a:pt x="167770" y="162323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7626E59B-1061-A467-9AAE-4EF3069E25D1}"/>
                  </a:ext>
                </a:extLst>
              </p:cNvPr>
              <p:cNvSpPr/>
              <p:nvPr/>
            </p:nvSpPr>
            <p:spPr>
              <a:xfrm rot="19951854">
                <a:off x="10257161" y="2155864"/>
                <a:ext cx="297563" cy="326969"/>
              </a:xfrm>
              <a:custGeom>
                <a:avLst/>
                <a:gdLst>
                  <a:gd name="connsiteX0" fmla="*/ 242170 w 297563"/>
                  <a:gd name="connsiteY0" fmla="*/ 17895 h 326969"/>
                  <a:gd name="connsiteX1" fmla="*/ 32972 w 297563"/>
                  <a:gd name="connsiteY1" fmla="*/ 89190 h 326969"/>
                  <a:gd name="connsiteX2" fmla="*/ 55384 w 297563"/>
                  <a:gd name="connsiteY2" fmla="*/ 309075 h 326969"/>
                  <a:gd name="connsiteX3" fmla="*/ 264591 w 297563"/>
                  <a:gd name="connsiteY3" fmla="*/ 237770 h 326969"/>
                  <a:gd name="connsiteX4" fmla="*/ 242170 w 297563"/>
                  <a:gd name="connsiteY4" fmla="*/ 17895 h 326969"/>
                  <a:gd name="connsiteX5" fmla="*/ 167770 w 297563"/>
                  <a:gd name="connsiteY5" fmla="*/ 162323 h 326969"/>
                  <a:gd name="connsiteX6" fmla="*/ 113277 w 297563"/>
                  <a:gd name="connsiteY6" fmla="*/ 288558 h 326969"/>
                  <a:gd name="connsiteX7" fmla="*/ 75958 w 297563"/>
                  <a:gd name="connsiteY7" fmla="*/ 277004 h 326969"/>
                  <a:gd name="connsiteX8" fmla="*/ 72968 w 297563"/>
                  <a:gd name="connsiteY8" fmla="*/ 274804 h 326969"/>
                  <a:gd name="connsiteX9" fmla="*/ 130756 w 297563"/>
                  <a:gd name="connsiteY9" fmla="*/ 153322 h 326969"/>
                  <a:gd name="connsiteX10" fmla="*/ 179047 w 297563"/>
                  <a:gd name="connsiteY10" fmla="*/ 38069 h 326969"/>
                  <a:gd name="connsiteX11" fmla="*/ 179457 w 297563"/>
                  <a:gd name="connsiteY11" fmla="*/ 38069 h 326969"/>
                  <a:gd name="connsiteX12" fmla="*/ 221596 w 297563"/>
                  <a:gd name="connsiteY12" fmla="*/ 49937 h 326969"/>
                  <a:gd name="connsiteX13" fmla="*/ 221958 w 297563"/>
                  <a:gd name="connsiteY13" fmla="*/ 50204 h 326969"/>
                  <a:gd name="connsiteX14" fmla="*/ 167770 w 297563"/>
                  <a:gd name="connsiteY14" fmla="*/ 162323 h 326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97563" h="326969">
                    <a:moveTo>
                      <a:pt x="242170" y="17895"/>
                    </a:moveTo>
                    <a:cubicBezTo>
                      <a:pt x="178209" y="-23138"/>
                      <a:pt x="84550" y="8789"/>
                      <a:pt x="32972" y="89190"/>
                    </a:cubicBezTo>
                    <a:cubicBezTo>
                      <a:pt x="-18606" y="169590"/>
                      <a:pt x="-8576" y="268041"/>
                      <a:pt x="55384" y="309075"/>
                    </a:cubicBezTo>
                    <a:cubicBezTo>
                      <a:pt x="119345" y="350108"/>
                      <a:pt x="213004" y="318180"/>
                      <a:pt x="264591" y="237770"/>
                    </a:cubicBezTo>
                    <a:cubicBezTo>
                      <a:pt x="316179" y="157360"/>
                      <a:pt x="306130" y="58919"/>
                      <a:pt x="242170" y="17895"/>
                    </a:cubicBezTo>
                    <a:close/>
                    <a:moveTo>
                      <a:pt x="167770" y="162323"/>
                    </a:moveTo>
                    <a:cubicBezTo>
                      <a:pt x="157378" y="205128"/>
                      <a:pt x="145862" y="251972"/>
                      <a:pt x="113277" y="288558"/>
                    </a:cubicBezTo>
                    <a:cubicBezTo>
                      <a:pt x="100040" y="288039"/>
                      <a:pt x="87172" y="284055"/>
                      <a:pt x="75958" y="277004"/>
                    </a:cubicBezTo>
                    <a:cubicBezTo>
                      <a:pt x="74911" y="276328"/>
                      <a:pt x="73977" y="275527"/>
                      <a:pt x="72968" y="274804"/>
                    </a:cubicBezTo>
                    <a:cubicBezTo>
                      <a:pt x="108515" y="244543"/>
                      <a:pt x="119411" y="200023"/>
                      <a:pt x="130756" y="153322"/>
                    </a:cubicBezTo>
                    <a:cubicBezTo>
                      <a:pt x="140786" y="112021"/>
                      <a:pt x="151139" y="69845"/>
                      <a:pt x="179047" y="38069"/>
                    </a:cubicBezTo>
                    <a:lnTo>
                      <a:pt x="179457" y="38069"/>
                    </a:lnTo>
                    <a:cubicBezTo>
                      <a:pt x="194358" y="37844"/>
                      <a:pt x="209002" y="41969"/>
                      <a:pt x="221596" y="49937"/>
                    </a:cubicBezTo>
                    <a:cubicBezTo>
                      <a:pt x="221719" y="50023"/>
                      <a:pt x="221834" y="50128"/>
                      <a:pt x="221958" y="50204"/>
                    </a:cubicBezTo>
                    <a:cubicBezTo>
                      <a:pt x="188973" y="75083"/>
                      <a:pt x="178990" y="116146"/>
                      <a:pt x="167770" y="162323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AB1134ED-CCB3-DC64-AC4C-F32E59AA0974}"/>
                  </a:ext>
                </a:extLst>
              </p:cNvPr>
              <p:cNvSpPr/>
              <p:nvPr/>
            </p:nvSpPr>
            <p:spPr>
              <a:xfrm rot="19951854">
                <a:off x="10575645" y="2153492"/>
                <a:ext cx="297563" cy="326969"/>
              </a:xfrm>
              <a:custGeom>
                <a:avLst/>
                <a:gdLst>
                  <a:gd name="connsiteX0" fmla="*/ 242170 w 297563"/>
                  <a:gd name="connsiteY0" fmla="*/ 17895 h 326969"/>
                  <a:gd name="connsiteX1" fmla="*/ 32972 w 297563"/>
                  <a:gd name="connsiteY1" fmla="*/ 89190 h 326969"/>
                  <a:gd name="connsiteX2" fmla="*/ 55384 w 297563"/>
                  <a:gd name="connsiteY2" fmla="*/ 309075 h 326969"/>
                  <a:gd name="connsiteX3" fmla="*/ 264591 w 297563"/>
                  <a:gd name="connsiteY3" fmla="*/ 237770 h 326969"/>
                  <a:gd name="connsiteX4" fmla="*/ 242170 w 297563"/>
                  <a:gd name="connsiteY4" fmla="*/ 17895 h 326969"/>
                  <a:gd name="connsiteX5" fmla="*/ 167770 w 297563"/>
                  <a:gd name="connsiteY5" fmla="*/ 162323 h 326969"/>
                  <a:gd name="connsiteX6" fmla="*/ 113277 w 297563"/>
                  <a:gd name="connsiteY6" fmla="*/ 288558 h 326969"/>
                  <a:gd name="connsiteX7" fmla="*/ 75958 w 297563"/>
                  <a:gd name="connsiteY7" fmla="*/ 277004 h 326969"/>
                  <a:gd name="connsiteX8" fmla="*/ 72968 w 297563"/>
                  <a:gd name="connsiteY8" fmla="*/ 274804 h 326969"/>
                  <a:gd name="connsiteX9" fmla="*/ 130756 w 297563"/>
                  <a:gd name="connsiteY9" fmla="*/ 153322 h 326969"/>
                  <a:gd name="connsiteX10" fmla="*/ 179047 w 297563"/>
                  <a:gd name="connsiteY10" fmla="*/ 38069 h 326969"/>
                  <a:gd name="connsiteX11" fmla="*/ 179457 w 297563"/>
                  <a:gd name="connsiteY11" fmla="*/ 38069 h 326969"/>
                  <a:gd name="connsiteX12" fmla="*/ 221596 w 297563"/>
                  <a:gd name="connsiteY12" fmla="*/ 49937 h 326969"/>
                  <a:gd name="connsiteX13" fmla="*/ 221958 w 297563"/>
                  <a:gd name="connsiteY13" fmla="*/ 50204 h 326969"/>
                  <a:gd name="connsiteX14" fmla="*/ 167770 w 297563"/>
                  <a:gd name="connsiteY14" fmla="*/ 162323 h 326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97563" h="326969">
                    <a:moveTo>
                      <a:pt x="242170" y="17895"/>
                    </a:moveTo>
                    <a:cubicBezTo>
                      <a:pt x="178209" y="-23138"/>
                      <a:pt x="84550" y="8789"/>
                      <a:pt x="32972" y="89190"/>
                    </a:cubicBezTo>
                    <a:cubicBezTo>
                      <a:pt x="-18606" y="169590"/>
                      <a:pt x="-8576" y="268041"/>
                      <a:pt x="55384" y="309075"/>
                    </a:cubicBezTo>
                    <a:cubicBezTo>
                      <a:pt x="119345" y="350108"/>
                      <a:pt x="213004" y="318180"/>
                      <a:pt x="264591" y="237770"/>
                    </a:cubicBezTo>
                    <a:cubicBezTo>
                      <a:pt x="316179" y="157360"/>
                      <a:pt x="306130" y="58919"/>
                      <a:pt x="242170" y="17895"/>
                    </a:cubicBezTo>
                    <a:close/>
                    <a:moveTo>
                      <a:pt x="167770" y="162323"/>
                    </a:moveTo>
                    <a:cubicBezTo>
                      <a:pt x="157378" y="205128"/>
                      <a:pt x="145862" y="251972"/>
                      <a:pt x="113277" y="288558"/>
                    </a:cubicBezTo>
                    <a:cubicBezTo>
                      <a:pt x="100040" y="288039"/>
                      <a:pt x="87172" y="284055"/>
                      <a:pt x="75958" y="277004"/>
                    </a:cubicBezTo>
                    <a:cubicBezTo>
                      <a:pt x="74911" y="276328"/>
                      <a:pt x="73977" y="275527"/>
                      <a:pt x="72968" y="274804"/>
                    </a:cubicBezTo>
                    <a:cubicBezTo>
                      <a:pt x="108515" y="244543"/>
                      <a:pt x="119411" y="200023"/>
                      <a:pt x="130756" y="153322"/>
                    </a:cubicBezTo>
                    <a:cubicBezTo>
                      <a:pt x="140786" y="112021"/>
                      <a:pt x="151139" y="69845"/>
                      <a:pt x="179047" y="38069"/>
                    </a:cubicBezTo>
                    <a:lnTo>
                      <a:pt x="179457" y="38069"/>
                    </a:lnTo>
                    <a:cubicBezTo>
                      <a:pt x="194358" y="37844"/>
                      <a:pt x="209002" y="41969"/>
                      <a:pt x="221596" y="49937"/>
                    </a:cubicBezTo>
                    <a:cubicBezTo>
                      <a:pt x="221719" y="50023"/>
                      <a:pt x="221834" y="50128"/>
                      <a:pt x="221958" y="50204"/>
                    </a:cubicBezTo>
                    <a:cubicBezTo>
                      <a:pt x="188973" y="75083"/>
                      <a:pt x="178990" y="116146"/>
                      <a:pt x="167770" y="162323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227A54D8-0670-66DE-8A0E-7AAACAD7870C}"/>
              </a:ext>
            </a:extLst>
          </p:cNvPr>
          <p:cNvSpPr txBox="1">
            <a:spLocks/>
          </p:cNvSpPr>
          <p:nvPr/>
        </p:nvSpPr>
        <p:spPr>
          <a:xfrm>
            <a:off x="3382271" y="2118626"/>
            <a:ext cx="5427458" cy="6229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coffeeBeansLeft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... }</a:t>
            </a:r>
          </a:p>
        </p:txBody>
      </p:sp>
    </p:spTree>
    <p:extLst>
      <p:ext uri="{BB962C8B-B14F-4D97-AF65-F5344CB8AC3E}">
        <p14:creationId xmlns:p14="http://schemas.microsoft.com/office/powerpoint/2010/main" val="846468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xit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C7DA3-F9CD-990A-567F-C6B698D1C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36566F1-E60E-BA1C-BA19-C005CC597513}"/>
              </a:ext>
            </a:extLst>
          </p:cNvPr>
          <p:cNvSpPr txBox="1">
            <a:spLocks/>
          </p:cNvSpPr>
          <p:nvPr/>
        </p:nvSpPr>
        <p:spPr>
          <a:xfrm>
            <a:off x="2198977" y="341421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W</a:t>
            </a:r>
            <a:r>
              <a:rPr lang="aa-ET" dirty="0">
                <a:solidFill>
                  <a:schemeClr val="accent1"/>
                </a:solidFill>
                <a:latin typeface="Century Gothic" panose="020B0502020202020204" pitchFamily="34" charset="0"/>
              </a:rPr>
              <a:t>hat are </a:t>
            </a:r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Bindings</a:t>
            </a:r>
            <a:r>
              <a:rPr lang="aa-ET" dirty="0">
                <a:solidFill>
                  <a:schemeClr val="accent1"/>
                </a:solidFill>
                <a:latin typeface="Century Gothic" panose="020B0502020202020204" pitchFamily="34" charset="0"/>
              </a:rPr>
              <a:t>?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57D3841-0059-5A5E-0EF1-D75DFFF24678}"/>
              </a:ext>
            </a:extLst>
          </p:cNvPr>
          <p:cNvGrpSpPr/>
          <p:nvPr/>
        </p:nvGrpSpPr>
        <p:grpSpPr>
          <a:xfrm>
            <a:off x="1669022" y="2470886"/>
            <a:ext cx="2509437" cy="3504133"/>
            <a:chOff x="974627" y="2611041"/>
            <a:chExt cx="520902" cy="727378"/>
          </a:xfrm>
          <a:solidFill>
            <a:schemeClr val="tx2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9E2D12-4FCB-4987-255C-239778D48BA3}"/>
                </a:ext>
              </a:extLst>
            </p:cNvPr>
            <p:cNvSpPr/>
            <p:nvPr/>
          </p:nvSpPr>
          <p:spPr>
            <a:xfrm>
              <a:off x="974627" y="2611041"/>
              <a:ext cx="520902" cy="727378"/>
            </a:xfrm>
            <a:custGeom>
              <a:avLst/>
              <a:gdLst>
                <a:gd name="connsiteX0" fmla="*/ 58472 w 798363"/>
                <a:gd name="connsiteY0" fmla="*/ 0 h 1032987"/>
                <a:gd name="connsiteX1" fmla="*/ 292354 w 798363"/>
                <a:gd name="connsiteY1" fmla="*/ 0 h 1032987"/>
                <a:gd name="connsiteX2" fmla="*/ 292359 w 798363"/>
                <a:gd name="connsiteY2" fmla="*/ 1 h 1032987"/>
                <a:gd name="connsiteX3" fmla="*/ 622950 w 798363"/>
                <a:gd name="connsiteY3" fmla="*/ 1 h 1032987"/>
                <a:gd name="connsiteX4" fmla="*/ 798363 w 798363"/>
                <a:gd name="connsiteY4" fmla="*/ 175414 h 1032987"/>
                <a:gd name="connsiteX5" fmla="*/ 622950 w 798363"/>
                <a:gd name="connsiteY5" fmla="*/ 350827 h 1032987"/>
                <a:gd name="connsiteX6" fmla="*/ 562765 w 798363"/>
                <a:gd name="connsiteY6" fmla="*/ 350827 h 1032987"/>
                <a:gd name="connsiteX7" fmla="*/ 562765 w 798363"/>
                <a:gd name="connsiteY7" fmla="*/ 503174 h 1032987"/>
                <a:gd name="connsiteX8" fmla="*/ 549447 w 798363"/>
                <a:gd name="connsiteY8" fmla="*/ 516492 h 1032987"/>
                <a:gd name="connsiteX9" fmla="*/ 496174 w 798363"/>
                <a:gd name="connsiteY9" fmla="*/ 516492 h 1032987"/>
                <a:gd name="connsiteX10" fmla="*/ 482856 w 798363"/>
                <a:gd name="connsiteY10" fmla="*/ 503174 h 1032987"/>
                <a:gd name="connsiteX11" fmla="*/ 482856 w 798363"/>
                <a:gd name="connsiteY11" fmla="*/ 350827 h 1032987"/>
                <a:gd name="connsiteX12" fmla="*/ 350826 w 798363"/>
                <a:gd name="connsiteY12" fmla="*/ 350827 h 1032987"/>
                <a:gd name="connsiteX13" fmla="*/ 350826 w 798363"/>
                <a:gd name="connsiteY13" fmla="*/ 858878 h 1032987"/>
                <a:gd name="connsiteX14" fmla="*/ 765662 w 798363"/>
                <a:gd name="connsiteY14" fmla="*/ 858878 h 1032987"/>
                <a:gd name="connsiteX15" fmla="*/ 794681 w 798363"/>
                <a:gd name="connsiteY15" fmla="*/ 887897 h 1032987"/>
                <a:gd name="connsiteX16" fmla="*/ 794681 w 798363"/>
                <a:gd name="connsiteY16" fmla="*/ 1003968 h 1032987"/>
                <a:gd name="connsiteX17" fmla="*/ 765662 w 798363"/>
                <a:gd name="connsiteY17" fmla="*/ 1032987 h 1032987"/>
                <a:gd name="connsiteX18" fmla="*/ 292357 w 798363"/>
                <a:gd name="connsiteY18" fmla="*/ 1032987 h 1032987"/>
                <a:gd name="connsiteX19" fmla="*/ 292354 w 798363"/>
                <a:gd name="connsiteY19" fmla="*/ 1032987 h 1032987"/>
                <a:gd name="connsiteX20" fmla="*/ 58472 w 798363"/>
                <a:gd name="connsiteY20" fmla="*/ 1032987 h 1032987"/>
                <a:gd name="connsiteX21" fmla="*/ 58470 w 798363"/>
                <a:gd name="connsiteY21" fmla="*/ 1032987 h 1032987"/>
                <a:gd name="connsiteX22" fmla="*/ 30592 w 798363"/>
                <a:gd name="connsiteY22" fmla="*/ 1032987 h 1032987"/>
                <a:gd name="connsiteX23" fmla="*/ 1573 w 798363"/>
                <a:gd name="connsiteY23" fmla="*/ 1003968 h 1032987"/>
                <a:gd name="connsiteX24" fmla="*/ 1573 w 798363"/>
                <a:gd name="connsiteY24" fmla="*/ 982304 h 1032987"/>
                <a:gd name="connsiteX25" fmla="*/ 0 w 798363"/>
                <a:gd name="connsiteY25" fmla="*/ 974515 h 1032987"/>
                <a:gd name="connsiteX26" fmla="*/ 0 w 798363"/>
                <a:gd name="connsiteY26" fmla="*/ 58472 h 1032987"/>
                <a:gd name="connsiteX27" fmla="*/ 58472 w 798363"/>
                <a:gd name="connsiteY27" fmla="*/ 0 h 1032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798363" h="1032987">
                  <a:moveTo>
                    <a:pt x="58472" y="0"/>
                  </a:moveTo>
                  <a:lnTo>
                    <a:pt x="292354" y="0"/>
                  </a:lnTo>
                  <a:lnTo>
                    <a:pt x="292359" y="1"/>
                  </a:lnTo>
                  <a:lnTo>
                    <a:pt x="622950" y="1"/>
                  </a:lnTo>
                  <a:cubicBezTo>
                    <a:pt x="719828" y="1"/>
                    <a:pt x="798363" y="78536"/>
                    <a:pt x="798363" y="175414"/>
                  </a:cubicBezTo>
                  <a:cubicBezTo>
                    <a:pt x="798363" y="272292"/>
                    <a:pt x="719828" y="350827"/>
                    <a:pt x="622950" y="350827"/>
                  </a:cubicBezTo>
                  <a:lnTo>
                    <a:pt x="562765" y="350827"/>
                  </a:lnTo>
                  <a:lnTo>
                    <a:pt x="562765" y="503174"/>
                  </a:lnTo>
                  <a:cubicBezTo>
                    <a:pt x="562765" y="510529"/>
                    <a:pt x="556802" y="516492"/>
                    <a:pt x="549447" y="516492"/>
                  </a:cubicBezTo>
                  <a:lnTo>
                    <a:pt x="496174" y="516492"/>
                  </a:lnTo>
                  <a:cubicBezTo>
                    <a:pt x="488819" y="516492"/>
                    <a:pt x="482856" y="510529"/>
                    <a:pt x="482856" y="503174"/>
                  </a:cubicBezTo>
                  <a:lnTo>
                    <a:pt x="482856" y="350827"/>
                  </a:lnTo>
                  <a:lnTo>
                    <a:pt x="350826" y="350827"/>
                  </a:lnTo>
                  <a:lnTo>
                    <a:pt x="350826" y="858878"/>
                  </a:lnTo>
                  <a:lnTo>
                    <a:pt x="765662" y="858878"/>
                  </a:lnTo>
                  <a:cubicBezTo>
                    <a:pt x="781689" y="858878"/>
                    <a:pt x="794681" y="871870"/>
                    <a:pt x="794681" y="887897"/>
                  </a:cubicBezTo>
                  <a:lnTo>
                    <a:pt x="794681" y="1003968"/>
                  </a:lnTo>
                  <a:cubicBezTo>
                    <a:pt x="794681" y="1019995"/>
                    <a:pt x="781689" y="1032987"/>
                    <a:pt x="765662" y="1032987"/>
                  </a:cubicBezTo>
                  <a:lnTo>
                    <a:pt x="292357" y="1032987"/>
                  </a:lnTo>
                  <a:lnTo>
                    <a:pt x="292354" y="1032987"/>
                  </a:lnTo>
                  <a:lnTo>
                    <a:pt x="58472" y="1032987"/>
                  </a:lnTo>
                  <a:lnTo>
                    <a:pt x="58470" y="1032987"/>
                  </a:lnTo>
                  <a:lnTo>
                    <a:pt x="30592" y="1032987"/>
                  </a:lnTo>
                  <a:cubicBezTo>
                    <a:pt x="14565" y="1032987"/>
                    <a:pt x="1573" y="1019995"/>
                    <a:pt x="1573" y="1003968"/>
                  </a:cubicBezTo>
                  <a:lnTo>
                    <a:pt x="1573" y="982304"/>
                  </a:lnTo>
                  <a:lnTo>
                    <a:pt x="0" y="974515"/>
                  </a:lnTo>
                  <a:lnTo>
                    <a:pt x="0" y="58472"/>
                  </a:lnTo>
                  <a:cubicBezTo>
                    <a:pt x="0" y="26179"/>
                    <a:pt x="26179" y="0"/>
                    <a:pt x="5847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86040B8-35C5-CF70-20F0-5F878C6C45AE}"/>
                </a:ext>
              </a:extLst>
            </p:cNvPr>
            <p:cNvSpPr/>
            <p:nvPr/>
          </p:nvSpPr>
          <p:spPr>
            <a:xfrm>
              <a:off x="1254841" y="3042122"/>
              <a:ext cx="206628" cy="165303"/>
            </a:xfrm>
            <a:custGeom>
              <a:avLst/>
              <a:gdLst>
                <a:gd name="connsiteX0" fmla="*/ 206629 w 206628"/>
                <a:gd name="connsiteY0" fmla="*/ 70089 h 165303"/>
                <a:gd name="connsiteX1" fmla="*/ 158691 w 206628"/>
                <a:gd name="connsiteY1" fmla="*/ 19836 h 165303"/>
                <a:gd name="connsiteX2" fmla="*/ 158691 w 206628"/>
                <a:gd name="connsiteY2" fmla="*/ 0 h 165303"/>
                <a:gd name="connsiteX3" fmla="*/ 0 w 206628"/>
                <a:gd name="connsiteY3" fmla="*/ 0 h 165303"/>
                <a:gd name="connsiteX4" fmla="*/ 0 w 206628"/>
                <a:gd name="connsiteY4" fmla="*/ 152079 h 165303"/>
                <a:gd name="connsiteX5" fmla="*/ 13224 w 206628"/>
                <a:gd name="connsiteY5" fmla="*/ 165303 h 165303"/>
                <a:gd name="connsiteX6" fmla="*/ 145467 w 206628"/>
                <a:gd name="connsiteY6" fmla="*/ 165303 h 165303"/>
                <a:gd name="connsiteX7" fmla="*/ 158691 w 206628"/>
                <a:gd name="connsiteY7" fmla="*/ 152079 h 165303"/>
                <a:gd name="connsiteX8" fmla="*/ 158691 w 206628"/>
                <a:gd name="connsiteY8" fmla="*/ 120671 h 165303"/>
                <a:gd name="connsiteX9" fmla="*/ 206629 w 206628"/>
                <a:gd name="connsiteY9" fmla="*/ 70089 h 165303"/>
                <a:gd name="connsiteX10" fmla="*/ 159022 w 206628"/>
                <a:gd name="connsiteY10" fmla="*/ 100835 h 165303"/>
                <a:gd name="connsiteX11" fmla="*/ 159022 w 206628"/>
                <a:gd name="connsiteY11" fmla="*/ 39673 h 165303"/>
                <a:gd name="connsiteX12" fmla="*/ 187123 w 206628"/>
                <a:gd name="connsiteY12" fmla="*/ 70089 h 165303"/>
                <a:gd name="connsiteX13" fmla="*/ 159022 w 206628"/>
                <a:gd name="connsiteY13" fmla="*/ 100835 h 165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6628" h="165303">
                  <a:moveTo>
                    <a:pt x="206629" y="70089"/>
                  </a:moveTo>
                  <a:cubicBezTo>
                    <a:pt x="206629" y="42979"/>
                    <a:pt x="185470" y="21159"/>
                    <a:pt x="158691" y="19836"/>
                  </a:cubicBezTo>
                  <a:lnTo>
                    <a:pt x="158691" y="0"/>
                  </a:lnTo>
                  <a:lnTo>
                    <a:pt x="0" y="0"/>
                  </a:lnTo>
                  <a:lnTo>
                    <a:pt x="0" y="152079"/>
                  </a:lnTo>
                  <a:cubicBezTo>
                    <a:pt x="0" y="159352"/>
                    <a:pt x="5951" y="165303"/>
                    <a:pt x="13224" y="165303"/>
                  </a:cubicBezTo>
                  <a:lnTo>
                    <a:pt x="145467" y="165303"/>
                  </a:lnTo>
                  <a:cubicBezTo>
                    <a:pt x="152740" y="165303"/>
                    <a:pt x="158691" y="159352"/>
                    <a:pt x="158691" y="152079"/>
                  </a:cubicBezTo>
                  <a:lnTo>
                    <a:pt x="158691" y="120671"/>
                  </a:lnTo>
                  <a:cubicBezTo>
                    <a:pt x="185470" y="119349"/>
                    <a:pt x="206629" y="97198"/>
                    <a:pt x="206629" y="70089"/>
                  </a:cubicBezTo>
                  <a:close/>
                  <a:moveTo>
                    <a:pt x="159022" y="100835"/>
                  </a:moveTo>
                  <a:lnTo>
                    <a:pt x="159022" y="39673"/>
                  </a:lnTo>
                  <a:cubicBezTo>
                    <a:pt x="174891" y="40995"/>
                    <a:pt x="187123" y="54219"/>
                    <a:pt x="187123" y="70089"/>
                  </a:cubicBezTo>
                  <a:cubicBezTo>
                    <a:pt x="187123" y="85958"/>
                    <a:pt x="174560" y="99512"/>
                    <a:pt x="159022" y="100835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3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0A0CDDF6-5EBC-D280-846E-2D6425DE43D6}"/>
              </a:ext>
            </a:extLst>
          </p:cNvPr>
          <p:cNvSpPr txBox="1">
            <a:spLocks/>
          </p:cNvSpPr>
          <p:nvPr/>
        </p:nvSpPr>
        <p:spPr>
          <a:xfrm>
            <a:off x="1553471" y="2116662"/>
            <a:ext cx="5427458" cy="6229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6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coffeeBeansLeft</a:t>
            </a:r>
            <a:r>
              <a:rPr lang="en-US" sz="16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 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... }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9E6283-2769-EDBD-46EA-6965908DAC71}"/>
              </a:ext>
            </a:extLst>
          </p:cNvPr>
          <p:cNvSpPr txBox="1">
            <a:spLocks/>
          </p:cNvSpPr>
          <p:nvPr/>
        </p:nvSpPr>
        <p:spPr>
          <a:xfrm>
            <a:off x="4868015" y="4528655"/>
            <a:ext cx="7510258" cy="159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Protocol: HTTP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Endpoint: /properties/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coffeeBeansLeft</a:t>
            </a:r>
            <a:endParaRPr lang="en-US" sz="2400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Method: GET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Content-Type: application/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</a:t>
            </a:r>
            <a:endParaRPr lang="en-US" sz="2400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eqLabel">
            <a:extLst>
              <a:ext uri="{FF2B5EF4-FFF2-40B4-BE49-F238E27FC236}">
                <a16:creationId xmlns:a16="http://schemas.microsoft.com/office/drawing/2014/main" id="{95DC5442-3417-3E6F-6925-6BF9F3A4C2B7}"/>
              </a:ext>
            </a:extLst>
          </p:cNvPr>
          <p:cNvSpPr txBox="1"/>
          <p:nvPr/>
        </p:nvSpPr>
        <p:spPr>
          <a:xfrm>
            <a:off x="4868014" y="3992424"/>
            <a:ext cx="3145529" cy="46166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square" lIns="91440" tIns="91440" rIns="91440" bIns="91440" rtlCol="0" anchor="ctr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Century Gothic" panose="020B0502020202020204" pitchFamily="34" charset="0"/>
              </a:rPr>
              <a:t>► NETWORK MESSAGE</a:t>
            </a:r>
          </a:p>
        </p:txBody>
      </p:sp>
    </p:spTree>
    <p:extLst>
      <p:ext uri="{BB962C8B-B14F-4D97-AF65-F5344CB8AC3E}">
        <p14:creationId xmlns:p14="http://schemas.microsoft.com/office/powerpoint/2010/main" val="17056248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5750">
        <p159:morph option="byObject"/>
      </p:transition>
    </mc:Choice>
    <mc:Fallback>
      <p:transition spd="slow" advTm="1575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3189F-3C34-8787-EF80-A2EFEEB52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66C3AB-067B-A944-A6B2-4057F980736F}"/>
              </a:ext>
            </a:extLst>
          </p:cNvPr>
          <p:cNvSpPr txBox="1">
            <a:spLocks/>
          </p:cNvSpPr>
          <p:nvPr/>
        </p:nvSpPr>
        <p:spPr>
          <a:xfrm>
            <a:off x="2198977" y="1258411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Forms Structure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1C1A55-4954-643B-8ACA-E361514FF569}"/>
              </a:ext>
            </a:extLst>
          </p:cNvPr>
          <p:cNvGrpSpPr/>
          <p:nvPr/>
        </p:nvGrpSpPr>
        <p:grpSpPr>
          <a:xfrm>
            <a:off x="-2560148" y="2927728"/>
            <a:ext cx="2916766" cy="2827081"/>
            <a:chOff x="8386845" y="932048"/>
            <a:chExt cx="2916766" cy="2827081"/>
          </a:xfrm>
        </p:grpSpPr>
        <p:pic>
          <p:nvPicPr>
            <p:cNvPr id="3" name="Graphic 2" descr="Remote control with solid fill">
              <a:extLst>
                <a:ext uri="{FF2B5EF4-FFF2-40B4-BE49-F238E27FC236}">
                  <a16:creationId xmlns:a16="http://schemas.microsoft.com/office/drawing/2014/main" id="{4323BD9F-EE31-7342-16A8-03F75FB50E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59308" y="1024053"/>
              <a:ext cx="2144303" cy="2144303"/>
            </a:xfrm>
            <a:prstGeom prst="rect">
              <a:avLst/>
            </a:prstGeom>
          </p:spPr>
        </p:pic>
        <p:pic>
          <p:nvPicPr>
            <p:cNvPr id="5" name="Graphic 4" descr="Cmd Terminal with solid fill">
              <a:extLst>
                <a:ext uri="{FF2B5EF4-FFF2-40B4-BE49-F238E27FC236}">
                  <a16:creationId xmlns:a16="http://schemas.microsoft.com/office/drawing/2014/main" id="{E8D6347D-C6DC-0763-DEFB-A43CCE42DE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99253" y="932048"/>
              <a:ext cx="1257866" cy="1257865"/>
            </a:xfrm>
            <a:prstGeom prst="rect">
              <a:avLst/>
            </a:prstGeom>
          </p:spPr>
        </p:pic>
        <p:pic>
          <p:nvPicPr>
            <p:cNvPr id="6" name="Graphic 5" descr="Ui Ux with solid fill">
              <a:extLst>
                <a:ext uri="{FF2B5EF4-FFF2-40B4-BE49-F238E27FC236}">
                  <a16:creationId xmlns:a16="http://schemas.microsoft.com/office/drawing/2014/main" id="{B215A995-AA9B-91DF-88C0-741F56256E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99253" y="2015677"/>
              <a:ext cx="1257866" cy="125786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DBA2023-23B1-E059-466F-6BF36B62A74E}"/>
                </a:ext>
              </a:extLst>
            </p:cNvPr>
            <p:cNvSpPr txBox="1"/>
            <p:nvPr/>
          </p:nvSpPr>
          <p:spPr>
            <a:xfrm>
              <a:off x="8386845" y="3174354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52A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Consumer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DEC14C-FFF8-3FF0-A6F8-7EDF5B1CBFE3}"/>
              </a:ext>
            </a:extLst>
          </p:cNvPr>
          <p:cNvGrpSpPr/>
          <p:nvPr/>
        </p:nvGrpSpPr>
        <p:grpSpPr>
          <a:xfrm>
            <a:off x="13805050" y="2799122"/>
            <a:ext cx="2577778" cy="2955687"/>
            <a:chOff x="8634714" y="642551"/>
            <a:chExt cx="2577778" cy="295568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8D53AA8-8876-099C-9F30-38D5ABB54937}"/>
                </a:ext>
              </a:extLst>
            </p:cNvPr>
            <p:cNvSpPr txBox="1"/>
            <p:nvPr/>
          </p:nvSpPr>
          <p:spPr>
            <a:xfrm>
              <a:off x="8786111" y="3013463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52A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Thing</a:t>
              </a:r>
            </a:p>
          </p:txBody>
        </p:sp>
        <p:pic>
          <p:nvPicPr>
            <p:cNvPr id="11" name="Graphic 10" descr="Thermometer with solid fill">
              <a:extLst>
                <a:ext uri="{FF2B5EF4-FFF2-40B4-BE49-F238E27FC236}">
                  <a16:creationId xmlns:a16="http://schemas.microsoft.com/office/drawing/2014/main" id="{8A9BBD2E-5427-C3D4-73C0-28987426FC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9880948" y="642551"/>
              <a:ext cx="1178665" cy="1178665"/>
            </a:xfrm>
            <a:prstGeom prst="rect">
              <a:avLst/>
            </a:prstGeom>
          </p:spPr>
        </p:pic>
        <p:pic>
          <p:nvPicPr>
            <p:cNvPr id="12" name="Graphic 11" descr="Laptop with solid fill">
              <a:extLst>
                <a:ext uri="{FF2B5EF4-FFF2-40B4-BE49-F238E27FC236}">
                  <a16:creationId xmlns:a16="http://schemas.microsoft.com/office/drawing/2014/main" id="{1F711F26-E4B3-4885-7267-6D2AC21448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8725406" y="656757"/>
              <a:ext cx="1365168" cy="1365167"/>
            </a:xfrm>
            <a:prstGeom prst="rect">
              <a:avLst/>
            </a:prstGeom>
          </p:spPr>
        </p:pic>
        <p:pic>
          <p:nvPicPr>
            <p:cNvPr id="13" name="Graphic 12" descr="Server with solid fill">
              <a:extLst>
                <a:ext uri="{FF2B5EF4-FFF2-40B4-BE49-F238E27FC236}">
                  <a16:creationId xmlns:a16="http://schemas.microsoft.com/office/drawing/2014/main" id="{6AE65456-F9FE-5D8D-7B46-0688E37A9D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8634714" y="1748063"/>
              <a:ext cx="1364588" cy="1364588"/>
            </a:xfrm>
            <a:prstGeom prst="rect">
              <a:avLst/>
            </a:prstGeom>
          </p:spPr>
        </p:pic>
        <p:pic>
          <p:nvPicPr>
            <p:cNvPr id="14" name="Graphic 13" descr="Processor with solid fill">
              <a:extLst>
                <a:ext uri="{FF2B5EF4-FFF2-40B4-BE49-F238E27FC236}">
                  <a16:creationId xmlns:a16="http://schemas.microsoft.com/office/drawing/2014/main" id="{9CBF4B84-3293-1E8A-5410-3F5534B43D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843182" y="1803258"/>
              <a:ext cx="1254198" cy="1254198"/>
            </a:xfrm>
            <a:prstGeom prst="rect">
              <a:avLst/>
            </a:prstGeom>
          </p:spPr>
        </p:pic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9408B68-571A-FEF4-11C5-D92C04F81EDB}"/>
              </a:ext>
            </a:extLst>
          </p:cNvPr>
          <p:cNvSpPr txBox="1">
            <a:spLocks/>
          </p:cNvSpPr>
          <p:nvPr/>
        </p:nvSpPr>
        <p:spPr>
          <a:xfrm>
            <a:off x="4306357" y="3019733"/>
            <a:ext cx="3905223" cy="6229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"forms":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 ... ]</a:t>
            </a:r>
          </a:p>
        </p:txBody>
      </p:sp>
    </p:spTree>
    <p:extLst>
      <p:ext uri="{BB962C8B-B14F-4D97-AF65-F5344CB8AC3E}">
        <p14:creationId xmlns:p14="http://schemas.microsoft.com/office/powerpoint/2010/main" val="65355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2B840-AFFE-2A88-0610-C17152B37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55F21E3-55D8-E4C6-9AE5-25235DB2F20A}"/>
              </a:ext>
            </a:extLst>
          </p:cNvPr>
          <p:cNvSpPr txBox="1">
            <a:spLocks/>
          </p:cNvSpPr>
          <p:nvPr/>
        </p:nvSpPr>
        <p:spPr>
          <a:xfrm>
            <a:off x="2198977" y="1258411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Forms Structure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0241E25-1A35-9E61-5AAD-032F1873562D}"/>
              </a:ext>
            </a:extLst>
          </p:cNvPr>
          <p:cNvSpPr txBox="1">
            <a:spLocks/>
          </p:cNvSpPr>
          <p:nvPr/>
        </p:nvSpPr>
        <p:spPr>
          <a:xfrm>
            <a:off x="4306357" y="3019733"/>
            <a:ext cx="3905223" cy="6229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"forms":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 ... 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3A70F4-5C99-3271-B1D1-AC9DDF4009C1}"/>
              </a:ext>
            </a:extLst>
          </p:cNvPr>
          <p:cNvSpPr/>
          <p:nvPr/>
        </p:nvSpPr>
        <p:spPr>
          <a:xfrm>
            <a:off x="7563397" y="2911033"/>
            <a:ext cx="3634451" cy="57873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174E030-9610-AA54-938D-3E46974CA481}"/>
              </a:ext>
            </a:extLst>
          </p:cNvPr>
          <p:cNvSpPr txBox="1">
            <a:spLocks/>
          </p:cNvSpPr>
          <p:nvPr/>
        </p:nvSpPr>
        <p:spPr>
          <a:xfrm>
            <a:off x="4306356" y="3019732"/>
            <a:ext cx="12533844" cy="31524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       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"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"op":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"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contentType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578801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3.33333E-6 L -0.09583 3.33333E-6 " pathEditMode="relative" rAng="0" ptsTypes="AA">
                                      <p:cBhvr>
                                        <p:cTn id="6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5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5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8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5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599E1-AF57-EACF-89E1-F3CB8594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82AF64-BB1C-DB86-80C1-8A5BB015F2A8}"/>
              </a:ext>
            </a:extLst>
          </p:cNvPr>
          <p:cNvSpPr txBox="1">
            <a:spLocks/>
          </p:cNvSpPr>
          <p:nvPr/>
        </p:nvSpPr>
        <p:spPr>
          <a:xfrm>
            <a:off x="2198977" y="1258411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Forms Structure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32FFC47-3EED-DE01-108C-CEDFC0A456D7}"/>
              </a:ext>
            </a:extLst>
          </p:cNvPr>
          <p:cNvSpPr txBox="1">
            <a:spLocks/>
          </p:cNvSpPr>
          <p:nvPr/>
        </p:nvSpPr>
        <p:spPr>
          <a:xfrm>
            <a:off x="1635307" y="3019733"/>
            <a:ext cx="3905223" cy="6229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"forms":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 ... 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AC851E-74C6-2BE8-EC42-E6132933BB22}"/>
              </a:ext>
            </a:extLst>
          </p:cNvPr>
          <p:cNvSpPr/>
          <p:nvPr/>
        </p:nvSpPr>
        <p:spPr>
          <a:xfrm>
            <a:off x="3723305" y="2911033"/>
            <a:ext cx="3634451" cy="57873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E26B3E1-AC06-8304-F01B-219CD8B20F4E}"/>
              </a:ext>
            </a:extLst>
          </p:cNvPr>
          <p:cNvSpPr txBox="1">
            <a:spLocks/>
          </p:cNvSpPr>
          <p:nvPr/>
        </p:nvSpPr>
        <p:spPr>
          <a:xfrm>
            <a:off x="1635306" y="3019732"/>
            <a:ext cx="12533844" cy="31524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       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"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"op":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"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contentType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54C6D9-CD37-92F7-E42D-EA8C36FBC6DC}"/>
              </a:ext>
            </a:extLst>
          </p:cNvPr>
          <p:cNvGrpSpPr/>
          <p:nvPr/>
        </p:nvGrpSpPr>
        <p:grpSpPr>
          <a:xfrm>
            <a:off x="5650258" y="3774876"/>
            <a:ext cx="4407121" cy="461665"/>
            <a:chOff x="5650258" y="4003476"/>
            <a:chExt cx="4407121" cy="461665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CC244E1B-8811-08C7-038C-390B163373F7}"/>
                </a:ext>
              </a:extLst>
            </p:cNvPr>
            <p:cNvCxnSpPr>
              <a:cxnSpLocks/>
            </p:cNvCxnSpPr>
            <p:nvPr/>
          </p:nvCxnSpPr>
          <p:spPr>
            <a:xfrm>
              <a:off x="5650258" y="4275688"/>
              <a:ext cx="555470" cy="0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7A41D8D-38FD-6132-6E3D-B142D7DF232A}"/>
                </a:ext>
              </a:extLst>
            </p:cNvPr>
            <p:cNvSpPr txBox="1"/>
            <p:nvPr/>
          </p:nvSpPr>
          <p:spPr>
            <a:xfrm>
              <a:off x="6674850" y="4003476"/>
              <a:ext cx="33825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solidFill>
                    <a:schemeClr val="accent1"/>
                  </a:solidFill>
                </a:rPr>
                <a:t>Where &amp; which protocol?</a:t>
              </a:r>
              <a:endParaRPr lang="en-US" sz="24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C8163BD-351E-0C5E-8F81-5DBFBC570114}"/>
              </a:ext>
            </a:extLst>
          </p:cNvPr>
          <p:cNvGrpSpPr/>
          <p:nvPr/>
        </p:nvGrpSpPr>
        <p:grpSpPr>
          <a:xfrm>
            <a:off x="5656354" y="4210634"/>
            <a:ext cx="3388825" cy="461665"/>
            <a:chOff x="5656354" y="4439234"/>
            <a:chExt cx="3388825" cy="461665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8559CFD-AFE0-4D5F-9A4A-C74840AE3E19}"/>
                </a:ext>
              </a:extLst>
            </p:cNvPr>
            <p:cNvCxnSpPr>
              <a:cxnSpLocks/>
            </p:cNvCxnSpPr>
            <p:nvPr/>
          </p:nvCxnSpPr>
          <p:spPr>
            <a:xfrm>
              <a:off x="5656354" y="4703951"/>
              <a:ext cx="555470" cy="0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C98336-D8B1-6294-0E23-D704C48DB2DF}"/>
                </a:ext>
              </a:extLst>
            </p:cNvPr>
            <p:cNvSpPr txBox="1"/>
            <p:nvPr/>
          </p:nvSpPr>
          <p:spPr>
            <a:xfrm>
              <a:off x="6674850" y="4439234"/>
              <a:ext cx="23703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solidFill>
                    <a:schemeClr val="accent1"/>
                  </a:solidFill>
                </a:rPr>
                <a:t>What operation?</a:t>
              </a:r>
              <a:endParaRPr lang="en-US" sz="24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89471E4-4601-F895-8EAB-92ABF09DEC9C}"/>
              </a:ext>
            </a:extLst>
          </p:cNvPr>
          <p:cNvGrpSpPr/>
          <p:nvPr/>
        </p:nvGrpSpPr>
        <p:grpSpPr>
          <a:xfrm>
            <a:off x="5654249" y="4646392"/>
            <a:ext cx="4042197" cy="461665"/>
            <a:chOff x="5654249" y="4874992"/>
            <a:chExt cx="4042197" cy="461665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BBDE1C2-32B8-4584-BA40-0B8D9A430EE9}"/>
                </a:ext>
              </a:extLst>
            </p:cNvPr>
            <p:cNvCxnSpPr>
              <a:cxnSpLocks/>
            </p:cNvCxnSpPr>
            <p:nvPr/>
          </p:nvCxnSpPr>
          <p:spPr>
            <a:xfrm>
              <a:off x="5654249" y="5120639"/>
              <a:ext cx="563671" cy="0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E2C9454-EF12-3A36-5C79-4157CCBA5800}"/>
                </a:ext>
              </a:extLst>
            </p:cNvPr>
            <p:cNvSpPr txBox="1"/>
            <p:nvPr/>
          </p:nvSpPr>
          <p:spPr>
            <a:xfrm>
              <a:off x="6674850" y="4874992"/>
              <a:ext cx="30215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solidFill>
                    <a:schemeClr val="accent1"/>
                  </a:solidFill>
                </a:rPr>
                <a:t>How is data serialized?</a:t>
              </a:r>
              <a:endParaRPr lang="en-US" sz="24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5257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350">
        <p159:morph option="byObject"/>
      </p:transition>
    </mc:Choice>
    <mc:Fallback xmlns="">
      <p:transition spd="slow" advTm="1035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A71C526-45CD-BABE-50D2-1FC6A9FE7612}"/>
              </a:ext>
            </a:extLst>
          </p:cNvPr>
          <p:cNvSpPr txBox="1">
            <a:spLocks/>
          </p:cNvSpPr>
          <p:nvPr/>
        </p:nvSpPr>
        <p:spPr>
          <a:xfrm>
            <a:off x="2198977" y="2103437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WoT</a:t>
            </a:r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 Operations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3E36246-6686-39CB-9D84-C992399D67A6}"/>
              </a:ext>
            </a:extLst>
          </p:cNvPr>
          <p:cNvSpPr txBox="1">
            <a:spLocks/>
          </p:cNvSpPr>
          <p:nvPr/>
        </p:nvSpPr>
        <p:spPr>
          <a:xfrm>
            <a:off x="4011915" y="3856738"/>
            <a:ext cx="1214674" cy="341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"op":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F18D53D-364C-5333-BF30-DF2AFAA8B339}"/>
              </a:ext>
            </a:extLst>
          </p:cNvPr>
          <p:cNvSpPr txBox="1">
            <a:spLocks/>
          </p:cNvSpPr>
          <p:nvPr/>
        </p:nvSpPr>
        <p:spPr>
          <a:xfrm>
            <a:off x="5224844" y="3856738"/>
            <a:ext cx="2955242" cy="341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readproperty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375739193"/>
      </p:ext>
    </p:extLst>
  </p:cSld>
  <p:clrMapOvr>
    <a:masterClrMapping/>
  </p:clrMapOvr>
  <p:transition spd="slow" advTm="95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E2B37-C04B-E40E-1221-EF6876705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0C58D8A-7758-03CA-4CF3-3FC0CF8518E8}"/>
              </a:ext>
            </a:extLst>
          </p:cNvPr>
          <p:cNvSpPr txBox="1">
            <a:spLocks/>
          </p:cNvSpPr>
          <p:nvPr/>
        </p:nvSpPr>
        <p:spPr>
          <a:xfrm>
            <a:off x="2198977" y="2103437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WoT</a:t>
            </a:r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 Operations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F59743-F74B-DFD0-F674-05B09D83294D}"/>
              </a:ext>
            </a:extLst>
          </p:cNvPr>
          <p:cNvSpPr txBox="1">
            <a:spLocks/>
          </p:cNvSpPr>
          <p:nvPr/>
        </p:nvSpPr>
        <p:spPr>
          <a:xfrm>
            <a:off x="4011915" y="3856738"/>
            <a:ext cx="1214674" cy="341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"op":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753470D-E7A0-ABD1-FBB2-D7D6432577CA}"/>
              </a:ext>
            </a:extLst>
          </p:cNvPr>
          <p:cNvSpPr txBox="1">
            <a:spLocks/>
          </p:cNvSpPr>
          <p:nvPr/>
        </p:nvSpPr>
        <p:spPr>
          <a:xfrm>
            <a:off x="5224844" y="3856738"/>
            <a:ext cx="3173198" cy="341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readproperty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109F9D-5CD1-D3D4-B1B9-575C09757C59}"/>
              </a:ext>
            </a:extLst>
          </p:cNvPr>
          <p:cNvSpPr txBox="1">
            <a:spLocks/>
          </p:cNvSpPr>
          <p:nvPr/>
        </p:nvSpPr>
        <p:spPr>
          <a:xfrm>
            <a:off x="5224844" y="4350227"/>
            <a:ext cx="2955242" cy="341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writeproperty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638582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500">
        <p159:morph option="byObject"/>
      </p:transition>
    </mc:Choice>
    <mc:Fallback xmlns="">
      <p:transition spd="slow" advTm="5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593C7-23C3-CC7F-90D8-D4E31CB30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0812CBE-09D0-FBF9-8232-6C44C909D4C1}"/>
              </a:ext>
            </a:extLst>
          </p:cNvPr>
          <p:cNvSpPr txBox="1">
            <a:spLocks/>
          </p:cNvSpPr>
          <p:nvPr/>
        </p:nvSpPr>
        <p:spPr>
          <a:xfrm>
            <a:off x="2198977" y="2103437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WoT</a:t>
            </a:r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 Operations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4D3E03E-5EF3-B2ED-D8C8-E8B4C52B6516}"/>
              </a:ext>
            </a:extLst>
          </p:cNvPr>
          <p:cNvSpPr txBox="1">
            <a:spLocks/>
          </p:cNvSpPr>
          <p:nvPr/>
        </p:nvSpPr>
        <p:spPr>
          <a:xfrm>
            <a:off x="4011915" y="3856738"/>
            <a:ext cx="1214674" cy="341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"op":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65995B-48E1-A801-F833-F99319045FFB}"/>
              </a:ext>
            </a:extLst>
          </p:cNvPr>
          <p:cNvSpPr txBox="1">
            <a:spLocks/>
          </p:cNvSpPr>
          <p:nvPr/>
        </p:nvSpPr>
        <p:spPr>
          <a:xfrm>
            <a:off x="5224844" y="3856738"/>
            <a:ext cx="3173198" cy="341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writeproperty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D1509C1-FF28-E94D-0117-81206F2B569A}"/>
              </a:ext>
            </a:extLst>
          </p:cNvPr>
          <p:cNvSpPr txBox="1">
            <a:spLocks/>
          </p:cNvSpPr>
          <p:nvPr/>
        </p:nvSpPr>
        <p:spPr>
          <a:xfrm>
            <a:off x="5224844" y="3429000"/>
            <a:ext cx="2955242" cy="341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readproperty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3E5049-3DF2-43DF-46F9-2A099887723C}"/>
              </a:ext>
            </a:extLst>
          </p:cNvPr>
          <p:cNvSpPr txBox="1">
            <a:spLocks/>
          </p:cNvSpPr>
          <p:nvPr/>
        </p:nvSpPr>
        <p:spPr>
          <a:xfrm>
            <a:off x="5224844" y="4350227"/>
            <a:ext cx="2955242" cy="341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invokeaction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220136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500">
        <p159:morph option="byObject"/>
      </p:transition>
    </mc:Choice>
    <mc:Fallback xmlns="">
      <p:transition spd="slow" advTm="5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4E7DA-0594-E853-35B7-EDD250561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F1EB4A6-0178-75F6-A730-B488F1F5A6B8}"/>
              </a:ext>
            </a:extLst>
          </p:cNvPr>
          <p:cNvSpPr txBox="1">
            <a:spLocks/>
          </p:cNvSpPr>
          <p:nvPr/>
        </p:nvSpPr>
        <p:spPr>
          <a:xfrm>
            <a:off x="2198977" y="2103437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WoT</a:t>
            </a:r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 Operations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141A05D-19D4-942A-A4DD-D4DA1C85FF07}"/>
              </a:ext>
            </a:extLst>
          </p:cNvPr>
          <p:cNvSpPr txBox="1">
            <a:spLocks/>
          </p:cNvSpPr>
          <p:nvPr/>
        </p:nvSpPr>
        <p:spPr>
          <a:xfrm>
            <a:off x="4011915" y="3856738"/>
            <a:ext cx="1214674" cy="341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"op":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4D6C1D-05E2-4D2A-CDC1-A78550C942CA}"/>
              </a:ext>
            </a:extLst>
          </p:cNvPr>
          <p:cNvSpPr txBox="1">
            <a:spLocks/>
          </p:cNvSpPr>
          <p:nvPr/>
        </p:nvSpPr>
        <p:spPr>
          <a:xfrm>
            <a:off x="5224844" y="3856738"/>
            <a:ext cx="3173198" cy="341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invokeaction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C6F2D0C-528B-7E07-29D4-995407DA0E16}"/>
              </a:ext>
            </a:extLst>
          </p:cNvPr>
          <p:cNvSpPr txBox="1">
            <a:spLocks/>
          </p:cNvSpPr>
          <p:nvPr/>
        </p:nvSpPr>
        <p:spPr>
          <a:xfrm>
            <a:off x="5224844" y="3429000"/>
            <a:ext cx="2955242" cy="341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writeproperty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C236C8-BABA-8BE5-7182-4B4D46BD46C8}"/>
              </a:ext>
            </a:extLst>
          </p:cNvPr>
          <p:cNvSpPr txBox="1">
            <a:spLocks/>
          </p:cNvSpPr>
          <p:nvPr/>
        </p:nvSpPr>
        <p:spPr>
          <a:xfrm>
            <a:off x="5224844" y="4350227"/>
            <a:ext cx="2955242" cy="341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subscribeevent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7A9AE7A-F116-25A5-D0F2-2120FB32205E}"/>
              </a:ext>
            </a:extLst>
          </p:cNvPr>
          <p:cNvSpPr txBox="1">
            <a:spLocks/>
          </p:cNvSpPr>
          <p:nvPr/>
        </p:nvSpPr>
        <p:spPr>
          <a:xfrm>
            <a:off x="5224844" y="3069845"/>
            <a:ext cx="2955242" cy="341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readproperty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585720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500">
        <p159:morph option="byObject"/>
      </p:transition>
    </mc:Choice>
    <mc:Fallback xmlns="">
      <p:transition spd="slow" advTm="5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F20B3-D2E7-7133-1366-136D3B8AC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AAA75F0-ED62-3DA8-9B5C-C53ACBD7E473}"/>
              </a:ext>
            </a:extLst>
          </p:cNvPr>
          <p:cNvSpPr txBox="1">
            <a:spLocks/>
          </p:cNvSpPr>
          <p:nvPr/>
        </p:nvSpPr>
        <p:spPr>
          <a:xfrm>
            <a:off x="2198977" y="2103437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WoT</a:t>
            </a:r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 Operations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FE49C1D-BB7F-73F8-53B0-68B39E32527A}"/>
              </a:ext>
            </a:extLst>
          </p:cNvPr>
          <p:cNvSpPr txBox="1">
            <a:spLocks/>
          </p:cNvSpPr>
          <p:nvPr/>
        </p:nvSpPr>
        <p:spPr>
          <a:xfrm>
            <a:off x="4011915" y="3856738"/>
            <a:ext cx="1214674" cy="341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"op":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859ECE4-04A8-2255-47B9-0781E7528A00}"/>
              </a:ext>
            </a:extLst>
          </p:cNvPr>
          <p:cNvSpPr txBox="1">
            <a:spLocks/>
          </p:cNvSpPr>
          <p:nvPr/>
        </p:nvSpPr>
        <p:spPr>
          <a:xfrm>
            <a:off x="5224843" y="3856738"/>
            <a:ext cx="3333619" cy="341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subscribeevent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4DBAFC-96A4-4C9D-F668-AA8AC4BD9066}"/>
              </a:ext>
            </a:extLst>
          </p:cNvPr>
          <p:cNvSpPr txBox="1">
            <a:spLocks/>
          </p:cNvSpPr>
          <p:nvPr/>
        </p:nvSpPr>
        <p:spPr>
          <a:xfrm>
            <a:off x="5224844" y="3429000"/>
            <a:ext cx="2955242" cy="341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invokeaction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4A53A4-9B64-0570-FE08-75C689CED56D}"/>
              </a:ext>
            </a:extLst>
          </p:cNvPr>
          <p:cNvSpPr txBox="1">
            <a:spLocks/>
          </p:cNvSpPr>
          <p:nvPr/>
        </p:nvSpPr>
        <p:spPr>
          <a:xfrm>
            <a:off x="5224844" y="3069845"/>
            <a:ext cx="2955242" cy="341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70000"/>
              </a:lnSpc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readproperty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5D5A3-45C5-4A50-1625-1547A0ADF66E}"/>
              </a:ext>
            </a:extLst>
          </p:cNvPr>
          <p:cNvSpPr txBox="1">
            <a:spLocks/>
          </p:cNvSpPr>
          <p:nvPr/>
        </p:nvSpPr>
        <p:spPr>
          <a:xfrm>
            <a:off x="5224844" y="3011712"/>
            <a:ext cx="2955242" cy="341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writeproperty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582007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9000">
        <p159:morph option="byObject"/>
      </p:transition>
    </mc:Choice>
    <mc:Fallback xmlns="">
      <p:transition spd="slow" advTm="9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D035B-B614-DBB0-CE5C-5FBE8CB2B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548D1B0-99F6-50C6-C11E-E04C6C212E07}"/>
              </a:ext>
            </a:extLst>
          </p:cNvPr>
          <p:cNvSpPr txBox="1">
            <a:spLocks/>
          </p:cNvSpPr>
          <p:nvPr/>
        </p:nvSpPr>
        <p:spPr>
          <a:xfrm>
            <a:off x="2198977" y="2103437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WoT</a:t>
            </a:r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 Operations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09CEF4F-4ED6-6370-F9CD-25FC0289B319}"/>
              </a:ext>
            </a:extLst>
          </p:cNvPr>
          <p:cNvSpPr txBox="1">
            <a:spLocks/>
          </p:cNvSpPr>
          <p:nvPr/>
        </p:nvSpPr>
        <p:spPr>
          <a:xfrm>
            <a:off x="2619408" y="3872780"/>
            <a:ext cx="6953183" cy="341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"op" field is omitted,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defaults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are inferred.</a:t>
            </a:r>
          </a:p>
        </p:txBody>
      </p:sp>
    </p:spTree>
    <p:extLst>
      <p:ext uri="{BB962C8B-B14F-4D97-AF65-F5344CB8AC3E}">
        <p14:creationId xmlns:p14="http://schemas.microsoft.com/office/powerpoint/2010/main" val="1246832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9C9D6-6995-75F0-E879-A3A2A54F1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1A4DF20-F1BD-862D-6EEC-3238E632F145}"/>
              </a:ext>
            </a:extLst>
          </p:cNvPr>
          <p:cNvSpPr txBox="1">
            <a:spLocks/>
          </p:cNvSpPr>
          <p:nvPr/>
        </p:nvSpPr>
        <p:spPr>
          <a:xfrm>
            <a:off x="2198977" y="639240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WoT</a:t>
            </a:r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 Operations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D14406B-D6E8-C245-5788-C3F5D8B8AE8A}"/>
              </a:ext>
            </a:extLst>
          </p:cNvPr>
          <p:cNvSpPr txBox="1">
            <a:spLocks/>
          </p:cNvSpPr>
          <p:nvPr/>
        </p:nvSpPr>
        <p:spPr>
          <a:xfrm>
            <a:off x="2619408" y="2149503"/>
            <a:ext cx="6953183" cy="341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"op" field is omitted,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defaults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are inferred.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43A1054-77F7-E22B-EA38-A55774724A27}"/>
              </a:ext>
            </a:extLst>
          </p:cNvPr>
          <p:cNvSpPr txBox="1">
            <a:spLocks/>
          </p:cNvSpPr>
          <p:nvPr/>
        </p:nvSpPr>
        <p:spPr>
          <a:xfrm>
            <a:off x="4393747" y="3429000"/>
            <a:ext cx="3905223" cy="6229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"forms":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6E451E8-231C-05B8-7DCE-738CAB987A58}"/>
              </a:ext>
            </a:extLst>
          </p:cNvPr>
          <p:cNvSpPr txBox="1">
            <a:spLocks/>
          </p:cNvSpPr>
          <p:nvPr/>
        </p:nvSpPr>
        <p:spPr>
          <a:xfrm>
            <a:off x="4393746" y="3428999"/>
            <a:ext cx="12533844" cy="31524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       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"..."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BC0DFA7-AAC7-A6DF-5998-968B37E6C736}"/>
              </a:ext>
            </a:extLst>
          </p:cNvPr>
          <p:cNvSpPr txBox="1">
            <a:spLocks/>
          </p:cNvSpPr>
          <p:nvPr/>
        </p:nvSpPr>
        <p:spPr>
          <a:xfrm>
            <a:off x="4393746" y="3428998"/>
            <a:ext cx="12533844" cy="31524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endParaRPr lang="en-US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None/>
            </a:pPr>
            <a:endParaRPr lang="en-US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None/>
            </a:pPr>
            <a:endParaRPr lang="en-US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586398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200">
        <p159:morph option="byObject"/>
      </p:transition>
    </mc:Choice>
    <mc:Fallback xmlns="">
      <p:transition spd="slow" advTm="12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uiExpand="1" build="p"/>
      <p:bldP spid="11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7DEF-3CF2-B95C-2DFD-840C14FE4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E28AF5-BF56-CF0E-9B65-A3B29125DC94}"/>
              </a:ext>
            </a:extLst>
          </p:cNvPr>
          <p:cNvSpPr txBox="1">
            <a:spLocks/>
          </p:cNvSpPr>
          <p:nvPr/>
        </p:nvSpPr>
        <p:spPr>
          <a:xfrm>
            <a:off x="2198977" y="639240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WoT</a:t>
            </a:r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 Operations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E54F9FD-B098-987C-7CEF-12D2AD8A81F2}"/>
              </a:ext>
            </a:extLst>
          </p:cNvPr>
          <p:cNvSpPr txBox="1">
            <a:spLocks/>
          </p:cNvSpPr>
          <p:nvPr/>
        </p:nvSpPr>
        <p:spPr>
          <a:xfrm>
            <a:off x="2619408" y="2149503"/>
            <a:ext cx="6953183" cy="341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"op" field is omitted,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defaults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are inferred.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B60E26-4C6D-D0F3-7847-DA3AA0C9CC61}"/>
              </a:ext>
            </a:extLst>
          </p:cNvPr>
          <p:cNvSpPr txBox="1">
            <a:spLocks/>
          </p:cNvSpPr>
          <p:nvPr/>
        </p:nvSpPr>
        <p:spPr>
          <a:xfrm>
            <a:off x="4393747" y="3429000"/>
            <a:ext cx="3905223" cy="6229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"forms":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C81A3C8-9BB2-B272-BBCB-183618F27C11}"/>
              </a:ext>
            </a:extLst>
          </p:cNvPr>
          <p:cNvSpPr txBox="1">
            <a:spLocks/>
          </p:cNvSpPr>
          <p:nvPr/>
        </p:nvSpPr>
        <p:spPr>
          <a:xfrm>
            <a:off x="4393746" y="3428999"/>
            <a:ext cx="12533844" cy="31524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       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"..."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B85414-6A39-E2C0-AD3D-8B0BD070D045}"/>
              </a:ext>
            </a:extLst>
          </p:cNvPr>
          <p:cNvSpPr txBox="1">
            <a:spLocks/>
          </p:cNvSpPr>
          <p:nvPr/>
        </p:nvSpPr>
        <p:spPr>
          <a:xfrm>
            <a:off x="4393746" y="3954787"/>
            <a:ext cx="12533844" cy="31524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endParaRPr lang="en-US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None/>
            </a:pPr>
            <a:endParaRPr lang="en-US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None/>
            </a:pPr>
            <a:endParaRPr lang="en-US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BE0D8-A69E-4D3D-0926-4E204534E0C5}"/>
              </a:ext>
            </a:extLst>
          </p:cNvPr>
          <p:cNvSpPr txBox="1"/>
          <p:nvPr/>
        </p:nvSpPr>
        <p:spPr>
          <a:xfrm>
            <a:off x="5168965" y="4663663"/>
            <a:ext cx="84610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"op": "</a:t>
            </a:r>
            <a:r>
              <a:rPr lang="en-US" sz="2800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readproperty</a:t>
            </a:r>
            <a:r>
              <a:rPr lang="en-US" sz="28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  <a:endParaRPr lang="en-US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010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900">
        <p159:morph option="byObject"/>
      </p:transition>
    </mc:Choice>
    <mc:Fallback xmlns="">
      <p:transition spd="slow" advTm="19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46D2E-F34B-FCF7-2F13-E7E6956B9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A1CF57E-CB18-529A-FF58-6AB3DEF5CB2B}"/>
              </a:ext>
            </a:extLst>
          </p:cNvPr>
          <p:cNvSpPr txBox="1">
            <a:spLocks/>
          </p:cNvSpPr>
          <p:nvPr/>
        </p:nvSpPr>
        <p:spPr>
          <a:xfrm>
            <a:off x="2198977" y="444008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Protocol and URI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AB24AB6-F8D0-8A3A-52CD-AEEFE1B80821}"/>
              </a:ext>
            </a:extLst>
          </p:cNvPr>
          <p:cNvGrpSpPr/>
          <p:nvPr/>
        </p:nvGrpSpPr>
        <p:grpSpPr>
          <a:xfrm>
            <a:off x="2369188" y="2935926"/>
            <a:ext cx="2916766" cy="2827081"/>
            <a:chOff x="8386845" y="932048"/>
            <a:chExt cx="2916766" cy="2827081"/>
          </a:xfrm>
        </p:grpSpPr>
        <p:pic>
          <p:nvPicPr>
            <p:cNvPr id="3" name="Graphic 2" descr="Remote control with solid fill">
              <a:extLst>
                <a:ext uri="{FF2B5EF4-FFF2-40B4-BE49-F238E27FC236}">
                  <a16:creationId xmlns:a16="http://schemas.microsoft.com/office/drawing/2014/main" id="{12A82BBF-AF57-5BD3-5E64-286BF23901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59308" y="1024053"/>
              <a:ext cx="2144303" cy="2144303"/>
            </a:xfrm>
            <a:prstGeom prst="rect">
              <a:avLst/>
            </a:prstGeom>
          </p:spPr>
        </p:pic>
        <p:pic>
          <p:nvPicPr>
            <p:cNvPr id="6" name="Graphic 5" descr="Cmd Terminal with solid fill">
              <a:extLst>
                <a:ext uri="{FF2B5EF4-FFF2-40B4-BE49-F238E27FC236}">
                  <a16:creationId xmlns:a16="http://schemas.microsoft.com/office/drawing/2014/main" id="{40CE7B4F-13D2-E5F3-61EB-BE0B2AF2D1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99253" y="932048"/>
              <a:ext cx="1257866" cy="1257865"/>
            </a:xfrm>
            <a:prstGeom prst="rect">
              <a:avLst/>
            </a:prstGeom>
          </p:spPr>
        </p:pic>
        <p:pic>
          <p:nvPicPr>
            <p:cNvPr id="7" name="Graphic 6" descr="Ui Ux with solid fill">
              <a:extLst>
                <a:ext uri="{FF2B5EF4-FFF2-40B4-BE49-F238E27FC236}">
                  <a16:creationId xmlns:a16="http://schemas.microsoft.com/office/drawing/2014/main" id="{9806ADF6-D617-506B-ABFE-40A4CC3DE9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99253" y="2015677"/>
              <a:ext cx="1257866" cy="125786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BA25262-CF5D-EB77-4801-E41656FA247E}"/>
                </a:ext>
              </a:extLst>
            </p:cNvPr>
            <p:cNvSpPr txBox="1"/>
            <p:nvPr/>
          </p:nvSpPr>
          <p:spPr>
            <a:xfrm>
              <a:off x="8386845" y="3174354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52A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Consumer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07DE14E-DB34-486D-3E7D-9D3184FDF19D}"/>
              </a:ext>
            </a:extLst>
          </p:cNvPr>
          <p:cNvGrpSpPr/>
          <p:nvPr/>
        </p:nvGrpSpPr>
        <p:grpSpPr>
          <a:xfrm>
            <a:off x="7272872" y="2859930"/>
            <a:ext cx="2577778" cy="2955687"/>
            <a:chOff x="8634714" y="642551"/>
            <a:chExt cx="2577778" cy="295568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9E252B1-C5CB-ED5E-038A-24CE20448081}"/>
                </a:ext>
              </a:extLst>
            </p:cNvPr>
            <p:cNvSpPr txBox="1"/>
            <p:nvPr/>
          </p:nvSpPr>
          <p:spPr>
            <a:xfrm>
              <a:off x="8786111" y="3013463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52A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Thing</a:t>
              </a:r>
            </a:p>
          </p:txBody>
        </p:sp>
        <p:pic>
          <p:nvPicPr>
            <p:cNvPr id="11" name="Graphic 10" descr="Thermometer with solid fill">
              <a:extLst>
                <a:ext uri="{FF2B5EF4-FFF2-40B4-BE49-F238E27FC236}">
                  <a16:creationId xmlns:a16="http://schemas.microsoft.com/office/drawing/2014/main" id="{AABEE405-B2E6-C739-DCD0-78688A9B4B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9880948" y="642551"/>
              <a:ext cx="1178665" cy="1178665"/>
            </a:xfrm>
            <a:prstGeom prst="rect">
              <a:avLst/>
            </a:prstGeom>
          </p:spPr>
        </p:pic>
        <p:pic>
          <p:nvPicPr>
            <p:cNvPr id="12" name="Graphic 11" descr="Laptop with solid fill">
              <a:extLst>
                <a:ext uri="{FF2B5EF4-FFF2-40B4-BE49-F238E27FC236}">
                  <a16:creationId xmlns:a16="http://schemas.microsoft.com/office/drawing/2014/main" id="{C4689BE4-4F5E-B4D4-6E6B-B94CE1D1E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8725406" y="656757"/>
              <a:ext cx="1365168" cy="1365167"/>
            </a:xfrm>
            <a:prstGeom prst="rect">
              <a:avLst/>
            </a:prstGeom>
          </p:spPr>
        </p:pic>
        <p:pic>
          <p:nvPicPr>
            <p:cNvPr id="13" name="Graphic 12" descr="Server with solid fill">
              <a:extLst>
                <a:ext uri="{FF2B5EF4-FFF2-40B4-BE49-F238E27FC236}">
                  <a16:creationId xmlns:a16="http://schemas.microsoft.com/office/drawing/2014/main" id="{C8516151-87D1-B92E-D678-88AF5E2EEE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8634714" y="1748063"/>
              <a:ext cx="1364588" cy="1364588"/>
            </a:xfrm>
            <a:prstGeom prst="rect">
              <a:avLst/>
            </a:prstGeom>
          </p:spPr>
        </p:pic>
        <p:pic>
          <p:nvPicPr>
            <p:cNvPr id="14" name="Graphic 13" descr="Processor with solid fill">
              <a:extLst>
                <a:ext uri="{FF2B5EF4-FFF2-40B4-BE49-F238E27FC236}">
                  <a16:creationId xmlns:a16="http://schemas.microsoft.com/office/drawing/2014/main" id="{0D86F57B-F2DF-F968-AEBE-69C4E2C08B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843182" y="1803258"/>
              <a:ext cx="1254198" cy="1254198"/>
            </a:xfrm>
            <a:prstGeom prst="rect">
              <a:avLst/>
            </a:prstGeom>
          </p:spPr>
        </p:pic>
      </p:grp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ABDC037-48E1-11A6-0208-8B5576ECDE0E}"/>
              </a:ext>
            </a:extLst>
          </p:cNvPr>
          <p:cNvSpPr txBox="1">
            <a:spLocks/>
          </p:cNvSpPr>
          <p:nvPr/>
        </p:nvSpPr>
        <p:spPr>
          <a:xfrm>
            <a:off x="4668922" y="1941994"/>
            <a:ext cx="2854156" cy="585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 "https://..."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"op": "</a:t>
            </a:r>
            <a:r>
              <a:rPr lang="en-US" sz="18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readproperty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725357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900">
        <p159:morph option="byObject"/>
      </p:transition>
    </mc:Choice>
    <mc:Fallback xmlns="">
      <p:transition spd="slow" advTm="49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17B6F-4434-595B-B94C-632FFC4E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C9B4A68-CA24-B490-4EF6-C174AC400634}"/>
              </a:ext>
            </a:extLst>
          </p:cNvPr>
          <p:cNvSpPr txBox="1">
            <a:spLocks/>
          </p:cNvSpPr>
          <p:nvPr/>
        </p:nvSpPr>
        <p:spPr>
          <a:xfrm>
            <a:off x="2198977" y="444008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Protocol and URI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24D9359-6861-A627-5753-DF953266F768}"/>
              </a:ext>
            </a:extLst>
          </p:cNvPr>
          <p:cNvGrpSpPr/>
          <p:nvPr/>
        </p:nvGrpSpPr>
        <p:grpSpPr>
          <a:xfrm>
            <a:off x="2369188" y="2935926"/>
            <a:ext cx="2916766" cy="2827081"/>
            <a:chOff x="8386845" y="932048"/>
            <a:chExt cx="2916766" cy="2827081"/>
          </a:xfrm>
        </p:grpSpPr>
        <p:pic>
          <p:nvPicPr>
            <p:cNvPr id="3" name="Graphic 2" descr="Remote control with solid fill">
              <a:extLst>
                <a:ext uri="{FF2B5EF4-FFF2-40B4-BE49-F238E27FC236}">
                  <a16:creationId xmlns:a16="http://schemas.microsoft.com/office/drawing/2014/main" id="{A4A5BB77-0D69-5ED4-CC43-4483693A46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59308" y="1024053"/>
              <a:ext cx="2144303" cy="2144303"/>
            </a:xfrm>
            <a:prstGeom prst="rect">
              <a:avLst/>
            </a:prstGeom>
          </p:spPr>
        </p:pic>
        <p:pic>
          <p:nvPicPr>
            <p:cNvPr id="6" name="Graphic 5" descr="Cmd Terminal with solid fill">
              <a:extLst>
                <a:ext uri="{FF2B5EF4-FFF2-40B4-BE49-F238E27FC236}">
                  <a16:creationId xmlns:a16="http://schemas.microsoft.com/office/drawing/2014/main" id="{D7B771BF-79C6-3292-C1A2-65FDD33039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99253" y="932048"/>
              <a:ext cx="1257866" cy="1257865"/>
            </a:xfrm>
            <a:prstGeom prst="rect">
              <a:avLst/>
            </a:prstGeom>
          </p:spPr>
        </p:pic>
        <p:pic>
          <p:nvPicPr>
            <p:cNvPr id="7" name="Graphic 6" descr="Ui Ux with solid fill">
              <a:extLst>
                <a:ext uri="{FF2B5EF4-FFF2-40B4-BE49-F238E27FC236}">
                  <a16:creationId xmlns:a16="http://schemas.microsoft.com/office/drawing/2014/main" id="{38367608-0946-34E4-D546-A3C461E076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99253" y="2015677"/>
              <a:ext cx="1257866" cy="125786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2285764-AE7D-3C45-13CE-FDDCAABDF01B}"/>
                </a:ext>
              </a:extLst>
            </p:cNvPr>
            <p:cNvSpPr txBox="1"/>
            <p:nvPr/>
          </p:nvSpPr>
          <p:spPr>
            <a:xfrm>
              <a:off x="8386845" y="3174354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7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Consumer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055CDF5-6E3D-3545-851C-1F9865B4330C}"/>
              </a:ext>
            </a:extLst>
          </p:cNvPr>
          <p:cNvGrpSpPr/>
          <p:nvPr/>
        </p:nvGrpSpPr>
        <p:grpSpPr>
          <a:xfrm>
            <a:off x="7272872" y="2859930"/>
            <a:ext cx="2577778" cy="2955687"/>
            <a:chOff x="8634714" y="642551"/>
            <a:chExt cx="2577778" cy="295568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A1D79A1-8A77-F7C9-09E8-3873557303BC}"/>
                </a:ext>
              </a:extLst>
            </p:cNvPr>
            <p:cNvSpPr txBox="1"/>
            <p:nvPr/>
          </p:nvSpPr>
          <p:spPr>
            <a:xfrm>
              <a:off x="8786111" y="3013463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7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Thing</a:t>
              </a:r>
            </a:p>
          </p:txBody>
        </p:sp>
        <p:pic>
          <p:nvPicPr>
            <p:cNvPr id="11" name="Graphic 10" descr="Thermometer with solid fill">
              <a:extLst>
                <a:ext uri="{FF2B5EF4-FFF2-40B4-BE49-F238E27FC236}">
                  <a16:creationId xmlns:a16="http://schemas.microsoft.com/office/drawing/2014/main" id="{CF37D550-89B8-45F5-AC68-CCF504542B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9880948" y="642551"/>
              <a:ext cx="1178665" cy="1178665"/>
            </a:xfrm>
            <a:prstGeom prst="rect">
              <a:avLst/>
            </a:prstGeom>
          </p:spPr>
        </p:pic>
        <p:pic>
          <p:nvPicPr>
            <p:cNvPr id="12" name="Graphic 11" descr="Laptop with solid fill">
              <a:extLst>
                <a:ext uri="{FF2B5EF4-FFF2-40B4-BE49-F238E27FC236}">
                  <a16:creationId xmlns:a16="http://schemas.microsoft.com/office/drawing/2014/main" id="{C904B1A2-4F37-4E39-5F4A-48C3AD43BF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8725406" y="656757"/>
              <a:ext cx="1365168" cy="1365167"/>
            </a:xfrm>
            <a:prstGeom prst="rect">
              <a:avLst/>
            </a:prstGeom>
          </p:spPr>
        </p:pic>
        <p:pic>
          <p:nvPicPr>
            <p:cNvPr id="13" name="Graphic 12" descr="Server with solid fill">
              <a:extLst>
                <a:ext uri="{FF2B5EF4-FFF2-40B4-BE49-F238E27FC236}">
                  <a16:creationId xmlns:a16="http://schemas.microsoft.com/office/drawing/2014/main" id="{3A9726FF-40EC-E836-74C1-C660374F0F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8634714" y="1748063"/>
              <a:ext cx="1364588" cy="1364588"/>
            </a:xfrm>
            <a:prstGeom prst="rect">
              <a:avLst/>
            </a:prstGeom>
          </p:spPr>
        </p:pic>
        <p:pic>
          <p:nvPicPr>
            <p:cNvPr id="14" name="Graphic 13" descr="Processor with solid fill">
              <a:extLst>
                <a:ext uri="{FF2B5EF4-FFF2-40B4-BE49-F238E27FC236}">
                  <a16:creationId xmlns:a16="http://schemas.microsoft.com/office/drawing/2014/main" id="{82A84412-FF64-95A4-0120-F0A3AF4135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843182" y="1803258"/>
              <a:ext cx="1254198" cy="1254198"/>
            </a:xfrm>
            <a:prstGeom prst="rect">
              <a:avLst/>
            </a:prstGeom>
          </p:spPr>
        </p:pic>
      </p:grp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221D845-EBD9-9BA5-5255-DE1CA8B15771}"/>
              </a:ext>
            </a:extLst>
          </p:cNvPr>
          <p:cNvSpPr txBox="1">
            <a:spLocks/>
          </p:cNvSpPr>
          <p:nvPr/>
        </p:nvSpPr>
        <p:spPr>
          <a:xfrm>
            <a:off x="4668922" y="1941994"/>
            <a:ext cx="2854156" cy="585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 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"https://..."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"op": "</a:t>
            </a:r>
            <a:r>
              <a:rPr lang="en-US" sz="18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readproperty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371EE54-FA07-32AC-9FF3-D3D27E0BA407}"/>
              </a:ext>
            </a:extLst>
          </p:cNvPr>
          <p:cNvCxnSpPr/>
          <p:nvPr/>
        </p:nvCxnSpPr>
        <p:spPr>
          <a:xfrm>
            <a:off x="5349240" y="4138182"/>
            <a:ext cx="14935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A6673D0-1EF2-5606-56E5-8E35FFFFB794}"/>
              </a:ext>
            </a:extLst>
          </p:cNvPr>
          <p:cNvSpPr txBox="1"/>
          <p:nvPr/>
        </p:nvSpPr>
        <p:spPr>
          <a:xfrm>
            <a:off x="5432913" y="4193791"/>
            <a:ext cx="67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HTTP</a:t>
            </a:r>
            <a:endParaRPr lang="en-DE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024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58F99-1D1C-FE61-76CA-93CD87ACB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CAC8407-BA2C-3991-8C86-436ED1A1030B}"/>
              </a:ext>
            </a:extLst>
          </p:cNvPr>
          <p:cNvSpPr txBox="1">
            <a:spLocks/>
          </p:cNvSpPr>
          <p:nvPr/>
        </p:nvSpPr>
        <p:spPr>
          <a:xfrm>
            <a:off x="2198977" y="444008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Protocol and URI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9317D14-BD94-67AC-43DD-FD8501EFD94F}"/>
              </a:ext>
            </a:extLst>
          </p:cNvPr>
          <p:cNvGrpSpPr/>
          <p:nvPr/>
        </p:nvGrpSpPr>
        <p:grpSpPr>
          <a:xfrm>
            <a:off x="2369188" y="2935926"/>
            <a:ext cx="2916766" cy="2827081"/>
            <a:chOff x="8386845" y="932048"/>
            <a:chExt cx="2916766" cy="2827081"/>
          </a:xfrm>
        </p:grpSpPr>
        <p:pic>
          <p:nvPicPr>
            <p:cNvPr id="3" name="Graphic 2" descr="Remote control with solid fill">
              <a:extLst>
                <a:ext uri="{FF2B5EF4-FFF2-40B4-BE49-F238E27FC236}">
                  <a16:creationId xmlns:a16="http://schemas.microsoft.com/office/drawing/2014/main" id="{4C699499-841D-662B-0EA0-13BC611D57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59308" y="1024053"/>
              <a:ext cx="2144303" cy="2144303"/>
            </a:xfrm>
            <a:prstGeom prst="rect">
              <a:avLst/>
            </a:prstGeom>
          </p:spPr>
        </p:pic>
        <p:pic>
          <p:nvPicPr>
            <p:cNvPr id="6" name="Graphic 5" descr="Cmd Terminal with solid fill">
              <a:extLst>
                <a:ext uri="{FF2B5EF4-FFF2-40B4-BE49-F238E27FC236}">
                  <a16:creationId xmlns:a16="http://schemas.microsoft.com/office/drawing/2014/main" id="{79004ABE-47A3-C8DF-C642-9C7331A7C9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99253" y="932048"/>
              <a:ext cx="1257866" cy="1257865"/>
            </a:xfrm>
            <a:prstGeom prst="rect">
              <a:avLst/>
            </a:prstGeom>
          </p:spPr>
        </p:pic>
        <p:pic>
          <p:nvPicPr>
            <p:cNvPr id="7" name="Graphic 6" descr="Ui Ux with solid fill">
              <a:extLst>
                <a:ext uri="{FF2B5EF4-FFF2-40B4-BE49-F238E27FC236}">
                  <a16:creationId xmlns:a16="http://schemas.microsoft.com/office/drawing/2014/main" id="{BBA233BB-DBB0-FE6E-A492-69E0BAA174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99253" y="2015677"/>
              <a:ext cx="1257866" cy="125786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2183D68-C77D-74E0-7EE7-307D38F62264}"/>
                </a:ext>
              </a:extLst>
            </p:cNvPr>
            <p:cNvSpPr txBox="1"/>
            <p:nvPr/>
          </p:nvSpPr>
          <p:spPr>
            <a:xfrm>
              <a:off x="8386845" y="3174354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7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Consumer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3CEFE01-6443-8261-CCE9-F029CABB48AA}"/>
              </a:ext>
            </a:extLst>
          </p:cNvPr>
          <p:cNvGrpSpPr/>
          <p:nvPr/>
        </p:nvGrpSpPr>
        <p:grpSpPr>
          <a:xfrm>
            <a:off x="7272872" y="2859930"/>
            <a:ext cx="2577778" cy="2955687"/>
            <a:chOff x="8634714" y="642551"/>
            <a:chExt cx="2577778" cy="295568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3D3EB35-0E15-1D91-40D7-ADCBFC0B2797}"/>
                </a:ext>
              </a:extLst>
            </p:cNvPr>
            <p:cNvSpPr txBox="1"/>
            <p:nvPr/>
          </p:nvSpPr>
          <p:spPr>
            <a:xfrm>
              <a:off x="8786111" y="3013463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75000"/>
                    </a:schemeClr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Thing</a:t>
              </a:r>
            </a:p>
          </p:txBody>
        </p:sp>
        <p:pic>
          <p:nvPicPr>
            <p:cNvPr id="11" name="Graphic 10" descr="Thermometer with solid fill">
              <a:extLst>
                <a:ext uri="{FF2B5EF4-FFF2-40B4-BE49-F238E27FC236}">
                  <a16:creationId xmlns:a16="http://schemas.microsoft.com/office/drawing/2014/main" id="{FA3E69CD-3B7B-31DD-5F6A-07C81D7F1A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9880948" y="642551"/>
              <a:ext cx="1178665" cy="1178665"/>
            </a:xfrm>
            <a:prstGeom prst="rect">
              <a:avLst/>
            </a:prstGeom>
          </p:spPr>
        </p:pic>
        <p:pic>
          <p:nvPicPr>
            <p:cNvPr id="12" name="Graphic 11" descr="Laptop with solid fill">
              <a:extLst>
                <a:ext uri="{FF2B5EF4-FFF2-40B4-BE49-F238E27FC236}">
                  <a16:creationId xmlns:a16="http://schemas.microsoft.com/office/drawing/2014/main" id="{DD1158C1-604D-7487-BEA0-E4FA71692D8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8725406" y="656757"/>
              <a:ext cx="1365168" cy="1365167"/>
            </a:xfrm>
            <a:prstGeom prst="rect">
              <a:avLst/>
            </a:prstGeom>
          </p:spPr>
        </p:pic>
        <p:pic>
          <p:nvPicPr>
            <p:cNvPr id="13" name="Graphic 12" descr="Server with solid fill">
              <a:extLst>
                <a:ext uri="{FF2B5EF4-FFF2-40B4-BE49-F238E27FC236}">
                  <a16:creationId xmlns:a16="http://schemas.microsoft.com/office/drawing/2014/main" id="{580524E3-F453-5217-30F5-21CA82FD1D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8634714" y="1748063"/>
              <a:ext cx="1364588" cy="1364588"/>
            </a:xfrm>
            <a:prstGeom prst="rect">
              <a:avLst/>
            </a:prstGeom>
          </p:spPr>
        </p:pic>
        <p:pic>
          <p:nvPicPr>
            <p:cNvPr id="14" name="Graphic 13" descr="Processor with solid fill">
              <a:extLst>
                <a:ext uri="{FF2B5EF4-FFF2-40B4-BE49-F238E27FC236}">
                  <a16:creationId xmlns:a16="http://schemas.microsoft.com/office/drawing/2014/main" id="{D0D25B86-A8C9-E59C-F672-EE8FD2BA07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843182" y="1803258"/>
              <a:ext cx="1254198" cy="1254198"/>
            </a:xfrm>
            <a:prstGeom prst="rect">
              <a:avLst/>
            </a:prstGeom>
          </p:spPr>
        </p:pic>
      </p:grp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662AB7-7470-249C-A02E-B9F9CEFEF65C}"/>
              </a:ext>
            </a:extLst>
          </p:cNvPr>
          <p:cNvSpPr txBox="1">
            <a:spLocks/>
          </p:cNvSpPr>
          <p:nvPr/>
        </p:nvSpPr>
        <p:spPr>
          <a:xfrm>
            <a:off x="4668922" y="1941994"/>
            <a:ext cx="2854156" cy="585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 "https://..."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"op": 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readproperty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F68DC0C-8E63-8645-44B4-20CAFD482328}"/>
              </a:ext>
            </a:extLst>
          </p:cNvPr>
          <p:cNvCxnSpPr/>
          <p:nvPr/>
        </p:nvCxnSpPr>
        <p:spPr>
          <a:xfrm>
            <a:off x="5349240" y="4138182"/>
            <a:ext cx="14935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70D19E1-6D1C-CBDD-9D38-7A10C7B28116}"/>
              </a:ext>
            </a:extLst>
          </p:cNvPr>
          <p:cNvSpPr txBox="1"/>
          <p:nvPr/>
        </p:nvSpPr>
        <p:spPr>
          <a:xfrm>
            <a:off x="5432913" y="4193791"/>
            <a:ext cx="67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HTTP</a:t>
            </a:r>
            <a:endParaRPr lang="en-DE" dirty="0">
              <a:solidFill>
                <a:schemeClr val="accent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4F4B3C-8F88-0670-5CED-BA3BF8A114A6}"/>
              </a:ext>
            </a:extLst>
          </p:cNvPr>
          <p:cNvSpPr txBox="1"/>
          <p:nvPr/>
        </p:nvSpPr>
        <p:spPr>
          <a:xfrm>
            <a:off x="6026353" y="419379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GET</a:t>
            </a:r>
            <a:endParaRPr lang="en-DE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618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2F93E-D9AB-012D-A43C-1A609F91D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314CDD-0A0C-C6A0-9FC5-DFEF38772ABD}"/>
              </a:ext>
            </a:extLst>
          </p:cNvPr>
          <p:cNvSpPr txBox="1">
            <a:spLocks/>
          </p:cNvSpPr>
          <p:nvPr/>
        </p:nvSpPr>
        <p:spPr>
          <a:xfrm>
            <a:off x="2198977" y="444008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Protocol and URI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3611EDE-6635-BFA2-8649-102E2BD8BA22}"/>
              </a:ext>
            </a:extLst>
          </p:cNvPr>
          <p:cNvGrpSpPr/>
          <p:nvPr/>
        </p:nvGrpSpPr>
        <p:grpSpPr>
          <a:xfrm>
            <a:off x="2369188" y="2935926"/>
            <a:ext cx="2916766" cy="2827081"/>
            <a:chOff x="8386845" y="932048"/>
            <a:chExt cx="2916766" cy="2827081"/>
          </a:xfrm>
        </p:grpSpPr>
        <p:pic>
          <p:nvPicPr>
            <p:cNvPr id="3" name="Graphic 2" descr="Remote control with solid fill">
              <a:extLst>
                <a:ext uri="{FF2B5EF4-FFF2-40B4-BE49-F238E27FC236}">
                  <a16:creationId xmlns:a16="http://schemas.microsoft.com/office/drawing/2014/main" id="{DB116A86-2D66-CE6F-6A7C-78E92777BFB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59308" y="1024053"/>
              <a:ext cx="2144303" cy="2144303"/>
            </a:xfrm>
            <a:prstGeom prst="rect">
              <a:avLst/>
            </a:prstGeom>
          </p:spPr>
        </p:pic>
        <p:pic>
          <p:nvPicPr>
            <p:cNvPr id="6" name="Graphic 5" descr="Cmd Terminal with solid fill">
              <a:extLst>
                <a:ext uri="{FF2B5EF4-FFF2-40B4-BE49-F238E27FC236}">
                  <a16:creationId xmlns:a16="http://schemas.microsoft.com/office/drawing/2014/main" id="{1526F904-AC8A-7527-7C0C-B836E684C9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99253" y="932048"/>
              <a:ext cx="1257866" cy="1257865"/>
            </a:xfrm>
            <a:prstGeom prst="rect">
              <a:avLst/>
            </a:prstGeom>
          </p:spPr>
        </p:pic>
        <p:pic>
          <p:nvPicPr>
            <p:cNvPr id="7" name="Graphic 6" descr="Ui Ux with solid fill">
              <a:extLst>
                <a:ext uri="{FF2B5EF4-FFF2-40B4-BE49-F238E27FC236}">
                  <a16:creationId xmlns:a16="http://schemas.microsoft.com/office/drawing/2014/main" id="{E768C0DA-1643-9035-CE6F-EF08342F46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99253" y="2015677"/>
              <a:ext cx="1257866" cy="125786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63C355C-C3B3-3023-7625-45292ABDF9F9}"/>
                </a:ext>
              </a:extLst>
            </p:cNvPr>
            <p:cNvSpPr txBox="1"/>
            <p:nvPr/>
          </p:nvSpPr>
          <p:spPr>
            <a:xfrm>
              <a:off x="8386845" y="3174354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52A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Consumer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4356735-46C7-20AA-D0A5-8E60B41363AF}"/>
              </a:ext>
            </a:extLst>
          </p:cNvPr>
          <p:cNvGrpSpPr/>
          <p:nvPr/>
        </p:nvGrpSpPr>
        <p:grpSpPr>
          <a:xfrm>
            <a:off x="7272872" y="2859930"/>
            <a:ext cx="2577778" cy="2955687"/>
            <a:chOff x="8634714" y="642551"/>
            <a:chExt cx="2577778" cy="295568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F56A57C-0AE9-0C40-C357-04C7164CB298}"/>
                </a:ext>
              </a:extLst>
            </p:cNvPr>
            <p:cNvSpPr txBox="1"/>
            <p:nvPr/>
          </p:nvSpPr>
          <p:spPr>
            <a:xfrm>
              <a:off x="8786111" y="3013463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52A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Thing</a:t>
              </a:r>
            </a:p>
          </p:txBody>
        </p:sp>
        <p:pic>
          <p:nvPicPr>
            <p:cNvPr id="11" name="Graphic 10" descr="Thermometer with solid fill">
              <a:extLst>
                <a:ext uri="{FF2B5EF4-FFF2-40B4-BE49-F238E27FC236}">
                  <a16:creationId xmlns:a16="http://schemas.microsoft.com/office/drawing/2014/main" id="{34E60BE0-58EA-3B4E-1511-E683B509E0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9880948" y="642551"/>
              <a:ext cx="1178665" cy="1178665"/>
            </a:xfrm>
            <a:prstGeom prst="rect">
              <a:avLst/>
            </a:prstGeom>
          </p:spPr>
        </p:pic>
        <p:pic>
          <p:nvPicPr>
            <p:cNvPr id="12" name="Graphic 11" descr="Laptop with solid fill">
              <a:extLst>
                <a:ext uri="{FF2B5EF4-FFF2-40B4-BE49-F238E27FC236}">
                  <a16:creationId xmlns:a16="http://schemas.microsoft.com/office/drawing/2014/main" id="{4737571E-5733-68E1-6C32-3533427DAF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8725406" y="656757"/>
              <a:ext cx="1365168" cy="1365167"/>
            </a:xfrm>
            <a:prstGeom prst="rect">
              <a:avLst/>
            </a:prstGeom>
          </p:spPr>
        </p:pic>
        <p:pic>
          <p:nvPicPr>
            <p:cNvPr id="13" name="Graphic 12" descr="Server with solid fill">
              <a:extLst>
                <a:ext uri="{FF2B5EF4-FFF2-40B4-BE49-F238E27FC236}">
                  <a16:creationId xmlns:a16="http://schemas.microsoft.com/office/drawing/2014/main" id="{414241D5-24EA-ED83-8362-5D279F54A1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8634714" y="1748063"/>
              <a:ext cx="1364588" cy="1364588"/>
            </a:xfrm>
            <a:prstGeom prst="rect">
              <a:avLst/>
            </a:prstGeom>
          </p:spPr>
        </p:pic>
        <p:pic>
          <p:nvPicPr>
            <p:cNvPr id="14" name="Graphic 13" descr="Processor with solid fill">
              <a:extLst>
                <a:ext uri="{FF2B5EF4-FFF2-40B4-BE49-F238E27FC236}">
                  <a16:creationId xmlns:a16="http://schemas.microsoft.com/office/drawing/2014/main" id="{5D6C956A-7357-012C-7BB2-A0655D27BD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843182" y="1803258"/>
              <a:ext cx="1254198" cy="1254198"/>
            </a:xfrm>
            <a:prstGeom prst="rect">
              <a:avLst/>
            </a:prstGeom>
          </p:spPr>
        </p:pic>
      </p:grp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27BCDC1-2F7F-E243-57D4-0739B0261A6F}"/>
              </a:ext>
            </a:extLst>
          </p:cNvPr>
          <p:cNvSpPr txBox="1">
            <a:spLocks/>
          </p:cNvSpPr>
          <p:nvPr/>
        </p:nvSpPr>
        <p:spPr>
          <a:xfrm>
            <a:off x="4668922" y="1941993"/>
            <a:ext cx="2854156" cy="585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": "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coap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://..."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"op": "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readProperty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0DFC484-C94E-266F-8B89-BF365E0C509C}"/>
              </a:ext>
            </a:extLst>
          </p:cNvPr>
          <p:cNvSpPr txBox="1">
            <a:spLocks/>
          </p:cNvSpPr>
          <p:nvPr/>
        </p:nvSpPr>
        <p:spPr>
          <a:xfrm>
            <a:off x="4668922" y="1941994"/>
            <a:ext cx="2854156" cy="585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 "https://..."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"op": "</a:t>
            </a:r>
            <a:r>
              <a:rPr lang="en-US" sz="18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readproperty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453C353-5404-D1BF-FC1D-0C20277BA06E}"/>
              </a:ext>
            </a:extLst>
          </p:cNvPr>
          <p:cNvCxnSpPr/>
          <p:nvPr/>
        </p:nvCxnSpPr>
        <p:spPr>
          <a:xfrm>
            <a:off x="5349240" y="4138182"/>
            <a:ext cx="14935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4DDB423-3118-DC07-2A19-637ED8E89003}"/>
              </a:ext>
            </a:extLst>
          </p:cNvPr>
          <p:cNvSpPr txBox="1"/>
          <p:nvPr/>
        </p:nvSpPr>
        <p:spPr>
          <a:xfrm>
            <a:off x="5432913" y="4193791"/>
            <a:ext cx="707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COAP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B47FE3-0508-D213-3A8F-274CEC4D5AB6}"/>
              </a:ext>
            </a:extLst>
          </p:cNvPr>
          <p:cNvSpPr txBox="1"/>
          <p:nvPr/>
        </p:nvSpPr>
        <p:spPr>
          <a:xfrm>
            <a:off x="5432913" y="4193791"/>
            <a:ext cx="67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HTTP</a:t>
            </a:r>
            <a:endParaRPr lang="en-DE" dirty="0">
              <a:solidFill>
                <a:schemeClr val="accent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1DEC03-C2DA-6E88-8296-A67ECE1D4287}"/>
              </a:ext>
            </a:extLst>
          </p:cNvPr>
          <p:cNvSpPr txBox="1"/>
          <p:nvPr/>
        </p:nvSpPr>
        <p:spPr>
          <a:xfrm>
            <a:off x="6026353" y="419379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GET</a:t>
            </a:r>
            <a:endParaRPr lang="en-DE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565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0000">
        <p159:morph option="byObject"/>
      </p:transition>
    </mc:Choice>
    <mc:Fallback xmlns="">
      <p:transition spd="slow" advTm="100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862D3-416B-CBB3-E8AE-F4F1B263B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ADF7E73-67AA-79F8-9CEE-1F39BC529204}"/>
              </a:ext>
            </a:extLst>
          </p:cNvPr>
          <p:cNvSpPr txBox="1">
            <a:spLocks/>
          </p:cNvSpPr>
          <p:nvPr/>
        </p:nvSpPr>
        <p:spPr>
          <a:xfrm>
            <a:off x="2198977" y="444008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Protocol and URI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C125A3E-C230-2D69-F29F-01C37450EF49}"/>
              </a:ext>
            </a:extLst>
          </p:cNvPr>
          <p:cNvGrpSpPr/>
          <p:nvPr/>
        </p:nvGrpSpPr>
        <p:grpSpPr>
          <a:xfrm>
            <a:off x="2369188" y="2935926"/>
            <a:ext cx="2916766" cy="2827081"/>
            <a:chOff x="8386845" y="932048"/>
            <a:chExt cx="2916766" cy="2827081"/>
          </a:xfrm>
        </p:grpSpPr>
        <p:pic>
          <p:nvPicPr>
            <p:cNvPr id="3" name="Graphic 2" descr="Remote control with solid fill">
              <a:extLst>
                <a:ext uri="{FF2B5EF4-FFF2-40B4-BE49-F238E27FC236}">
                  <a16:creationId xmlns:a16="http://schemas.microsoft.com/office/drawing/2014/main" id="{0893E3B0-7761-8644-F567-891F2E56B0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59308" y="1024053"/>
              <a:ext cx="2144303" cy="2144303"/>
            </a:xfrm>
            <a:prstGeom prst="rect">
              <a:avLst/>
            </a:prstGeom>
          </p:spPr>
        </p:pic>
        <p:pic>
          <p:nvPicPr>
            <p:cNvPr id="6" name="Graphic 5" descr="Cmd Terminal with solid fill">
              <a:extLst>
                <a:ext uri="{FF2B5EF4-FFF2-40B4-BE49-F238E27FC236}">
                  <a16:creationId xmlns:a16="http://schemas.microsoft.com/office/drawing/2014/main" id="{F29A3CCC-3FB2-B396-A710-E1C606427D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99253" y="932048"/>
              <a:ext cx="1257866" cy="1257865"/>
            </a:xfrm>
            <a:prstGeom prst="rect">
              <a:avLst/>
            </a:prstGeom>
          </p:spPr>
        </p:pic>
        <p:pic>
          <p:nvPicPr>
            <p:cNvPr id="7" name="Graphic 6" descr="Ui Ux with solid fill">
              <a:extLst>
                <a:ext uri="{FF2B5EF4-FFF2-40B4-BE49-F238E27FC236}">
                  <a16:creationId xmlns:a16="http://schemas.microsoft.com/office/drawing/2014/main" id="{DA0CC6BF-810F-D80E-8BDE-36E6804619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99253" y="2015677"/>
              <a:ext cx="1257866" cy="125786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D7162DD-655D-B397-CCE8-FC4D177C499A}"/>
                </a:ext>
              </a:extLst>
            </p:cNvPr>
            <p:cNvSpPr txBox="1"/>
            <p:nvPr/>
          </p:nvSpPr>
          <p:spPr>
            <a:xfrm>
              <a:off x="8386845" y="3174354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52A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Consumer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83358FF-352C-74A5-1E65-5A3AE1851FCE}"/>
              </a:ext>
            </a:extLst>
          </p:cNvPr>
          <p:cNvGrpSpPr/>
          <p:nvPr/>
        </p:nvGrpSpPr>
        <p:grpSpPr>
          <a:xfrm>
            <a:off x="7272872" y="2859930"/>
            <a:ext cx="2577778" cy="2955687"/>
            <a:chOff x="8634714" y="642551"/>
            <a:chExt cx="2577778" cy="295568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2499317-4DE9-7B8E-B6D5-BCE0794255CE}"/>
                </a:ext>
              </a:extLst>
            </p:cNvPr>
            <p:cNvSpPr txBox="1"/>
            <p:nvPr/>
          </p:nvSpPr>
          <p:spPr>
            <a:xfrm>
              <a:off x="8786111" y="3013463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52A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Thing</a:t>
              </a:r>
            </a:p>
          </p:txBody>
        </p:sp>
        <p:pic>
          <p:nvPicPr>
            <p:cNvPr id="11" name="Graphic 10" descr="Thermometer with solid fill">
              <a:extLst>
                <a:ext uri="{FF2B5EF4-FFF2-40B4-BE49-F238E27FC236}">
                  <a16:creationId xmlns:a16="http://schemas.microsoft.com/office/drawing/2014/main" id="{26CD4ABF-9D19-3262-7BC7-1219A62A73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9880948" y="642551"/>
              <a:ext cx="1178665" cy="1178665"/>
            </a:xfrm>
            <a:prstGeom prst="rect">
              <a:avLst/>
            </a:prstGeom>
          </p:spPr>
        </p:pic>
        <p:pic>
          <p:nvPicPr>
            <p:cNvPr id="12" name="Graphic 11" descr="Laptop with solid fill">
              <a:extLst>
                <a:ext uri="{FF2B5EF4-FFF2-40B4-BE49-F238E27FC236}">
                  <a16:creationId xmlns:a16="http://schemas.microsoft.com/office/drawing/2014/main" id="{E6485B44-CDF7-3957-7E0C-BA13AE43C9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8725406" y="656757"/>
              <a:ext cx="1365168" cy="1365167"/>
            </a:xfrm>
            <a:prstGeom prst="rect">
              <a:avLst/>
            </a:prstGeom>
          </p:spPr>
        </p:pic>
        <p:pic>
          <p:nvPicPr>
            <p:cNvPr id="13" name="Graphic 12" descr="Server with solid fill">
              <a:extLst>
                <a:ext uri="{FF2B5EF4-FFF2-40B4-BE49-F238E27FC236}">
                  <a16:creationId xmlns:a16="http://schemas.microsoft.com/office/drawing/2014/main" id="{3A6ED086-D36D-8905-1464-AD8F7DF21B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8634714" y="1748063"/>
              <a:ext cx="1364588" cy="1364588"/>
            </a:xfrm>
            <a:prstGeom prst="rect">
              <a:avLst/>
            </a:prstGeom>
          </p:spPr>
        </p:pic>
        <p:pic>
          <p:nvPicPr>
            <p:cNvPr id="14" name="Graphic 13" descr="Processor with solid fill">
              <a:extLst>
                <a:ext uri="{FF2B5EF4-FFF2-40B4-BE49-F238E27FC236}">
                  <a16:creationId xmlns:a16="http://schemas.microsoft.com/office/drawing/2014/main" id="{46F009DE-489F-630D-C69A-285EE1D1D4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843182" y="1803258"/>
              <a:ext cx="1254198" cy="1254198"/>
            </a:xfrm>
            <a:prstGeom prst="rect">
              <a:avLst/>
            </a:prstGeom>
          </p:spPr>
        </p:pic>
      </p:grpSp>
      <p:sp>
        <p:nvSpPr>
          <p:cNvPr id="15" name="Content Placeholder 2" hidden="1">
            <a:extLst>
              <a:ext uri="{FF2B5EF4-FFF2-40B4-BE49-F238E27FC236}">
                <a16:creationId xmlns:a16="http://schemas.microsoft.com/office/drawing/2014/main" id="{C7D8088F-D73C-77E2-D26B-C1C4CCD2F76F}"/>
              </a:ext>
            </a:extLst>
          </p:cNvPr>
          <p:cNvSpPr txBox="1">
            <a:spLocks/>
          </p:cNvSpPr>
          <p:nvPr/>
        </p:nvSpPr>
        <p:spPr>
          <a:xfrm>
            <a:off x="4668922" y="1941994"/>
            <a:ext cx="2854156" cy="585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": "https://..."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"op": "</a:t>
            </a:r>
            <a:r>
              <a:rPr lang="en-US" sz="18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readProperty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B44FDE6-C31C-8346-3584-D93E5712B3B6}"/>
              </a:ext>
            </a:extLst>
          </p:cNvPr>
          <p:cNvSpPr txBox="1">
            <a:spLocks/>
          </p:cNvSpPr>
          <p:nvPr/>
        </p:nvSpPr>
        <p:spPr>
          <a:xfrm>
            <a:off x="4668922" y="1941993"/>
            <a:ext cx="2854156" cy="585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 "</a:t>
            </a:r>
            <a:r>
              <a:rPr lang="en-US" sz="1800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coap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://..."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"op": "</a:t>
            </a:r>
            <a:r>
              <a:rPr lang="en-US" sz="18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readproperty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112AC2B-B262-18A8-BE24-3AF45F39C4F7}"/>
              </a:ext>
            </a:extLst>
          </p:cNvPr>
          <p:cNvCxnSpPr/>
          <p:nvPr/>
        </p:nvCxnSpPr>
        <p:spPr>
          <a:xfrm>
            <a:off x="5349240" y="4138182"/>
            <a:ext cx="14935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5A327FC-18AF-4BF7-DBAB-6F8991ED92D3}"/>
              </a:ext>
            </a:extLst>
          </p:cNvPr>
          <p:cNvSpPr txBox="1"/>
          <p:nvPr/>
        </p:nvSpPr>
        <p:spPr>
          <a:xfrm>
            <a:off x="5432913" y="4193791"/>
            <a:ext cx="707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COAP</a:t>
            </a:r>
            <a:endParaRPr lang="en-DE" dirty="0">
              <a:solidFill>
                <a:schemeClr val="accent2"/>
              </a:solidFill>
            </a:endParaRPr>
          </a:p>
        </p:txBody>
      </p:sp>
      <p:sp>
        <p:nvSpPr>
          <p:cNvPr id="16" name="TextBox 15" hidden="1">
            <a:extLst>
              <a:ext uri="{FF2B5EF4-FFF2-40B4-BE49-F238E27FC236}">
                <a16:creationId xmlns:a16="http://schemas.microsoft.com/office/drawing/2014/main" id="{EAF4E0A7-5685-34A3-23B6-3304CAB2551A}"/>
              </a:ext>
            </a:extLst>
          </p:cNvPr>
          <p:cNvSpPr txBox="1"/>
          <p:nvPr/>
        </p:nvSpPr>
        <p:spPr>
          <a:xfrm>
            <a:off x="5432913" y="4193791"/>
            <a:ext cx="67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HTTP</a:t>
            </a:r>
            <a:endParaRPr lang="en-DE" dirty="0">
              <a:solidFill>
                <a:schemeClr val="accent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F22E57-904B-A54D-A3CD-0C94D25FD9F8}"/>
              </a:ext>
            </a:extLst>
          </p:cNvPr>
          <p:cNvSpPr txBox="1"/>
          <p:nvPr/>
        </p:nvSpPr>
        <p:spPr>
          <a:xfrm>
            <a:off x="6026353" y="419379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GET</a:t>
            </a:r>
            <a:endParaRPr lang="en-DE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025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800">
        <p159:morph option="byObject"/>
      </p:transition>
    </mc:Choice>
    <mc:Fallback xmlns="">
      <p:transition spd="slow" advTm="480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41F4B-64B2-54FA-02FB-E9F33FBF5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EB78BD3-E365-C343-00D7-EA06485E2E2E}"/>
              </a:ext>
            </a:extLst>
          </p:cNvPr>
          <p:cNvSpPr txBox="1">
            <a:spLocks/>
          </p:cNvSpPr>
          <p:nvPr/>
        </p:nvSpPr>
        <p:spPr>
          <a:xfrm>
            <a:off x="2198977" y="505683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Content Type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Content Placeholder 2" hidden="1">
            <a:extLst>
              <a:ext uri="{FF2B5EF4-FFF2-40B4-BE49-F238E27FC236}">
                <a16:creationId xmlns:a16="http://schemas.microsoft.com/office/drawing/2014/main" id="{9E9179DD-9A7E-6DE6-43B7-FC0F5FCB27C7}"/>
              </a:ext>
            </a:extLst>
          </p:cNvPr>
          <p:cNvSpPr txBox="1">
            <a:spLocks/>
          </p:cNvSpPr>
          <p:nvPr/>
        </p:nvSpPr>
        <p:spPr>
          <a:xfrm>
            <a:off x="4668922" y="1941994"/>
            <a:ext cx="2854156" cy="585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": "https://..."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"op": "</a:t>
            </a:r>
            <a:r>
              <a:rPr lang="en-US" sz="18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readProperty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82868A6-7775-25A5-60E0-5088B491DD01}"/>
              </a:ext>
            </a:extLst>
          </p:cNvPr>
          <p:cNvSpPr txBox="1">
            <a:spLocks/>
          </p:cNvSpPr>
          <p:nvPr/>
        </p:nvSpPr>
        <p:spPr>
          <a:xfrm>
            <a:off x="3848972" y="1941994"/>
            <a:ext cx="1942228" cy="2878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contentType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</a:t>
            </a:r>
          </a:p>
        </p:txBody>
      </p:sp>
      <p:sp>
        <p:nvSpPr>
          <p:cNvPr id="16" name="TextBox 15" hidden="1">
            <a:extLst>
              <a:ext uri="{FF2B5EF4-FFF2-40B4-BE49-F238E27FC236}">
                <a16:creationId xmlns:a16="http://schemas.microsoft.com/office/drawing/2014/main" id="{EC4322D0-B73E-2786-64BC-8DD4AB7C8F34}"/>
              </a:ext>
            </a:extLst>
          </p:cNvPr>
          <p:cNvSpPr txBox="1"/>
          <p:nvPr/>
        </p:nvSpPr>
        <p:spPr>
          <a:xfrm>
            <a:off x="5432913" y="4193791"/>
            <a:ext cx="67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HTTP</a:t>
            </a:r>
            <a:endParaRPr lang="en-DE" dirty="0">
              <a:solidFill>
                <a:schemeClr val="accent1"/>
              </a:solidFill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8B4DE16-E937-76BC-DBAA-2526BC6F3EE4}"/>
              </a:ext>
            </a:extLst>
          </p:cNvPr>
          <p:cNvSpPr txBox="1">
            <a:spLocks/>
          </p:cNvSpPr>
          <p:nvPr/>
        </p:nvSpPr>
        <p:spPr>
          <a:xfrm>
            <a:off x="5693579" y="1935776"/>
            <a:ext cx="2592168" cy="2878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"application/</a:t>
            </a:r>
            <a:r>
              <a:rPr lang="en-US" sz="18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47EBC48-FB07-FC54-7512-73D2F2EF10B8}"/>
              </a:ext>
            </a:extLst>
          </p:cNvPr>
          <p:cNvSpPr txBox="1">
            <a:spLocks/>
          </p:cNvSpPr>
          <p:nvPr/>
        </p:nvSpPr>
        <p:spPr>
          <a:xfrm>
            <a:off x="5693579" y="2279010"/>
            <a:ext cx="2592168" cy="2878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600" dirty="0">
                <a:solidFill>
                  <a:schemeClr val="accent3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"application/</a:t>
            </a:r>
            <a:r>
              <a:rPr lang="en-US" sz="1600" dirty="0" err="1">
                <a:solidFill>
                  <a:schemeClr val="accent3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cbor</a:t>
            </a:r>
            <a:r>
              <a:rPr lang="en-US" sz="1600" dirty="0">
                <a:solidFill>
                  <a:schemeClr val="accent3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sp>
        <p:nvSpPr>
          <p:cNvPr id="20" name="Rounded Rectangle 16">
            <a:extLst>
              <a:ext uri="{FF2B5EF4-FFF2-40B4-BE49-F238E27FC236}">
                <a16:creationId xmlns:a16="http://schemas.microsoft.com/office/drawing/2014/main" id="{CD105ECE-9077-4B86-3C71-8E8C07A93E0A}"/>
              </a:ext>
            </a:extLst>
          </p:cNvPr>
          <p:cNvSpPr/>
          <p:nvPr/>
        </p:nvSpPr>
        <p:spPr>
          <a:xfrm>
            <a:off x="4763095" y="3611299"/>
            <a:ext cx="2125017" cy="1164983"/>
          </a:xfrm>
          <a:prstGeom prst="roundRect">
            <a:avLst>
              <a:gd name="adj" fmla="val 10130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97064FB4-53AE-C9F9-4819-EF88E3A97823}"/>
              </a:ext>
            </a:extLst>
          </p:cNvPr>
          <p:cNvSpPr txBox="1"/>
          <p:nvPr/>
        </p:nvSpPr>
        <p:spPr>
          <a:xfrm>
            <a:off x="5214672" y="4174223"/>
            <a:ext cx="1221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2000" dirty="0">
                <a:solidFill>
                  <a:schemeClr val="accent6">
                    <a:lumMod val="50000"/>
                  </a:schemeClr>
                </a:solidFill>
                <a:latin typeface="Century Gothic" panose="020B0502020202020204" pitchFamily="34" charset="0"/>
              </a:rPr>
              <a:t>Payload</a:t>
            </a:r>
            <a:endParaRPr lang="en-US" sz="2000" dirty="0">
              <a:solidFill>
                <a:schemeClr val="accent6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D9020D4D-AD68-EE5B-61DD-AD20ED6E2D60}"/>
              </a:ext>
            </a:extLst>
          </p:cNvPr>
          <p:cNvSpPr txBox="1"/>
          <p:nvPr/>
        </p:nvSpPr>
        <p:spPr>
          <a:xfrm>
            <a:off x="5214672" y="3813248"/>
            <a:ext cx="1221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entury Gothic" panose="020B0502020202020204" pitchFamily="34" charset="0"/>
              </a:rPr>
              <a:t>JSON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A803A7E-74FA-C97D-208F-D94D0CD3B7C8}"/>
              </a:ext>
            </a:extLst>
          </p:cNvPr>
          <p:cNvGrpSpPr/>
          <p:nvPr/>
        </p:nvGrpSpPr>
        <p:grpSpPr>
          <a:xfrm>
            <a:off x="1739018" y="2935926"/>
            <a:ext cx="2916766" cy="2827081"/>
            <a:chOff x="8386845" y="932048"/>
            <a:chExt cx="2916766" cy="2827081"/>
          </a:xfrm>
        </p:grpSpPr>
        <p:pic>
          <p:nvPicPr>
            <p:cNvPr id="26" name="Graphic 25" descr="Remote control with solid fill">
              <a:extLst>
                <a:ext uri="{FF2B5EF4-FFF2-40B4-BE49-F238E27FC236}">
                  <a16:creationId xmlns:a16="http://schemas.microsoft.com/office/drawing/2014/main" id="{BEA712C4-5576-390A-4FD0-D2EEBEA6A5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59308" y="1024053"/>
              <a:ext cx="2144303" cy="2144303"/>
            </a:xfrm>
            <a:prstGeom prst="rect">
              <a:avLst/>
            </a:prstGeom>
          </p:spPr>
        </p:pic>
        <p:pic>
          <p:nvPicPr>
            <p:cNvPr id="27" name="Graphic 26" descr="Cmd Terminal with solid fill">
              <a:extLst>
                <a:ext uri="{FF2B5EF4-FFF2-40B4-BE49-F238E27FC236}">
                  <a16:creationId xmlns:a16="http://schemas.microsoft.com/office/drawing/2014/main" id="{D2F17CFC-FE56-3540-1316-9016B65E91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99253" y="932048"/>
              <a:ext cx="1257866" cy="1257865"/>
            </a:xfrm>
            <a:prstGeom prst="rect">
              <a:avLst/>
            </a:prstGeom>
          </p:spPr>
        </p:pic>
        <p:pic>
          <p:nvPicPr>
            <p:cNvPr id="28" name="Graphic 27" descr="Ui Ux with solid fill">
              <a:extLst>
                <a:ext uri="{FF2B5EF4-FFF2-40B4-BE49-F238E27FC236}">
                  <a16:creationId xmlns:a16="http://schemas.microsoft.com/office/drawing/2014/main" id="{8219CD92-5CB5-9DFA-7984-C28D14DF67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99253" y="2015677"/>
              <a:ext cx="1257866" cy="1257865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1E7F2F1-17CF-9920-161E-4008A40EFCD1}"/>
                </a:ext>
              </a:extLst>
            </p:cNvPr>
            <p:cNvSpPr txBox="1"/>
            <p:nvPr/>
          </p:nvSpPr>
          <p:spPr>
            <a:xfrm>
              <a:off x="8386845" y="3174354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52A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Consumer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9252D29-97E3-76CC-9595-4CBA1B971D49}"/>
              </a:ext>
            </a:extLst>
          </p:cNvPr>
          <p:cNvGrpSpPr/>
          <p:nvPr/>
        </p:nvGrpSpPr>
        <p:grpSpPr>
          <a:xfrm>
            <a:off x="7536218" y="2859930"/>
            <a:ext cx="2577778" cy="2955687"/>
            <a:chOff x="8634714" y="642551"/>
            <a:chExt cx="2577778" cy="295568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0AD54FD-897E-D66C-6308-FA888682EDEE}"/>
                </a:ext>
              </a:extLst>
            </p:cNvPr>
            <p:cNvSpPr txBox="1"/>
            <p:nvPr/>
          </p:nvSpPr>
          <p:spPr>
            <a:xfrm>
              <a:off x="8786111" y="3013463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52A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Thing</a:t>
              </a:r>
            </a:p>
          </p:txBody>
        </p:sp>
        <p:pic>
          <p:nvPicPr>
            <p:cNvPr id="32" name="Graphic 31" descr="Thermometer with solid fill">
              <a:extLst>
                <a:ext uri="{FF2B5EF4-FFF2-40B4-BE49-F238E27FC236}">
                  <a16:creationId xmlns:a16="http://schemas.microsoft.com/office/drawing/2014/main" id="{F67834EE-9773-E194-125B-41C152D8BF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9880948" y="642551"/>
              <a:ext cx="1178665" cy="1178665"/>
            </a:xfrm>
            <a:prstGeom prst="rect">
              <a:avLst/>
            </a:prstGeom>
          </p:spPr>
        </p:pic>
        <p:pic>
          <p:nvPicPr>
            <p:cNvPr id="33" name="Graphic 32" descr="Laptop with solid fill">
              <a:extLst>
                <a:ext uri="{FF2B5EF4-FFF2-40B4-BE49-F238E27FC236}">
                  <a16:creationId xmlns:a16="http://schemas.microsoft.com/office/drawing/2014/main" id="{7F1FE695-1197-FB14-5CBE-D34DE84D29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8725406" y="656757"/>
              <a:ext cx="1365168" cy="1365167"/>
            </a:xfrm>
            <a:prstGeom prst="rect">
              <a:avLst/>
            </a:prstGeom>
          </p:spPr>
        </p:pic>
        <p:pic>
          <p:nvPicPr>
            <p:cNvPr id="34" name="Graphic 33" descr="Server with solid fill">
              <a:extLst>
                <a:ext uri="{FF2B5EF4-FFF2-40B4-BE49-F238E27FC236}">
                  <a16:creationId xmlns:a16="http://schemas.microsoft.com/office/drawing/2014/main" id="{5B8A9118-FCF9-AC60-67C2-FEA5C90469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8634714" y="1748063"/>
              <a:ext cx="1364588" cy="1364588"/>
            </a:xfrm>
            <a:prstGeom prst="rect">
              <a:avLst/>
            </a:prstGeom>
          </p:spPr>
        </p:pic>
        <p:pic>
          <p:nvPicPr>
            <p:cNvPr id="35" name="Graphic 34" descr="Processor with solid fill">
              <a:extLst>
                <a:ext uri="{FF2B5EF4-FFF2-40B4-BE49-F238E27FC236}">
                  <a16:creationId xmlns:a16="http://schemas.microsoft.com/office/drawing/2014/main" id="{BBBB2590-CC75-1FFB-A7F2-8EB6EC44F5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843182" y="1803258"/>
              <a:ext cx="1254198" cy="1254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7864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6000">
        <p159:morph option="byObject"/>
      </p:transition>
    </mc:Choice>
    <mc:Fallback xmlns="">
      <p:transition spd="slow" advTm="600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12754-DF40-4529-CB35-C808FB066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E89A31-01F9-2959-92D9-191E86254238}"/>
              </a:ext>
            </a:extLst>
          </p:cNvPr>
          <p:cNvSpPr txBox="1">
            <a:spLocks/>
          </p:cNvSpPr>
          <p:nvPr/>
        </p:nvSpPr>
        <p:spPr>
          <a:xfrm>
            <a:off x="2198977" y="505683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Content Type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Content Placeholder 2" hidden="1">
            <a:extLst>
              <a:ext uri="{FF2B5EF4-FFF2-40B4-BE49-F238E27FC236}">
                <a16:creationId xmlns:a16="http://schemas.microsoft.com/office/drawing/2014/main" id="{D3A4F908-C2F2-0E30-0DF6-6A3D42E0D436}"/>
              </a:ext>
            </a:extLst>
          </p:cNvPr>
          <p:cNvSpPr txBox="1">
            <a:spLocks/>
          </p:cNvSpPr>
          <p:nvPr/>
        </p:nvSpPr>
        <p:spPr>
          <a:xfrm>
            <a:off x="4668922" y="1941994"/>
            <a:ext cx="2854156" cy="585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": "https://..."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"op": "</a:t>
            </a:r>
            <a:r>
              <a:rPr lang="en-US" sz="18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readProperty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EF33257-4209-FD53-1DB6-273CECDDA79B}"/>
              </a:ext>
            </a:extLst>
          </p:cNvPr>
          <p:cNvSpPr txBox="1">
            <a:spLocks/>
          </p:cNvSpPr>
          <p:nvPr/>
        </p:nvSpPr>
        <p:spPr>
          <a:xfrm>
            <a:off x="3848972" y="1941994"/>
            <a:ext cx="1942228" cy="2878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contentType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</a:t>
            </a:r>
          </a:p>
        </p:txBody>
      </p:sp>
      <p:sp>
        <p:nvSpPr>
          <p:cNvPr id="16" name="TextBox 15" hidden="1">
            <a:extLst>
              <a:ext uri="{FF2B5EF4-FFF2-40B4-BE49-F238E27FC236}">
                <a16:creationId xmlns:a16="http://schemas.microsoft.com/office/drawing/2014/main" id="{4B2E08C9-BF9F-E685-5D01-CBEB4D8DFBCC}"/>
              </a:ext>
            </a:extLst>
          </p:cNvPr>
          <p:cNvSpPr txBox="1"/>
          <p:nvPr/>
        </p:nvSpPr>
        <p:spPr>
          <a:xfrm>
            <a:off x="5432913" y="4193791"/>
            <a:ext cx="67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HTTP</a:t>
            </a:r>
            <a:endParaRPr lang="en-DE" dirty="0">
              <a:solidFill>
                <a:schemeClr val="accent1"/>
              </a:solidFill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AF5B2DA-BEBE-8B7A-348E-101708F93833}"/>
              </a:ext>
            </a:extLst>
          </p:cNvPr>
          <p:cNvSpPr txBox="1">
            <a:spLocks/>
          </p:cNvSpPr>
          <p:nvPr/>
        </p:nvSpPr>
        <p:spPr>
          <a:xfrm>
            <a:off x="5693579" y="1935776"/>
            <a:ext cx="2592168" cy="2878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"application/</a:t>
            </a:r>
            <a:r>
              <a:rPr lang="en-US" sz="18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cbor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3EF86B8-DD42-8DE6-EE6E-C3486805B61F}"/>
              </a:ext>
            </a:extLst>
          </p:cNvPr>
          <p:cNvSpPr txBox="1">
            <a:spLocks/>
          </p:cNvSpPr>
          <p:nvPr/>
        </p:nvSpPr>
        <p:spPr>
          <a:xfrm>
            <a:off x="5693579" y="1592542"/>
            <a:ext cx="2592168" cy="2878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600" dirty="0">
                <a:solidFill>
                  <a:schemeClr val="accent3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"application/</a:t>
            </a:r>
            <a:r>
              <a:rPr lang="en-US" sz="1600" dirty="0" err="1">
                <a:solidFill>
                  <a:schemeClr val="accent3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</a:t>
            </a:r>
            <a:r>
              <a:rPr lang="en-US" sz="1600" dirty="0">
                <a:solidFill>
                  <a:schemeClr val="accent3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07CAEB2-EDFE-F4EE-A70F-5E4742FA08D4}"/>
              </a:ext>
            </a:extLst>
          </p:cNvPr>
          <p:cNvSpPr txBox="1">
            <a:spLocks/>
          </p:cNvSpPr>
          <p:nvPr/>
        </p:nvSpPr>
        <p:spPr>
          <a:xfrm>
            <a:off x="5693579" y="2279010"/>
            <a:ext cx="2592168" cy="2878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600" dirty="0">
                <a:solidFill>
                  <a:schemeClr val="accent3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"text/plain"</a:t>
            </a:r>
          </a:p>
        </p:txBody>
      </p:sp>
      <p:sp>
        <p:nvSpPr>
          <p:cNvPr id="21" name="Rounded Rectangle 16">
            <a:extLst>
              <a:ext uri="{FF2B5EF4-FFF2-40B4-BE49-F238E27FC236}">
                <a16:creationId xmlns:a16="http://schemas.microsoft.com/office/drawing/2014/main" id="{FBA0246E-9F99-5BA9-29F5-D6C356DBC020}"/>
              </a:ext>
            </a:extLst>
          </p:cNvPr>
          <p:cNvSpPr/>
          <p:nvPr/>
        </p:nvSpPr>
        <p:spPr>
          <a:xfrm>
            <a:off x="4763095" y="3611299"/>
            <a:ext cx="2125017" cy="1164983"/>
          </a:xfrm>
          <a:prstGeom prst="roundRect">
            <a:avLst>
              <a:gd name="adj" fmla="val 10130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19B3C581-3367-5092-6A6E-C6A20B441B8F}"/>
              </a:ext>
            </a:extLst>
          </p:cNvPr>
          <p:cNvSpPr txBox="1"/>
          <p:nvPr/>
        </p:nvSpPr>
        <p:spPr>
          <a:xfrm>
            <a:off x="5214672" y="4174223"/>
            <a:ext cx="1221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2000" dirty="0">
                <a:solidFill>
                  <a:schemeClr val="accent6">
                    <a:lumMod val="50000"/>
                  </a:schemeClr>
                </a:solidFill>
                <a:latin typeface="Century Gothic" panose="020B0502020202020204" pitchFamily="34" charset="0"/>
              </a:rPr>
              <a:t>Payload</a:t>
            </a:r>
            <a:endParaRPr lang="en-US" sz="2000" dirty="0">
              <a:solidFill>
                <a:schemeClr val="accent6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D3427609-18A1-C7FE-A21A-34061980994D}"/>
              </a:ext>
            </a:extLst>
          </p:cNvPr>
          <p:cNvSpPr txBox="1"/>
          <p:nvPr/>
        </p:nvSpPr>
        <p:spPr>
          <a:xfrm>
            <a:off x="5214672" y="3813248"/>
            <a:ext cx="1221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entury Gothic" panose="020B0502020202020204" pitchFamily="34" charset="0"/>
              </a:rPr>
              <a:t>CBOR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F0C7595-DE94-9AC3-D014-EB477D310430}"/>
              </a:ext>
            </a:extLst>
          </p:cNvPr>
          <p:cNvGrpSpPr/>
          <p:nvPr/>
        </p:nvGrpSpPr>
        <p:grpSpPr>
          <a:xfrm>
            <a:off x="1739018" y="2935926"/>
            <a:ext cx="2916766" cy="2827081"/>
            <a:chOff x="8386845" y="932048"/>
            <a:chExt cx="2916766" cy="2827081"/>
          </a:xfrm>
        </p:grpSpPr>
        <p:pic>
          <p:nvPicPr>
            <p:cNvPr id="26" name="Graphic 25" descr="Remote control with solid fill">
              <a:extLst>
                <a:ext uri="{FF2B5EF4-FFF2-40B4-BE49-F238E27FC236}">
                  <a16:creationId xmlns:a16="http://schemas.microsoft.com/office/drawing/2014/main" id="{6A1A876D-4179-2CF1-06C1-A95339D091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59308" y="1024053"/>
              <a:ext cx="2144303" cy="2144303"/>
            </a:xfrm>
            <a:prstGeom prst="rect">
              <a:avLst/>
            </a:prstGeom>
          </p:spPr>
        </p:pic>
        <p:pic>
          <p:nvPicPr>
            <p:cNvPr id="27" name="Graphic 26" descr="Cmd Terminal with solid fill">
              <a:extLst>
                <a:ext uri="{FF2B5EF4-FFF2-40B4-BE49-F238E27FC236}">
                  <a16:creationId xmlns:a16="http://schemas.microsoft.com/office/drawing/2014/main" id="{14E0F050-1DA9-60AB-D2EF-DE39807E04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99253" y="932048"/>
              <a:ext cx="1257866" cy="1257865"/>
            </a:xfrm>
            <a:prstGeom prst="rect">
              <a:avLst/>
            </a:prstGeom>
          </p:spPr>
        </p:pic>
        <p:pic>
          <p:nvPicPr>
            <p:cNvPr id="28" name="Graphic 27" descr="Ui Ux with solid fill">
              <a:extLst>
                <a:ext uri="{FF2B5EF4-FFF2-40B4-BE49-F238E27FC236}">
                  <a16:creationId xmlns:a16="http://schemas.microsoft.com/office/drawing/2014/main" id="{F2E61B75-8B00-E112-4129-0D6D5EE693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99253" y="2015677"/>
              <a:ext cx="1257866" cy="1257865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889EDB6-AFA1-D94C-C852-4344A5B5C5A3}"/>
                </a:ext>
              </a:extLst>
            </p:cNvPr>
            <p:cNvSpPr txBox="1"/>
            <p:nvPr/>
          </p:nvSpPr>
          <p:spPr>
            <a:xfrm>
              <a:off x="8386845" y="3174354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52A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Consumer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E00C308-9798-A4C4-8E47-EE4942D9CA2A}"/>
              </a:ext>
            </a:extLst>
          </p:cNvPr>
          <p:cNvGrpSpPr/>
          <p:nvPr/>
        </p:nvGrpSpPr>
        <p:grpSpPr>
          <a:xfrm>
            <a:off x="7536218" y="2859930"/>
            <a:ext cx="2577778" cy="2955687"/>
            <a:chOff x="8634714" y="642551"/>
            <a:chExt cx="2577778" cy="295568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C95AC93-166B-7212-F3E6-13B0CA027A47}"/>
                </a:ext>
              </a:extLst>
            </p:cNvPr>
            <p:cNvSpPr txBox="1"/>
            <p:nvPr/>
          </p:nvSpPr>
          <p:spPr>
            <a:xfrm>
              <a:off x="8786111" y="3013463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52A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Thing</a:t>
              </a:r>
            </a:p>
          </p:txBody>
        </p:sp>
        <p:pic>
          <p:nvPicPr>
            <p:cNvPr id="32" name="Graphic 31" descr="Thermometer with solid fill">
              <a:extLst>
                <a:ext uri="{FF2B5EF4-FFF2-40B4-BE49-F238E27FC236}">
                  <a16:creationId xmlns:a16="http://schemas.microsoft.com/office/drawing/2014/main" id="{CC7EC05D-D111-F683-D2B8-54DEF2DC4B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9880948" y="642551"/>
              <a:ext cx="1178665" cy="1178665"/>
            </a:xfrm>
            <a:prstGeom prst="rect">
              <a:avLst/>
            </a:prstGeom>
          </p:spPr>
        </p:pic>
        <p:pic>
          <p:nvPicPr>
            <p:cNvPr id="33" name="Graphic 32" descr="Laptop with solid fill">
              <a:extLst>
                <a:ext uri="{FF2B5EF4-FFF2-40B4-BE49-F238E27FC236}">
                  <a16:creationId xmlns:a16="http://schemas.microsoft.com/office/drawing/2014/main" id="{2A49F166-5362-0CE6-A555-3A810325BD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8725406" y="656757"/>
              <a:ext cx="1365168" cy="1365167"/>
            </a:xfrm>
            <a:prstGeom prst="rect">
              <a:avLst/>
            </a:prstGeom>
          </p:spPr>
        </p:pic>
        <p:pic>
          <p:nvPicPr>
            <p:cNvPr id="34" name="Graphic 33" descr="Server with solid fill">
              <a:extLst>
                <a:ext uri="{FF2B5EF4-FFF2-40B4-BE49-F238E27FC236}">
                  <a16:creationId xmlns:a16="http://schemas.microsoft.com/office/drawing/2014/main" id="{14E75656-168B-98E5-F828-65DCAA83F1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8634714" y="1748063"/>
              <a:ext cx="1364588" cy="1364588"/>
            </a:xfrm>
            <a:prstGeom prst="rect">
              <a:avLst/>
            </a:prstGeom>
          </p:spPr>
        </p:pic>
        <p:pic>
          <p:nvPicPr>
            <p:cNvPr id="35" name="Graphic 34" descr="Processor with solid fill">
              <a:extLst>
                <a:ext uri="{FF2B5EF4-FFF2-40B4-BE49-F238E27FC236}">
                  <a16:creationId xmlns:a16="http://schemas.microsoft.com/office/drawing/2014/main" id="{1727F5BC-F8B7-FFA1-ADAB-C119E0DF93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843182" y="1803258"/>
              <a:ext cx="1254198" cy="1254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33153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06551-8749-118A-E3E1-D33BE0426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BB646CC-F598-6F82-DC83-826EE051CD7A}"/>
              </a:ext>
            </a:extLst>
          </p:cNvPr>
          <p:cNvSpPr txBox="1">
            <a:spLocks/>
          </p:cNvSpPr>
          <p:nvPr/>
        </p:nvSpPr>
        <p:spPr>
          <a:xfrm>
            <a:off x="2198977" y="505683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Content Type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C4272F0-68CB-AABC-3BC3-12A47C48D87D}"/>
              </a:ext>
            </a:extLst>
          </p:cNvPr>
          <p:cNvSpPr txBox="1">
            <a:spLocks/>
          </p:cNvSpPr>
          <p:nvPr/>
        </p:nvSpPr>
        <p:spPr>
          <a:xfrm>
            <a:off x="5693579" y="1500877"/>
            <a:ext cx="2592168" cy="2878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"application/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json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sp>
        <p:nvSpPr>
          <p:cNvPr id="15" name="Content Placeholder 2" hidden="1">
            <a:extLst>
              <a:ext uri="{FF2B5EF4-FFF2-40B4-BE49-F238E27FC236}">
                <a16:creationId xmlns:a16="http://schemas.microsoft.com/office/drawing/2014/main" id="{1C5A5AE6-7541-BF7B-E23B-77AC097E3F0F}"/>
              </a:ext>
            </a:extLst>
          </p:cNvPr>
          <p:cNvSpPr txBox="1">
            <a:spLocks/>
          </p:cNvSpPr>
          <p:nvPr/>
        </p:nvSpPr>
        <p:spPr>
          <a:xfrm>
            <a:off x="4668922" y="1941994"/>
            <a:ext cx="2854156" cy="585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": "https://..."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"op": "</a:t>
            </a:r>
            <a:r>
              <a:rPr lang="en-US" sz="18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readProperty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F361E62-F519-8B20-C34B-C97EBADF5079}"/>
              </a:ext>
            </a:extLst>
          </p:cNvPr>
          <p:cNvSpPr txBox="1">
            <a:spLocks/>
          </p:cNvSpPr>
          <p:nvPr/>
        </p:nvSpPr>
        <p:spPr>
          <a:xfrm>
            <a:off x="3848972" y="1941994"/>
            <a:ext cx="1942228" cy="2878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contentType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</a:t>
            </a:r>
          </a:p>
        </p:txBody>
      </p:sp>
      <p:sp>
        <p:nvSpPr>
          <p:cNvPr id="16" name="TextBox 15" hidden="1">
            <a:extLst>
              <a:ext uri="{FF2B5EF4-FFF2-40B4-BE49-F238E27FC236}">
                <a16:creationId xmlns:a16="http://schemas.microsoft.com/office/drawing/2014/main" id="{2DCBA52A-6FCA-9979-CD90-1921DDE96947}"/>
              </a:ext>
            </a:extLst>
          </p:cNvPr>
          <p:cNvSpPr txBox="1"/>
          <p:nvPr/>
        </p:nvSpPr>
        <p:spPr>
          <a:xfrm>
            <a:off x="5432913" y="4193791"/>
            <a:ext cx="67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HTTP</a:t>
            </a:r>
            <a:endParaRPr lang="en-DE" dirty="0">
              <a:solidFill>
                <a:schemeClr val="accent1"/>
              </a:solidFill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F20C32F-C7FF-2DCD-AD67-682BCE34206A}"/>
              </a:ext>
            </a:extLst>
          </p:cNvPr>
          <p:cNvSpPr txBox="1">
            <a:spLocks/>
          </p:cNvSpPr>
          <p:nvPr/>
        </p:nvSpPr>
        <p:spPr>
          <a:xfrm>
            <a:off x="5693579" y="1935776"/>
            <a:ext cx="2592168" cy="2878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"text/plain"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AAB8D80-BFCE-CC19-27E7-82886398C308}"/>
              </a:ext>
            </a:extLst>
          </p:cNvPr>
          <p:cNvSpPr txBox="1">
            <a:spLocks/>
          </p:cNvSpPr>
          <p:nvPr/>
        </p:nvSpPr>
        <p:spPr>
          <a:xfrm>
            <a:off x="5693579" y="1592542"/>
            <a:ext cx="2592168" cy="2878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"application/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cbor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sp>
        <p:nvSpPr>
          <p:cNvPr id="22" name="Rounded Rectangle 16">
            <a:extLst>
              <a:ext uri="{FF2B5EF4-FFF2-40B4-BE49-F238E27FC236}">
                <a16:creationId xmlns:a16="http://schemas.microsoft.com/office/drawing/2014/main" id="{D272A4FC-2B69-3253-48AD-65BAE0AFEEF4}"/>
              </a:ext>
            </a:extLst>
          </p:cNvPr>
          <p:cNvSpPr/>
          <p:nvPr/>
        </p:nvSpPr>
        <p:spPr>
          <a:xfrm>
            <a:off x="4763095" y="3611299"/>
            <a:ext cx="2125017" cy="1164983"/>
          </a:xfrm>
          <a:prstGeom prst="roundRect">
            <a:avLst>
              <a:gd name="adj" fmla="val 10130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6E95AEAD-64EF-4A88-99BA-F72E1F884C4B}"/>
              </a:ext>
            </a:extLst>
          </p:cNvPr>
          <p:cNvSpPr txBox="1"/>
          <p:nvPr/>
        </p:nvSpPr>
        <p:spPr>
          <a:xfrm>
            <a:off x="5214672" y="4174223"/>
            <a:ext cx="1221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2000" dirty="0">
                <a:solidFill>
                  <a:schemeClr val="accent6">
                    <a:lumMod val="50000"/>
                  </a:schemeClr>
                </a:solidFill>
                <a:latin typeface="Century Gothic" panose="020B0502020202020204" pitchFamily="34" charset="0"/>
              </a:rPr>
              <a:t>Payload</a:t>
            </a:r>
            <a:endParaRPr lang="en-US" sz="2000" dirty="0">
              <a:solidFill>
                <a:schemeClr val="accent6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59263827-F0CA-3F22-F723-7A7734412FE4}"/>
              </a:ext>
            </a:extLst>
          </p:cNvPr>
          <p:cNvSpPr txBox="1"/>
          <p:nvPr/>
        </p:nvSpPr>
        <p:spPr>
          <a:xfrm>
            <a:off x="5214672" y="3813248"/>
            <a:ext cx="1221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entury Gothic" panose="020B0502020202020204" pitchFamily="34" charset="0"/>
              </a:rPr>
              <a:t>TEXT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BE184E9-E20C-0742-97F3-9F991C82DC07}"/>
              </a:ext>
            </a:extLst>
          </p:cNvPr>
          <p:cNvGrpSpPr/>
          <p:nvPr/>
        </p:nvGrpSpPr>
        <p:grpSpPr>
          <a:xfrm>
            <a:off x="1739018" y="2935926"/>
            <a:ext cx="2916766" cy="2827081"/>
            <a:chOff x="8386845" y="932048"/>
            <a:chExt cx="2916766" cy="2827081"/>
          </a:xfrm>
        </p:grpSpPr>
        <p:pic>
          <p:nvPicPr>
            <p:cNvPr id="28" name="Graphic 27" descr="Remote control with solid fill">
              <a:extLst>
                <a:ext uri="{FF2B5EF4-FFF2-40B4-BE49-F238E27FC236}">
                  <a16:creationId xmlns:a16="http://schemas.microsoft.com/office/drawing/2014/main" id="{C3B23149-AFCA-FEE1-8233-606F6CD2E2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59308" y="1024053"/>
              <a:ext cx="2144303" cy="2144303"/>
            </a:xfrm>
            <a:prstGeom prst="rect">
              <a:avLst/>
            </a:prstGeom>
          </p:spPr>
        </p:pic>
        <p:pic>
          <p:nvPicPr>
            <p:cNvPr id="29" name="Graphic 28" descr="Cmd Terminal with solid fill">
              <a:extLst>
                <a:ext uri="{FF2B5EF4-FFF2-40B4-BE49-F238E27FC236}">
                  <a16:creationId xmlns:a16="http://schemas.microsoft.com/office/drawing/2014/main" id="{0077569F-06B0-D55A-AEF4-B32E45B40B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99253" y="932048"/>
              <a:ext cx="1257866" cy="1257865"/>
            </a:xfrm>
            <a:prstGeom prst="rect">
              <a:avLst/>
            </a:prstGeom>
          </p:spPr>
        </p:pic>
        <p:pic>
          <p:nvPicPr>
            <p:cNvPr id="30" name="Graphic 29" descr="Ui Ux with solid fill">
              <a:extLst>
                <a:ext uri="{FF2B5EF4-FFF2-40B4-BE49-F238E27FC236}">
                  <a16:creationId xmlns:a16="http://schemas.microsoft.com/office/drawing/2014/main" id="{CCEA7AFD-CFE7-E250-5B4C-515D93CD49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99253" y="2015677"/>
              <a:ext cx="1257866" cy="1257865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75581B4-A94F-6B8A-27E6-4C43051FB9A4}"/>
                </a:ext>
              </a:extLst>
            </p:cNvPr>
            <p:cNvSpPr txBox="1"/>
            <p:nvPr/>
          </p:nvSpPr>
          <p:spPr>
            <a:xfrm>
              <a:off x="8386845" y="3174354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52A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Consumer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64356DC-5A5C-06BA-E744-4C1323A167DB}"/>
              </a:ext>
            </a:extLst>
          </p:cNvPr>
          <p:cNvGrpSpPr/>
          <p:nvPr/>
        </p:nvGrpSpPr>
        <p:grpSpPr>
          <a:xfrm>
            <a:off x="7536218" y="2859930"/>
            <a:ext cx="2577778" cy="2955687"/>
            <a:chOff x="8634714" y="642551"/>
            <a:chExt cx="2577778" cy="295568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8E125C2-985C-FC0C-FABC-882C6E2CF57A}"/>
                </a:ext>
              </a:extLst>
            </p:cNvPr>
            <p:cNvSpPr txBox="1"/>
            <p:nvPr/>
          </p:nvSpPr>
          <p:spPr>
            <a:xfrm>
              <a:off x="8786111" y="3013463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52A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Thing</a:t>
              </a:r>
            </a:p>
          </p:txBody>
        </p:sp>
        <p:pic>
          <p:nvPicPr>
            <p:cNvPr id="34" name="Graphic 33" descr="Thermometer with solid fill">
              <a:extLst>
                <a:ext uri="{FF2B5EF4-FFF2-40B4-BE49-F238E27FC236}">
                  <a16:creationId xmlns:a16="http://schemas.microsoft.com/office/drawing/2014/main" id="{A96A5455-6C2D-84AF-C604-866D57D02E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9880948" y="642551"/>
              <a:ext cx="1178665" cy="1178665"/>
            </a:xfrm>
            <a:prstGeom prst="rect">
              <a:avLst/>
            </a:prstGeom>
          </p:spPr>
        </p:pic>
        <p:pic>
          <p:nvPicPr>
            <p:cNvPr id="35" name="Graphic 34" descr="Laptop with solid fill">
              <a:extLst>
                <a:ext uri="{FF2B5EF4-FFF2-40B4-BE49-F238E27FC236}">
                  <a16:creationId xmlns:a16="http://schemas.microsoft.com/office/drawing/2014/main" id="{D4F1E636-B2CF-0989-7E99-5168ADFAC7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8725406" y="656757"/>
              <a:ext cx="1365168" cy="1365167"/>
            </a:xfrm>
            <a:prstGeom prst="rect">
              <a:avLst/>
            </a:prstGeom>
          </p:spPr>
        </p:pic>
        <p:pic>
          <p:nvPicPr>
            <p:cNvPr id="36" name="Graphic 35" descr="Server with solid fill">
              <a:extLst>
                <a:ext uri="{FF2B5EF4-FFF2-40B4-BE49-F238E27FC236}">
                  <a16:creationId xmlns:a16="http://schemas.microsoft.com/office/drawing/2014/main" id="{3304F8E2-68F9-1EA7-41DF-35B409A89C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8634714" y="1748063"/>
              <a:ext cx="1364588" cy="1364588"/>
            </a:xfrm>
            <a:prstGeom prst="rect">
              <a:avLst/>
            </a:prstGeom>
          </p:spPr>
        </p:pic>
        <p:pic>
          <p:nvPicPr>
            <p:cNvPr id="37" name="Graphic 36" descr="Processor with solid fill">
              <a:extLst>
                <a:ext uri="{FF2B5EF4-FFF2-40B4-BE49-F238E27FC236}">
                  <a16:creationId xmlns:a16="http://schemas.microsoft.com/office/drawing/2014/main" id="{351840B8-7B5A-A1F3-FF1D-86B3B2F25D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843182" y="1803258"/>
              <a:ext cx="1254198" cy="1254198"/>
            </a:xfrm>
            <a:prstGeom prst="rect">
              <a:avLst/>
            </a:prstGeom>
          </p:spPr>
        </p:pic>
      </p:grpSp>
      <p:pic>
        <p:nvPicPr>
          <p:cNvPr id="39" name="Graphic 38" descr="Checkmark with solid fill">
            <a:extLst>
              <a:ext uri="{FF2B5EF4-FFF2-40B4-BE49-F238E27FC236}">
                <a16:creationId xmlns:a16="http://schemas.microsoft.com/office/drawing/2014/main" id="{831F3049-7720-A9F5-DB2A-5F5CBC8595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23646" y="2418631"/>
            <a:ext cx="571292" cy="571292"/>
          </a:xfrm>
          <a:prstGeom prst="rect">
            <a:avLst/>
          </a:prstGeom>
        </p:spPr>
      </p:pic>
      <p:pic>
        <p:nvPicPr>
          <p:cNvPr id="41" name="Graphic 40" descr="Checkmark with solid fill">
            <a:extLst>
              <a:ext uri="{FF2B5EF4-FFF2-40B4-BE49-F238E27FC236}">
                <a16:creationId xmlns:a16="http://schemas.microsoft.com/office/drawing/2014/main" id="{25CE7DC8-2164-3703-ED0B-3C5872E5C4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11478" y="2418631"/>
            <a:ext cx="571292" cy="57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058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9000">
        <p159:morph option="byObject"/>
      </p:transition>
    </mc:Choice>
    <mc:Fallback xmlns="">
      <p:transition spd="slow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65529-CBDA-338C-A943-07B2D95B3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1216F4-50C8-FD08-C998-F99479D7F3FA}"/>
              </a:ext>
            </a:extLst>
          </p:cNvPr>
          <p:cNvSpPr txBox="1">
            <a:spLocks/>
          </p:cNvSpPr>
          <p:nvPr/>
        </p:nvSpPr>
        <p:spPr>
          <a:xfrm>
            <a:off x="2198977" y="505683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Content Type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Content Placeholder 2" hidden="1">
            <a:extLst>
              <a:ext uri="{FF2B5EF4-FFF2-40B4-BE49-F238E27FC236}">
                <a16:creationId xmlns:a16="http://schemas.microsoft.com/office/drawing/2014/main" id="{AA015726-875B-D31D-30B0-4406DC16A538}"/>
              </a:ext>
            </a:extLst>
          </p:cNvPr>
          <p:cNvSpPr txBox="1">
            <a:spLocks/>
          </p:cNvSpPr>
          <p:nvPr/>
        </p:nvSpPr>
        <p:spPr>
          <a:xfrm>
            <a:off x="4668922" y="1941994"/>
            <a:ext cx="2854156" cy="585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": "https://..."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"op": "</a:t>
            </a:r>
            <a:r>
              <a:rPr lang="en-US" sz="18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readProperty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sp>
        <p:nvSpPr>
          <p:cNvPr id="16" name="TextBox 15" hidden="1">
            <a:extLst>
              <a:ext uri="{FF2B5EF4-FFF2-40B4-BE49-F238E27FC236}">
                <a16:creationId xmlns:a16="http://schemas.microsoft.com/office/drawing/2014/main" id="{2E98E71F-CA8E-1FB1-D135-6FA61A1508AD}"/>
              </a:ext>
            </a:extLst>
          </p:cNvPr>
          <p:cNvSpPr txBox="1"/>
          <p:nvPr/>
        </p:nvSpPr>
        <p:spPr>
          <a:xfrm>
            <a:off x="5432913" y="4193791"/>
            <a:ext cx="67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HTTP</a:t>
            </a:r>
            <a:endParaRPr lang="en-DE" dirty="0">
              <a:solidFill>
                <a:schemeClr val="accent1"/>
              </a:solidFill>
            </a:endParaRPr>
          </a:p>
        </p:txBody>
      </p:sp>
      <p:sp>
        <p:nvSpPr>
          <p:cNvPr id="22" name="Rounded Rectangle 16">
            <a:extLst>
              <a:ext uri="{FF2B5EF4-FFF2-40B4-BE49-F238E27FC236}">
                <a16:creationId xmlns:a16="http://schemas.microsoft.com/office/drawing/2014/main" id="{24D12E37-BD74-CDC0-319C-CBF0B9038B87}"/>
              </a:ext>
            </a:extLst>
          </p:cNvPr>
          <p:cNvSpPr/>
          <p:nvPr/>
        </p:nvSpPr>
        <p:spPr>
          <a:xfrm>
            <a:off x="4763095" y="3611299"/>
            <a:ext cx="2125017" cy="1164983"/>
          </a:xfrm>
          <a:prstGeom prst="roundRect">
            <a:avLst>
              <a:gd name="adj" fmla="val 1013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032427D1-6B51-B952-F055-5B85C1526966}"/>
              </a:ext>
            </a:extLst>
          </p:cNvPr>
          <p:cNvSpPr txBox="1"/>
          <p:nvPr/>
        </p:nvSpPr>
        <p:spPr>
          <a:xfrm>
            <a:off x="5200394" y="4015227"/>
            <a:ext cx="1221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2000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Payload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F4741AC5-4F94-535A-AA8B-7AE0F3967CC7}"/>
              </a:ext>
            </a:extLst>
          </p:cNvPr>
          <p:cNvSpPr txBox="1"/>
          <p:nvPr/>
        </p:nvSpPr>
        <p:spPr>
          <a:xfrm>
            <a:off x="5200394" y="3699972"/>
            <a:ext cx="1221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JSON?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210E2DC-8E75-7970-687C-10D7768CADA2}"/>
              </a:ext>
            </a:extLst>
          </p:cNvPr>
          <p:cNvGrpSpPr/>
          <p:nvPr/>
        </p:nvGrpSpPr>
        <p:grpSpPr>
          <a:xfrm>
            <a:off x="1739018" y="2935926"/>
            <a:ext cx="2916766" cy="2827081"/>
            <a:chOff x="8386845" y="932048"/>
            <a:chExt cx="2916766" cy="2827081"/>
          </a:xfrm>
        </p:grpSpPr>
        <p:pic>
          <p:nvPicPr>
            <p:cNvPr id="28" name="Graphic 27" descr="Remote control with solid fill">
              <a:extLst>
                <a:ext uri="{FF2B5EF4-FFF2-40B4-BE49-F238E27FC236}">
                  <a16:creationId xmlns:a16="http://schemas.microsoft.com/office/drawing/2014/main" id="{D1D93ECC-C341-7998-E567-FA95879115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59308" y="1024053"/>
              <a:ext cx="2144303" cy="2144303"/>
            </a:xfrm>
            <a:prstGeom prst="rect">
              <a:avLst/>
            </a:prstGeom>
          </p:spPr>
        </p:pic>
        <p:pic>
          <p:nvPicPr>
            <p:cNvPr id="29" name="Graphic 28" descr="Cmd Terminal with solid fill">
              <a:extLst>
                <a:ext uri="{FF2B5EF4-FFF2-40B4-BE49-F238E27FC236}">
                  <a16:creationId xmlns:a16="http://schemas.microsoft.com/office/drawing/2014/main" id="{FA782B51-2A1C-6CDF-7239-0A99BC3A07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99253" y="932048"/>
              <a:ext cx="1257866" cy="1257865"/>
            </a:xfrm>
            <a:prstGeom prst="rect">
              <a:avLst/>
            </a:prstGeom>
          </p:spPr>
        </p:pic>
        <p:pic>
          <p:nvPicPr>
            <p:cNvPr id="30" name="Graphic 29" descr="Ui Ux with solid fill">
              <a:extLst>
                <a:ext uri="{FF2B5EF4-FFF2-40B4-BE49-F238E27FC236}">
                  <a16:creationId xmlns:a16="http://schemas.microsoft.com/office/drawing/2014/main" id="{BA18BD7F-89FD-2471-0F08-5D326081B6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99253" y="2015677"/>
              <a:ext cx="1257866" cy="1257865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41681BA-2661-6F92-CF59-AF86035276B4}"/>
                </a:ext>
              </a:extLst>
            </p:cNvPr>
            <p:cNvSpPr txBox="1"/>
            <p:nvPr/>
          </p:nvSpPr>
          <p:spPr>
            <a:xfrm>
              <a:off x="8386845" y="3174354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52A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Consumer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F3BF51F-2DA4-BEA2-3470-9D8F3A4736F5}"/>
              </a:ext>
            </a:extLst>
          </p:cNvPr>
          <p:cNvGrpSpPr/>
          <p:nvPr/>
        </p:nvGrpSpPr>
        <p:grpSpPr>
          <a:xfrm>
            <a:off x="7536218" y="2859930"/>
            <a:ext cx="2577778" cy="2955687"/>
            <a:chOff x="8634714" y="642551"/>
            <a:chExt cx="2577778" cy="295568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09BDA2D-CE1E-AA26-0234-C4B70390EF7A}"/>
                </a:ext>
              </a:extLst>
            </p:cNvPr>
            <p:cNvSpPr txBox="1"/>
            <p:nvPr/>
          </p:nvSpPr>
          <p:spPr>
            <a:xfrm>
              <a:off x="8786111" y="3013463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52A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Thing</a:t>
              </a:r>
            </a:p>
          </p:txBody>
        </p:sp>
        <p:pic>
          <p:nvPicPr>
            <p:cNvPr id="34" name="Graphic 33" descr="Thermometer with solid fill">
              <a:extLst>
                <a:ext uri="{FF2B5EF4-FFF2-40B4-BE49-F238E27FC236}">
                  <a16:creationId xmlns:a16="http://schemas.microsoft.com/office/drawing/2014/main" id="{AC880FB9-F727-E323-A5EF-58BF8C3089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9880948" y="642551"/>
              <a:ext cx="1178665" cy="1178665"/>
            </a:xfrm>
            <a:prstGeom prst="rect">
              <a:avLst/>
            </a:prstGeom>
          </p:spPr>
        </p:pic>
        <p:pic>
          <p:nvPicPr>
            <p:cNvPr id="35" name="Graphic 34" descr="Laptop with solid fill">
              <a:extLst>
                <a:ext uri="{FF2B5EF4-FFF2-40B4-BE49-F238E27FC236}">
                  <a16:creationId xmlns:a16="http://schemas.microsoft.com/office/drawing/2014/main" id="{A2DF0E6D-CA5B-3CBC-520D-5F7F5DB094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8725406" y="656757"/>
              <a:ext cx="1365168" cy="1365167"/>
            </a:xfrm>
            <a:prstGeom prst="rect">
              <a:avLst/>
            </a:prstGeom>
          </p:spPr>
        </p:pic>
        <p:pic>
          <p:nvPicPr>
            <p:cNvPr id="36" name="Graphic 35" descr="Server with solid fill">
              <a:extLst>
                <a:ext uri="{FF2B5EF4-FFF2-40B4-BE49-F238E27FC236}">
                  <a16:creationId xmlns:a16="http://schemas.microsoft.com/office/drawing/2014/main" id="{7BF9CB5E-C227-5C50-E760-364B83E277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8634714" y="1748063"/>
              <a:ext cx="1364588" cy="1364588"/>
            </a:xfrm>
            <a:prstGeom prst="rect">
              <a:avLst/>
            </a:prstGeom>
          </p:spPr>
        </p:pic>
        <p:pic>
          <p:nvPicPr>
            <p:cNvPr id="37" name="Graphic 36" descr="Processor with solid fill">
              <a:extLst>
                <a:ext uri="{FF2B5EF4-FFF2-40B4-BE49-F238E27FC236}">
                  <a16:creationId xmlns:a16="http://schemas.microsoft.com/office/drawing/2014/main" id="{C5901B59-7609-28CD-CB78-F76B11A95A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843182" y="1803258"/>
              <a:ext cx="1254198" cy="1254198"/>
            </a:xfrm>
            <a:prstGeom prst="rect">
              <a:avLst/>
            </a:prstGeom>
          </p:spPr>
        </p:pic>
      </p:grp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54755CA-927B-7A3A-49E7-2BBBD0F7F370}"/>
              </a:ext>
            </a:extLst>
          </p:cNvPr>
          <p:cNvSpPr/>
          <p:nvPr/>
        </p:nvSpPr>
        <p:spPr>
          <a:xfrm rot="10800000">
            <a:off x="5571041" y="4483909"/>
            <a:ext cx="509123" cy="163827"/>
          </a:xfrm>
          <a:custGeom>
            <a:avLst/>
            <a:gdLst>
              <a:gd name="csX0" fmla="*/ 365760 w 384809"/>
              <a:gd name="csY0" fmla="*/ 0 h 123825"/>
              <a:gd name="csX1" fmla="*/ 350520 w 384809"/>
              <a:gd name="csY1" fmla="*/ 7620 h 123825"/>
              <a:gd name="csX2" fmla="*/ 192405 w 384809"/>
              <a:gd name="csY2" fmla="*/ 84773 h 123825"/>
              <a:gd name="csX3" fmla="*/ 34290 w 384809"/>
              <a:gd name="csY3" fmla="*/ 7620 h 123825"/>
              <a:gd name="csX4" fmla="*/ 19050 w 384809"/>
              <a:gd name="csY4" fmla="*/ 0 h 123825"/>
              <a:gd name="csX5" fmla="*/ 0 w 384809"/>
              <a:gd name="csY5" fmla="*/ 19050 h 123825"/>
              <a:gd name="csX6" fmla="*/ 3810 w 384809"/>
              <a:gd name="csY6" fmla="*/ 30480 h 123825"/>
              <a:gd name="csX7" fmla="*/ 192405 w 384809"/>
              <a:gd name="csY7" fmla="*/ 123825 h 123825"/>
              <a:gd name="csX8" fmla="*/ 381000 w 384809"/>
              <a:gd name="csY8" fmla="*/ 30480 h 123825"/>
              <a:gd name="csX9" fmla="*/ 384810 w 384809"/>
              <a:gd name="csY9" fmla="*/ 19050 h 123825"/>
              <a:gd name="csX10" fmla="*/ 365760 w 384809"/>
              <a:gd name="csY10" fmla="*/ 0 h 1238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84809" h="123825">
                <a:moveTo>
                  <a:pt x="365760" y="0"/>
                </a:moveTo>
                <a:cubicBezTo>
                  <a:pt x="359093" y="0"/>
                  <a:pt x="353378" y="2857"/>
                  <a:pt x="350520" y="7620"/>
                </a:cubicBezTo>
                <a:cubicBezTo>
                  <a:pt x="314325" y="55245"/>
                  <a:pt x="257175" y="84773"/>
                  <a:pt x="192405" y="84773"/>
                </a:cubicBezTo>
                <a:cubicBezTo>
                  <a:pt x="127635" y="84773"/>
                  <a:pt x="71438" y="55245"/>
                  <a:pt x="34290" y="7620"/>
                </a:cubicBezTo>
                <a:cubicBezTo>
                  <a:pt x="30480" y="2857"/>
                  <a:pt x="24765" y="0"/>
                  <a:pt x="19050" y="0"/>
                </a:cubicBezTo>
                <a:cubicBezTo>
                  <a:pt x="8573" y="0"/>
                  <a:pt x="0" y="8573"/>
                  <a:pt x="0" y="19050"/>
                </a:cubicBezTo>
                <a:cubicBezTo>
                  <a:pt x="0" y="22860"/>
                  <a:pt x="953" y="26670"/>
                  <a:pt x="3810" y="30480"/>
                </a:cubicBezTo>
                <a:cubicBezTo>
                  <a:pt x="47625" y="87630"/>
                  <a:pt x="115253" y="123825"/>
                  <a:pt x="192405" y="123825"/>
                </a:cubicBezTo>
                <a:cubicBezTo>
                  <a:pt x="269558" y="123825"/>
                  <a:pt x="337185" y="87630"/>
                  <a:pt x="381000" y="30480"/>
                </a:cubicBezTo>
                <a:cubicBezTo>
                  <a:pt x="382905" y="27623"/>
                  <a:pt x="384810" y="23813"/>
                  <a:pt x="384810" y="19050"/>
                </a:cubicBezTo>
                <a:cubicBezTo>
                  <a:pt x="384810" y="8573"/>
                  <a:pt x="376238" y="0"/>
                  <a:pt x="36576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DE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3C45DBF-38C5-9C88-071B-255C3DF5CCF5}"/>
              </a:ext>
            </a:extLst>
          </p:cNvPr>
          <p:cNvSpPr txBox="1">
            <a:spLocks/>
          </p:cNvSpPr>
          <p:nvPr/>
        </p:nvSpPr>
        <p:spPr>
          <a:xfrm>
            <a:off x="2163192" y="2032979"/>
            <a:ext cx="7865617" cy="2878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Explicitly declaring content types improves interoperability!</a:t>
            </a:r>
          </a:p>
        </p:txBody>
      </p:sp>
    </p:spTree>
    <p:extLst>
      <p:ext uri="{BB962C8B-B14F-4D97-AF65-F5344CB8AC3E}">
        <p14:creationId xmlns:p14="http://schemas.microsoft.com/office/powerpoint/2010/main" val="808851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9BA05-7309-5A61-AEA1-E4B009E15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FDEC23-DB1E-33EA-F9BC-0FEC824E63F0}"/>
              </a:ext>
            </a:extLst>
          </p:cNvPr>
          <p:cNvSpPr txBox="1">
            <a:spLocks/>
          </p:cNvSpPr>
          <p:nvPr/>
        </p:nvSpPr>
        <p:spPr>
          <a:xfrm>
            <a:off x="2198977" y="505683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Content Type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Content Placeholder 2" hidden="1">
            <a:extLst>
              <a:ext uri="{FF2B5EF4-FFF2-40B4-BE49-F238E27FC236}">
                <a16:creationId xmlns:a16="http://schemas.microsoft.com/office/drawing/2014/main" id="{36C89283-3AD3-338A-D833-6066E0AF382E}"/>
              </a:ext>
            </a:extLst>
          </p:cNvPr>
          <p:cNvSpPr txBox="1">
            <a:spLocks/>
          </p:cNvSpPr>
          <p:nvPr/>
        </p:nvSpPr>
        <p:spPr>
          <a:xfrm>
            <a:off x="4668922" y="1941994"/>
            <a:ext cx="2854156" cy="585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": "https://..."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"op": "</a:t>
            </a:r>
            <a:r>
              <a:rPr lang="en-US" sz="18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readProperty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75A9036-1C8B-090F-A1BE-61A27E3137AB}"/>
              </a:ext>
            </a:extLst>
          </p:cNvPr>
          <p:cNvSpPr txBox="1">
            <a:spLocks/>
          </p:cNvSpPr>
          <p:nvPr/>
        </p:nvSpPr>
        <p:spPr>
          <a:xfrm>
            <a:off x="3848972" y="1941994"/>
            <a:ext cx="1942228" cy="2878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contentType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</a:t>
            </a:r>
          </a:p>
        </p:txBody>
      </p:sp>
      <p:sp>
        <p:nvSpPr>
          <p:cNvPr id="16" name="TextBox 15" hidden="1">
            <a:extLst>
              <a:ext uri="{FF2B5EF4-FFF2-40B4-BE49-F238E27FC236}">
                <a16:creationId xmlns:a16="http://schemas.microsoft.com/office/drawing/2014/main" id="{DAAFF532-9951-A6B5-7B9F-EC2EBDCBC10C}"/>
              </a:ext>
            </a:extLst>
          </p:cNvPr>
          <p:cNvSpPr txBox="1"/>
          <p:nvPr/>
        </p:nvSpPr>
        <p:spPr>
          <a:xfrm>
            <a:off x="5432913" y="4193791"/>
            <a:ext cx="67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HTTP</a:t>
            </a:r>
            <a:endParaRPr lang="en-DE" dirty="0">
              <a:solidFill>
                <a:schemeClr val="accent1"/>
              </a:solidFill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EE3974B-8366-EFB9-F0EA-1607E0F1344F}"/>
              </a:ext>
            </a:extLst>
          </p:cNvPr>
          <p:cNvSpPr txBox="1">
            <a:spLocks/>
          </p:cNvSpPr>
          <p:nvPr/>
        </p:nvSpPr>
        <p:spPr>
          <a:xfrm>
            <a:off x="5693579" y="1935776"/>
            <a:ext cx="2592168" cy="2878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"text/plain"</a:t>
            </a:r>
          </a:p>
        </p:txBody>
      </p:sp>
      <p:sp>
        <p:nvSpPr>
          <p:cNvPr id="22" name="Rounded Rectangle 16">
            <a:extLst>
              <a:ext uri="{FF2B5EF4-FFF2-40B4-BE49-F238E27FC236}">
                <a16:creationId xmlns:a16="http://schemas.microsoft.com/office/drawing/2014/main" id="{3BDC16DA-B66D-D3DC-E188-30D17AB80041}"/>
              </a:ext>
            </a:extLst>
          </p:cNvPr>
          <p:cNvSpPr/>
          <p:nvPr/>
        </p:nvSpPr>
        <p:spPr>
          <a:xfrm>
            <a:off x="4763095" y="3611299"/>
            <a:ext cx="2125017" cy="1164983"/>
          </a:xfrm>
          <a:prstGeom prst="roundRect">
            <a:avLst>
              <a:gd name="adj" fmla="val 10130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1E01A4FB-8206-F97B-F5FD-E3D0082F23E3}"/>
              </a:ext>
            </a:extLst>
          </p:cNvPr>
          <p:cNvSpPr txBox="1"/>
          <p:nvPr/>
        </p:nvSpPr>
        <p:spPr>
          <a:xfrm>
            <a:off x="5200394" y="4015227"/>
            <a:ext cx="1221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2000" dirty="0">
                <a:solidFill>
                  <a:schemeClr val="accent6">
                    <a:lumMod val="50000"/>
                  </a:schemeClr>
                </a:solidFill>
                <a:latin typeface="Century Gothic" panose="020B0502020202020204" pitchFamily="34" charset="0"/>
              </a:rPr>
              <a:t>Payload</a:t>
            </a:r>
            <a:endParaRPr lang="en-US" sz="2000" dirty="0">
              <a:solidFill>
                <a:schemeClr val="accent6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4301840F-5011-18AF-5F11-F21B8313196F}"/>
              </a:ext>
            </a:extLst>
          </p:cNvPr>
          <p:cNvSpPr txBox="1"/>
          <p:nvPr/>
        </p:nvSpPr>
        <p:spPr>
          <a:xfrm>
            <a:off x="5200394" y="3699972"/>
            <a:ext cx="1221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entury Gothic" panose="020B0502020202020204" pitchFamily="34" charset="0"/>
              </a:rPr>
              <a:t>TEXT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DBA6378-E6E2-F172-C046-BF43C6EEAFFD}"/>
              </a:ext>
            </a:extLst>
          </p:cNvPr>
          <p:cNvGrpSpPr/>
          <p:nvPr/>
        </p:nvGrpSpPr>
        <p:grpSpPr>
          <a:xfrm>
            <a:off x="1739018" y="2935926"/>
            <a:ext cx="2916766" cy="2827081"/>
            <a:chOff x="8386845" y="932048"/>
            <a:chExt cx="2916766" cy="2827081"/>
          </a:xfrm>
        </p:grpSpPr>
        <p:pic>
          <p:nvPicPr>
            <p:cNvPr id="28" name="Graphic 27" descr="Remote control with solid fill">
              <a:extLst>
                <a:ext uri="{FF2B5EF4-FFF2-40B4-BE49-F238E27FC236}">
                  <a16:creationId xmlns:a16="http://schemas.microsoft.com/office/drawing/2014/main" id="{78D39AC4-DDBD-FBE7-DBA9-C0131A5A90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59308" y="1024053"/>
              <a:ext cx="2144303" cy="2144303"/>
            </a:xfrm>
            <a:prstGeom prst="rect">
              <a:avLst/>
            </a:prstGeom>
          </p:spPr>
        </p:pic>
        <p:pic>
          <p:nvPicPr>
            <p:cNvPr id="29" name="Graphic 28" descr="Cmd Terminal with solid fill">
              <a:extLst>
                <a:ext uri="{FF2B5EF4-FFF2-40B4-BE49-F238E27FC236}">
                  <a16:creationId xmlns:a16="http://schemas.microsoft.com/office/drawing/2014/main" id="{480A2762-F007-4F9A-0907-15BAB973AE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99253" y="932048"/>
              <a:ext cx="1257866" cy="1257865"/>
            </a:xfrm>
            <a:prstGeom prst="rect">
              <a:avLst/>
            </a:prstGeom>
          </p:spPr>
        </p:pic>
        <p:pic>
          <p:nvPicPr>
            <p:cNvPr id="30" name="Graphic 29" descr="Ui Ux with solid fill">
              <a:extLst>
                <a:ext uri="{FF2B5EF4-FFF2-40B4-BE49-F238E27FC236}">
                  <a16:creationId xmlns:a16="http://schemas.microsoft.com/office/drawing/2014/main" id="{B1B67077-D860-E528-A6C6-EAD847479B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99253" y="2015677"/>
              <a:ext cx="1257866" cy="1257865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2FDA7D7-A0A2-7A7A-D90A-C9ED12E1996F}"/>
                </a:ext>
              </a:extLst>
            </p:cNvPr>
            <p:cNvSpPr txBox="1"/>
            <p:nvPr/>
          </p:nvSpPr>
          <p:spPr>
            <a:xfrm>
              <a:off x="8386845" y="3174354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52A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Consumer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0C27B48-EE8F-BAF1-3FAC-8E3C78159016}"/>
              </a:ext>
            </a:extLst>
          </p:cNvPr>
          <p:cNvGrpSpPr/>
          <p:nvPr/>
        </p:nvGrpSpPr>
        <p:grpSpPr>
          <a:xfrm>
            <a:off x="7536218" y="2859930"/>
            <a:ext cx="2577778" cy="2955687"/>
            <a:chOff x="8634714" y="642551"/>
            <a:chExt cx="2577778" cy="295568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8E9F40A-409F-173E-0B05-AD311D0F45FD}"/>
                </a:ext>
              </a:extLst>
            </p:cNvPr>
            <p:cNvSpPr txBox="1"/>
            <p:nvPr/>
          </p:nvSpPr>
          <p:spPr>
            <a:xfrm>
              <a:off x="8786111" y="3013463"/>
              <a:ext cx="24263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52A5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Thing</a:t>
              </a:r>
            </a:p>
          </p:txBody>
        </p:sp>
        <p:pic>
          <p:nvPicPr>
            <p:cNvPr id="34" name="Graphic 33" descr="Thermometer with solid fill">
              <a:extLst>
                <a:ext uri="{FF2B5EF4-FFF2-40B4-BE49-F238E27FC236}">
                  <a16:creationId xmlns:a16="http://schemas.microsoft.com/office/drawing/2014/main" id="{E1B627F6-40AF-5687-8291-FA5E14B117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9880948" y="642551"/>
              <a:ext cx="1178665" cy="1178665"/>
            </a:xfrm>
            <a:prstGeom prst="rect">
              <a:avLst/>
            </a:prstGeom>
          </p:spPr>
        </p:pic>
        <p:pic>
          <p:nvPicPr>
            <p:cNvPr id="35" name="Graphic 34" descr="Laptop with solid fill">
              <a:extLst>
                <a:ext uri="{FF2B5EF4-FFF2-40B4-BE49-F238E27FC236}">
                  <a16:creationId xmlns:a16="http://schemas.microsoft.com/office/drawing/2014/main" id="{1038AF2B-0C14-2B09-A5A0-E764DA4B0A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8725406" y="656757"/>
              <a:ext cx="1365168" cy="1365167"/>
            </a:xfrm>
            <a:prstGeom prst="rect">
              <a:avLst/>
            </a:prstGeom>
          </p:spPr>
        </p:pic>
        <p:pic>
          <p:nvPicPr>
            <p:cNvPr id="36" name="Graphic 35" descr="Server with solid fill">
              <a:extLst>
                <a:ext uri="{FF2B5EF4-FFF2-40B4-BE49-F238E27FC236}">
                  <a16:creationId xmlns:a16="http://schemas.microsoft.com/office/drawing/2014/main" id="{FE5393C8-1769-6417-9D85-24B839CEBF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8634714" y="1748063"/>
              <a:ext cx="1364588" cy="1364588"/>
            </a:xfrm>
            <a:prstGeom prst="rect">
              <a:avLst/>
            </a:prstGeom>
          </p:spPr>
        </p:pic>
        <p:pic>
          <p:nvPicPr>
            <p:cNvPr id="37" name="Graphic 36" descr="Processor with solid fill">
              <a:extLst>
                <a:ext uri="{FF2B5EF4-FFF2-40B4-BE49-F238E27FC236}">
                  <a16:creationId xmlns:a16="http://schemas.microsoft.com/office/drawing/2014/main" id="{BC2C3B14-41AA-722D-7D5B-6B5D24A2A8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843182" y="1803258"/>
              <a:ext cx="1254198" cy="1254198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56978-EE9E-2B65-E1B8-44596B51D447}"/>
              </a:ext>
            </a:extLst>
          </p:cNvPr>
          <p:cNvGrpSpPr/>
          <p:nvPr/>
        </p:nvGrpSpPr>
        <p:grpSpPr>
          <a:xfrm>
            <a:off x="5571041" y="4483909"/>
            <a:ext cx="509123" cy="554759"/>
            <a:chOff x="5571041" y="4483909"/>
            <a:chExt cx="509123" cy="55475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82CF37F-A40C-5B52-0A36-F264840D08D4}"/>
                </a:ext>
              </a:extLst>
            </p:cNvPr>
            <p:cNvSpPr/>
            <p:nvPr/>
          </p:nvSpPr>
          <p:spPr>
            <a:xfrm>
              <a:off x="5571041" y="4483909"/>
              <a:ext cx="509123" cy="163827"/>
            </a:xfrm>
            <a:custGeom>
              <a:avLst/>
              <a:gdLst>
                <a:gd name="csX0" fmla="*/ 365760 w 384809"/>
                <a:gd name="csY0" fmla="*/ 0 h 123825"/>
                <a:gd name="csX1" fmla="*/ 350520 w 384809"/>
                <a:gd name="csY1" fmla="*/ 7620 h 123825"/>
                <a:gd name="csX2" fmla="*/ 192405 w 384809"/>
                <a:gd name="csY2" fmla="*/ 84773 h 123825"/>
                <a:gd name="csX3" fmla="*/ 34290 w 384809"/>
                <a:gd name="csY3" fmla="*/ 7620 h 123825"/>
                <a:gd name="csX4" fmla="*/ 19050 w 384809"/>
                <a:gd name="csY4" fmla="*/ 0 h 123825"/>
                <a:gd name="csX5" fmla="*/ 0 w 384809"/>
                <a:gd name="csY5" fmla="*/ 19050 h 123825"/>
                <a:gd name="csX6" fmla="*/ 3810 w 384809"/>
                <a:gd name="csY6" fmla="*/ 30480 h 123825"/>
                <a:gd name="csX7" fmla="*/ 192405 w 384809"/>
                <a:gd name="csY7" fmla="*/ 123825 h 123825"/>
                <a:gd name="csX8" fmla="*/ 381000 w 384809"/>
                <a:gd name="csY8" fmla="*/ 30480 h 123825"/>
                <a:gd name="csX9" fmla="*/ 384810 w 384809"/>
                <a:gd name="csY9" fmla="*/ 19050 h 123825"/>
                <a:gd name="csX10" fmla="*/ 365760 w 384809"/>
                <a:gd name="csY10" fmla="*/ 0 h 123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84809" h="123825">
                  <a:moveTo>
                    <a:pt x="365760" y="0"/>
                  </a:moveTo>
                  <a:cubicBezTo>
                    <a:pt x="359093" y="0"/>
                    <a:pt x="353378" y="2857"/>
                    <a:pt x="350520" y="7620"/>
                  </a:cubicBezTo>
                  <a:cubicBezTo>
                    <a:pt x="314325" y="55245"/>
                    <a:pt x="257175" y="84773"/>
                    <a:pt x="192405" y="84773"/>
                  </a:cubicBezTo>
                  <a:cubicBezTo>
                    <a:pt x="127635" y="84773"/>
                    <a:pt x="71438" y="55245"/>
                    <a:pt x="34290" y="7620"/>
                  </a:cubicBezTo>
                  <a:cubicBezTo>
                    <a:pt x="30480" y="2857"/>
                    <a:pt x="24765" y="0"/>
                    <a:pt x="19050" y="0"/>
                  </a:cubicBezTo>
                  <a:cubicBezTo>
                    <a:pt x="8573" y="0"/>
                    <a:pt x="0" y="8573"/>
                    <a:pt x="0" y="19050"/>
                  </a:cubicBezTo>
                  <a:cubicBezTo>
                    <a:pt x="0" y="22860"/>
                    <a:pt x="953" y="26670"/>
                    <a:pt x="3810" y="30480"/>
                  </a:cubicBezTo>
                  <a:cubicBezTo>
                    <a:pt x="47625" y="87630"/>
                    <a:pt x="115253" y="123825"/>
                    <a:pt x="192405" y="123825"/>
                  </a:cubicBezTo>
                  <a:cubicBezTo>
                    <a:pt x="269558" y="123825"/>
                    <a:pt x="337185" y="87630"/>
                    <a:pt x="381000" y="30480"/>
                  </a:cubicBezTo>
                  <a:cubicBezTo>
                    <a:pt x="382905" y="27623"/>
                    <a:pt x="384810" y="23813"/>
                    <a:pt x="384810" y="19050"/>
                  </a:cubicBezTo>
                  <a:cubicBezTo>
                    <a:pt x="384810" y="8573"/>
                    <a:pt x="376238" y="0"/>
                    <a:pt x="365760" y="0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7C50928-8B1A-39E0-767E-01CD7BB14841}"/>
                </a:ext>
              </a:extLst>
            </p:cNvPr>
            <p:cNvSpPr/>
            <p:nvPr/>
          </p:nvSpPr>
          <p:spPr>
            <a:xfrm>
              <a:off x="5571041" y="4874841"/>
              <a:ext cx="509123" cy="163827"/>
            </a:xfrm>
            <a:custGeom>
              <a:avLst/>
              <a:gdLst>
                <a:gd name="csX0" fmla="*/ 365760 w 384809"/>
                <a:gd name="csY0" fmla="*/ 0 h 123825"/>
                <a:gd name="csX1" fmla="*/ 350520 w 384809"/>
                <a:gd name="csY1" fmla="*/ 7620 h 123825"/>
                <a:gd name="csX2" fmla="*/ 192405 w 384809"/>
                <a:gd name="csY2" fmla="*/ 84773 h 123825"/>
                <a:gd name="csX3" fmla="*/ 34290 w 384809"/>
                <a:gd name="csY3" fmla="*/ 7620 h 123825"/>
                <a:gd name="csX4" fmla="*/ 19050 w 384809"/>
                <a:gd name="csY4" fmla="*/ 0 h 123825"/>
                <a:gd name="csX5" fmla="*/ 0 w 384809"/>
                <a:gd name="csY5" fmla="*/ 19050 h 123825"/>
                <a:gd name="csX6" fmla="*/ 3810 w 384809"/>
                <a:gd name="csY6" fmla="*/ 30480 h 123825"/>
                <a:gd name="csX7" fmla="*/ 192405 w 384809"/>
                <a:gd name="csY7" fmla="*/ 123825 h 123825"/>
                <a:gd name="csX8" fmla="*/ 381000 w 384809"/>
                <a:gd name="csY8" fmla="*/ 30480 h 123825"/>
                <a:gd name="csX9" fmla="*/ 384810 w 384809"/>
                <a:gd name="csY9" fmla="*/ 19050 h 123825"/>
                <a:gd name="csX10" fmla="*/ 365760 w 384809"/>
                <a:gd name="csY10" fmla="*/ 0 h 123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84809" h="123825">
                  <a:moveTo>
                    <a:pt x="365760" y="0"/>
                  </a:moveTo>
                  <a:cubicBezTo>
                    <a:pt x="359093" y="0"/>
                    <a:pt x="353378" y="2857"/>
                    <a:pt x="350520" y="7620"/>
                  </a:cubicBezTo>
                  <a:cubicBezTo>
                    <a:pt x="314325" y="55245"/>
                    <a:pt x="257175" y="84773"/>
                    <a:pt x="192405" y="84773"/>
                  </a:cubicBezTo>
                  <a:cubicBezTo>
                    <a:pt x="127635" y="84773"/>
                    <a:pt x="71438" y="55245"/>
                    <a:pt x="34290" y="7620"/>
                  </a:cubicBezTo>
                  <a:cubicBezTo>
                    <a:pt x="30480" y="2857"/>
                    <a:pt x="24765" y="0"/>
                    <a:pt x="19050" y="0"/>
                  </a:cubicBezTo>
                  <a:cubicBezTo>
                    <a:pt x="8573" y="0"/>
                    <a:pt x="0" y="8573"/>
                    <a:pt x="0" y="19050"/>
                  </a:cubicBezTo>
                  <a:cubicBezTo>
                    <a:pt x="0" y="22860"/>
                    <a:pt x="953" y="26670"/>
                    <a:pt x="3810" y="30480"/>
                  </a:cubicBezTo>
                  <a:cubicBezTo>
                    <a:pt x="47625" y="87630"/>
                    <a:pt x="115253" y="123825"/>
                    <a:pt x="192405" y="123825"/>
                  </a:cubicBezTo>
                  <a:cubicBezTo>
                    <a:pt x="269558" y="123825"/>
                    <a:pt x="337185" y="87630"/>
                    <a:pt x="381000" y="30480"/>
                  </a:cubicBezTo>
                  <a:cubicBezTo>
                    <a:pt x="382905" y="27623"/>
                    <a:pt x="384810" y="23813"/>
                    <a:pt x="384810" y="19050"/>
                  </a:cubicBezTo>
                  <a:cubicBezTo>
                    <a:pt x="384810" y="8573"/>
                    <a:pt x="376238" y="0"/>
                    <a:pt x="365760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DE"/>
            </a:p>
          </p:txBody>
        </p:sp>
      </p:grpSp>
    </p:spTree>
    <p:extLst>
      <p:ext uri="{BB962C8B-B14F-4D97-AF65-F5344CB8AC3E}">
        <p14:creationId xmlns:p14="http://schemas.microsoft.com/office/powerpoint/2010/main" val="2673889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B7E54-A667-0AF6-1A54-30808FE7B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19A88F7-E201-6161-027A-4D470F57B4E6}"/>
              </a:ext>
            </a:extLst>
          </p:cNvPr>
          <p:cNvSpPr txBox="1">
            <a:spLocks/>
          </p:cNvSpPr>
          <p:nvPr/>
        </p:nvSpPr>
        <p:spPr>
          <a:xfrm>
            <a:off x="2198977" y="2766218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Protocol-Specific Vocabulary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Content Placeholder 2" hidden="1">
            <a:extLst>
              <a:ext uri="{FF2B5EF4-FFF2-40B4-BE49-F238E27FC236}">
                <a16:creationId xmlns:a16="http://schemas.microsoft.com/office/drawing/2014/main" id="{2A404137-0958-6DA4-E4F8-724807791A90}"/>
              </a:ext>
            </a:extLst>
          </p:cNvPr>
          <p:cNvSpPr txBox="1">
            <a:spLocks/>
          </p:cNvSpPr>
          <p:nvPr/>
        </p:nvSpPr>
        <p:spPr>
          <a:xfrm>
            <a:off x="4668922" y="1941994"/>
            <a:ext cx="2854156" cy="585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": "https://..."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"op": "</a:t>
            </a:r>
            <a:r>
              <a:rPr lang="en-US" sz="18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readProperty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</p:txBody>
      </p:sp>
      <p:sp>
        <p:nvSpPr>
          <p:cNvPr id="16" name="TextBox 15" hidden="1">
            <a:extLst>
              <a:ext uri="{FF2B5EF4-FFF2-40B4-BE49-F238E27FC236}">
                <a16:creationId xmlns:a16="http://schemas.microsoft.com/office/drawing/2014/main" id="{6BA29AC3-6119-867A-D763-CACA78786170}"/>
              </a:ext>
            </a:extLst>
          </p:cNvPr>
          <p:cNvSpPr txBox="1"/>
          <p:nvPr/>
        </p:nvSpPr>
        <p:spPr>
          <a:xfrm>
            <a:off x="5432913" y="4193791"/>
            <a:ext cx="67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HTTP</a:t>
            </a:r>
            <a:endParaRPr lang="en-DE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7668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41D4A-3DC6-E0F0-35EA-4EB7F92F1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10B697D-E358-62E6-F75B-D6CFFAEBF352}"/>
              </a:ext>
            </a:extLst>
          </p:cNvPr>
          <p:cNvSpPr txBox="1">
            <a:spLocks/>
          </p:cNvSpPr>
          <p:nvPr/>
        </p:nvSpPr>
        <p:spPr>
          <a:xfrm>
            <a:off x="2198977" y="735148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Protocol-Specific Vocabulary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90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32D81-53C0-4403-5375-E0D874D55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8B9CB1D-57A5-ACD7-7580-74BE2EE3AC39}"/>
              </a:ext>
            </a:extLst>
          </p:cNvPr>
          <p:cNvSpPr txBox="1">
            <a:spLocks/>
          </p:cNvSpPr>
          <p:nvPr/>
        </p:nvSpPr>
        <p:spPr>
          <a:xfrm>
            <a:off x="2198977" y="735148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Protocol-Specific Vocabulary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84BE7-2738-A46B-42D9-2A6964A4DC54}"/>
              </a:ext>
            </a:extLst>
          </p:cNvPr>
          <p:cNvSpPr txBox="1">
            <a:spLocks/>
          </p:cNvSpPr>
          <p:nvPr/>
        </p:nvSpPr>
        <p:spPr>
          <a:xfrm>
            <a:off x="4367304" y="2745413"/>
            <a:ext cx="3905223" cy="6229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"forms":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 ... ]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E4E1976-83A0-DC9C-9DD4-65ECD268E160}"/>
              </a:ext>
            </a:extLst>
          </p:cNvPr>
          <p:cNvSpPr txBox="1">
            <a:spLocks/>
          </p:cNvSpPr>
          <p:nvPr/>
        </p:nvSpPr>
        <p:spPr>
          <a:xfrm>
            <a:off x="4367302" y="2745412"/>
            <a:ext cx="4847817" cy="31524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       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...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"op"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...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contentType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...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3848F0-6928-4CF6-201B-D359B40AF183}"/>
              </a:ext>
            </a:extLst>
          </p:cNvPr>
          <p:cNvSpPr txBox="1"/>
          <p:nvPr/>
        </p:nvSpPr>
        <p:spPr>
          <a:xfrm>
            <a:off x="4393157" y="4715871"/>
            <a:ext cx="8214360" cy="625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lang="en-DE" sz="2400" dirty="0"/>
          </a:p>
        </p:txBody>
      </p:sp>
    </p:spTree>
    <p:extLst>
      <p:ext uri="{BB962C8B-B14F-4D97-AF65-F5344CB8AC3E}">
        <p14:creationId xmlns:p14="http://schemas.microsoft.com/office/powerpoint/2010/main" val="190762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A57D0-0F2B-6F5B-F59A-9CEC940B2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8B64F16-83E1-2C87-126D-6FB3B6BC6DFA}"/>
              </a:ext>
            </a:extLst>
          </p:cNvPr>
          <p:cNvSpPr txBox="1">
            <a:spLocks/>
          </p:cNvSpPr>
          <p:nvPr/>
        </p:nvSpPr>
        <p:spPr>
          <a:xfrm>
            <a:off x="2198977" y="735148"/>
            <a:ext cx="77940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chemeClr val="accent1"/>
                </a:solidFill>
                <a:latin typeface="Century Gothic" panose="020B0502020202020204" pitchFamily="34" charset="0"/>
              </a:rPr>
              <a:t>Protocol-Specific Vocabulary</a:t>
            </a:r>
            <a:endParaRPr lang="aa-ET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7D7C5-8496-D705-2E2F-AD29809025FC}"/>
              </a:ext>
            </a:extLst>
          </p:cNvPr>
          <p:cNvSpPr txBox="1">
            <a:spLocks/>
          </p:cNvSpPr>
          <p:nvPr/>
        </p:nvSpPr>
        <p:spPr>
          <a:xfrm>
            <a:off x="4367304" y="2745413"/>
            <a:ext cx="3905223" cy="6229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"forms":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 ... ]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131C840-8AE5-75D0-D892-74F8C2CB6001}"/>
              </a:ext>
            </a:extLst>
          </p:cNvPr>
          <p:cNvSpPr txBox="1">
            <a:spLocks/>
          </p:cNvSpPr>
          <p:nvPr/>
        </p:nvSpPr>
        <p:spPr>
          <a:xfrm>
            <a:off x="4367302" y="2745412"/>
            <a:ext cx="4563337" cy="31524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       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...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"op"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...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contentType</a:t>
            </a:r>
            <a:r>
              <a:rPr lang="en-US" sz="24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...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42BCE4-59E2-B3CE-74A6-DABED4929F67}"/>
              </a:ext>
            </a:extLst>
          </p:cNvPr>
          <p:cNvSpPr txBox="1"/>
          <p:nvPr/>
        </p:nvSpPr>
        <p:spPr>
          <a:xfrm>
            <a:off x="4393157" y="5545751"/>
            <a:ext cx="8214360" cy="625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lang="en-DE" sz="24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2C19A62-99A3-C586-742D-44B1880F6023}"/>
              </a:ext>
            </a:extLst>
          </p:cNvPr>
          <p:cNvSpPr txBox="1">
            <a:spLocks/>
          </p:cNvSpPr>
          <p:nvPr/>
        </p:nvSpPr>
        <p:spPr>
          <a:xfrm>
            <a:off x="4367301" y="4316120"/>
            <a:ext cx="4563337" cy="31524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htv:methodname</a:t>
            </a:r>
            <a:r>
              <a:rPr lang="en-US" sz="24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 ...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modv:function</a:t>
            </a:r>
            <a:r>
              <a:rPr lang="en-US" sz="24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 ...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429164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000">
        <p159:morph option="byObject"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79D50C5-FAF9-69C9-E581-B5318807CD15}"/>
              </a:ext>
            </a:extLst>
          </p:cNvPr>
          <p:cNvSpPr/>
          <p:nvPr/>
        </p:nvSpPr>
        <p:spPr>
          <a:xfrm>
            <a:off x="1032256" y="3291829"/>
            <a:ext cx="4547616" cy="2818177"/>
          </a:xfrm>
          <a:prstGeom prst="roundRect">
            <a:avLst>
              <a:gd name="adj" fmla="val 8522"/>
            </a:avLst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B2EE81-90D0-AEF5-195E-CD3BBEC1AAC8}"/>
              </a:ext>
            </a:extLst>
          </p:cNvPr>
          <p:cNvSpPr txBox="1"/>
          <p:nvPr/>
        </p:nvSpPr>
        <p:spPr>
          <a:xfrm>
            <a:off x="2731008" y="585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4EC36A-72C0-5D97-08B6-18C18A96A95D}"/>
              </a:ext>
            </a:extLst>
          </p:cNvPr>
          <p:cNvSpPr txBox="1"/>
          <p:nvPr/>
        </p:nvSpPr>
        <p:spPr>
          <a:xfrm>
            <a:off x="8769346" y="2544227"/>
            <a:ext cx="2390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Century Gothic" panose="020B0502020202020204" pitchFamily="34" charset="0"/>
              </a:rPr>
              <a:t>Next Video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610344-5073-9351-D254-6D8408C00B10}"/>
              </a:ext>
            </a:extLst>
          </p:cNvPr>
          <p:cNvSpPr>
            <a:spLocks/>
          </p:cNvSpPr>
          <p:nvPr/>
        </p:nvSpPr>
        <p:spPr>
          <a:xfrm>
            <a:off x="4507675" y="432606"/>
            <a:ext cx="3176651" cy="369648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>
                <a:gd name="adj" fmla="val 11740300"/>
              </a:avLst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entury Gothic" panose="020B0502020202020204" pitchFamily="34" charset="0"/>
              </a:rPr>
              <a:t>Subscribe to our Channel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648E07-0ADA-3213-F04B-B618F86FE55A}"/>
              </a:ext>
            </a:extLst>
          </p:cNvPr>
          <p:cNvSpPr txBox="1"/>
          <p:nvPr/>
        </p:nvSpPr>
        <p:spPr>
          <a:xfrm>
            <a:off x="1032256" y="2544228"/>
            <a:ext cx="15568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Century Gothic" panose="020B0502020202020204" pitchFamily="34" charset="0"/>
              </a:rPr>
              <a:t>Playlist</a:t>
            </a:r>
            <a:r>
              <a:rPr lang="en-US" sz="2400" dirty="0">
                <a:solidFill>
                  <a:schemeClr val="accent2"/>
                </a:solidFill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0419334-D010-AABC-F69E-4CE3A439194D}"/>
              </a:ext>
            </a:extLst>
          </p:cNvPr>
          <p:cNvSpPr/>
          <p:nvPr/>
        </p:nvSpPr>
        <p:spPr>
          <a:xfrm>
            <a:off x="4899713" y="736429"/>
            <a:ext cx="2392574" cy="2392574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7CFD8EC-DAD6-2D70-BC4C-CA8D499F942E}"/>
              </a:ext>
            </a:extLst>
          </p:cNvPr>
          <p:cNvSpPr/>
          <p:nvPr/>
        </p:nvSpPr>
        <p:spPr>
          <a:xfrm>
            <a:off x="6612128" y="3291829"/>
            <a:ext cx="4547616" cy="2818177"/>
          </a:xfrm>
          <a:prstGeom prst="roundRect">
            <a:avLst>
              <a:gd name="adj" fmla="val 8522"/>
            </a:avLst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35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3000">
        <p:fade/>
      </p:transition>
    </mc:Choice>
    <mc:Fallback>
      <p:transition spd="slow" advClick="0" advTm="23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WoT">
      <a:dk1>
        <a:srgbClr val="EDF3F8"/>
      </a:dk1>
      <a:lt1>
        <a:srgbClr val="000000"/>
      </a:lt1>
      <a:dk2>
        <a:srgbClr val="ECBF7C"/>
      </a:dk2>
      <a:lt2>
        <a:srgbClr val="AFCBE0"/>
      </a:lt2>
      <a:accent1>
        <a:srgbClr val="0052A5"/>
      </a:accent1>
      <a:accent2>
        <a:srgbClr val="ED7D31"/>
      </a:accent2>
      <a:accent3>
        <a:srgbClr val="FFFFFF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{640321A2-7C26-874A-BACB-BE2A97C410C5}tf10001119</Template>
  <TotalTime>25321</TotalTime>
  <Words>2636</Words>
  <Application>Microsoft Office PowerPoint</Application>
  <PresentationFormat>Widescreen</PresentationFormat>
  <Paragraphs>416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Calibri Light</vt:lpstr>
      <vt:lpstr>Century Gothic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Sezgin, Idil</dc:creator>
  <cp:lastModifiedBy>Teodor Boykov Penchev</cp:lastModifiedBy>
  <cp:revision>611</cp:revision>
  <dcterms:created xsi:type="dcterms:W3CDTF">2023-01-06T10:41:30Z</dcterms:created>
  <dcterms:modified xsi:type="dcterms:W3CDTF">2026-06-11T22:56:58Z</dcterms:modified>
</cp:coreProperties>
</file>