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83" r:id="rId1"/>
  </p:sldMasterIdLst>
  <p:notesMasterIdLst>
    <p:notesMasterId r:id="rId17"/>
  </p:notesMasterIdLst>
  <p:sldIdLst>
    <p:sldId id="421" r:id="rId2"/>
    <p:sldId id="568" r:id="rId3"/>
    <p:sldId id="436" r:id="rId4"/>
    <p:sldId id="518" r:id="rId5"/>
    <p:sldId id="515" r:id="rId6"/>
    <p:sldId id="522" r:id="rId7"/>
    <p:sldId id="576" r:id="rId8"/>
    <p:sldId id="556" r:id="rId9"/>
    <p:sldId id="570" r:id="rId10"/>
    <p:sldId id="571" r:id="rId11"/>
    <p:sldId id="572" r:id="rId12"/>
    <p:sldId id="573" r:id="rId13"/>
    <p:sldId id="574" r:id="rId14"/>
    <p:sldId id="569" r:id="rId15"/>
    <p:sldId id="448" r:id="rId16"/>
  </p:sldIdLst>
  <p:sldSz cx="12192000" cy="6858000"/>
  <p:notesSz cx="6858000" cy="9144000"/>
  <p:embeddedFontLst>
    <p:embeddedFont>
      <p:font typeface="Raleway" pitchFamily="2" charset="77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Roboto Slab Medium" pitchFamily="2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26A5833-691B-1A48-A276-0C342C8C4A17}">
          <p14:sldIdLst>
            <p14:sldId id="421"/>
            <p14:sldId id="568"/>
          </p14:sldIdLst>
        </p14:section>
        <p14:section name="Prosys OPC" id="{8A5497AE-8DF6-7E48-8689-6CEF48F50C36}">
          <p14:sldIdLst>
            <p14:sldId id="436"/>
            <p14:sldId id="518"/>
            <p14:sldId id="515"/>
            <p14:sldId id="522"/>
          </p14:sldIdLst>
        </p14:section>
        <p14:section name="WoT" id="{87707C3C-0437-FF4F-B6B3-370D86FF52B4}">
          <p14:sldIdLst>
            <p14:sldId id="576"/>
          </p14:sldIdLst>
        </p14:section>
        <p14:section name="Forge" id="{B13140B9-B587-E74A-B225-DECF09B3E6BE}">
          <p14:sldIdLst>
            <p14:sldId id="556"/>
            <p14:sldId id="570"/>
            <p14:sldId id="571"/>
            <p14:sldId id="572"/>
            <p14:sldId id="573"/>
          </p14:sldIdLst>
        </p14:section>
        <p14:section name="Untitled Section" id="{D5CEAD97-BC4D-724E-B711-09E1C6295C34}">
          <p14:sldIdLst>
            <p14:sldId id="574"/>
            <p14:sldId id="569"/>
          </p14:sldIdLst>
        </p14:section>
        <p14:section name="End" id="{68C6F25B-1DFC-4D45-918A-345E845B2C12}">
          <p14:sldIdLst>
            <p14:sldId id="4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1F5"/>
    <a:srgbClr val="004C97"/>
    <a:srgbClr val="318DD3"/>
    <a:srgbClr val="7F7F7F"/>
    <a:srgbClr val="5187B2"/>
    <a:srgbClr val="D46806"/>
    <a:srgbClr val="151E28"/>
    <a:srgbClr val="1C2936"/>
    <a:srgbClr val="294560"/>
    <a:srgbClr val="C853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Ei tyyliä, ei ruudukko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6" autoAdjust="0"/>
    <p:restoredTop sz="96525" autoAdjust="0"/>
  </p:normalViewPr>
  <p:slideViewPr>
    <p:cSldViewPr snapToGrid="0" snapToObjects="1">
      <p:cViewPr varScale="1">
        <p:scale>
          <a:sx n="138" d="100"/>
          <a:sy n="138" d="100"/>
        </p:scale>
        <p:origin x="208" y="544"/>
      </p:cViewPr>
      <p:guideLst>
        <p:guide orient="horz" pos="2137"/>
        <p:guide pos="4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8" d="100"/>
          <a:sy n="138" d="100"/>
        </p:scale>
        <p:origin x="443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3E843-D20C-4058-BEC1-6B6DD1D077EF}" type="datetimeFigureOut">
              <a:rPr lang="fi-FI" smtClean="0"/>
              <a:t>27.5.2026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65BEF-47C4-4673-87DD-0C45B03C578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1470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365BEF-47C4-4673-87DD-0C45B03C578C}" type="slidenum">
              <a:rPr lang="fi-FI" smtClean="0"/>
              <a:t>1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603295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65BEF-47C4-4673-87DD-0C45B03C578C}" type="slidenum">
              <a:rPr lang="fi-FI" smtClean="0"/>
              <a:t>15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72962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3664" y="1730012"/>
            <a:ext cx="591312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93664" y="4117612"/>
            <a:ext cx="59131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2362-A7C8-5A44-B368-295E7CD14B91}" type="datetime1">
              <a:rPr lang="fi-FI" smtClean="0"/>
              <a:t>27.5.2026</a:t>
            </a:fld>
            <a:endParaRPr lang="en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5608" y="637493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3909378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5584" y="1041400"/>
            <a:ext cx="8180832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9440" y="3450100"/>
            <a:ext cx="59131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2362-A7C8-5A44-B368-295E7CD14B91}" type="datetime1">
              <a:rPr lang="fi-FI" smtClean="0"/>
              <a:t>27.5.2026</a:t>
            </a:fld>
            <a:endParaRPr lang="en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5608" y="637493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1314817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4CD2-0F27-E049-6AED-0372F92C7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84023" y="923493"/>
            <a:ext cx="4423954" cy="557104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  <a:endParaRPr lang="en-FI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17D787B-8C53-4AC0-CF4D-AE152991C0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9246" y="3255491"/>
            <a:ext cx="523009" cy="777820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5400" b="1"/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6D9C3AB-EA7B-5BE4-B6DF-754470F14B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0259" y="4107545"/>
            <a:ext cx="1790700" cy="357738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lvl="0"/>
            <a:r>
              <a:rPr lang="en-US" dirty="0"/>
              <a:t>Company Intro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70CBFCA-7C3C-76D9-7A19-7D6F02F35F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6582" y="3265882"/>
            <a:ext cx="523009" cy="777820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5400" b="1"/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370ECB65-33DB-EFDA-F6F7-3FD630DCD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73632" y="4107545"/>
            <a:ext cx="1882487" cy="357738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1800" b="0"/>
            </a:lvl1pPr>
          </a:lstStyle>
          <a:p>
            <a:pPr lvl="0"/>
            <a:r>
              <a:rPr lang="en-US" dirty="0"/>
              <a:t>Meet the Teams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A26E017-644C-4E64-42E0-EC4D42E87F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72746" y="3255491"/>
            <a:ext cx="523009" cy="777820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5400" b="1"/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4C3BBE3-83CE-B72F-830F-B7D4F423ED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9796" y="4097154"/>
            <a:ext cx="1882487" cy="357738"/>
          </a:xfrm>
        </p:spPr>
        <p:txBody>
          <a:bodyPr>
            <a:noAutofit/>
          </a:bodyPr>
          <a:lstStyle>
            <a:lvl1pPr marL="0" indent="0" algn="ctr">
              <a:buFont typeface="+mj-lt"/>
              <a:buNone/>
              <a:defRPr sz="1800" b="0"/>
            </a:lvl1pPr>
          </a:lstStyle>
          <a:p>
            <a:pPr lvl="0"/>
            <a:r>
              <a:rPr lang="en-US" dirty="0"/>
              <a:t>Break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B41690BA-2F09-762C-6EC9-D3EB7E2544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87346" y="3255491"/>
            <a:ext cx="523009" cy="777820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5400" b="1"/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360C15A6-0C69-B12A-4EE0-39978FBE29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44396" y="4097153"/>
            <a:ext cx="1882487" cy="555165"/>
          </a:xfrm>
        </p:spPr>
        <p:txBody>
          <a:bodyPr>
            <a:noAutofit/>
          </a:bodyPr>
          <a:lstStyle>
            <a:lvl1pPr marL="0" indent="0" algn="ctr">
              <a:buFont typeface="+mj-lt"/>
              <a:buNone/>
              <a:defRPr sz="1800" b="0"/>
            </a:lvl1pPr>
          </a:lstStyle>
          <a:p>
            <a:pPr lvl="0"/>
            <a:r>
              <a:rPr lang="en-US" dirty="0"/>
              <a:t>Our Product Family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EAB074C-43D2-4588-B9B4-14D0544E0853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87853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54363" y="6363181"/>
            <a:ext cx="799437" cy="365125"/>
          </a:xfrm>
        </p:spPr>
        <p:txBody>
          <a:bodyPr/>
          <a:lstStyle>
            <a:lvl1pPr algn="r">
              <a:defRPr/>
            </a:lvl1pPr>
          </a:lstStyle>
          <a:p>
            <a:fld id="{9323938B-E9F2-974B-9E51-3422E249CA60}" type="datetime1">
              <a:rPr lang="fi-FI" smtClean="0"/>
              <a:pPr/>
              <a:t>27.5.2026</a:t>
            </a:fld>
            <a:endParaRPr lang="en-FI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070B4BB-E26E-8B9A-62FC-06F3D5898D9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575430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1662" y="1684682"/>
            <a:ext cx="7255847" cy="3488635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2362-A7C8-5A44-B368-295E7CD14B91}" type="datetime1">
              <a:rPr lang="fi-FI" smtClean="0"/>
              <a:t>27.5.2026</a:t>
            </a:fld>
            <a:endParaRPr lang="en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5608" y="637493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8501936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275" y="1684682"/>
            <a:ext cx="7387280" cy="3488635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2362-A7C8-5A44-B368-295E7CD14B91}" type="datetime1">
              <a:rPr lang="fi-FI" smtClean="0"/>
              <a:t>27.5.2026</a:t>
            </a:fld>
            <a:endParaRPr lang="en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5608" y="637493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9734816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591" y="1922758"/>
            <a:ext cx="7235350" cy="3488635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D2362-A7C8-5A44-B368-295E7CD14B91}" type="datetime1">
              <a:rPr lang="fi-FI" smtClean="0"/>
              <a:t>27.5.2026</a:t>
            </a:fld>
            <a:endParaRPr lang="en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55608" y="637493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19975884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425344" y="6363180"/>
            <a:ext cx="928456" cy="365125"/>
          </a:xfrm>
        </p:spPr>
        <p:txBody>
          <a:bodyPr/>
          <a:lstStyle>
            <a:lvl1pPr algn="r">
              <a:defRPr/>
            </a:lvl1pPr>
          </a:lstStyle>
          <a:p>
            <a:fld id="{1AE6AC55-1E07-CF46-97CD-B54E042FFC97}" type="datetime1">
              <a:rPr lang="fi-FI" smtClean="0"/>
              <a:pPr/>
              <a:t>27.5.2026</a:t>
            </a:fld>
            <a:endParaRPr lang="en-FI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1634F9-5F2C-8FE0-593C-E3A5EE99FF51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91918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425344" y="6363180"/>
            <a:ext cx="928456" cy="365125"/>
          </a:xfrm>
        </p:spPr>
        <p:txBody>
          <a:bodyPr/>
          <a:lstStyle>
            <a:lvl1pPr algn="r">
              <a:defRPr/>
            </a:lvl1pPr>
          </a:lstStyle>
          <a:p>
            <a:fld id="{516DA32A-7B55-F146-B316-261123D0C5CF}" type="datetime1">
              <a:rPr lang="fi-FI" smtClean="0"/>
              <a:pPr/>
              <a:t>27.5.2026</a:t>
            </a:fld>
            <a:endParaRPr lang="en-FI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D2376C-B079-73D0-4F17-7640C447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2255"/>
            <a:ext cx="10515600" cy="9358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549FE0D-ED69-19E0-432F-33B946C0691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57511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425344" y="6363181"/>
            <a:ext cx="928456" cy="365125"/>
          </a:xfrm>
        </p:spPr>
        <p:txBody>
          <a:bodyPr/>
          <a:lstStyle>
            <a:lvl1pPr algn="r">
              <a:defRPr/>
            </a:lvl1pPr>
          </a:lstStyle>
          <a:p>
            <a:fld id="{E4B9E6AC-C632-F148-B7E2-51928D98F015}" type="datetime1">
              <a:rPr lang="fi-FI" smtClean="0"/>
              <a:pPr/>
              <a:t>27.5.2026</a:t>
            </a:fld>
            <a:endParaRPr lang="en-FI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638705D-4BF3-06FF-81AB-E976F8167947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4E32B1-7855-8C53-F8D5-DB0685CD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872"/>
            <a:ext cx="10515600" cy="46490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3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alking Promp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4CD2-0F27-E049-6AED-0372F92C7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7097" y="2164065"/>
            <a:ext cx="5077805" cy="1264935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What is an</a:t>
            </a:r>
            <a:br>
              <a:rPr lang="en-US" dirty="0"/>
            </a:br>
            <a:r>
              <a:rPr lang="en-US" dirty="0"/>
              <a:t>Information Model?</a:t>
            </a:r>
            <a:endParaRPr lang="en-FI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831C1-72A4-E819-9C46-8B8F8D3B2D6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4003951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alking Promp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4CD2-0F27-E049-6AED-0372F92C7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7097" y="3209094"/>
            <a:ext cx="5077805" cy="1264935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What is an</a:t>
            </a:r>
            <a:br>
              <a:rPr lang="en-US" dirty="0"/>
            </a:br>
            <a:r>
              <a:rPr lang="en-US" dirty="0"/>
              <a:t>Information Model?</a:t>
            </a:r>
            <a:endParaRPr lang="en-FI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831C1-72A4-E819-9C46-8B8F8D3B2D6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B1334082-22F3-7323-C2B3-FD501BB53A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0400"/>
            <a:ext cx="2075417" cy="6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11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_slide_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831C1-72A4-E819-9C46-8B8F8D3B2D6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A8C145-FEA7-B86D-56EC-20FBA7640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27" y="791124"/>
            <a:ext cx="10108746" cy="5275751"/>
          </a:xfrm>
          <a:ln w="38100">
            <a:solidFill>
              <a:schemeClr val="bg1"/>
            </a:solidFill>
          </a:ln>
        </p:spPr>
        <p:txBody>
          <a:bodyPr/>
          <a:lstStyle/>
          <a:p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7309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_slide_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3831C1-72A4-E819-9C46-8B8F8D3B2D6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A8C145-FEA7-B86D-56EC-20FBA76406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27" y="791124"/>
            <a:ext cx="10108746" cy="5275751"/>
          </a:xfrm>
          <a:ln w="38100">
            <a:noFill/>
          </a:ln>
        </p:spPr>
        <p:txBody>
          <a:bodyPr/>
          <a:lstStyle/>
          <a:p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59185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425344" y="6363181"/>
            <a:ext cx="928456" cy="365125"/>
          </a:xfrm>
        </p:spPr>
        <p:txBody>
          <a:bodyPr/>
          <a:lstStyle>
            <a:lvl1pPr algn="r">
              <a:defRPr/>
            </a:lvl1pPr>
          </a:lstStyle>
          <a:p>
            <a:fld id="{C24DAE64-F9F0-EC4C-B51F-7630ABA319F8}" type="datetime1">
              <a:rPr lang="fi-FI" smtClean="0"/>
              <a:pPr/>
              <a:t>27.5.2026</a:t>
            </a:fld>
            <a:endParaRPr lang="en-FI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C77E1D-7FE1-1241-674E-5049283D369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745663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425344" y="6363181"/>
            <a:ext cx="928456" cy="365125"/>
          </a:xfrm>
        </p:spPr>
        <p:txBody>
          <a:bodyPr/>
          <a:lstStyle>
            <a:lvl1pPr algn="r">
              <a:defRPr/>
            </a:lvl1pPr>
          </a:lstStyle>
          <a:p>
            <a:fld id="{C24DAE64-F9F0-EC4C-B51F-7630ABA319F8}" type="datetime1">
              <a:rPr lang="fi-FI" smtClean="0"/>
              <a:pPr/>
              <a:t>27.5.2026</a:t>
            </a:fld>
            <a:endParaRPr lang="en-FI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C77E1D-7FE1-1241-674E-5049283D369F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9F724A-B11E-5F25-10DA-959CB631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4" y="571500"/>
            <a:ext cx="2552702" cy="28575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0ABCA65-8A4D-CB99-8C08-AEC9B1D727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14676" y="571500"/>
            <a:ext cx="8515350" cy="5715000"/>
          </a:xfrm>
        </p:spPr>
        <p:txBody>
          <a:bodyPr/>
          <a:lstStyle/>
          <a:p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53268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62314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426932" y="6363181"/>
            <a:ext cx="928456" cy="365125"/>
          </a:xfrm>
        </p:spPr>
        <p:txBody>
          <a:bodyPr/>
          <a:lstStyle>
            <a:lvl1pPr algn="r">
              <a:defRPr/>
            </a:lvl1pPr>
          </a:lstStyle>
          <a:p>
            <a:fld id="{C21BD287-9CB6-344B-9FFC-06E79ED6BF30}" type="datetime1">
              <a:rPr lang="fi-FI" smtClean="0"/>
              <a:pPr/>
              <a:t>27.5.2026</a:t>
            </a:fld>
            <a:endParaRPr lang="en-FI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1A6D0EB-5FE1-C284-7A4F-DF195D944CD5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572876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816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426932" y="6363181"/>
            <a:ext cx="928456" cy="365125"/>
          </a:xfrm>
        </p:spPr>
        <p:txBody>
          <a:bodyPr/>
          <a:lstStyle>
            <a:lvl1pPr algn="r">
              <a:defRPr/>
            </a:lvl1pPr>
          </a:lstStyle>
          <a:p>
            <a:fld id="{CC2166AF-11D1-5A47-9410-7BB85A8EF850}" type="datetime1">
              <a:rPr lang="fi-FI" smtClean="0"/>
              <a:pPr/>
              <a:t>27.5.2026</a:t>
            </a:fld>
            <a:endParaRPr lang="en-FI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561F61D-9F3C-6FB7-F2A1-28BABA6EC710}"/>
              </a:ext>
            </a:extLst>
          </p:cNvPr>
          <p:cNvSpPr txBox="1">
            <a:spLocks/>
          </p:cNvSpPr>
          <p:nvPr userDrawn="1"/>
        </p:nvSpPr>
        <p:spPr>
          <a:xfrm>
            <a:off x="4038600" y="636318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Raleway" pitchFamily="2" charset="77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F43909-8EB4-424F-BAE5-27215DB4AA0F}" type="slidenum">
              <a:rPr lang="en-FI" smtClean="0"/>
              <a:pPr/>
              <a:t>‹#›</a:t>
            </a:fld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6341510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883D-D19A-5D40-FD98-E6C7A5254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08" y="3429000"/>
            <a:ext cx="10515600" cy="703162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Contact Us!</a:t>
            </a:r>
            <a:endParaRPr lang="en-FI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C1A8B6-6BFD-A48B-1806-ADB1E6ACE5B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07879" y="4381737"/>
            <a:ext cx="2495910" cy="19423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7F4F14-53F0-CFAC-1E14-7833043E73B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3402" y="4702365"/>
            <a:ext cx="2110501" cy="116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3049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72FB2-3A18-5939-140C-FA5BB2527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937148"/>
            <a:ext cx="5311678" cy="9358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Contact Information</a:t>
            </a:r>
            <a:endParaRPr lang="en-FI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7E60E6-F5B2-FC4F-9CCF-72BC9BC93E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03" y="2361618"/>
            <a:ext cx="5311775" cy="32988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FI" dirty="0"/>
              <a:t>FirstName LastName, title</a:t>
            </a:r>
          </a:p>
          <a:p>
            <a:pPr lvl="0"/>
            <a:r>
              <a:rPr lang="en-FI" dirty="0"/>
              <a:t>Phone:</a:t>
            </a:r>
          </a:p>
          <a:p>
            <a:pPr lvl="0"/>
            <a:r>
              <a:rPr lang="en-FI" dirty="0"/>
              <a:t>Email:</a:t>
            </a:r>
          </a:p>
          <a:p>
            <a:pPr lvl="0"/>
            <a:endParaRPr lang="en-FI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Prosys OPC Ltd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FI" dirty="0"/>
              <a:t>prosysopc.com</a:t>
            </a:r>
          </a:p>
        </p:txBody>
      </p:sp>
      <p:pic>
        <p:nvPicPr>
          <p:cNvPr id="11" name="Picture 10" descr="A logo of a company&#10;&#10;Description automatically generated">
            <a:extLst>
              <a:ext uri="{FF2B5EF4-FFF2-40B4-BE49-F238E27FC236}">
                <a16:creationId xmlns:a16="http://schemas.microsoft.com/office/drawing/2014/main" id="{56641C26-3B07-6362-768B-B16557E277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75596" y="5966293"/>
            <a:ext cx="2716404" cy="89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2224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12255"/>
            <a:ext cx="10515600" cy="9358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6872"/>
            <a:ext cx="10515600" cy="4649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5344" y="6363182"/>
            <a:ext cx="928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Raleway" pitchFamily="2" charset="77"/>
              </a:defRPr>
            </a:lvl1pPr>
          </a:lstStyle>
          <a:p>
            <a:fld id="{D9DD2362-A7C8-5A44-B368-295E7CD14B91}" type="datetime1">
              <a:rPr lang="fi-FI" smtClean="0"/>
              <a:pPr/>
              <a:t>27.5.2026</a:t>
            </a:fld>
            <a:endParaRPr lang="en-FI" dirty="0"/>
          </a:p>
        </p:txBody>
      </p:sp>
      <p:pic>
        <p:nvPicPr>
          <p:cNvPr id="8" name="Picture 7" descr="A blue and black logo&#10;&#10;Description automatically generated">
            <a:extLst>
              <a:ext uri="{FF2B5EF4-FFF2-40B4-BE49-F238E27FC236}">
                <a16:creationId xmlns:a16="http://schemas.microsoft.com/office/drawing/2014/main" id="{1FB26ABE-F1C8-BDE3-3133-99C42EEF6F0B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176963"/>
            <a:ext cx="2055608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99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801" r:id="rId11"/>
    <p:sldLayoutId id="2147483802" r:id="rId12"/>
    <p:sldLayoutId id="2147483803" r:id="rId13"/>
    <p:sldLayoutId id="2147483804" r:id="rId14"/>
    <p:sldLayoutId id="2147483793" r:id="rId15"/>
    <p:sldLayoutId id="2147483805" r:id="rId16"/>
    <p:sldLayoutId id="2147483794" r:id="rId17"/>
    <p:sldLayoutId id="2147483795" r:id="rId18"/>
    <p:sldLayoutId id="2147483797" r:id="rId19"/>
    <p:sldLayoutId id="214748379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Roboto Slab Medium" pitchFamily="2" charset="0"/>
          <a:ea typeface="Roboto Slab Medium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aleway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aleway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aleway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aleway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://opcfoundation.org/UA/ECM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sales@prosysopc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hyperlink" Target="tel:+358942090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6CB15609-90AC-F08A-0C79-825D6FF5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722" y="1600200"/>
            <a:ext cx="8506556" cy="2796675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CFB2D10C-3E88-4065-8F14-1F771556F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0075" y="3950677"/>
            <a:ext cx="5911850" cy="1307123"/>
          </a:xfrm>
        </p:spPr>
        <p:txBody>
          <a:bodyPr>
            <a:normAutofit/>
          </a:bodyPr>
          <a:lstStyle/>
          <a:p>
            <a:r>
              <a:rPr lang="fi-FI" sz="3200" i="1" dirty="0" err="1"/>
              <a:t>Quick</a:t>
            </a:r>
            <a:r>
              <a:rPr lang="fi-FI" sz="3200" i="1" dirty="0"/>
              <a:t> </a:t>
            </a:r>
            <a:r>
              <a:rPr lang="fi-FI" sz="3200" i="1" dirty="0" err="1"/>
              <a:t>onboarding</a:t>
            </a:r>
            <a:r>
              <a:rPr lang="fi-FI" sz="3200" i="1" dirty="0"/>
              <a:t> of </a:t>
            </a:r>
            <a:r>
              <a:rPr lang="fi-FI" sz="3200" i="1" dirty="0" err="1"/>
              <a:t>devices</a:t>
            </a:r>
            <a:r>
              <a:rPr lang="fi-FI" sz="3200" i="1" dirty="0"/>
              <a:t> to </a:t>
            </a:r>
            <a:r>
              <a:rPr lang="fi-FI" sz="3200" i="1" dirty="0" err="1"/>
              <a:t>Prosys</a:t>
            </a:r>
            <a:r>
              <a:rPr lang="fi-FI" sz="3200" i="1" dirty="0"/>
              <a:t> </a:t>
            </a:r>
            <a:r>
              <a:rPr lang="fi-FI" sz="3200" i="1" dirty="0" err="1"/>
              <a:t>Forge</a:t>
            </a:r>
            <a:r>
              <a:rPr lang="fi-FI" sz="3200" i="1" dirty="0"/>
              <a:t> Using </a:t>
            </a:r>
            <a:r>
              <a:rPr lang="fi-FI" sz="3200" i="1" dirty="0" err="1"/>
              <a:t>WoT</a:t>
            </a:r>
            <a:endParaRPr lang="fi-FI" sz="3200" i="1" dirty="0"/>
          </a:p>
        </p:txBody>
      </p:sp>
    </p:spTree>
    <p:extLst>
      <p:ext uri="{BB962C8B-B14F-4D97-AF65-F5344CB8AC3E}">
        <p14:creationId xmlns:p14="http://schemas.microsoft.com/office/powerpoint/2010/main" val="294489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0AF1-3EF5-EF5E-18F9-740AC5307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97509-39EA-170D-F6A4-C5E5E5AD41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48E4D-83C8-0526-E493-35435F10B8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Company Intro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A1EBF-03C1-E182-AEEB-F831CA791C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DB8C0-06A4-B866-1CDB-662C43A22E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 err="1"/>
              <a:t>WoT</a:t>
            </a:r>
            <a:r>
              <a:rPr lang="en-US" dirty="0"/>
              <a:t> Demo Architecture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65A4AB-EAE9-716D-3321-9F628A89F2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CEB5E9-9296-3A99-0EB7-3ADED991FA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5F6511-196B-8080-D2E1-608E18281D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FB9410-7EE7-C577-323F-F37018BE96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What Else Forge Offers</a:t>
            </a:r>
          </a:p>
        </p:txBody>
      </p:sp>
    </p:spTree>
    <p:extLst>
      <p:ext uri="{BB962C8B-B14F-4D97-AF65-F5344CB8AC3E}">
        <p14:creationId xmlns:p14="http://schemas.microsoft.com/office/powerpoint/2010/main" val="227773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8980-2C27-0ECB-81F7-7E5DA28F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62" y="1684682"/>
            <a:ext cx="7255847" cy="3488635"/>
          </a:xfrm>
        </p:spPr>
        <p:txBody>
          <a:bodyPr/>
          <a:lstStyle/>
          <a:p>
            <a:r>
              <a:rPr lang="fi-FI" dirty="0"/>
              <a:t>Company Intro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232455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8199-C5F5-2ECA-0983-43094286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Iivo Yrjölä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F015-098C-FFE9-B2AC-CF9CAEBD9B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MSc from Aalto University</a:t>
            </a:r>
          </a:p>
          <a:p>
            <a:r>
              <a:rPr lang="en-US" dirty="0"/>
              <a:t>Lead Engineer at </a:t>
            </a:r>
            <a:r>
              <a:rPr lang="en-US" dirty="0" err="1"/>
              <a:t>Prosys</a:t>
            </a:r>
            <a:r>
              <a:rPr lang="en-US" dirty="0"/>
              <a:t> OPC</a:t>
            </a:r>
          </a:p>
          <a:p>
            <a:r>
              <a:rPr lang="en-US" dirty="0"/>
              <a:t>Customer support and integration</a:t>
            </a:r>
          </a:p>
        </p:txBody>
      </p:sp>
      <p:pic>
        <p:nvPicPr>
          <p:cNvPr id="4" name="Picture 3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5ED95EA5-9647-3FCA-6A6D-9A854491D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938" y="1752215"/>
            <a:ext cx="3034145" cy="30341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F0750F-B6B7-381F-CBED-94350A7E9A62}"/>
              </a:ext>
            </a:extLst>
          </p:cNvPr>
          <p:cNvSpPr txBox="1"/>
          <p:nvPr/>
        </p:nvSpPr>
        <p:spPr>
          <a:xfrm>
            <a:off x="6416369" y="4967288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b="1"/>
              <a:t>Team </a:t>
            </a:r>
            <a:r>
              <a:rPr lang="en-FI" b="1" dirty="0"/>
              <a:t>Lead, Support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22323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B653-00C4-179C-247A-A7921799C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2255"/>
            <a:ext cx="10621962" cy="935866"/>
          </a:xfrm>
        </p:spPr>
        <p:txBody>
          <a:bodyPr/>
          <a:lstStyle/>
          <a:p>
            <a:r>
              <a:rPr lang="en-FI" dirty="0"/>
              <a:t>Prosys OPC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FF06C-311B-35B2-8FC0-30759D2FB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872"/>
            <a:ext cx="4081609" cy="4649063"/>
          </a:xfrm>
        </p:spPr>
        <p:txBody>
          <a:bodyPr/>
          <a:lstStyle/>
          <a:p>
            <a:r>
              <a:rPr lang="en-FI" dirty="0"/>
              <a:t>Founded in 1995</a:t>
            </a:r>
          </a:p>
          <a:p>
            <a:r>
              <a:rPr lang="en-US" dirty="0"/>
              <a:t>Global expert in</a:t>
            </a:r>
          </a:p>
          <a:p>
            <a:pPr lvl="1"/>
            <a:r>
              <a:rPr lang="en-US" dirty="0"/>
              <a:t>OPC UA solutions and information modeling</a:t>
            </a:r>
          </a:p>
          <a:p>
            <a:pPr lvl="1"/>
            <a:r>
              <a:rPr lang="en-US" dirty="0"/>
              <a:t>IT/OT integration</a:t>
            </a:r>
          </a:p>
          <a:p>
            <a:pPr lvl="1"/>
            <a:r>
              <a:rPr lang="en-US" dirty="0"/>
              <a:t>Industrial Security</a:t>
            </a:r>
          </a:p>
          <a:p>
            <a:r>
              <a:rPr lang="en-US" dirty="0"/>
              <a:t>An active member of the OPC Foundation and Open Industry 4.0 Alliance</a:t>
            </a:r>
          </a:p>
        </p:txBody>
      </p:sp>
      <p:pic>
        <p:nvPicPr>
          <p:cNvPr id="11" name="Picture 10" descr="A green and grey text on a black background&#10;&#10;Description automatically generated">
            <a:extLst>
              <a:ext uri="{FF2B5EF4-FFF2-40B4-BE49-F238E27FC236}">
                <a16:creationId xmlns:a16="http://schemas.microsoft.com/office/drawing/2014/main" id="{00EBBD80-D9A5-45B7-5024-FDAF6AD87F0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44931" y="349081"/>
            <a:ext cx="2141478" cy="768811"/>
          </a:xfrm>
          <a:prstGeom prst="rect">
            <a:avLst/>
          </a:prstGeom>
        </p:spPr>
      </p:pic>
      <p:pic>
        <p:nvPicPr>
          <p:cNvPr id="13" name="Picture 12" descr="A logo with blue and black text&#10;&#10;Description automatically generated">
            <a:extLst>
              <a:ext uri="{FF2B5EF4-FFF2-40B4-BE49-F238E27FC236}">
                <a16:creationId xmlns:a16="http://schemas.microsoft.com/office/drawing/2014/main" id="{4D009AA3-BCC5-1E56-0B65-F91C751249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5815" y="365149"/>
            <a:ext cx="1571047" cy="768810"/>
          </a:xfrm>
          <a:prstGeom prst="rect">
            <a:avLst/>
          </a:prstGeom>
        </p:spPr>
      </p:pic>
      <p:pic>
        <p:nvPicPr>
          <p:cNvPr id="9" name="Picture 8" descr="A map of the world&#10;&#10;Description automatically generated">
            <a:extLst>
              <a:ext uri="{FF2B5EF4-FFF2-40B4-BE49-F238E27FC236}">
                <a16:creationId xmlns:a16="http://schemas.microsoft.com/office/drawing/2014/main" id="{68CC8C0D-08C0-2674-C5E4-E6B3BBF6E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775" y="1779635"/>
            <a:ext cx="6784697" cy="4388400"/>
          </a:xfrm>
          <a:prstGeom prst="rect">
            <a:avLst/>
          </a:prstGeom>
        </p:spPr>
      </p:pic>
      <p:pic>
        <p:nvPicPr>
          <p:cNvPr id="4" name="Picture 3" descr="A map of the world&#10;&#10;Description automatically generated">
            <a:extLst>
              <a:ext uri="{FF2B5EF4-FFF2-40B4-BE49-F238E27FC236}">
                <a16:creationId xmlns:a16="http://schemas.microsoft.com/office/drawing/2014/main" id="{A6620C0E-E44E-6C63-D1DC-30394DBA44F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9809" y="1788607"/>
            <a:ext cx="6784629" cy="4388356"/>
          </a:xfrm>
          <a:prstGeom prst="rect">
            <a:avLst/>
          </a:prstGeom>
        </p:spPr>
      </p:pic>
      <p:sp>
        <p:nvSpPr>
          <p:cNvPr id="5" name="Teardrop 4">
            <a:extLst>
              <a:ext uri="{FF2B5EF4-FFF2-40B4-BE49-F238E27FC236}">
                <a16:creationId xmlns:a16="http://schemas.microsoft.com/office/drawing/2014/main" id="{30A4FDA5-4BE1-5980-AA27-6B44E0306557}"/>
              </a:ext>
            </a:extLst>
          </p:cNvPr>
          <p:cNvSpPr/>
          <p:nvPr/>
        </p:nvSpPr>
        <p:spPr>
          <a:xfrm rot="8211489">
            <a:off x="8292329" y="2120265"/>
            <a:ext cx="1076093" cy="1073998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B0F9F7-4867-A46E-2679-9BA901D93BEE}"/>
              </a:ext>
            </a:extLst>
          </p:cNvPr>
          <p:cNvSpPr txBox="1"/>
          <p:nvPr/>
        </p:nvSpPr>
        <p:spPr>
          <a:xfrm>
            <a:off x="8381339" y="2346780"/>
            <a:ext cx="1011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b="1" dirty="0">
                <a:solidFill>
                  <a:schemeClr val="bg1"/>
                </a:solidFill>
              </a:rPr>
              <a:t>Espoo,</a:t>
            </a:r>
          </a:p>
          <a:p>
            <a:r>
              <a:rPr lang="en-FI" b="1" dirty="0">
                <a:solidFill>
                  <a:schemeClr val="bg1"/>
                </a:solidFill>
              </a:rPr>
              <a:t>Finland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BDB187-F703-1C9F-CCEF-5C72A546A813}"/>
              </a:ext>
            </a:extLst>
          </p:cNvPr>
          <p:cNvSpPr txBox="1">
            <a:spLocks/>
          </p:cNvSpPr>
          <p:nvPr/>
        </p:nvSpPr>
        <p:spPr>
          <a:xfrm>
            <a:off x="7272193" y="5692352"/>
            <a:ext cx="3476376" cy="1025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aleway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aleway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aleway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aleway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aleway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50+ countries</a:t>
            </a:r>
          </a:p>
          <a:p>
            <a:r>
              <a:rPr lang="en-US" dirty="0"/>
              <a:t>1000+ customers</a:t>
            </a:r>
          </a:p>
        </p:txBody>
      </p:sp>
    </p:spTree>
    <p:extLst>
      <p:ext uri="{BB962C8B-B14F-4D97-AF65-F5344CB8AC3E}">
        <p14:creationId xmlns:p14="http://schemas.microsoft.com/office/powerpoint/2010/main" val="203861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2DB703B-2F9E-96C7-F143-8235CE214623}"/>
              </a:ext>
            </a:extLst>
          </p:cNvPr>
          <p:cNvGrpSpPr/>
          <p:nvPr/>
        </p:nvGrpSpPr>
        <p:grpSpPr>
          <a:xfrm>
            <a:off x="941505" y="1911578"/>
            <a:ext cx="3306499" cy="2519761"/>
            <a:chOff x="941505" y="1164450"/>
            <a:chExt cx="3306499" cy="2519761"/>
          </a:xfrm>
        </p:grpSpPr>
        <p:pic>
          <p:nvPicPr>
            <p:cNvPr id="2052" name="Picture 4" descr="P:\Sales\Marketing_materials_2015-2016\Logos\logos_2016_medium\JavaSDK\logos-opc-ua-current_products-rgb_2016_J-horzontal-text.png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614" y="1611660"/>
              <a:ext cx="2938936" cy="1049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 descr="Text&#10;&#10;Description automatically generated">
              <a:extLst>
                <a:ext uri="{FF2B5EF4-FFF2-40B4-BE49-F238E27FC236}">
                  <a16:creationId xmlns:a16="http://schemas.microsoft.com/office/drawing/2014/main" id="{A8064254-3EBB-2E45-8CC1-4A6291FAA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505" y="2634195"/>
              <a:ext cx="2940045" cy="105001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2A6A1B-12AC-6E43-B3D6-2874BE49C33F}"/>
                </a:ext>
              </a:extLst>
            </p:cNvPr>
            <p:cNvSpPr txBox="1"/>
            <p:nvPr/>
          </p:nvSpPr>
          <p:spPr>
            <a:xfrm>
              <a:off x="1008004" y="1164450"/>
              <a:ext cx="32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tx2"/>
                  </a:solidFill>
                  <a:latin typeface="Roboto Slab Medium" pitchFamily="2" charset="0"/>
                  <a:ea typeface="Roboto Slab Medium" pitchFamily="2" charset="0"/>
                </a:rPr>
                <a:t>Developer Tools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AF911F-6C53-AF46-AEFA-32CD4C164E35}"/>
                </a:ext>
              </a:extLst>
            </p:cNvPr>
            <p:cNvCxnSpPr>
              <a:cxnSpLocks/>
            </p:cNvCxnSpPr>
            <p:nvPr/>
          </p:nvCxnSpPr>
          <p:spPr>
            <a:xfrm>
              <a:off x="1081306" y="1529783"/>
              <a:ext cx="2806597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9E1DBD-F012-2ECE-E0EC-58D96B0A9919}"/>
              </a:ext>
            </a:extLst>
          </p:cNvPr>
          <p:cNvGrpSpPr/>
          <p:nvPr/>
        </p:nvGrpSpPr>
        <p:grpSpPr>
          <a:xfrm>
            <a:off x="8088247" y="1911578"/>
            <a:ext cx="3302359" cy="2546002"/>
            <a:chOff x="8088247" y="1164450"/>
            <a:chExt cx="3302359" cy="2546002"/>
          </a:xfrm>
        </p:grpSpPr>
        <p:pic>
          <p:nvPicPr>
            <p:cNvPr id="2054" name="Picture 6" descr="P:\Sales\Marketing_materials_2015-2016\Logos\logos_2016_medium\SimulationServer\logos-opc-ua-current_products-rgb_2016_S-horzontal-text.pn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8247" y="1610600"/>
              <a:ext cx="2938936" cy="1049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Logo&#10;&#10;Description automatically generated with medium confidence">
              <a:extLst>
                <a:ext uri="{FF2B5EF4-FFF2-40B4-BE49-F238E27FC236}">
                  <a16:creationId xmlns:a16="http://schemas.microsoft.com/office/drawing/2014/main" id="{AEF9945E-2DD1-D649-AF38-49617CC6E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90465" y="2660436"/>
              <a:ext cx="2940045" cy="105001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2182AAE-9A96-C14F-98FE-3E16291F6ABD}"/>
                </a:ext>
              </a:extLst>
            </p:cNvPr>
            <p:cNvSpPr txBox="1"/>
            <p:nvPr/>
          </p:nvSpPr>
          <p:spPr>
            <a:xfrm>
              <a:off x="8150606" y="1164450"/>
              <a:ext cx="32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tx2"/>
                  </a:solidFill>
                  <a:latin typeface="Roboto Slab Medium" pitchFamily="2" charset="0"/>
                  <a:ea typeface="Roboto Slab Medium" pitchFamily="2" charset="0"/>
                </a:rPr>
                <a:t>Simulation &amp; Testing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59E7619-215B-6344-9ADD-B165C82A3936}"/>
                </a:ext>
              </a:extLst>
            </p:cNvPr>
            <p:cNvCxnSpPr>
              <a:cxnSpLocks/>
            </p:cNvCxnSpPr>
            <p:nvPr/>
          </p:nvCxnSpPr>
          <p:spPr>
            <a:xfrm>
              <a:off x="8208725" y="1529783"/>
              <a:ext cx="2808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07151D-9B4F-0CD9-D70F-91417480DCC0}"/>
              </a:ext>
            </a:extLst>
          </p:cNvPr>
          <p:cNvGrpSpPr/>
          <p:nvPr/>
        </p:nvGrpSpPr>
        <p:grpSpPr>
          <a:xfrm>
            <a:off x="4426395" y="1907579"/>
            <a:ext cx="3289605" cy="2547355"/>
            <a:chOff x="4426395" y="1160451"/>
            <a:chExt cx="3289605" cy="2547355"/>
          </a:xfrm>
        </p:grpSpPr>
        <p:pic>
          <p:nvPicPr>
            <p:cNvPr id="10" name="Picture 9" descr="Logo&#10;&#10;Description automatically generated">
              <a:extLst>
                <a:ext uri="{FF2B5EF4-FFF2-40B4-BE49-F238E27FC236}">
                  <a16:creationId xmlns:a16="http://schemas.microsoft.com/office/drawing/2014/main" id="{08DCF929-76CB-314F-8827-915525D2A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26395" y="2657790"/>
              <a:ext cx="2940045" cy="105001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B1DC78-F14B-DD44-9756-1871CDCE95A4}"/>
                </a:ext>
              </a:extLst>
            </p:cNvPr>
            <p:cNvSpPr txBox="1"/>
            <p:nvPr/>
          </p:nvSpPr>
          <p:spPr>
            <a:xfrm>
              <a:off x="4476000" y="1160451"/>
              <a:ext cx="32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tx2"/>
                  </a:solidFill>
                  <a:latin typeface="Roboto Slab Medium" pitchFamily="2" charset="0"/>
                  <a:ea typeface="Roboto Slab Medium" pitchFamily="2" charset="0"/>
                </a:rPr>
                <a:t>Integration &amp; Visualization 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0921569-1183-D04A-8E4A-F2B0014C76C1}"/>
                </a:ext>
              </a:extLst>
            </p:cNvPr>
            <p:cNvCxnSpPr>
              <a:cxnSpLocks/>
            </p:cNvCxnSpPr>
            <p:nvPr/>
          </p:nvCxnSpPr>
          <p:spPr>
            <a:xfrm>
              <a:off x="4559844" y="1525784"/>
              <a:ext cx="28065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9" name="Picture 8" descr="A black background with blue text&#10;&#10;Description automatically generated">
              <a:extLst>
                <a:ext uri="{FF2B5EF4-FFF2-40B4-BE49-F238E27FC236}">
                  <a16:creationId xmlns:a16="http://schemas.microsoft.com/office/drawing/2014/main" id="{DC740198-B832-77D7-CC1D-20431709A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29134" y="1611398"/>
              <a:ext cx="2937306" cy="1049038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C988013-E677-E9F2-BF3F-008A05BB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Our Product Family</a:t>
            </a:r>
          </a:p>
        </p:txBody>
      </p:sp>
    </p:spTree>
    <p:extLst>
      <p:ext uri="{BB962C8B-B14F-4D97-AF65-F5344CB8AC3E}">
        <p14:creationId xmlns:p14="http://schemas.microsoft.com/office/powerpoint/2010/main" val="89099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748613-E3B6-A308-710A-E2FDE09A3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industrial onboarding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79968-EDF2-67D7-549D-FB83683DF7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Manual protocol integration</a:t>
            </a:r>
          </a:p>
          <a:p>
            <a:r>
              <a:rPr lang="en-US" dirty="0"/>
              <a:t>Vendor-specific configuration</a:t>
            </a:r>
          </a:p>
          <a:p>
            <a:r>
              <a:rPr lang="en-US" dirty="0"/>
              <a:t>Custom engineering effort</a:t>
            </a:r>
          </a:p>
          <a:p>
            <a:r>
              <a:rPr lang="en-US" dirty="0"/>
              <a:t>Slow deployment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9CBF58-DFD4-E949-133A-01B892FEE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With </a:t>
            </a:r>
            <a:r>
              <a:rPr lang="en-US" dirty="0" err="1"/>
              <a:t>WoT</a:t>
            </a:r>
            <a:r>
              <a:rPr lang="en-US" dirty="0"/>
              <a:t> + Forge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583FB2-BC7A-3A18-2345-303DCB58E03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Self-describing devices</a:t>
            </a:r>
          </a:p>
          <a:p>
            <a:r>
              <a:rPr lang="en-US" dirty="0"/>
              <a:t>Faster onboarding</a:t>
            </a:r>
          </a:p>
          <a:p>
            <a:r>
              <a:rPr lang="en-US" dirty="0"/>
              <a:t>Standardized metadata</a:t>
            </a:r>
          </a:p>
          <a:p>
            <a:r>
              <a:rPr lang="en-US" dirty="0"/>
              <a:t>Easier integration into IT/OT systems</a:t>
            </a:r>
          </a:p>
          <a:p>
            <a:r>
              <a:rPr lang="en-US" dirty="0"/>
              <a:t>Reduced engineering work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0FCB6-DEC1-DC6E-4A3F-848CBD15A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WoT</a:t>
            </a:r>
            <a:r>
              <a:rPr lang="en-US" dirty="0"/>
              <a:t> Matters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FF611-8332-E775-B450-E96909E544F0}"/>
              </a:ext>
            </a:extLst>
          </p:cNvPr>
          <p:cNvSpPr txBox="1"/>
          <p:nvPr/>
        </p:nvSpPr>
        <p:spPr>
          <a:xfrm>
            <a:off x="2360842" y="5486400"/>
            <a:ext cx="7470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“</a:t>
            </a:r>
            <a:r>
              <a:rPr lang="en-US" sz="3200" i="1" dirty="0" err="1"/>
              <a:t>WoT</a:t>
            </a:r>
            <a:r>
              <a:rPr lang="en-US" sz="3200" i="1" dirty="0"/>
              <a:t> helps scale industrial integration.”</a:t>
            </a:r>
          </a:p>
        </p:txBody>
      </p:sp>
    </p:spTree>
    <p:extLst>
      <p:ext uri="{BB962C8B-B14F-4D97-AF65-F5344CB8AC3E}">
        <p14:creationId xmlns:p14="http://schemas.microsoft.com/office/powerpoint/2010/main" val="313016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uiExpand="1" build="p"/>
      <p:bldP spid="7" grpId="0" build="p"/>
      <p:bldP spid="8" grpId="0" uiExpand="1" build="p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33188-2DFF-2D92-8C23-7970297A1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2A56-99DC-D27C-ED9C-A34EA3AD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WoT</a:t>
            </a:r>
            <a:r>
              <a:rPr lang="en-US" dirty="0"/>
              <a:t> Demo</a:t>
            </a:r>
          </a:p>
        </p:txBody>
      </p:sp>
    </p:spTree>
    <p:extLst>
      <p:ext uri="{BB962C8B-B14F-4D97-AF65-F5344CB8AC3E}">
        <p14:creationId xmlns:p14="http://schemas.microsoft.com/office/powerpoint/2010/main" val="1687311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3676-4EA7-6ED2-A633-B9650F76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3D305-DAD7-DEC2-5912-E5E0CE2A6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Siemens PAC4220</a:t>
            </a:r>
          </a:p>
          <a:p>
            <a:pPr lvl="1"/>
            <a:r>
              <a:rPr lang="en-US" dirty="0"/>
              <a:t>Power Monitoring Device</a:t>
            </a:r>
          </a:p>
          <a:p>
            <a:pPr lvl="1"/>
            <a:r>
              <a:rPr lang="en-US" dirty="0"/>
              <a:t>Modbus</a:t>
            </a:r>
          </a:p>
          <a:p>
            <a:pPr lvl="1"/>
            <a:r>
              <a:rPr lang="en-US" dirty="0" err="1"/>
              <a:t>WoT</a:t>
            </a:r>
            <a:r>
              <a:rPr lang="en-US" dirty="0"/>
              <a:t> Thing Description</a:t>
            </a:r>
          </a:p>
          <a:p>
            <a:r>
              <a:rPr lang="en-US" dirty="0"/>
              <a:t>Forge</a:t>
            </a:r>
          </a:p>
          <a:p>
            <a:pPr lvl="1"/>
            <a:r>
              <a:rPr lang="en-US" dirty="0"/>
              <a:t>Integration platform</a:t>
            </a:r>
          </a:p>
          <a:p>
            <a:pPr lvl="1"/>
            <a:r>
              <a:rPr lang="en-US" dirty="0"/>
              <a:t>OPC UA Companion Specifications</a:t>
            </a:r>
          </a:p>
          <a:p>
            <a:pPr lvl="2"/>
            <a:r>
              <a:rPr lang="en-US" dirty="0"/>
              <a:t>http://</a:t>
            </a:r>
            <a:r>
              <a:rPr lang="en-US" dirty="0" err="1"/>
              <a:t>opcfoundation.org</a:t>
            </a:r>
            <a:r>
              <a:rPr lang="en-US" dirty="0"/>
              <a:t>/UA/IA/</a:t>
            </a:r>
          </a:p>
          <a:p>
            <a:pPr lvl="2"/>
            <a:r>
              <a:rPr lang="en-US" dirty="0">
                <a:hlinkClick r:id="rId2"/>
              </a:rPr>
              <a:t>http://opcfoundation.org/UA/ECM/</a:t>
            </a:r>
            <a:endParaRPr lang="en-US" dirty="0"/>
          </a:p>
          <a:p>
            <a:r>
              <a:rPr lang="en-US" dirty="0"/>
              <a:t>Browser</a:t>
            </a:r>
          </a:p>
          <a:p>
            <a:pPr lvl="1"/>
            <a:r>
              <a:rPr lang="en-US" dirty="0"/>
              <a:t>OPC UA Client</a:t>
            </a:r>
          </a:p>
          <a:p>
            <a:r>
              <a:rPr lang="en-US" dirty="0" err="1"/>
              <a:t>InfluxDB</a:t>
            </a:r>
            <a:endParaRPr lang="en-US" dirty="0"/>
          </a:p>
          <a:p>
            <a:pPr lvl="1"/>
            <a:r>
              <a:rPr lang="en-US" dirty="0"/>
              <a:t>History buffer database for Forge</a:t>
            </a:r>
          </a:p>
          <a:p>
            <a:r>
              <a:rPr lang="en-US" dirty="0"/>
              <a:t>Grafana</a:t>
            </a:r>
          </a:p>
          <a:p>
            <a:pPr lvl="1"/>
            <a:r>
              <a:rPr lang="en-US" dirty="0"/>
              <a:t>Dashboarding tool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196798-F707-B7B1-CF90-5EC0FBACF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163" y="100236"/>
            <a:ext cx="2320637" cy="232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79C22D-520D-43EB-5DDD-CD4933530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032" y="2048587"/>
            <a:ext cx="2460368" cy="24603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5884B3-631A-8173-B580-907204207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1800" y="4153935"/>
            <a:ext cx="2032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5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42E7-BD01-598A-B448-6A6BC8CD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9888F-16E9-DD76-7B0C-63CA93433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Running in containerized environment</a:t>
            </a:r>
          </a:p>
          <a:p>
            <a:r>
              <a:rPr lang="en-US" dirty="0"/>
              <a:t>Local network access to the device</a:t>
            </a:r>
          </a:p>
          <a:p>
            <a:r>
              <a:rPr lang="en-US" dirty="0"/>
              <a:t>Access to public internet to connect to Cloud Library</a:t>
            </a:r>
          </a:p>
        </p:txBody>
      </p:sp>
    </p:spTree>
    <p:extLst>
      <p:ext uri="{BB962C8B-B14F-4D97-AF65-F5344CB8AC3E}">
        <p14:creationId xmlns:p14="http://schemas.microsoft.com/office/powerpoint/2010/main" val="3368849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B4575F-9891-1C04-A449-F44A6F20A83E}"/>
              </a:ext>
            </a:extLst>
          </p:cNvPr>
          <p:cNvSpPr txBox="1"/>
          <p:nvPr/>
        </p:nvSpPr>
        <p:spPr>
          <a:xfrm>
            <a:off x="296562" y="671037"/>
            <a:ext cx="41848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/>
              <a:t>The key point is that the device onboarding logic becomes reusable and standardized instead of device-specific engineering.</a:t>
            </a:r>
          </a:p>
          <a:p>
            <a:pPr>
              <a:buNone/>
            </a:pPr>
            <a:endParaRPr lang="en-US" i="1" dirty="0"/>
          </a:p>
          <a:p>
            <a:pPr>
              <a:buNone/>
            </a:pPr>
            <a:r>
              <a:rPr lang="en-US" i="1" dirty="0"/>
              <a:t>OPC UA Companion Specification gives additional value for further integration.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9699AF2-448A-63F7-35E5-CFA8C0BE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2467" y="0"/>
            <a:ext cx="7699769" cy="650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162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A1B4-4EAC-BFCD-5C00-BC19D61D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33EF-972E-DDDD-8042-EA53D366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272494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1027-CCB4-E699-938F-869A9BD8E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00CF-EAE4-6274-B5F0-9C8A9529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much more…</a:t>
            </a:r>
          </a:p>
        </p:txBody>
      </p:sp>
    </p:spTree>
    <p:extLst>
      <p:ext uri="{BB962C8B-B14F-4D97-AF65-F5344CB8AC3E}">
        <p14:creationId xmlns:p14="http://schemas.microsoft.com/office/powerpoint/2010/main" val="697935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1990B-4938-533D-AD32-75CB948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Prosys</a:t>
            </a:r>
            <a:r>
              <a:rPr lang="en-US" dirty="0"/>
              <a:t> Forge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296057-C7EF-AA11-B896-BE7C2FE15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7360" y="445809"/>
            <a:ext cx="5443856" cy="595685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AE81C-2201-58B8-EE91-A4958354D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Industrial </a:t>
            </a:r>
            <a:r>
              <a:rPr lang="en-US" dirty="0" err="1"/>
              <a:t>DataOps</a:t>
            </a:r>
            <a:r>
              <a:rPr lang="en-US" dirty="0"/>
              <a:t> &amp; Edge Application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OPC UA Server as the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Variety of south- and northbound connectivity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Business logic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Windows, Linux, Container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Web configurator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OpenAPI</a:t>
            </a:r>
            <a:r>
              <a:rPr lang="en-US" dirty="0"/>
              <a:t> REST API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2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8A0B7-8D1C-C686-F7E9-D369018BE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01597"/>
            <a:ext cx="5311678" cy="935866"/>
          </a:xfrm>
        </p:spPr>
        <p:txBody>
          <a:bodyPr/>
          <a:lstStyle/>
          <a:p>
            <a:r>
              <a:rPr lang="en-FI" dirty="0"/>
              <a:t>Contact 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780CE-DA05-4EFC-6DA2-965AA7235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31519"/>
            <a:ext cx="5660571" cy="18076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FFFFFF"/>
                </a:solidFill>
              </a:rPr>
              <a:t>Email: </a:t>
            </a:r>
            <a:r>
              <a:rPr lang="en-US" sz="2400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iivo.yrjola@prosysopc.com</a:t>
            </a:r>
            <a:br>
              <a:rPr lang="en-US" sz="2400" dirty="0">
                <a:solidFill>
                  <a:schemeClr val="bg2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r>
              <a:rPr lang="en-US" sz="2400" dirty="0">
                <a:solidFill>
                  <a:srgbClr val="FFFFFF"/>
                </a:solidFill>
              </a:rPr>
              <a:t>Office: </a:t>
            </a:r>
            <a:r>
              <a:rPr lang="en-US" sz="2400" u="sng" dirty="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+358 9 420 9007</a:t>
            </a:r>
            <a:endParaRPr lang="en-FI" sz="2400" u="sng" dirty="0"/>
          </a:p>
        </p:txBody>
      </p:sp>
    </p:spTree>
    <p:extLst>
      <p:ext uri="{BB962C8B-B14F-4D97-AF65-F5344CB8AC3E}">
        <p14:creationId xmlns:p14="http://schemas.microsoft.com/office/powerpoint/2010/main" val="1312685098"/>
      </p:ext>
    </p:extLst>
  </p:cSld>
  <p:clrMapOvr>
    <a:masterClrMapping/>
  </p:clrMapOvr>
</p:sld>
</file>

<file path=ppt/theme/theme1.xml><?xml version="1.0" encoding="utf-8"?>
<a:theme xmlns:a="http://schemas.openxmlformats.org/drawingml/2006/main" name="ProsysOPCPresentation24">
  <a:themeElements>
    <a:clrScheme name="ProsysOPC-colors-2024">
      <a:dk1>
        <a:srgbClr val="020101"/>
      </a:dk1>
      <a:lt1>
        <a:srgbClr val="FFFFFF"/>
      </a:lt1>
      <a:dk2>
        <a:srgbClr val="00335E"/>
      </a:dk2>
      <a:lt2>
        <a:srgbClr val="D5E6E3"/>
      </a:lt2>
      <a:accent1>
        <a:srgbClr val="E00980"/>
      </a:accent1>
      <a:accent2>
        <a:srgbClr val="F376C1"/>
      </a:accent2>
      <a:accent3>
        <a:srgbClr val="F7A717"/>
      </a:accent3>
      <a:accent4>
        <a:srgbClr val="33837D"/>
      </a:accent4>
      <a:accent5>
        <a:srgbClr val="004C97"/>
      </a:accent5>
      <a:accent6>
        <a:srgbClr val="7696A7"/>
      </a:accent6>
      <a:hlink>
        <a:srgbClr val="DF097E"/>
      </a:hlink>
      <a:folHlink>
        <a:srgbClr val="F6A616"/>
      </a:folHlink>
    </a:clrScheme>
    <a:fontScheme name="ProsysFonts">
      <a:majorFont>
        <a:latin typeface="Roboto Slab"/>
        <a:ea typeface=""/>
        <a:cs typeface=""/>
      </a:majorFont>
      <a:minorFont>
        <a:latin typeface="Raleway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anyForgePresentation" id="{25553332-8BDA-7F46-A695-D32CD6CC90EB}" vid="{0B56D6BE-74E9-4946-B7AE-041F9F2C944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ProsysOPC-theme24</Template>
  <TotalTime>88354</TotalTime>
  <Words>303</Words>
  <Application>Microsoft Macintosh PowerPoint</Application>
  <PresentationFormat>Widescreen</PresentationFormat>
  <Paragraphs>89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Arial</vt:lpstr>
      <vt:lpstr>Roboto Condensed Light</vt:lpstr>
      <vt:lpstr>Raleway</vt:lpstr>
      <vt:lpstr>Roboto Slab Medium</vt:lpstr>
      <vt:lpstr>ProsysOPCPresentation24</vt:lpstr>
      <vt:lpstr>PowerPoint Presentation</vt:lpstr>
      <vt:lpstr>Outline</vt:lpstr>
      <vt:lpstr>Company Intro</vt:lpstr>
      <vt:lpstr>Iivo Yrjölä</vt:lpstr>
      <vt:lpstr>Prosys OPC</vt:lpstr>
      <vt:lpstr>Our Product Family</vt:lpstr>
      <vt:lpstr>Why WoT Matters</vt:lpstr>
      <vt:lpstr>WoT Demo</vt:lpstr>
      <vt:lpstr>Components</vt:lpstr>
      <vt:lpstr>Architecture</vt:lpstr>
      <vt:lpstr>PowerPoint Presentation</vt:lpstr>
      <vt:lpstr>Live Demo</vt:lpstr>
      <vt:lpstr>And much more…</vt:lpstr>
      <vt:lpstr>Prosys Forge</vt:lpstr>
      <vt:lpstr>Contact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Prosys OPC  &amp; Microsoft</dc:title>
  <dc:creator>Pyry Grönholm</dc:creator>
  <cp:lastModifiedBy>Iivo Yrjölä</cp:lastModifiedBy>
  <cp:revision>601</cp:revision>
  <dcterms:created xsi:type="dcterms:W3CDTF">2014-03-12T11:23:10Z</dcterms:created>
  <dcterms:modified xsi:type="dcterms:W3CDTF">2026-05-28T15:36:26Z</dcterms:modified>
</cp:coreProperties>
</file>